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</p:sldIdLst>
  <p:sldSz cy="5143500" cx="9144000"/>
  <p:notesSz cx="6858000" cy="9144000"/>
  <p:embeddedFontLst>
    <p:embeddedFont>
      <p:font typeface="Montserrat"/>
      <p:regular r:id="rId96"/>
      <p:bold r:id="rId97"/>
      <p:italic r:id="rId98"/>
      <p:boldItalic r:id="rId9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652C5D-73B6-494B-A267-D9B0767A13FD}">
  <a:tblStyle styleId="{E4652C5D-73B6-494B-A267-D9B0767A13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font" Target="fonts/Montserrat-bold.fntdata"/><Relationship Id="rId96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99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98" Type="http://schemas.openxmlformats.org/officeDocument/2006/relationships/font" Target="fonts/Montserra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7b41235e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7b41235e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41235eb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41235eb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b41235eb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b41235eb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7b41235eb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7b41235eb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b41235eb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b41235eb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7b41235eb4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7b41235eb4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7b41235eb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7b41235eb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7b41235eb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7b41235eb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b41235eb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7b41235eb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7b41235eb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7b41235eb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b41235eb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b41235eb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b41235eb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7b41235eb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7b41235eb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7b41235eb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b41235eb4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b41235eb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7b41235eb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7b41235eb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b41235eb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b41235eb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7b41235eb4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7b41235eb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b41235eb4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b41235eb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7b41235eb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7b41235eb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7b41235eb4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7b41235eb4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7b41235eb4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7b41235eb4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7b41235eb4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7b41235eb4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7b41235eb4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7b41235eb4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7b41235eb4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7b41235eb4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7b41235eb4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7b41235eb4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7b41235eb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7b41235eb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7b41235eb4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7b41235eb4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b41235eb4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b41235eb4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7b41235eb4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7b41235eb4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7b41235eb4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7b41235eb4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7b41235eb4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7b41235eb4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7b41235eb4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7b41235eb4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7b41235eb4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7b41235eb4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7b41235eb4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7b41235eb4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7b41235eb4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7b41235eb4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7b41235eb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7b41235eb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7b41235eb4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7b41235eb4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7b41235eb4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7b41235eb4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7b41235eb4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7b41235eb4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7b41235eb4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7b41235eb4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7b41235eb4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7b41235eb4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7b41235eb4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7b41235eb4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7b41235eb4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7b41235eb4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7b41235eb4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7b41235eb4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7b41235eb4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7b41235eb4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7b41235eb4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7b41235eb4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7b41235eb4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7b41235eb4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7b41235eb4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7b41235eb4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7b41235eb4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7b41235eb4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7b41235eb4_0_1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7b41235eb4_0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7b41235eb4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7b41235eb4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7b41235eb4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7b41235eb4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7b41235eb4_0_1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7b41235eb4_0_1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7b41235eb4_0_1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7b41235eb4_0_1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7b41235eb4_0_1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7b41235eb4_0_1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7b41235eb4_0_1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7b41235eb4_0_1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7b41235eb4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7b41235eb4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7b41235eb4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7b41235eb4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7b41235eb4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7b41235eb4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7b41235eb4_0_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7b41235eb4_0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7b41235eb4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7b41235eb4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7b41235eb4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7b41235eb4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7b41235eb4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7b41235eb4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7b41235eb4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7b41235eb4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7b41235eb4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7b41235eb4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7b41235eb4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7b41235eb4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7b41235eb4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7b41235eb4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7b41235eb4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7b41235eb4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7b41235eb4_0_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7b41235eb4_0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7b41235eb4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7b41235eb4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7b41235eb4_0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7b41235eb4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7b41235eb4_0_9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7b41235eb4_0_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7b41235eb4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7b41235eb4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7b41235eb4_0_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7b41235eb4_0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7b41235eb4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7b41235eb4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7b41235eb4_0_1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7b41235eb4_0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7b41235eb4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7b41235eb4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7b41235eb4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7b41235eb4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7b41235eb4_0_1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7b41235eb4_0_1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7b41235eb4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7b41235eb4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7b41235eb4_0_1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7b41235eb4_0_1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7b41235eb4_0_1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7b41235eb4_0_1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7b41235eb4_0_1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7b41235eb4_0_1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7b41235eb4_0_1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7b41235eb4_0_1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7b41235eb4_0_1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7b41235eb4_0_1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7b41235eb4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7b41235eb4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7b41235eb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7b41235eb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7b41235eb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7b41235eb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98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Principal Component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Our discussions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have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focused on clustering techniques, which seek to “discover” labels on feature data that has no historical labels.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now shift towards unsupervised algorithms that focus on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 reduction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Motivation of Dimension Reduction: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a dataset with 30+ features, how would you understand the key features?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Visualization and Data Analysis have limitations when the number of feature dimensions increases.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Dimensionality Reduction Outcomes: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Understand which features describe the most variance in the data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Aid human understanding of large feature sets, especially through visualization.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Dimensionality Reduction algorithms such as PCA 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 not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simply choose a subset of the existing features.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create 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new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dimensional components that are combinations of proportions of the existing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Theory and Intuition of PCA.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Manually create PCA Algorithm.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Utilize Scikit-Learn to perform PCA.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PCA Exercise Project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PCA Exercise Solution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ctrTitle"/>
          </p:nvPr>
        </p:nvSpPr>
        <p:spPr>
          <a:xfrm>
            <a:off x="311708" y="1098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ctrTitle"/>
          </p:nvPr>
        </p:nvSpPr>
        <p:spPr>
          <a:xfrm>
            <a:off x="311708" y="1098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Principal Component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>
            <p:ph idx="1" type="subTitle"/>
          </p:nvPr>
        </p:nvSpPr>
        <p:spPr>
          <a:xfrm>
            <a:off x="311700" y="29725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 - Part One</a:t>
            </a:r>
            <a:endParaRPr/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cover the history and motivation behind the main ideas of PCA (Principal Component Analysis).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we will focus on the mathematics of PCA.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1901: Karl Pearson publishes “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Lines and Planes of Closest Fit to Systems of Points in Space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 based on the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principal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axis theorem in the field of geometry.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Pearson was the protégé of Francis Galton and the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Pearson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Correlation Coefficient is named after him.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1933: American mathematician and economist Harold Hotelling independently develops and names Principal Component Analysis in this publication, “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Analysis of a complex of statistical variables into principal components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Hotelling’s paper perfectly describes the purpose of PCA: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Analyzing a complex set of variables into its principal components.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review the motivation and basic idea behind Principal Component Analysis.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Principal Component Analysis Outcomes: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Reduce number of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dimensions in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Show which features explain the most variance in the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 Reduction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" name="Google Shape;159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 Reduction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8" name="Google Shape;168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5450" y="1752175"/>
            <a:ext cx="2234325" cy="293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 Reduction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7" name="Google Shape;177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8"/>
          <p:cNvSpPr/>
          <p:nvPr/>
        </p:nvSpPr>
        <p:spPr>
          <a:xfrm>
            <a:off x="4036375" y="2875425"/>
            <a:ext cx="1145400" cy="5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5450" y="1752175"/>
            <a:ext cx="2234325" cy="293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1745" y="1951538"/>
            <a:ext cx="3624054" cy="242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 Reduction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7" name="Google Shape;187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8" name="Google Shape;188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5650" y="1676475"/>
            <a:ext cx="3258125" cy="305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 Reduction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6" name="Google Shape;196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7" name="Google Shape;197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850" y="1699550"/>
            <a:ext cx="3258125" cy="305185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0"/>
          <p:cNvSpPr/>
          <p:nvPr/>
        </p:nvSpPr>
        <p:spPr>
          <a:xfrm>
            <a:off x="4036375" y="2875425"/>
            <a:ext cx="722700" cy="51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5188" y="2065119"/>
            <a:ext cx="4292213" cy="23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 Reduction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7" name="Google Shape;207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8" name="Google Shape;208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5950" y="1737725"/>
            <a:ext cx="5914899" cy="306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 Reduction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6" name="Google Shape;216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7" name="Google Shape;217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7025" y="1839450"/>
            <a:ext cx="3536649" cy="330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 Reduction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Helps visualize and understand complex data sets.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also act as a simpler data set for training data for machine learning algorithms.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Reduce dimensions then train ML Algorithm on smaller data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5" name="Google Shape;225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" name="Google Shape;22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 Reduction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Helps reduce N features to a desired smaller set of components through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transformation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does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simply select a subset of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3" name="Google Shape;233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4" name="Google Shape;234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Variance Explained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1" name="Google Shape;241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2" name="Google Shape;24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Variance Explained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often seen that certain features are more important or have more explanatory power than other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size of a house is probably much more important than the color of a house when explaining the price of a house for sale.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9" name="Google Shape;249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0" name="Google Shape;25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Variance Explained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idea of more important features is easy to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understand when we can directly correlate features to a known label. But what about unlabeled data?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measurement can we use to determine feature “importance”?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7" name="Google Shape;257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" name="Google Shape;25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Variance Explained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easure the proportion to which each feature accounts for dispersion in the data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5" name="Google Shape;265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6" name="Google Shape;266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Variance Explained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3" name="Google Shape;273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4" name="Google Shape;274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9952" y="1825975"/>
            <a:ext cx="4684099" cy="308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Variance Explained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2" name="Google Shape;282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3" name="Google Shape;283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9952" y="1825975"/>
            <a:ext cx="4684099" cy="3086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40"/>
          <p:cNvCxnSpPr/>
          <p:nvPr/>
        </p:nvCxnSpPr>
        <p:spPr>
          <a:xfrm flipH="1" rot="10800000">
            <a:off x="3021525" y="2045025"/>
            <a:ext cx="3644400" cy="2360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Variance Explained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2" name="Google Shape;292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3" name="Google Shape;293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9952" y="1825975"/>
            <a:ext cx="4684099" cy="3086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5" name="Google Shape;295;p41"/>
          <p:cNvCxnSpPr/>
          <p:nvPr/>
        </p:nvCxnSpPr>
        <p:spPr>
          <a:xfrm flipH="1" rot="10800000">
            <a:off x="3021525" y="2045025"/>
            <a:ext cx="3644400" cy="2360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6" name="Google Shape;296;p41"/>
          <p:cNvCxnSpPr/>
          <p:nvPr/>
        </p:nvCxnSpPr>
        <p:spPr>
          <a:xfrm>
            <a:off x="4636125" y="3013825"/>
            <a:ext cx="415200" cy="530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Variance Explained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3" name="Google Shape;303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4" name="Google Shape;304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9952" y="1825975"/>
            <a:ext cx="4684099" cy="3086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6" name="Google Shape;306;p42"/>
          <p:cNvCxnSpPr/>
          <p:nvPr/>
        </p:nvCxnSpPr>
        <p:spPr>
          <a:xfrm flipH="1" rot="10800000">
            <a:off x="3021525" y="2045025"/>
            <a:ext cx="3644400" cy="2360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Variance Explained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3" name="Google Shape;313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4" name="Google Shape;314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9952" y="1825975"/>
            <a:ext cx="4684099" cy="308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3"/>
          <p:cNvSpPr/>
          <p:nvPr/>
        </p:nvSpPr>
        <p:spPr>
          <a:xfrm>
            <a:off x="2952325" y="1968225"/>
            <a:ext cx="3798000" cy="242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977901">
            <a:off x="2934186" y="2892827"/>
            <a:ext cx="3911978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8" name="Google Shape;318;p43"/>
          <p:cNvCxnSpPr/>
          <p:nvPr/>
        </p:nvCxnSpPr>
        <p:spPr>
          <a:xfrm flipH="1" rot="10800000">
            <a:off x="3021525" y="2045025"/>
            <a:ext cx="3644400" cy="2360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Variance Explained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5" name="Google Shape;325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6" name="Google Shape;326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9952" y="1825975"/>
            <a:ext cx="4684099" cy="308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4"/>
          <p:cNvSpPr/>
          <p:nvPr/>
        </p:nvSpPr>
        <p:spPr>
          <a:xfrm>
            <a:off x="2952325" y="1968225"/>
            <a:ext cx="3798000" cy="242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977901">
            <a:off x="2934186" y="2892827"/>
            <a:ext cx="3911978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0" name="Google Shape;330;p44"/>
          <p:cNvCxnSpPr/>
          <p:nvPr/>
        </p:nvCxnSpPr>
        <p:spPr>
          <a:xfrm flipH="1" rot="10800000">
            <a:off x="3021525" y="2045025"/>
            <a:ext cx="3644400" cy="2360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1" name="Google Shape;331;p44"/>
          <p:cNvSpPr txBox="1"/>
          <p:nvPr/>
        </p:nvSpPr>
        <p:spPr>
          <a:xfrm rot="-2020686">
            <a:off x="3924752" y="3169399"/>
            <a:ext cx="239122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Principal Component 1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45"/>
          <p:cNvSpPr txBox="1"/>
          <p:nvPr>
            <p:ph idx="1" type="body"/>
          </p:nvPr>
        </p:nvSpPr>
        <p:spPr>
          <a:xfrm>
            <a:off x="311700" y="1152475"/>
            <a:ext cx="86841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Variance Explained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8" name="Google Shape;338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9" name="Google Shape;339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5"/>
          <p:cNvSpPr/>
          <p:nvPr/>
        </p:nvSpPr>
        <p:spPr>
          <a:xfrm>
            <a:off x="2952325" y="1968225"/>
            <a:ext cx="3798000" cy="242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1" name="Google Shape;34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">
            <a:off x="2662136" y="2892826"/>
            <a:ext cx="3911977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" name="Google Shape;342;p45"/>
          <p:cNvCxnSpPr/>
          <p:nvPr/>
        </p:nvCxnSpPr>
        <p:spPr>
          <a:xfrm>
            <a:off x="1779850" y="3206050"/>
            <a:ext cx="6004500" cy="78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3" name="Google Shape;343;p45"/>
          <p:cNvSpPr txBox="1"/>
          <p:nvPr/>
        </p:nvSpPr>
        <p:spPr>
          <a:xfrm>
            <a:off x="3586600" y="3290625"/>
            <a:ext cx="239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Principal Component 1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Variance Explained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Principal Component is a linear combination of original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more variance the original feature accounts for, the more influence it has over the principal components.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0" name="Google Shape;350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1" name="Google Shape;351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Variance Explained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Here we went from 2 features down to 1 principal component.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single principal component can “explain” some percentage of the original data, for example 90% of variance explained by principal component.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8" name="Google Shape;358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9" name="Google Shape;359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Variance Explained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100% of the variance in the data is explained by all the original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trade off some of the explained variance for less dimensions.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can be significant savings for data sets with many dimensions, but only a few strong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6" name="Google Shape;366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7" name="Google Shape;367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continue by exploring how Principal Component Analysis actually works mathematically.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0"/>
          <p:cNvSpPr txBox="1"/>
          <p:nvPr>
            <p:ph type="ctrTitle"/>
          </p:nvPr>
        </p:nvSpPr>
        <p:spPr>
          <a:xfrm>
            <a:off x="311708" y="1098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Principal Component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50"/>
          <p:cNvSpPr txBox="1"/>
          <p:nvPr>
            <p:ph idx="1" type="subTitle"/>
          </p:nvPr>
        </p:nvSpPr>
        <p:spPr>
          <a:xfrm>
            <a:off x="311700" y="29725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 - Part Two</a:t>
            </a:r>
            <a:endParaRPr/>
          </a:p>
        </p:txBody>
      </p:sp>
      <p:pic>
        <p:nvPicPr>
          <p:cNvPr descr="watermark.jpg" id="382" name="Google Shape;382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3" name="Google Shape;383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Suggested Reading: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10.1 of ISLR covers the topic of Principal Component Analysis.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0" name="Google Shape;390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1" name="Google Shape;391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Principal Component Analysis operates by creating a new set of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(the principal components) that are normalized linear combinations of the original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8" name="Google Shape;398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9" name="Google Shape;399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925" y="3552050"/>
            <a:ext cx="516255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53"/>
          <p:cNvSpPr txBox="1"/>
          <p:nvPr>
            <p:ph idx="1" type="body"/>
          </p:nvPr>
        </p:nvSpPr>
        <p:spPr>
          <a:xfrm>
            <a:off x="311700" y="1152475"/>
            <a:ext cx="86841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Principal Component Analysis: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7" name="Google Shape;407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8" name="Google Shape;408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6125" y="1832275"/>
            <a:ext cx="3770351" cy="24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54"/>
          <p:cNvSpPr txBox="1"/>
          <p:nvPr>
            <p:ph idx="1" type="body"/>
          </p:nvPr>
        </p:nvSpPr>
        <p:spPr>
          <a:xfrm>
            <a:off x="311700" y="1152475"/>
            <a:ext cx="86841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Principal Component Analysis: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6" name="Google Shape;416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7" name="Google Shape;417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6125" y="1832275"/>
            <a:ext cx="3770351" cy="2484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9" name="Google Shape;419;p54"/>
          <p:cNvCxnSpPr/>
          <p:nvPr/>
        </p:nvCxnSpPr>
        <p:spPr>
          <a:xfrm flipH="1" rot="10800000">
            <a:off x="3112725" y="1908175"/>
            <a:ext cx="3174600" cy="205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p55"/>
          <p:cNvSpPr txBox="1"/>
          <p:nvPr>
            <p:ph idx="1" type="body"/>
          </p:nvPr>
        </p:nvSpPr>
        <p:spPr>
          <a:xfrm>
            <a:off x="311700" y="1152475"/>
            <a:ext cx="86841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Principal Component Analysis: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6" name="Google Shape;426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7" name="Google Shape;427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6125" y="1832275"/>
            <a:ext cx="3770351" cy="2484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9" name="Google Shape;429;p55"/>
          <p:cNvCxnSpPr/>
          <p:nvPr/>
        </p:nvCxnSpPr>
        <p:spPr>
          <a:xfrm flipH="1" rot="10800000">
            <a:off x="3112725" y="1908175"/>
            <a:ext cx="3174600" cy="205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430" name="Google Shape;430;p55"/>
          <p:cNvPicPr preferRelativeResize="0"/>
          <p:nvPr/>
        </p:nvPicPr>
        <p:blipFill rotWithShape="1">
          <a:blip r:embed="rId5">
            <a:alphaModFix/>
          </a:blip>
          <a:srcRect b="0" l="0" r="40487" t="0"/>
          <a:stretch/>
        </p:blipFill>
        <p:spPr>
          <a:xfrm>
            <a:off x="3399800" y="4316975"/>
            <a:ext cx="2752475" cy="78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56"/>
          <p:cNvSpPr txBox="1"/>
          <p:nvPr>
            <p:ph idx="1" type="body"/>
          </p:nvPr>
        </p:nvSpPr>
        <p:spPr>
          <a:xfrm>
            <a:off x="311700" y="1152475"/>
            <a:ext cx="86841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Principal Component Analysis: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7" name="Google Shape;437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8" name="Google Shape;438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525" y="1832275"/>
            <a:ext cx="3770351" cy="2484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0" name="Google Shape;440;p56"/>
          <p:cNvCxnSpPr/>
          <p:nvPr/>
        </p:nvCxnSpPr>
        <p:spPr>
          <a:xfrm flipH="1" rot="10800000">
            <a:off x="979125" y="1908175"/>
            <a:ext cx="3174600" cy="205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441" name="Google Shape;441;p56"/>
          <p:cNvPicPr preferRelativeResize="0"/>
          <p:nvPr/>
        </p:nvPicPr>
        <p:blipFill rotWithShape="1">
          <a:blip r:embed="rId5">
            <a:alphaModFix/>
          </a:blip>
          <a:srcRect b="0" l="0" r="40487" t="0"/>
          <a:stretch/>
        </p:blipFill>
        <p:spPr>
          <a:xfrm>
            <a:off x="3399800" y="4316975"/>
            <a:ext cx="2752475" cy="78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57"/>
          <p:cNvSpPr txBox="1"/>
          <p:nvPr>
            <p:ph idx="1" type="body"/>
          </p:nvPr>
        </p:nvSpPr>
        <p:spPr>
          <a:xfrm>
            <a:off x="311700" y="1152475"/>
            <a:ext cx="86841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Principal Component Analysis: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8" name="Google Shape;448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9" name="Google Shape;449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525" y="1832275"/>
            <a:ext cx="3770351" cy="2484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1" name="Google Shape;451;p57"/>
          <p:cNvCxnSpPr/>
          <p:nvPr/>
        </p:nvCxnSpPr>
        <p:spPr>
          <a:xfrm flipH="1" rot="10800000">
            <a:off x="979125" y="1908175"/>
            <a:ext cx="3174600" cy="205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452" name="Google Shape;452;p57"/>
          <p:cNvPicPr preferRelativeResize="0"/>
          <p:nvPr/>
        </p:nvPicPr>
        <p:blipFill rotWithShape="1">
          <a:blip r:embed="rId5">
            <a:alphaModFix/>
          </a:blip>
          <a:srcRect b="0" l="0" r="40487" t="0"/>
          <a:stretch/>
        </p:blipFill>
        <p:spPr>
          <a:xfrm>
            <a:off x="3399800" y="4316975"/>
            <a:ext cx="2752475" cy="78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800000">
            <a:off x="5611007" y="2799860"/>
            <a:ext cx="2739691" cy="401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4" name="Google Shape;454;p57"/>
          <p:cNvCxnSpPr/>
          <p:nvPr/>
        </p:nvCxnSpPr>
        <p:spPr>
          <a:xfrm flipH="1" rot="10800000">
            <a:off x="5268829" y="1984068"/>
            <a:ext cx="3483900" cy="20265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p58"/>
          <p:cNvSpPr txBox="1"/>
          <p:nvPr>
            <p:ph idx="1" type="body"/>
          </p:nvPr>
        </p:nvSpPr>
        <p:spPr>
          <a:xfrm>
            <a:off x="311700" y="1152475"/>
            <a:ext cx="86841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Principal Component Analysis: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1" name="Google Shape;461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2" name="Google Shape;462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525" y="1832275"/>
            <a:ext cx="3770351" cy="2484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4" name="Google Shape;464;p58"/>
          <p:cNvCxnSpPr/>
          <p:nvPr/>
        </p:nvCxnSpPr>
        <p:spPr>
          <a:xfrm flipH="1" rot="10800000">
            <a:off x="979125" y="1908175"/>
            <a:ext cx="3174600" cy="205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465" name="Google Shape;465;p58"/>
          <p:cNvPicPr preferRelativeResize="0"/>
          <p:nvPr/>
        </p:nvPicPr>
        <p:blipFill rotWithShape="1">
          <a:blip r:embed="rId5">
            <a:alphaModFix/>
          </a:blip>
          <a:srcRect b="0" l="0" r="40487" t="0"/>
          <a:stretch/>
        </p:blipFill>
        <p:spPr>
          <a:xfrm>
            <a:off x="3399800" y="4316975"/>
            <a:ext cx="2752475" cy="78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3475" y="2784484"/>
            <a:ext cx="2739691" cy="401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p58"/>
          <p:cNvCxnSpPr/>
          <p:nvPr/>
        </p:nvCxnSpPr>
        <p:spPr>
          <a:xfrm flipH="1" rot="-8999849">
            <a:off x="5268863" y="1984106"/>
            <a:ext cx="3483935" cy="2026575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59"/>
          <p:cNvSpPr txBox="1"/>
          <p:nvPr>
            <p:ph idx="1" type="body"/>
          </p:nvPr>
        </p:nvSpPr>
        <p:spPr>
          <a:xfrm>
            <a:off x="311700" y="1152475"/>
            <a:ext cx="86841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Principal Component Analysis: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4" name="Google Shape;474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5" name="Google Shape;475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3921" y="1794950"/>
            <a:ext cx="5974657" cy="30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2" name="Google Shape;482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do we actually calculate these components?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walk through the steps visually.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3" name="Google Shape;483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4" name="Google Shape;484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Begin with a two dimensional data set: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1" name="Google Shape;491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2" name="Google Shape;492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6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Begin with a two dimensional data set: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9" name="Google Shape;499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0" name="Google Shape;500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1" name="Google Shape;501;p62"/>
          <p:cNvGraphicFramePr/>
          <p:nvPr/>
        </p:nvGraphicFramePr>
        <p:xfrm>
          <a:off x="851200" y="182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{E4652C5D-73B6-494B-A267-D9B0767A13FD}</a:tableStyleId>
              </a:tblPr>
              <a:tblGrid>
                <a:gridCol w="1488300"/>
                <a:gridCol w="1488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6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Begin with a two dimensional data set: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8" name="Google Shape;508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9" name="Google Shape;509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0" name="Google Shape;510;p63"/>
          <p:cNvGraphicFramePr/>
          <p:nvPr/>
        </p:nvGraphicFramePr>
        <p:xfrm>
          <a:off x="851200" y="182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{E4652C5D-73B6-494B-A267-D9B0767A13FD}</a:tableStyleId>
              </a:tblPr>
              <a:tblGrid>
                <a:gridCol w="1488300"/>
                <a:gridCol w="1488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11" name="Google Shape;511;p63"/>
          <p:cNvCxnSpPr/>
          <p:nvPr/>
        </p:nvCxnSpPr>
        <p:spPr>
          <a:xfrm rot="10800000">
            <a:off x="4784475" y="1840650"/>
            <a:ext cx="0" cy="287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2" name="Google Shape;512;p63"/>
          <p:cNvCxnSpPr/>
          <p:nvPr/>
        </p:nvCxnSpPr>
        <p:spPr>
          <a:xfrm>
            <a:off x="4784475" y="4719750"/>
            <a:ext cx="361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6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Begin with a two dimensional data set: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9" name="Google Shape;519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0" name="Google Shape;520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1" name="Google Shape;521;p64"/>
          <p:cNvGraphicFramePr/>
          <p:nvPr/>
        </p:nvGraphicFramePr>
        <p:xfrm>
          <a:off x="851200" y="182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{E4652C5D-73B6-494B-A267-D9B0767A13FD}</a:tableStyleId>
              </a:tblPr>
              <a:tblGrid>
                <a:gridCol w="1488300"/>
                <a:gridCol w="1488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22" name="Google Shape;522;p64"/>
          <p:cNvCxnSpPr/>
          <p:nvPr/>
        </p:nvCxnSpPr>
        <p:spPr>
          <a:xfrm rot="10800000">
            <a:off x="4784475" y="1840650"/>
            <a:ext cx="0" cy="287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3" name="Google Shape;523;p64"/>
          <p:cNvCxnSpPr/>
          <p:nvPr/>
        </p:nvCxnSpPr>
        <p:spPr>
          <a:xfrm>
            <a:off x="4784475" y="4719750"/>
            <a:ext cx="361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4" name="Google Shape;524;p64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64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64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64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64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64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p6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Standardize the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6" name="Google Shape;536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7" name="Google Shape;537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8" name="Google Shape;538;p65"/>
          <p:cNvGraphicFramePr/>
          <p:nvPr/>
        </p:nvGraphicFramePr>
        <p:xfrm>
          <a:off x="851200" y="182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{E4652C5D-73B6-494B-A267-D9B0767A13FD}</a:tableStyleId>
              </a:tblPr>
              <a:tblGrid>
                <a:gridCol w="1488300"/>
                <a:gridCol w="1488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39" name="Google Shape;539;p65"/>
          <p:cNvCxnSpPr/>
          <p:nvPr/>
        </p:nvCxnSpPr>
        <p:spPr>
          <a:xfrm rot="10800000">
            <a:off x="4784475" y="1840650"/>
            <a:ext cx="0" cy="287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65"/>
          <p:cNvCxnSpPr/>
          <p:nvPr/>
        </p:nvCxnSpPr>
        <p:spPr>
          <a:xfrm>
            <a:off x="4784475" y="4719750"/>
            <a:ext cx="361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1" name="Google Shape;541;p65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65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65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65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65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65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6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Standardize the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3" name="Google Shape;553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4" name="Google Shape;554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5" name="Google Shape;555;p66"/>
          <p:cNvGraphicFramePr/>
          <p:nvPr/>
        </p:nvGraphicFramePr>
        <p:xfrm>
          <a:off x="851200" y="182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{E4652C5D-73B6-494B-A267-D9B0767A13FD}</a:tableStyleId>
              </a:tblPr>
              <a:tblGrid>
                <a:gridCol w="1488300"/>
                <a:gridCol w="1488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56" name="Google Shape;556;p66"/>
          <p:cNvCxnSpPr/>
          <p:nvPr/>
        </p:nvCxnSpPr>
        <p:spPr>
          <a:xfrm rot="10800000">
            <a:off x="4784475" y="1840650"/>
            <a:ext cx="0" cy="287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7" name="Google Shape;557;p66"/>
          <p:cNvCxnSpPr/>
          <p:nvPr/>
        </p:nvCxnSpPr>
        <p:spPr>
          <a:xfrm>
            <a:off x="4784475" y="4719750"/>
            <a:ext cx="361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8" name="Google Shape;558;p66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66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66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66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6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66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4" name="Google Shape;564;p66"/>
          <p:cNvCxnSpPr>
            <a:stCxn id="563" idx="2"/>
          </p:cNvCxnSpPr>
          <p:nvPr/>
        </p:nvCxnSpPr>
        <p:spPr>
          <a:xfrm rot="10800000">
            <a:off x="4826638" y="2640350"/>
            <a:ext cx="1870500" cy="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65" name="Google Shape;565;p66"/>
          <p:cNvCxnSpPr>
            <a:stCxn id="559" idx="2"/>
          </p:cNvCxnSpPr>
          <p:nvPr/>
        </p:nvCxnSpPr>
        <p:spPr>
          <a:xfrm rot="10800000">
            <a:off x="4784350" y="3111325"/>
            <a:ext cx="1207500" cy="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66" name="Google Shape;566;p66"/>
          <p:cNvCxnSpPr>
            <a:stCxn id="560" idx="2"/>
          </p:cNvCxnSpPr>
          <p:nvPr/>
        </p:nvCxnSpPr>
        <p:spPr>
          <a:xfrm rot="10800000">
            <a:off x="4793050" y="3444950"/>
            <a:ext cx="1740000" cy="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67" name="Google Shape;567;p66"/>
          <p:cNvCxnSpPr>
            <a:stCxn id="558" idx="2"/>
          </p:cNvCxnSpPr>
          <p:nvPr/>
        </p:nvCxnSpPr>
        <p:spPr>
          <a:xfrm rot="10800000">
            <a:off x="4801250" y="3839700"/>
            <a:ext cx="388500" cy="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68" name="Google Shape;568;p66"/>
          <p:cNvCxnSpPr/>
          <p:nvPr/>
        </p:nvCxnSpPr>
        <p:spPr>
          <a:xfrm rot="10800000">
            <a:off x="4809950" y="3839700"/>
            <a:ext cx="932400" cy="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69" name="Google Shape;569;p66"/>
          <p:cNvCxnSpPr>
            <a:stCxn id="562" idx="2"/>
          </p:cNvCxnSpPr>
          <p:nvPr/>
        </p:nvCxnSpPr>
        <p:spPr>
          <a:xfrm rot="10800000">
            <a:off x="4809938" y="4371200"/>
            <a:ext cx="543900" cy="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5" name="Google Shape;575;p6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Standardize the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6" name="Google Shape;576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7" name="Google Shape;577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8" name="Google Shape;578;p67"/>
          <p:cNvGraphicFramePr/>
          <p:nvPr/>
        </p:nvGraphicFramePr>
        <p:xfrm>
          <a:off x="851200" y="182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{E4652C5D-73B6-494B-A267-D9B0767A13FD}</a:tableStyleId>
              </a:tblPr>
              <a:tblGrid>
                <a:gridCol w="1488300"/>
                <a:gridCol w="1488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79" name="Google Shape;579;p67"/>
          <p:cNvCxnSpPr/>
          <p:nvPr/>
        </p:nvCxnSpPr>
        <p:spPr>
          <a:xfrm rot="10800000">
            <a:off x="4784475" y="1840650"/>
            <a:ext cx="0" cy="287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0" name="Google Shape;580;p67"/>
          <p:cNvCxnSpPr/>
          <p:nvPr/>
        </p:nvCxnSpPr>
        <p:spPr>
          <a:xfrm>
            <a:off x="4784475" y="4719750"/>
            <a:ext cx="361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1" name="Google Shape;581;p67"/>
          <p:cNvSpPr/>
          <p:nvPr/>
        </p:nvSpPr>
        <p:spPr>
          <a:xfrm rot="5400000">
            <a:off x="4648325" y="3604650"/>
            <a:ext cx="164100" cy="141900"/>
          </a:xfrm>
          <a:prstGeom prst="triangle">
            <a:avLst>
              <a:gd fmla="val 50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67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67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67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67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67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67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8" name="Google Shape;588;p67"/>
          <p:cNvCxnSpPr>
            <a:stCxn id="587" idx="2"/>
          </p:cNvCxnSpPr>
          <p:nvPr/>
        </p:nvCxnSpPr>
        <p:spPr>
          <a:xfrm rot="10800000">
            <a:off x="4826638" y="2640350"/>
            <a:ext cx="1870500" cy="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89" name="Google Shape;589;p67"/>
          <p:cNvCxnSpPr>
            <a:stCxn id="583" idx="2"/>
          </p:cNvCxnSpPr>
          <p:nvPr/>
        </p:nvCxnSpPr>
        <p:spPr>
          <a:xfrm rot="10800000">
            <a:off x="4784350" y="3111325"/>
            <a:ext cx="1207500" cy="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90" name="Google Shape;590;p67"/>
          <p:cNvCxnSpPr>
            <a:stCxn id="584" idx="2"/>
          </p:cNvCxnSpPr>
          <p:nvPr/>
        </p:nvCxnSpPr>
        <p:spPr>
          <a:xfrm rot="10800000">
            <a:off x="4793050" y="3444950"/>
            <a:ext cx="1740000" cy="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91" name="Google Shape;591;p67"/>
          <p:cNvCxnSpPr>
            <a:stCxn id="582" idx="2"/>
          </p:cNvCxnSpPr>
          <p:nvPr/>
        </p:nvCxnSpPr>
        <p:spPr>
          <a:xfrm rot="10800000">
            <a:off x="4801250" y="3839700"/>
            <a:ext cx="388500" cy="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92" name="Google Shape;592;p67"/>
          <p:cNvCxnSpPr/>
          <p:nvPr/>
        </p:nvCxnSpPr>
        <p:spPr>
          <a:xfrm rot="10800000">
            <a:off x="4809950" y="3839700"/>
            <a:ext cx="932400" cy="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593" name="Google Shape;593;p67"/>
          <p:cNvCxnSpPr>
            <a:stCxn id="586" idx="2"/>
          </p:cNvCxnSpPr>
          <p:nvPr/>
        </p:nvCxnSpPr>
        <p:spPr>
          <a:xfrm rot="10800000">
            <a:off x="4809938" y="4371200"/>
            <a:ext cx="543900" cy="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9" name="Google Shape;599;p6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Standardize the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0" name="Google Shape;600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1" name="Google Shape;601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2" name="Google Shape;602;p68"/>
          <p:cNvGraphicFramePr/>
          <p:nvPr/>
        </p:nvGraphicFramePr>
        <p:xfrm>
          <a:off x="851200" y="182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{E4652C5D-73B6-494B-A267-D9B0767A13FD}</a:tableStyleId>
              </a:tblPr>
              <a:tblGrid>
                <a:gridCol w="1488300"/>
                <a:gridCol w="1488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03" name="Google Shape;603;p68"/>
          <p:cNvCxnSpPr/>
          <p:nvPr/>
        </p:nvCxnSpPr>
        <p:spPr>
          <a:xfrm rot="10800000">
            <a:off x="4784475" y="1840650"/>
            <a:ext cx="0" cy="287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4" name="Google Shape;604;p68"/>
          <p:cNvCxnSpPr/>
          <p:nvPr/>
        </p:nvCxnSpPr>
        <p:spPr>
          <a:xfrm>
            <a:off x="4784475" y="4719750"/>
            <a:ext cx="361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5" name="Google Shape;605;p68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68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68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68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68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68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1" name="Google Shape;611;p68"/>
          <p:cNvCxnSpPr>
            <a:stCxn id="605" idx="4"/>
          </p:cNvCxnSpPr>
          <p:nvPr/>
        </p:nvCxnSpPr>
        <p:spPr>
          <a:xfrm>
            <a:off x="5271800" y="3921750"/>
            <a:ext cx="0" cy="8148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12" name="Google Shape;612;p68"/>
          <p:cNvCxnSpPr>
            <a:stCxn id="608" idx="4"/>
          </p:cNvCxnSpPr>
          <p:nvPr/>
        </p:nvCxnSpPr>
        <p:spPr>
          <a:xfrm>
            <a:off x="5850575" y="3921750"/>
            <a:ext cx="0" cy="7980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68"/>
          <p:cNvCxnSpPr>
            <a:stCxn id="606" idx="4"/>
          </p:cNvCxnSpPr>
          <p:nvPr/>
        </p:nvCxnSpPr>
        <p:spPr>
          <a:xfrm>
            <a:off x="6073900" y="3193375"/>
            <a:ext cx="0" cy="15348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14" name="Google Shape;614;p68"/>
          <p:cNvCxnSpPr>
            <a:stCxn id="610" idx="4"/>
          </p:cNvCxnSpPr>
          <p:nvPr/>
        </p:nvCxnSpPr>
        <p:spPr>
          <a:xfrm>
            <a:off x="6779188" y="2722400"/>
            <a:ext cx="0" cy="20142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15" name="Google Shape;615;p68"/>
          <p:cNvCxnSpPr>
            <a:stCxn id="607" idx="4"/>
          </p:cNvCxnSpPr>
          <p:nvPr/>
        </p:nvCxnSpPr>
        <p:spPr>
          <a:xfrm>
            <a:off x="6615100" y="3527000"/>
            <a:ext cx="0" cy="11928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16" name="Google Shape;616;p68"/>
          <p:cNvCxnSpPr>
            <a:stCxn id="609" idx="4"/>
          </p:cNvCxnSpPr>
          <p:nvPr/>
        </p:nvCxnSpPr>
        <p:spPr>
          <a:xfrm>
            <a:off x="5435888" y="4453250"/>
            <a:ext cx="0" cy="2751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2" name="Google Shape;622;p6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Standardize the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3" name="Google Shape;623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4" name="Google Shape;624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25" name="Google Shape;625;p69"/>
          <p:cNvGraphicFramePr/>
          <p:nvPr/>
        </p:nvGraphicFramePr>
        <p:xfrm>
          <a:off x="851200" y="182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{E4652C5D-73B6-494B-A267-D9B0767A13FD}</a:tableStyleId>
              </a:tblPr>
              <a:tblGrid>
                <a:gridCol w="1488300"/>
                <a:gridCol w="1488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26" name="Google Shape;626;p69"/>
          <p:cNvCxnSpPr/>
          <p:nvPr/>
        </p:nvCxnSpPr>
        <p:spPr>
          <a:xfrm rot="10800000">
            <a:off x="4784475" y="1840650"/>
            <a:ext cx="0" cy="287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7" name="Google Shape;627;p69"/>
          <p:cNvCxnSpPr/>
          <p:nvPr/>
        </p:nvCxnSpPr>
        <p:spPr>
          <a:xfrm>
            <a:off x="4784475" y="4719750"/>
            <a:ext cx="361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8" name="Google Shape;628;p69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69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69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69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69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69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4" name="Google Shape;634;p69"/>
          <p:cNvCxnSpPr>
            <a:stCxn id="628" idx="4"/>
          </p:cNvCxnSpPr>
          <p:nvPr/>
        </p:nvCxnSpPr>
        <p:spPr>
          <a:xfrm>
            <a:off x="5271800" y="3921750"/>
            <a:ext cx="0" cy="8148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35" name="Google Shape;635;p69"/>
          <p:cNvCxnSpPr>
            <a:stCxn id="631" idx="4"/>
          </p:cNvCxnSpPr>
          <p:nvPr/>
        </p:nvCxnSpPr>
        <p:spPr>
          <a:xfrm>
            <a:off x="5850575" y="3921750"/>
            <a:ext cx="0" cy="7980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36" name="Google Shape;636;p69"/>
          <p:cNvCxnSpPr>
            <a:stCxn id="629" idx="4"/>
          </p:cNvCxnSpPr>
          <p:nvPr/>
        </p:nvCxnSpPr>
        <p:spPr>
          <a:xfrm>
            <a:off x="6073900" y="3193375"/>
            <a:ext cx="0" cy="15348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37" name="Google Shape;637;p69"/>
          <p:cNvCxnSpPr>
            <a:stCxn id="633" idx="4"/>
          </p:cNvCxnSpPr>
          <p:nvPr/>
        </p:nvCxnSpPr>
        <p:spPr>
          <a:xfrm>
            <a:off x="6779188" y="2722400"/>
            <a:ext cx="0" cy="20142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38" name="Google Shape;638;p69"/>
          <p:cNvCxnSpPr>
            <a:stCxn id="630" idx="4"/>
          </p:cNvCxnSpPr>
          <p:nvPr/>
        </p:nvCxnSpPr>
        <p:spPr>
          <a:xfrm>
            <a:off x="6615100" y="3527000"/>
            <a:ext cx="0" cy="11928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39" name="Google Shape;639;p69"/>
          <p:cNvCxnSpPr>
            <a:stCxn id="632" idx="4"/>
          </p:cNvCxnSpPr>
          <p:nvPr/>
        </p:nvCxnSpPr>
        <p:spPr>
          <a:xfrm>
            <a:off x="5435888" y="4453250"/>
            <a:ext cx="0" cy="2751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640" name="Google Shape;640;p69"/>
          <p:cNvSpPr/>
          <p:nvPr/>
        </p:nvSpPr>
        <p:spPr>
          <a:xfrm>
            <a:off x="5768525" y="4728150"/>
            <a:ext cx="164100" cy="141900"/>
          </a:xfrm>
          <a:prstGeom prst="triangle">
            <a:avLst>
              <a:gd fmla="val 50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p7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Standardize the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7" name="Google Shape;647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8" name="Google Shape;648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9" name="Google Shape;649;p70"/>
          <p:cNvGraphicFramePr/>
          <p:nvPr/>
        </p:nvGraphicFramePr>
        <p:xfrm>
          <a:off x="851200" y="182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{E4652C5D-73B6-494B-A267-D9B0767A13FD}</a:tableStyleId>
              </a:tblPr>
              <a:tblGrid>
                <a:gridCol w="1488300"/>
                <a:gridCol w="1488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50" name="Google Shape;650;p70"/>
          <p:cNvCxnSpPr/>
          <p:nvPr/>
        </p:nvCxnSpPr>
        <p:spPr>
          <a:xfrm rot="10800000">
            <a:off x="4784475" y="1840650"/>
            <a:ext cx="0" cy="287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1" name="Google Shape;651;p70"/>
          <p:cNvCxnSpPr/>
          <p:nvPr/>
        </p:nvCxnSpPr>
        <p:spPr>
          <a:xfrm>
            <a:off x="4784475" y="4719750"/>
            <a:ext cx="361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2" name="Google Shape;652;p70"/>
          <p:cNvSpPr/>
          <p:nvPr/>
        </p:nvSpPr>
        <p:spPr>
          <a:xfrm>
            <a:off x="5768525" y="4728150"/>
            <a:ext cx="164100" cy="141900"/>
          </a:xfrm>
          <a:prstGeom prst="triangle">
            <a:avLst>
              <a:gd fmla="val 50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70"/>
          <p:cNvSpPr/>
          <p:nvPr/>
        </p:nvSpPr>
        <p:spPr>
          <a:xfrm rot="5400000">
            <a:off x="4648325" y="3604650"/>
            <a:ext cx="164100" cy="141900"/>
          </a:xfrm>
          <a:prstGeom prst="triangle">
            <a:avLst>
              <a:gd fmla="val 50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70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70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70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70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70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70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5" name="Google Shape;665;p7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Standardize the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6" name="Google Shape;666;p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7" name="Google Shape;667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8" name="Google Shape;668;p71"/>
          <p:cNvGraphicFramePr/>
          <p:nvPr/>
        </p:nvGraphicFramePr>
        <p:xfrm>
          <a:off x="851200" y="182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{E4652C5D-73B6-494B-A267-D9B0767A13FD}</a:tableStyleId>
              </a:tblPr>
              <a:tblGrid>
                <a:gridCol w="1488300"/>
                <a:gridCol w="1488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69" name="Google Shape;669;p71"/>
          <p:cNvCxnSpPr/>
          <p:nvPr/>
        </p:nvCxnSpPr>
        <p:spPr>
          <a:xfrm rot="10800000">
            <a:off x="4784475" y="1840650"/>
            <a:ext cx="0" cy="287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0" name="Google Shape;670;p71"/>
          <p:cNvCxnSpPr/>
          <p:nvPr/>
        </p:nvCxnSpPr>
        <p:spPr>
          <a:xfrm>
            <a:off x="4784475" y="4719750"/>
            <a:ext cx="3613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1" name="Google Shape;671;p71"/>
          <p:cNvSpPr/>
          <p:nvPr/>
        </p:nvSpPr>
        <p:spPr>
          <a:xfrm>
            <a:off x="5768525" y="4728150"/>
            <a:ext cx="164100" cy="141900"/>
          </a:xfrm>
          <a:prstGeom prst="triangle">
            <a:avLst>
              <a:gd fmla="val 50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71"/>
          <p:cNvSpPr/>
          <p:nvPr/>
        </p:nvSpPr>
        <p:spPr>
          <a:xfrm rot="5400000">
            <a:off x="4648325" y="3604650"/>
            <a:ext cx="164100" cy="141900"/>
          </a:xfrm>
          <a:prstGeom prst="triangle">
            <a:avLst>
              <a:gd fmla="val 50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71"/>
          <p:cNvSpPr/>
          <p:nvPr/>
        </p:nvSpPr>
        <p:spPr>
          <a:xfrm>
            <a:off x="5757275" y="3586950"/>
            <a:ext cx="186600" cy="1773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4" name="Google Shape;674;p71"/>
          <p:cNvCxnSpPr/>
          <p:nvPr/>
        </p:nvCxnSpPr>
        <p:spPr>
          <a:xfrm>
            <a:off x="4877525" y="3675600"/>
            <a:ext cx="835800" cy="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71"/>
          <p:cNvCxnSpPr>
            <a:stCxn id="671" idx="0"/>
            <a:endCxn id="673" idx="3"/>
          </p:cNvCxnSpPr>
          <p:nvPr/>
        </p:nvCxnSpPr>
        <p:spPr>
          <a:xfrm rot="10800000">
            <a:off x="5850575" y="3764250"/>
            <a:ext cx="0" cy="9639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76" name="Google Shape;676;p71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71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71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71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71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71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7" name="Google Shape;687;p7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Standardize the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8" name="Google Shape;688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89" name="Google Shape;689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0" name="Google Shape;690;p72"/>
          <p:cNvGraphicFramePr/>
          <p:nvPr/>
        </p:nvGraphicFramePr>
        <p:xfrm>
          <a:off x="851200" y="182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{E4652C5D-73B6-494B-A267-D9B0767A13FD}</a:tableStyleId>
              </a:tblPr>
              <a:tblGrid>
                <a:gridCol w="1488300"/>
                <a:gridCol w="1488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691" name="Google Shape;691;p72"/>
          <p:cNvCxnSpPr/>
          <p:nvPr/>
        </p:nvCxnSpPr>
        <p:spPr>
          <a:xfrm rot="10800000">
            <a:off x="4784475" y="1840675"/>
            <a:ext cx="0" cy="32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92" name="Google Shape;692;p72"/>
          <p:cNvCxnSpPr/>
          <p:nvPr/>
        </p:nvCxnSpPr>
        <p:spPr>
          <a:xfrm>
            <a:off x="4429875" y="4719750"/>
            <a:ext cx="3967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93" name="Google Shape;693;p72"/>
          <p:cNvSpPr/>
          <p:nvPr/>
        </p:nvSpPr>
        <p:spPr>
          <a:xfrm>
            <a:off x="5757275" y="3586950"/>
            <a:ext cx="186600" cy="1773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72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72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72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72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72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72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5" name="Google Shape;705;p7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Standardize the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6" name="Google Shape;706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7" name="Google Shape;707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8" name="Google Shape;708;p73"/>
          <p:cNvCxnSpPr/>
          <p:nvPr/>
        </p:nvCxnSpPr>
        <p:spPr>
          <a:xfrm rot="10800000">
            <a:off x="5165475" y="1459800"/>
            <a:ext cx="0" cy="346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09" name="Google Shape;709;p73"/>
          <p:cNvCxnSpPr/>
          <p:nvPr/>
        </p:nvCxnSpPr>
        <p:spPr>
          <a:xfrm>
            <a:off x="4218800" y="4338750"/>
            <a:ext cx="4560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10" name="Google Shape;710;p73"/>
          <p:cNvSpPr/>
          <p:nvPr/>
        </p:nvSpPr>
        <p:spPr>
          <a:xfrm>
            <a:off x="5757275" y="3586950"/>
            <a:ext cx="186600" cy="1773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73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73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73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73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73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73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2" name="Google Shape;722;p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Standardize the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3" name="Google Shape;723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4" name="Google Shape;724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5" name="Google Shape;725;p74"/>
          <p:cNvCxnSpPr/>
          <p:nvPr/>
        </p:nvCxnSpPr>
        <p:spPr>
          <a:xfrm rot="10800000">
            <a:off x="5622675" y="1595600"/>
            <a:ext cx="0" cy="330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26" name="Google Shape;726;p74"/>
          <p:cNvCxnSpPr/>
          <p:nvPr/>
        </p:nvCxnSpPr>
        <p:spPr>
          <a:xfrm>
            <a:off x="4497425" y="3957750"/>
            <a:ext cx="4221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27" name="Google Shape;727;p74"/>
          <p:cNvSpPr/>
          <p:nvPr/>
        </p:nvSpPr>
        <p:spPr>
          <a:xfrm>
            <a:off x="5757275" y="3586950"/>
            <a:ext cx="186600" cy="1773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74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74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74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74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74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74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9" name="Google Shape;739;p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Standardize the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40" name="Google Shape;740;p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41" name="Google Shape;741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2" name="Google Shape;742;p75"/>
          <p:cNvCxnSpPr/>
          <p:nvPr/>
        </p:nvCxnSpPr>
        <p:spPr>
          <a:xfrm rot="10800000">
            <a:off x="5848325" y="1840850"/>
            <a:ext cx="0" cy="320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3" name="Google Shape;743;p75"/>
          <p:cNvCxnSpPr/>
          <p:nvPr/>
        </p:nvCxnSpPr>
        <p:spPr>
          <a:xfrm>
            <a:off x="4193475" y="3672800"/>
            <a:ext cx="36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44" name="Google Shape;744;p75"/>
          <p:cNvSpPr/>
          <p:nvPr/>
        </p:nvSpPr>
        <p:spPr>
          <a:xfrm>
            <a:off x="5757275" y="3586950"/>
            <a:ext cx="186600" cy="1773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75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75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75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75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75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75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6" name="Google Shape;756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covariance matrix for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57" name="Google Shape;757;p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58" name="Google Shape;758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9" name="Google Shape;759;p76"/>
          <p:cNvCxnSpPr/>
          <p:nvPr/>
        </p:nvCxnSpPr>
        <p:spPr>
          <a:xfrm rot="10800000">
            <a:off x="5848325" y="1840850"/>
            <a:ext cx="0" cy="320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60" name="Google Shape;760;p76"/>
          <p:cNvCxnSpPr/>
          <p:nvPr/>
        </p:nvCxnSpPr>
        <p:spPr>
          <a:xfrm>
            <a:off x="4193475" y="3672800"/>
            <a:ext cx="36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61" name="Google Shape;761;p76"/>
          <p:cNvSpPr/>
          <p:nvPr/>
        </p:nvSpPr>
        <p:spPr>
          <a:xfrm>
            <a:off x="5757275" y="3586950"/>
            <a:ext cx="186600" cy="1773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76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76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76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76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76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76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3" name="Google Shape;773;p77"/>
          <p:cNvSpPr txBox="1"/>
          <p:nvPr>
            <p:ph idx="1" type="body"/>
          </p:nvPr>
        </p:nvSpPr>
        <p:spPr>
          <a:xfrm>
            <a:off x="311700" y="1152475"/>
            <a:ext cx="86841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Linear transformation of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74" name="Google Shape;774;p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75" name="Google Shape;775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6" name="Google Shape;776;p77"/>
          <p:cNvCxnSpPr/>
          <p:nvPr/>
        </p:nvCxnSpPr>
        <p:spPr>
          <a:xfrm rot="10800000">
            <a:off x="1853013" y="173962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77" name="Google Shape;777;p77"/>
          <p:cNvCxnSpPr/>
          <p:nvPr/>
        </p:nvCxnSpPr>
        <p:spPr>
          <a:xfrm>
            <a:off x="240375" y="319520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78" name="Google Shape;778;p77"/>
          <p:cNvSpPr/>
          <p:nvPr/>
        </p:nvSpPr>
        <p:spPr>
          <a:xfrm>
            <a:off x="2258275" y="2625825"/>
            <a:ext cx="160500" cy="160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9" name="Google Shape;779;p77"/>
          <p:cNvCxnSpPr/>
          <p:nvPr/>
        </p:nvCxnSpPr>
        <p:spPr>
          <a:xfrm rot="10800000">
            <a:off x="7208338" y="176477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80" name="Google Shape;780;p77"/>
          <p:cNvCxnSpPr/>
          <p:nvPr/>
        </p:nvCxnSpPr>
        <p:spPr>
          <a:xfrm>
            <a:off x="5595700" y="322035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81" name="Google Shape;781;p77"/>
          <p:cNvSpPr txBox="1"/>
          <p:nvPr/>
        </p:nvSpPr>
        <p:spPr>
          <a:xfrm>
            <a:off x="2437275" y="2321875"/>
            <a:ext cx="65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(1,1)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7" name="Google Shape;787;p78"/>
          <p:cNvSpPr txBox="1"/>
          <p:nvPr>
            <p:ph idx="1" type="body"/>
          </p:nvPr>
        </p:nvSpPr>
        <p:spPr>
          <a:xfrm>
            <a:off x="311700" y="1152475"/>
            <a:ext cx="86841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Linear transformation of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8" name="Google Shape;788;p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89" name="Google Shape;789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0" name="Google Shape;790;p78"/>
          <p:cNvCxnSpPr/>
          <p:nvPr/>
        </p:nvCxnSpPr>
        <p:spPr>
          <a:xfrm rot="10800000">
            <a:off x="1853013" y="173962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91" name="Google Shape;791;p78"/>
          <p:cNvCxnSpPr/>
          <p:nvPr/>
        </p:nvCxnSpPr>
        <p:spPr>
          <a:xfrm>
            <a:off x="240375" y="319520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92" name="Google Shape;792;p78"/>
          <p:cNvSpPr/>
          <p:nvPr/>
        </p:nvSpPr>
        <p:spPr>
          <a:xfrm>
            <a:off x="2258275" y="2625825"/>
            <a:ext cx="160500" cy="160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3" name="Google Shape;793;p78"/>
          <p:cNvCxnSpPr/>
          <p:nvPr/>
        </p:nvCxnSpPr>
        <p:spPr>
          <a:xfrm rot="10800000">
            <a:off x="7208338" y="176477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94" name="Google Shape;794;p78"/>
          <p:cNvCxnSpPr/>
          <p:nvPr/>
        </p:nvCxnSpPr>
        <p:spPr>
          <a:xfrm>
            <a:off x="5595700" y="322035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95" name="Google Shape;795;p78"/>
          <p:cNvSpPr/>
          <p:nvPr/>
        </p:nvSpPr>
        <p:spPr>
          <a:xfrm>
            <a:off x="4134150" y="361262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78"/>
          <p:cNvSpPr/>
          <p:nvPr/>
        </p:nvSpPr>
        <p:spPr>
          <a:xfrm flipH="1">
            <a:off x="4777850" y="361262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78"/>
          <p:cNvSpPr txBox="1"/>
          <p:nvPr/>
        </p:nvSpPr>
        <p:spPr>
          <a:xfrm>
            <a:off x="2437275" y="2321875"/>
            <a:ext cx="65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(1,1)</a:t>
            </a:r>
            <a:endParaRPr/>
          </a:p>
        </p:txBody>
      </p:sp>
      <p:sp>
        <p:nvSpPr>
          <p:cNvPr id="798" name="Google Shape;798;p78"/>
          <p:cNvSpPr txBox="1"/>
          <p:nvPr/>
        </p:nvSpPr>
        <p:spPr>
          <a:xfrm>
            <a:off x="4025088" y="3724525"/>
            <a:ext cx="109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a1   b1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a2  b2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4" name="Google Shape;804;p79"/>
          <p:cNvSpPr txBox="1"/>
          <p:nvPr>
            <p:ph idx="1" type="body"/>
          </p:nvPr>
        </p:nvSpPr>
        <p:spPr>
          <a:xfrm>
            <a:off x="311700" y="1152475"/>
            <a:ext cx="86841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Linear transformation of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5" name="Google Shape;805;p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6" name="Google Shape;806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7" name="Google Shape;807;p79"/>
          <p:cNvCxnSpPr/>
          <p:nvPr/>
        </p:nvCxnSpPr>
        <p:spPr>
          <a:xfrm rot="10800000">
            <a:off x="1853013" y="173962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08" name="Google Shape;808;p79"/>
          <p:cNvCxnSpPr/>
          <p:nvPr/>
        </p:nvCxnSpPr>
        <p:spPr>
          <a:xfrm>
            <a:off x="240375" y="319520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09" name="Google Shape;809;p79"/>
          <p:cNvSpPr/>
          <p:nvPr/>
        </p:nvSpPr>
        <p:spPr>
          <a:xfrm>
            <a:off x="2258275" y="2625825"/>
            <a:ext cx="160500" cy="160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0" name="Google Shape;810;p79"/>
          <p:cNvCxnSpPr/>
          <p:nvPr/>
        </p:nvCxnSpPr>
        <p:spPr>
          <a:xfrm rot="10800000">
            <a:off x="7208338" y="176477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11" name="Google Shape;811;p79"/>
          <p:cNvCxnSpPr/>
          <p:nvPr/>
        </p:nvCxnSpPr>
        <p:spPr>
          <a:xfrm>
            <a:off x="5595700" y="322035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2" name="Google Shape;812;p79"/>
          <p:cNvSpPr/>
          <p:nvPr/>
        </p:nvSpPr>
        <p:spPr>
          <a:xfrm>
            <a:off x="4134150" y="361262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79"/>
          <p:cNvSpPr/>
          <p:nvPr/>
        </p:nvSpPr>
        <p:spPr>
          <a:xfrm flipH="1">
            <a:off x="4777850" y="361262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79"/>
          <p:cNvSpPr txBox="1"/>
          <p:nvPr/>
        </p:nvSpPr>
        <p:spPr>
          <a:xfrm>
            <a:off x="2437275" y="2321875"/>
            <a:ext cx="65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(1,1)</a:t>
            </a:r>
            <a:endParaRPr/>
          </a:p>
        </p:txBody>
      </p:sp>
      <p:sp>
        <p:nvSpPr>
          <p:cNvPr id="815" name="Google Shape;815;p79"/>
          <p:cNvSpPr txBox="1"/>
          <p:nvPr/>
        </p:nvSpPr>
        <p:spPr>
          <a:xfrm>
            <a:off x="4025088" y="3724525"/>
            <a:ext cx="109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a1   b1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a2  b2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6" name="Google Shape;816;p79"/>
          <p:cNvSpPr txBox="1"/>
          <p:nvPr/>
        </p:nvSpPr>
        <p:spPr>
          <a:xfrm>
            <a:off x="3087375" y="1886925"/>
            <a:ext cx="331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(x,y) → (a1*x+b1*y,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a2*x+b2*y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) 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8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2" name="Google Shape;822;p80"/>
          <p:cNvSpPr txBox="1"/>
          <p:nvPr>
            <p:ph idx="1" type="body"/>
          </p:nvPr>
        </p:nvSpPr>
        <p:spPr>
          <a:xfrm>
            <a:off x="311700" y="1152475"/>
            <a:ext cx="86841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Linear transformation of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23" name="Google Shape;823;p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24" name="Google Shape;824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5" name="Google Shape;825;p80"/>
          <p:cNvCxnSpPr/>
          <p:nvPr/>
        </p:nvCxnSpPr>
        <p:spPr>
          <a:xfrm rot="10800000">
            <a:off x="1853013" y="173962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26" name="Google Shape;826;p80"/>
          <p:cNvCxnSpPr/>
          <p:nvPr/>
        </p:nvCxnSpPr>
        <p:spPr>
          <a:xfrm>
            <a:off x="240375" y="319520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27" name="Google Shape;827;p80"/>
          <p:cNvSpPr/>
          <p:nvPr/>
        </p:nvSpPr>
        <p:spPr>
          <a:xfrm>
            <a:off x="2258275" y="2625825"/>
            <a:ext cx="160500" cy="160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8" name="Google Shape;828;p80"/>
          <p:cNvCxnSpPr/>
          <p:nvPr/>
        </p:nvCxnSpPr>
        <p:spPr>
          <a:xfrm rot="10800000">
            <a:off x="7208338" y="176477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29" name="Google Shape;829;p80"/>
          <p:cNvCxnSpPr/>
          <p:nvPr/>
        </p:nvCxnSpPr>
        <p:spPr>
          <a:xfrm>
            <a:off x="5595700" y="322035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0" name="Google Shape;830;p80"/>
          <p:cNvSpPr/>
          <p:nvPr/>
        </p:nvSpPr>
        <p:spPr>
          <a:xfrm>
            <a:off x="4134150" y="361262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80"/>
          <p:cNvSpPr/>
          <p:nvPr/>
        </p:nvSpPr>
        <p:spPr>
          <a:xfrm flipH="1">
            <a:off x="4777850" y="361262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80"/>
          <p:cNvSpPr txBox="1"/>
          <p:nvPr/>
        </p:nvSpPr>
        <p:spPr>
          <a:xfrm>
            <a:off x="2437275" y="2321875"/>
            <a:ext cx="65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(1,1)</a:t>
            </a:r>
            <a:endParaRPr/>
          </a:p>
        </p:txBody>
      </p:sp>
      <p:sp>
        <p:nvSpPr>
          <p:cNvPr id="833" name="Google Shape;833;p80"/>
          <p:cNvSpPr txBox="1"/>
          <p:nvPr/>
        </p:nvSpPr>
        <p:spPr>
          <a:xfrm>
            <a:off x="3087375" y="1886925"/>
            <a:ext cx="331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(x,y) → (a1*x+b1*y,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a2*x+b2*y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) 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4" name="Google Shape;834;p80"/>
          <p:cNvSpPr/>
          <p:nvPr/>
        </p:nvSpPr>
        <p:spPr>
          <a:xfrm>
            <a:off x="8433350" y="1840975"/>
            <a:ext cx="160500" cy="160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80"/>
          <p:cNvSpPr txBox="1"/>
          <p:nvPr/>
        </p:nvSpPr>
        <p:spPr>
          <a:xfrm>
            <a:off x="7500050" y="2001475"/>
            <a:ext cx="139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(a1+b1,a2+b2)</a:t>
            </a:r>
            <a:endParaRPr/>
          </a:p>
        </p:txBody>
      </p:sp>
      <p:sp>
        <p:nvSpPr>
          <p:cNvPr id="836" name="Google Shape;836;p80"/>
          <p:cNvSpPr txBox="1"/>
          <p:nvPr/>
        </p:nvSpPr>
        <p:spPr>
          <a:xfrm>
            <a:off x="4025088" y="3724525"/>
            <a:ext cx="109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a1   b1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a2  b2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2" name="Google Shape;842;p81"/>
          <p:cNvSpPr txBox="1"/>
          <p:nvPr>
            <p:ph idx="1" type="body"/>
          </p:nvPr>
        </p:nvSpPr>
        <p:spPr>
          <a:xfrm>
            <a:off x="311700" y="1152475"/>
            <a:ext cx="86841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Linear transformation of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43" name="Google Shape;843;p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44" name="Google Shape;844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5" name="Google Shape;845;p81"/>
          <p:cNvCxnSpPr/>
          <p:nvPr/>
        </p:nvCxnSpPr>
        <p:spPr>
          <a:xfrm rot="10800000">
            <a:off x="1853013" y="173962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6" name="Google Shape;846;p81"/>
          <p:cNvCxnSpPr/>
          <p:nvPr/>
        </p:nvCxnSpPr>
        <p:spPr>
          <a:xfrm>
            <a:off x="240375" y="319520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7" name="Google Shape;847;p81"/>
          <p:cNvCxnSpPr/>
          <p:nvPr/>
        </p:nvCxnSpPr>
        <p:spPr>
          <a:xfrm rot="10800000">
            <a:off x="7208338" y="176477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8" name="Google Shape;848;p81"/>
          <p:cNvCxnSpPr/>
          <p:nvPr/>
        </p:nvCxnSpPr>
        <p:spPr>
          <a:xfrm>
            <a:off x="5595700" y="322035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9" name="Google Shape;849;p81"/>
          <p:cNvSpPr/>
          <p:nvPr/>
        </p:nvSpPr>
        <p:spPr>
          <a:xfrm>
            <a:off x="4134150" y="361262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81"/>
          <p:cNvSpPr/>
          <p:nvPr/>
        </p:nvSpPr>
        <p:spPr>
          <a:xfrm flipH="1">
            <a:off x="4777850" y="361262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81"/>
          <p:cNvSpPr txBox="1"/>
          <p:nvPr/>
        </p:nvSpPr>
        <p:spPr>
          <a:xfrm>
            <a:off x="4025088" y="3724525"/>
            <a:ext cx="109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a1   b1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a2  b2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2" name="Google Shape;852;p81"/>
          <p:cNvSpPr txBox="1"/>
          <p:nvPr/>
        </p:nvSpPr>
        <p:spPr>
          <a:xfrm>
            <a:off x="3087375" y="1886925"/>
            <a:ext cx="331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(x,y) → (a1*x+b1*y,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a2*x+b2*y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) 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53" name="Google Shape;853;p81"/>
          <p:cNvCxnSpPr/>
          <p:nvPr/>
        </p:nvCxnSpPr>
        <p:spPr>
          <a:xfrm flipH="1" rot="10800000">
            <a:off x="1863151" y="2879074"/>
            <a:ext cx="143400" cy="3039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4" name="Google Shape;854;p81"/>
          <p:cNvCxnSpPr/>
          <p:nvPr/>
        </p:nvCxnSpPr>
        <p:spPr>
          <a:xfrm flipH="1" rot="10800000">
            <a:off x="7208351" y="2384549"/>
            <a:ext cx="1282800" cy="8358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0" name="Google Shape;860;p82"/>
          <p:cNvSpPr txBox="1"/>
          <p:nvPr>
            <p:ph idx="1" type="body"/>
          </p:nvPr>
        </p:nvSpPr>
        <p:spPr>
          <a:xfrm>
            <a:off x="311700" y="1152475"/>
            <a:ext cx="86841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Linear transformation of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1" name="Google Shape;861;p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62" name="Google Shape;862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3" name="Google Shape;863;p82"/>
          <p:cNvCxnSpPr/>
          <p:nvPr/>
        </p:nvCxnSpPr>
        <p:spPr>
          <a:xfrm rot="10800000">
            <a:off x="1853013" y="173962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4" name="Google Shape;864;p82"/>
          <p:cNvCxnSpPr/>
          <p:nvPr/>
        </p:nvCxnSpPr>
        <p:spPr>
          <a:xfrm>
            <a:off x="240375" y="319520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5" name="Google Shape;865;p82"/>
          <p:cNvCxnSpPr/>
          <p:nvPr/>
        </p:nvCxnSpPr>
        <p:spPr>
          <a:xfrm rot="10800000">
            <a:off x="7208338" y="176477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6" name="Google Shape;866;p82"/>
          <p:cNvCxnSpPr/>
          <p:nvPr/>
        </p:nvCxnSpPr>
        <p:spPr>
          <a:xfrm>
            <a:off x="5595700" y="322035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67" name="Google Shape;867;p82"/>
          <p:cNvSpPr/>
          <p:nvPr/>
        </p:nvSpPr>
        <p:spPr>
          <a:xfrm>
            <a:off x="4134150" y="361262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82"/>
          <p:cNvSpPr/>
          <p:nvPr/>
        </p:nvSpPr>
        <p:spPr>
          <a:xfrm flipH="1">
            <a:off x="4777850" y="361262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82"/>
          <p:cNvSpPr/>
          <p:nvPr/>
        </p:nvSpPr>
        <p:spPr>
          <a:xfrm>
            <a:off x="1481475" y="2823650"/>
            <a:ext cx="743100" cy="743100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82"/>
          <p:cNvSpPr txBox="1"/>
          <p:nvPr/>
        </p:nvSpPr>
        <p:spPr>
          <a:xfrm>
            <a:off x="4025088" y="3724525"/>
            <a:ext cx="109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a1   b1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a2  b2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1" name="Google Shape;871;p82"/>
          <p:cNvSpPr txBox="1"/>
          <p:nvPr/>
        </p:nvSpPr>
        <p:spPr>
          <a:xfrm>
            <a:off x="3087375" y="1886925"/>
            <a:ext cx="331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(x,y) → (a1*x+b1*y,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a2*x+b2*y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) 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7" name="Google Shape;877;p83"/>
          <p:cNvSpPr txBox="1"/>
          <p:nvPr>
            <p:ph idx="1" type="body"/>
          </p:nvPr>
        </p:nvSpPr>
        <p:spPr>
          <a:xfrm>
            <a:off x="311700" y="1152475"/>
            <a:ext cx="86841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Linear transformation of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8" name="Google Shape;878;p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9" name="Google Shape;879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0" name="Google Shape;880;p83"/>
          <p:cNvCxnSpPr/>
          <p:nvPr/>
        </p:nvCxnSpPr>
        <p:spPr>
          <a:xfrm rot="10800000">
            <a:off x="1853013" y="173962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81" name="Google Shape;881;p83"/>
          <p:cNvCxnSpPr/>
          <p:nvPr/>
        </p:nvCxnSpPr>
        <p:spPr>
          <a:xfrm>
            <a:off x="240375" y="319520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82" name="Google Shape;882;p83"/>
          <p:cNvCxnSpPr/>
          <p:nvPr/>
        </p:nvCxnSpPr>
        <p:spPr>
          <a:xfrm rot="10800000">
            <a:off x="7208338" y="176477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83" name="Google Shape;883;p83"/>
          <p:cNvCxnSpPr/>
          <p:nvPr/>
        </p:nvCxnSpPr>
        <p:spPr>
          <a:xfrm>
            <a:off x="5595700" y="322035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4" name="Google Shape;884;p83"/>
          <p:cNvSpPr/>
          <p:nvPr/>
        </p:nvSpPr>
        <p:spPr>
          <a:xfrm>
            <a:off x="4134150" y="361262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83"/>
          <p:cNvSpPr/>
          <p:nvPr/>
        </p:nvSpPr>
        <p:spPr>
          <a:xfrm flipH="1">
            <a:off x="4777850" y="361262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83"/>
          <p:cNvSpPr/>
          <p:nvPr/>
        </p:nvSpPr>
        <p:spPr>
          <a:xfrm>
            <a:off x="1481475" y="2823650"/>
            <a:ext cx="743100" cy="743100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83"/>
          <p:cNvSpPr/>
          <p:nvPr/>
        </p:nvSpPr>
        <p:spPr>
          <a:xfrm rot="-1785461">
            <a:off x="6356177" y="2753443"/>
            <a:ext cx="1830827" cy="859449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83"/>
          <p:cNvSpPr txBox="1"/>
          <p:nvPr/>
        </p:nvSpPr>
        <p:spPr>
          <a:xfrm>
            <a:off x="4025088" y="3724525"/>
            <a:ext cx="109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a1   b1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a2  b2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9" name="Google Shape;889;p83"/>
          <p:cNvSpPr txBox="1"/>
          <p:nvPr/>
        </p:nvSpPr>
        <p:spPr>
          <a:xfrm>
            <a:off x="3087375" y="1886925"/>
            <a:ext cx="331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(x,y) → (a1*x+b1*y,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a2*x+b2*y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) 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5" name="Google Shape;895;p84"/>
          <p:cNvSpPr txBox="1"/>
          <p:nvPr>
            <p:ph idx="1" type="body"/>
          </p:nvPr>
        </p:nvSpPr>
        <p:spPr>
          <a:xfrm>
            <a:off x="311700" y="1152475"/>
            <a:ext cx="86841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Linear transformation of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96" name="Google Shape;896;p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7" name="Google Shape;897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8" name="Google Shape;898;p84"/>
          <p:cNvCxnSpPr/>
          <p:nvPr/>
        </p:nvCxnSpPr>
        <p:spPr>
          <a:xfrm rot="10800000">
            <a:off x="1853013" y="173962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99" name="Google Shape;899;p84"/>
          <p:cNvCxnSpPr/>
          <p:nvPr/>
        </p:nvCxnSpPr>
        <p:spPr>
          <a:xfrm>
            <a:off x="240375" y="319520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00" name="Google Shape;900;p84"/>
          <p:cNvCxnSpPr/>
          <p:nvPr/>
        </p:nvCxnSpPr>
        <p:spPr>
          <a:xfrm rot="10800000">
            <a:off x="7208338" y="176477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01" name="Google Shape;901;p84"/>
          <p:cNvCxnSpPr/>
          <p:nvPr/>
        </p:nvCxnSpPr>
        <p:spPr>
          <a:xfrm>
            <a:off x="5595700" y="322035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2" name="Google Shape;902;p84"/>
          <p:cNvSpPr/>
          <p:nvPr/>
        </p:nvSpPr>
        <p:spPr>
          <a:xfrm>
            <a:off x="4134150" y="361262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84"/>
          <p:cNvSpPr/>
          <p:nvPr/>
        </p:nvSpPr>
        <p:spPr>
          <a:xfrm flipH="1">
            <a:off x="4777850" y="361262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84"/>
          <p:cNvSpPr/>
          <p:nvPr/>
        </p:nvSpPr>
        <p:spPr>
          <a:xfrm>
            <a:off x="1481475" y="2823650"/>
            <a:ext cx="743100" cy="743100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84"/>
          <p:cNvSpPr/>
          <p:nvPr/>
        </p:nvSpPr>
        <p:spPr>
          <a:xfrm rot="-1785461">
            <a:off x="6356177" y="2753443"/>
            <a:ext cx="1830827" cy="859449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6" name="Google Shape;906;p84"/>
          <p:cNvCxnSpPr>
            <a:endCxn id="904" idx="7"/>
          </p:cNvCxnSpPr>
          <p:nvPr/>
        </p:nvCxnSpPr>
        <p:spPr>
          <a:xfrm flipH="1" rot="10800000">
            <a:off x="1863151" y="2932474"/>
            <a:ext cx="252600" cy="250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7" name="Google Shape;907;p84"/>
          <p:cNvCxnSpPr>
            <a:endCxn id="905" idx="6"/>
          </p:cNvCxnSpPr>
          <p:nvPr/>
        </p:nvCxnSpPr>
        <p:spPr>
          <a:xfrm flipH="1" rot="10800000">
            <a:off x="7208291" y="2728818"/>
            <a:ext cx="858000" cy="4542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8" name="Google Shape;908;p84"/>
          <p:cNvSpPr txBox="1"/>
          <p:nvPr/>
        </p:nvSpPr>
        <p:spPr>
          <a:xfrm>
            <a:off x="4025088" y="3724525"/>
            <a:ext cx="109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a1   b1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a2  b2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9" name="Google Shape;909;p84"/>
          <p:cNvSpPr txBox="1"/>
          <p:nvPr/>
        </p:nvSpPr>
        <p:spPr>
          <a:xfrm>
            <a:off x="3087375" y="1886925"/>
            <a:ext cx="331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(x,y) → (a1*x+b1*y,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a2*x+b2*y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) 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5" name="Google Shape;915;p85"/>
          <p:cNvSpPr txBox="1"/>
          <p:nvPr>
            <p:ph idx="1" type="body"/>
          </p:nvPr>
        </p:nvSpPr>
        <p:spPr>
          <a:xfrm>
            <a:off x="311700" y="1152475"/>
            <a:ext cx="86841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EigenVector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Directional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16" name="Google Shape;916;p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7" name="Google Shape;917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8" name="Google Shape;918;p85"/>
          <p:cNvCxnSpPr/>
          <p:nvPr/>
        </p:nvCxnSpPr>
        <p:spPr>
          <a:xfrm rot="10800000">
            <a:off x="1853013" y="173962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9" name="Google Shape;919;p85"/>
          <p:cNvCxnSpPr/>
          <p:nvPr/>
        </p:nvCxnSpPr>
        <p:spPr>
          <a:xfrm>
            <a:off x="240375" y="319520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20" name="Google Shape;920;p85"/>
          <p:cNvCxnSpPr/>
          <p:nvPr/>
        </p:nvCxnSpPr>
        <p:spPr>
          <a:xfrm rot="10800000">
            <a:off x="7208338" y="176477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21" name="Google Shape;921;p85"/>
          <p:cNvCxnSpPr/>
          <p:nvPr/>
        </p:nvCxnSpPr>
        <p:spPr>
          <a:xfrm>
            <a:off x="5595700" y="322035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22" name="Google Shape;922;p85"/>
          <p:cNvSpPr txBox="1"/>
          <p:nvPr/>
        </p:nvSpPr>
        <p:spPr>
          <a:xfrm>
            <a:off x="2381750" y="3548900"/>
            <a:ext cx="95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1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1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3" name="Google Shape;923;p85"/>
          <p:cNvSpPr/>
          <p:nvPr/>
        </p:nvSpPr>
        <p:spPr>
          <a:xfrm>
            <a:off x="2381750" y="3570025"/>
            <a:ext cx="236400" cy="7431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85"/>
          <p:cNvSpPr/>
          <p:nvPr/>
        </p:nvSpPr>
        <p:spPr>
          <a:xfrm flipH="1">
            <a:off x="2736088" y="3572125"/>
            <a:ext cx="236400" cy="7389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85"/>
          <p:cNvSpPr/>
          <p:nvPr/>
        </p:nvSpPr>
        <p:spPr>
          <a:xfrm>
            <a:off x="1481475" y="2823650"/>
            <a:ext cx="743100" cy="743100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85"/>
          <p:cNvSpPr/>
          <p:nvPr/>
        </p:nvSpPr>
        <p:spPr>
          <a:xfrm rot="-1785461">
            <a:off x="6356177" y="2753443"/>
            <a:ext cx="1830827" cy="859449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7" name="Google Shape;927;p85"/>
          <p:cNvCxnSpPr>
            <a:endCxn id="925" idx="7"/>
          </p:cNvCxnSpPr>
          <p:nvPr/>
        </p:nvCxnSpPr>
        <p:spPr>
          <a:xfrm flipH="1" rot="10800000">
            <a:off x="1863151" y="2932474"/>
            <a:ext cx="252600" cy="250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8" name="Google Shape;928;p85"/>
          <p:cNvCxnSpPr>
            <a:endCxn id="926" idx="6"/>
          </p:cNvCxnSpPr>
          <p:nvPr/>
        </p:nvCxnSpPr>
        <p:spPr>
          <a:xfrm flipH="1" rot="10800000">
            <a:off x="7208291" y="2728818"/>
            <a:ext cx="858000" cy="4542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9" name="Google Shape;929;p85"/>
          <p:cNvSpPr txBox="1"/>
          <p:nvPr/>
        </p:nvSpPr>
        <p:spPr>
          <a:xfrm>
            <a:off x="3087375" y="1886925"/>
            <a:ext cx="331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(x,y) → (a1*x+b1*y,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a2*x+b2*y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) 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5" name="Google Shape;935;p86"/>
          <p:cNvSpPr txBox="1"/>
          <p:nvPr>
            <p:ph idx="1" type="body"/>
          </p:nvPr>
        </p:nvSpPr>
        <p:spPr>
          <a:xfrm>
            <a:off x="311700" y="1152475"/>
            <a:ext cx="86841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EigenVector: Directional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6" name="Google Shape;936;p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7" name="Google Shape;937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8" name="Google Shape;938;p86"/>
          <p:cNvCxnSpPr/>
          <p:nvPr/>
        </p:nvCxnSpPr>
        <p:spPr>
          <a:xfrm rot="10800000">
            <a:off x="1853013" y="173962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39" name="Google Shape;939;p86"/>
          <p:cNvCxnSpPr/>
          <p:nvPr/>
        </p:nvCxnSpPr>
        <p:spPr>
          <a:xfrm>
            <a:off x="240375" y="319520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0" name="Google Shape;940;p86"/>
          <p:cNvCxnSpPr/>
          <p:nvPr/>
        </p:nvCxnSpPr>
        <p:spPr>
          <a:xfrm rot="10800000">
            <a:off x="7208338" y="176477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1" name="Google Shape;941;p86"/>
          <p:cNvCxnSpPr/>
          <p:nvPr/>
        </p:nvCxnSpPr>
        <p:spPr>
          <a:xfrm>
            <a:off x="5595700" y="322035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2" name="Google Shape;942;p86"/>
          <p:cNvSpPr txBox="1"/>
          <p:nvPr/>
        </p:nvSpPr>
        <p:spPr>
          <a:xfrm>
            <a:off x="2381750" y="3548900"/>
            <a:ext cx="95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1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1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3" name="Google Shape;943;p86"/>
          <p:cNvSpPr/>
          <p:nvPr/>
        </p:nvSpPr>
        <p:spPr>
          <a:xfrm>
            <a:off x="2381750" y="3570025"/>
            <a:ext cx="236400" cy="7431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86"/>
          <p:cNvSpPr/>
          <p:nvPr/>
        </p:nvSpPr>
        <p:spPr>
          <a:xfrm flipH="1">
            <a:off x="2736088" y="3572125"/>
            <a:ext cx="236400" cy="7389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86"/>
          <p:cNvSpPr/>
          <p:nvPr/>
        </p:nvSpPr>
        <p:spPr>
          <a:xfrm>
            <a:off x="1481475" y="2823650"/>
            <a:ext cx="743100" cy="743100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86"/>
          <p:cNvSpPr/>
          <p:nvPr/>
        </p:nvSpPr>
        <p:spPr>
          <a:xfrm rot="-1785461">
            <a:off x="6356177" y="2753443"/>
            <a:ext cx="1830827" cy="859449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7" name="Google Shape;947;p86"/>
          <p:cNvCxnSpPr>
            <a:endCxn id="945" idx="7"/>
          </p:cNvCxnSpPr>
          <p:nvPr/>
        </p:nvCxnSpPr>
        <p:spPr>
          <a:xfrm flipH="1" rot="10800000">
            <a:off x="1863151" y="2932474"/>
            <a:ext cx="252600" cy="250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8" name="Google Shape;948;p86"/>
          <p:cNvCxnSpPr>
            <a:endCxn id="946" idx="6"/>
          </p:cNvCxnSpPr>
          <p:nvPr/>
        </p:nvCxnSpPr>
        <p:spPr>
          <a:xfrm flipH="1" rot="10800000">
            <a:off x="7208291" y="2728818"/>
            <a:ext cx="858000" cy="4542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" name="Google Shape;949;p86"/>
          <p:cNvSpPr txBox="1"/>
          <p:nvPr/>
        </p:nvSpPr>
        <p:spPr>
          <a:xfrm>
            <a:off x="3087375" y="1886925"/>
            <a:ext cx="331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(x,y) → (a1*x+b1*y,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a2*x+b2*y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) 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0" name="Google Shape;950;p86"/>
          <p:cNvSpPr txBox="1"/>
          <p:nvPr/>
        </p:nvSpPr>
        <p:spPr>
          <a:xfrm>
            <a:off x="7777375" y="3536238"/>
            <a:ext cx="95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2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2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1" name="Google Shape;951;p86"/>
          <p:cNvSpPr/>
          <p:nvPr/>
        </p:nvSpPr>
        <p:spPr>
          <a:xfrm>
            <a:off x="7777375" y="3557363"/>
            <a:ext cx="236400" cy="7431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6"/>
          <p:cNvSpPr/>
          <p:nvPr/>
        </p:nvSpPr>
        <p:spPr>
          <a:xfrm flipH="1">
            <a:off x="8131713" y="3559463"/>
            <a:ext cx="236400" cy="7389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8" name="Google Shape;958;p87"/>
          <p:cNvSpPr txBox="1"/>
          <p:nvPr>
            <p:ph idx="1" type="body"/>
          </p:nvPr>
        </p:nvSpPr>
        <p:spPr>
          <a:xfrm>
            <a:off x="311700" y="1152475"/>
            <a:ext cx="86841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EigenValue: Magnitude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9" name="Google Shape;959;p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0" name="Google Shape;960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1" name="Google Shape;961;p87"/>
          <p:cNvCxnSpPr/>
          <p:nvPr/>
        </p:nvCxnSpPr>
        <p:spPr>
          <a:xfrm rot="10800000">
            <a:off x="1853013" y="173962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62" name="Google Shape;962;p87"/>
          <p:cNvCxnSpPr/>
          <p:nvPr/>
        </p:nvCxnSpPr>
        <p:spPr>
          <a:xfrm>
            <a:off x="240375" y="319520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63" name="Google Shape;963;p87"/>
          <p:cNvCxnSpPr/>
          <p:nvPr/>
        </p:nvCxnSpPr>
        <p:spPr>
          <a:xfrm rot="10800000">
            <a:off x="7208338" y="176477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64" name="Google Shape;964;p87"/>
          <p:cNvCxnSpPr/>
          <p:nvPr/>
        </p:nvCxnSpPr>
        <p:spPr>
          <a:xfrm>
            <a:off x="5595700" y="322035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65" name="Google Shape;965;p87"/>
          <p:cNvSpPr txBox="1"/>
          <p:nvPr/>
        </p:nvSpPr>
        <p:spPr>
          <a:xfrm>
            <a:off x="2381750" y="3548900"/>
            <a:ext cx="95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1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1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6" name="Google Shape;966;p87"/>
          <p:cNvSpPr/>
          <p:nvPr/>
        </p:nvSpPr>
        <p:spPr>
          <a:xfrm>
            <a:off x="2381750" y="3570025"/>
            <a:ext cx="236400" cy="7431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87"/>
          <p:cNvSpPr/>
          <p:nvPr/>
        </p:nvSpPr>
        <p:spPr>
          <a:xfrm flipH="1">
            <a:off x="2736088" y="3572125"/>
            <a:ext cx="236400" cy="7389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87"/>
          <p:cNvSpPr/>
          <p:nvPr/>
        </p:nvSpPr>
        <p:spPr>
          <a:xfrm>
            <a:off x="1481475" y="2823650"/>
            <a:ext cx="743100" cy="743100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87"/>
          <p:cNvSpPr/>
          <p:nvPr/>
        </p:nvSpPr>
        <p:spPr>
          <a:xfrm rot="-1785461">
            <a:off x="6356177" y="2753443"/>
            <a:ext cx="1830827" cy="859449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0" name="Google Shape;970;p87"/>
          <p:cNvCxnSpPr>
            <a:endCxn id="968" idx="7"/>
          </p:cNvCxnSpPr>
          <p:nvPr/>
        </p:nvCxnSpPr>
        <p:spPr>
          <a:xfrm flipH="1" rot="10800000">
            <a:off x="1863151" y="2932474"/>
            <a:ext cx="252600" cy="250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1" name="Google Shape;971;p87"/>
          <p:cNvCxnSpPr>
            <a:endCxn id="969" idx="6"/>
          </p:cNvCxnSpPr>
          <p:nvPr/>
        </p:nvCxnSpPr>
        <p:spPr>
          <a:xfrm flipH="1" rot="10800000">
            <a:off x="7208291" y="2728818"/>
            <a:ext cx="858000" cy="4542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2" name="Google Shape;972;p87"/>
          <p:cNvSpPr/>
          <p:nvPr/>
        </p:nvSpPr>
        <p:spPr>
          <a:xfrm>
            <a:off x="4092838" y="383867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87"/>
          <p:cNvSpPr/>
          <p:nvPr/>
        </p:nvSpPr>
        <p:spPr>
          <a:xfrm flipH="1">
            <a:off x="4736538" y="383867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87"/>
          <p:cNvSpPr txBox="1"/>
          <p:nvPr/>
        </p:nvSpPr>
        <p:spPr>
          <a:xfrm>
            <a:off x="3983775" y="3950575"/>
            <a:ext cx="109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a1   b1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a2  b2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5" name="Google Shape;975;p87"/>
          <p:cNvSpPr txBox="1"/>
          <p:nvPr/>
        </p:nvSpPr>
        <p:spPr>
          <a:xfrm>
            <a:off x="7777375" y="3536238"/>
            <a:ext cx="95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2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2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6" name="Google Shape;976;p87"/>
          <p:cNvSpPr/>
          <p:nvPr/>
        </p:nvSpPr>
        <p:spPr>
          <a:xfrm>
            <a:off x="7777375" y="3557363"/>
            <a:ext cx="236400" cy="7431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7"/>
          <p:cNvSpPr/>
          <p:nvPr/>
        </p:nvSpPr>
        <p:spPr>
          <a:xfrm flipH="1">
            <a:off x="8131713" y="3559463"/>
            <a:ext cx="236400" cy="7389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87"/>
          <p:cNvSpPr txBox="1"/>
          <p:nvPr/>
        </p:nvSpPr>
        <p:spPr>
          <a:xfrm>
            <a:off x="3087375" y="1886925"/>
            <a:ext cx="331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(x,y) → (a1*x+b1*y,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a2*x+b2*y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) 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4" name="Google Shape;984;p88"/>
          <p:cNvSpPr txBox="1"/>
          <p:nvPr>
            <p:ph idx="1" type="body"/>
          </p:nvPr>
        </p:nvSpPr>
        <p:spPr>
          <a:xfrm>
            <a:off x="311700" y="1152475"/>
            <a:ext cx="86841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EigenValue: Magnitude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85" name="Google Shape;985;p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6" name="Google Shape;986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7" name="Google Shape;987;p88"/>
          <p:cNvCxnSpPr/>
          <p:nvPr/>
        </p:nvCxnSpPr>
        <p:spPr>
          <a:xfrm rot="10800000">
            <a:off x="1853013" y="173962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8" name="Google Shape;988;p88"/>
          <p:cNvCxnSpPr/>
          <p:nvPr/>
        </p:nvCxnSpPr>
        <p:spPr>
          <a:xfrm>
            <a:off x="240375" y="319520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9" name="Google Shape;989;p88"/>
          <p:cNvCxnSpPr/>
          <p:nvPr/>
        </p:nvCxnSpPr>
        <p:spPr>
          <a:xfrm rot="10800000">
            <a:off x="7208338" y="176477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0" name="Google Shape;990;p88"/>
          <p:cNvCxnSpPr/>
          <p:nvPr/>
        </p:nvCxnSpPr>
        <p:spPr>
          <a:xfrm>
            <a:off x="5595700" y="322035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1" name="Google Shape;991;p88"/>
          <p:cNvSpPr txBox="1"/>
          <p:nvPr/>
        </p:nvSpPr>
        <p:spPr>
          <a:xfrm>
            <a:off x="2381750" y="3548900"/>
            <a:ext cx="95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1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1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2" name="Google Shape;992;p88"/>
          <p:cNvSpPr/>
          <p:nvPr/>
        </p:nvSpPr>
        <p:spPr>
          <a:xfrm>
            <a:off x="2381750" y="3570025"/>
            <a:ext cx="236400" cy="7431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88"/>
          <p:cNvSpPr/>
          <p:nvPr/>
        </p:nvSpPr>
        <p:spPr>
          <a:xfrm flipH="1">
            <a:off x="2736088" y="3572125"/>
            <a:ext cx="236400" cy="7389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88"/>
          <p:cNvSpPr/>
          <p:nvPr/>
        </p:nvSpPr>
        <p:spPr>
          <a:xfrm>
            <a:off x="1481475" y="2823650"/>
            <a:ext cx="743100" cy="743100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88"/>
          <p:cNvSpPr/>
          <p:nvPr/>
        </p:nvSpPr>
        <p:spPr>
          <a:xfrm rot="-1785461">
            <a:off x="6356177" y="2753443"/>
            <a:ext cx="1830827" cy="859449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6" name="Google Shape;996;p88"/>
          <p:cNvCxnSpPr>
            <a:endCxn id="994" idx="7"/>
          </p:cNvCxnSpPr>
          <p:nvPr/>
        </p:nvCxnSpPr>
        <p:spPr>
          <a:xfrm flipH="1" rot="10800000">
            <a:off x="1863151" y="2932474"/>
            <a:ext cx="252600" cy="250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7" name="Google Shape;997;p88"/>
          <p:cNvCxnSpPr>
            <a:endCxn id="995" idx="6"/>
          </p:cNvCxnSpPr>
          <p:nvPr/>
        </p:nvCxnSpPr>
        <p:spPr>
          <a:xfrm flipH="1" rot="10800000">
            <a:off x="7208291" y="2728818"/>
            <a:ext cx="858000" cy="4542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8" name="Google Shape;998;p88"/>
          <p:cNvSpPr/>
          <p:nvPr/>
        </p:nvSpPr>
        <p:spPr>
          <a:xfrm>
            <a:off x="4092838" y="383867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88"/>
          <p:cNvSpPr/>
          <p:nvPr/>
        </p:nvSpPr>
        <p:spPr>
          <a:xfrm flipH="1">
            <a:off x="4736538" y="3838675"/>
            <a:ext cx="236400" cy="9627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88"/>
          <p:cNvSpPr txBox="1"/>
          <p:nvPr/>
        </p:nvSpPr>
        <p:spPr>
          <a:xfrm>
            <a:off x="3983775" y="3950575"/>
            <a:ext cx="109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a1   b1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a2  b2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1" name="Google Shape;1001;p88"/>
          <p:cNvSpPr txBox="1"/>
          <p:nvPr/>
        </p:nvSpPr>
        <p:spPr>
          <a:xfrm>
            <a:off x="2115750" y="2355775"/>
            <a:ext cx="684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|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√2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|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2" name="Google Shape;1002;p88"/>
          <p:cNvSpPr txBox="1"/>
          <p:nvPr/>
        </p:nvSpPr>
        <p:spPr>
          <a:xfrm>
            <a:off x="8102425" y="2389975"/>
            <a:ext cx="85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|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√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8|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3" name="Google Shape;1003;p88"/>
          <p:cNvSpPr txBox="1"/>
          <p:nvPr/>
        </p:nvSpPr>
        <p:spPr>
          <a:xfrm>
            <a:off x="7777375" y="3536238"/>
            <a:ext cx="95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2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2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4" name="Google Shape;1004;p88"/>
          <p:cNvSpPr/>
          <p:nvPr/>
        </p:nvSpPr>
        <p:spPr>
          <a:xfrm>
            <a:off x="7777375" y="3557363"/>
            <a:ext cx="236400" cy="7431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88"/>
          <p:cNvSpPr/>
          <p:nvPr/>
        </p:nvSpPr>
        <p:spPr>
          <a:xfrm flipH="1">
            <a:off x="8131713" y="3559463"/>
            <a:ext cx="236400" cy="7389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88"/>
          <p:cNvSpPr txBox="1"/>
          <p:nvPr/>
        </p:nvSpPr>
        <p:spPr>
          <a:xfrm>
            <a:off x="3087375" y="1886925"/>
            <a:ext cx="331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(x,y) → (a1*x+b1*y,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a2*x+b2*y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) 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2" name="Google Shape;1012;p89"/>
          <p:cNvSpPr txBox="1"/>
          <p:nvPr>
            <p:ph idx="1" type="body"/>
          </p:nvPr>
        </p:nvSpPr>
        <p:spPr>
          <a:xfrm>
            <a:off x="311700" y="1152475"/>
            <a:ext cx="86841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Orthogonal EigenVector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13" name="Google Shape;1013;p8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4" name="Google Shape;1014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5" name="Google Shape;1015;p89"/>
          <p:cNvCxnSpPr/>
          <p:nvPr/>
        </p:nvCxnSpPr>
        <p:spPr>
          <a:xfrm rot="10800000">
            <a:off x="1853013" y="173962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6" name="Google Shape;1016;p89"/>
          <p:cNvCxnSpPr/>
          <p:nvPr/>
        </p:nvCxnSpPr>
        <p:spPr>
          <a:xfrm>
            <a:off x="240375" y="319520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7" name="Google Shape;1017;p89"/>
          <p:cNvCxnSpPr/>
          <p:nvPr/>
        </p:nvCxnSpPr>
        <p:spPr>
          <a:xfrm rot="10800000">
            <a:off x="7208338" y="176477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8" name="Google Shape;1018;p89"/>
          <p:cNvCxnSpPr/>
          <p:nvPr/>
        </p:nvCxnSpPr>
        <p:spPr>
          <a:xfrm>
            <a:off x="5595700" y="322035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19" name="Google Shape;1019;p89"/>
          <p:cNvSpPr/>
          <p:nvPr/>
        </p:nvSpPr>
        <p:spPr>
          <a:xfrm>
            <a:off x="1481475" y="2823650"/>
            <a:ext cx="743100" cy="743100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89"/>
          <p:cNvSpPr/>
          <p:nvPr/>
        </p:nvSpPr>
        <p:spPr>
          <a:xfrm rot="-1785461">
            <a:off x="6356177" y="2753443"/>
            <a:ext cx="1830827" cy="859449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1" name="Google Shape;1021;p89"/>
          <p:cNvCxnSpPr>
            <a:endCxn id="1019" idx="7"/>
          </p:cNvCxnSpPr>
          <p:nvPr/>
        </p:nvCxnSpPr>
        <p:spPr>
          <a:xfrm flipH="1" rot="10800000">
            <a:off x="1863151" y="2932474"/>
            <a:ext cx="252600" cy="250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2" name="Google Shape;1022;p89"/>
          <p:cNvCxnSpPr>
            <a:endCxn id="1020" idx="6"/>
          </p:cNvCxnSpPr>
          <p:nvPr/>
        </p:nvCxnSpPr>
        <p:spPr>
          <a:xfrm flipH="1" rot="10800000">
            <a:off x="7208291" y="2728818"/>
            <a:ext cx="858000" cy="4542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3" name="Google Shape;1023;p89"/>
          <p:cNvSpPr txBox="1"/>
          <p:nvPr/>
        </p:nvSpPr>
        <p:spPr>
          <a:xfrm>
            <a:off x="3087375" y="1886925"/>
            <a:ext cx="331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(x,y) → (a1*x+b1*y,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a2*x+b2*y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) 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24" name="Google Shape;1024;p89"/>
          <p:cNvCxnSpPr>
            <a:endCxn id="1019" idx="1"/>
          </p:cNvCxnSpPr>
          <p:nvPr/>
        </p:nvCxnSpPr>
        <p:spPr>
          <a:xfrm rot="10800000">
            <a:off x="1590299" y="2932474"/>
            <a:ext cx="252600" cy="2628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5" name="Google Shape;1025;p89"/>
          <p:cNvCxnSpPr/>
          <p:nvPr/>
        </p:nvCxnSpPr>
        <p:spPr>
          <a:xfrm rot="10800000">
            <a:off x="6920649" y="2908174"/>
            <a:ext cx="287700" cy="2991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1" name="Google Shape;1031;p90"/>
          <p:cNvSpPr txBox="1"/>
          <p:nvPr>
            <p:ph idx="1" type="body"/>
          </p:nvPr>
        </p:nvSpPr>
        <p:spPr>
          <a:xfrm>
            <a:off x="311700" y="1152475"/>
            <a:ext cx="86841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EigenVector is just a linear transformation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2" name="Google Shape;1032;p9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3" name="Google Shape;1033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4" name="Google Shape;1034;p90"/>
          <p:cNvCxnSpPr/>
          <p:nvPr/>
        </p:nvCxnSpPr>
        <p:spPr>
          <a:xfrm rot="10800000">
            <a:off x="1853013" y="173962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5" name="Google Shape;1035;p90"/>
          <p:cNvCxnSpPr/>
          <p:nvPr/>
        </p:nvCxnSpPr>
        <p:spPr>
          <a:xfrm>
            <a:off x="240375" y="319520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6" name="Google Shape;1036;p90"/>
          <p:cNvCxnSpPr/>
          <p:nvPr/>
        </p:nvCxnSpPr>
        <p:spPr>
          <a:xfrm rot="10800000">
            <a:off x="7208338" y="1764775"/>
            <a:ext cx="0" cy="283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7" name="Google Shape;1037;p90"/>
          <p:cNvCxnSpPr/>
          <p:nvPr/>
        </p:nvCxnSpPr>
        <p:spPr>
          <a:xfrm>
            <a:off x="5595700" y="3220353"/>
            <a:ext cx="322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38" name="Google Shape;1038;p90"/>
          <p:cNvSpPr/>
          <p:nvPr/>
        </p:nvSpPr>
        <p:spPr>
          <a:xfrm>
            <a:off x="1481475" y="2823650"/>
            <a:ext cx="743100" cy="743100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90"/>
          <p:cNvSpPr/>
          <p:nvPr/>
        </p:nvSpPr>
        <p:spPr>
          <a:xfrm rot="-1785461">
            <a:off x="6356177" y="2753443"/>
            <a:ext cx="1830827" cy="859449"/>
          </a:xfrm>
          <a:prstGeom prst="ellipse">
            <a:avLst/>
          </a:prstGeom>
          <a:solidFill>
            <a:srgbClr val="D63737">
              <a:alpha val="55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0" name="Google Shape;1040;p90"/>
          <p:cNvCxnSpPr>
            <a:endCxn id="1038" idx="7"/>
          </p:cNvCxnSpPr>
          <p:nvPr/>
        </p:nvCxnSpPr>
        <p:spPr>
          <a:xfrm flipH="1" rot="10800000">
            <a:off x="1863151" y="2932474"/>
            <a:ext cx="252600" cy="250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1" name="Google Shape;1041;p90"/>
          <p:cNvCxnSpPr>
            <a:endCxn id="1039" idx="6"/>
          </p:cNvCxnSpPr>
          <p:nvPr/>
        </p:nvCxnSpPr>
        <p:spPr>
          <a:xfrm flipH="1" rot="10800000">
            <a:off x="7208291" y="2728818"/>
            <a:ext cx="858000" cy="4542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2" name="Google Shape;1042;p90"/>
          <p:cNvSpPr txBox="1"/>
          <p:nvPr/>
        </p:nvSpPr>
        <p:spPr>
          <a:xfrm>
            <a:off x="3087375" y="1886925"/>
            <a:ext cx="331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(x,y) → (a1*x+b1*y,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a2*x+b2*y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) 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43" name="Google Shape;1043;p90"/>
          <p:cNvCxnSpPr>
            <a:endCxn id="1038" idx="1"/>
          </p:cNvCxnSpPr>
          <p:nvPr/>
        </p:nvCxnSpPr>
        <p:spPr>
          <a:xfrm rot="10800000">
            <a:off x="1590299" y="2932474"/>
            <a:ext cx="252600" cy="2628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4" name="Google Shape;1044;p90"/>
          <p:cNvCxnSpPr/>
          <p:nvPr/>
        </p:nvCxnSpPr>
        <p:spPr>
          <a:xfrm rot="10800000">
            <a:off x="6920649" y="2908174"/>
            <a:ext cx="287700" cy="2991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0" name="Google Shape;1050;p9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Apply Linear Transformation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1" name="Google Shape;1051;p9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2" name="Google Shape;1052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3" name="Google Shape;1053;p91"/>
          <p:cNvCxnSpPr/>
          <p:nvPr/>
        </p:nvCxnSpPr>
        <p:spPr>
          <a:xfrm rot="10800000">
            <a:off x="5848325" y="1840850"/>
            <a:ext cx="0" cy="320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4" name="Google Shape;1054;p91"/>
          <p:cNvCxnSpPr/>
          <p:nvPr/>
        </p:nvCxnSpPr>
        <p:spPr>
          <a:xfrm>
            <a:off x="4193475" y="3672800"/>
            <a:ext cx="36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5" name="Google Shape;1055;p91"/>
          <p:cNvSpPr/>
          <p:nvPr/>
        </p:nvSpPr>
        <p:spPr>
          <a:xfrm>
            <a:off x="5757275" y="3586950"/>
            <a:ext cx="186600" cy="1773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91"/>
          <p:cNvSpPr txBox="1"/>
          <p:nvPr/>
        </p:nvSpPr>
        <p:spPr>
          <a:xfrm>
            <a:off x="1086350" y="2558300"/>
            <a:ext cx="263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Var(X)       Cov(X,Y)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Cov(X,Y)     Var(Y)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7" name="Google Shape;1057;p91"/>
          <p:cNvSpPr/>
          <p:nvPr/>
        </p:nvSpPr>
        <p:spPr>
          <a:xfrm>
            <a:off x="116235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91"/>
          <p:cNvSpPr/>
          <p:nvPr/>
        </p:nvSpPr>
        <p:spPr>
          <a:xfrm flipH="1">
            <a:off x="328200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91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91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91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91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91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91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9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0" name="Google Shape;1070;p9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Apply Linear Transformation: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71" name="Google Shape;1071;p9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72" name="Google Shape;1072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3" name="Google Shape;1073;p92"/>
          <p:cNvCxnSpPr/>
          <p:nvPr/>
        </p:nvCxnSpPr>
        <p:spPr>
          <a:xfrm rot="10800000">
            <a:off x="5848325" y="1840850"/>
            <a:ext cx="0" cy="320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74" name="Google Shape;1074;p92"/>
          <p:cNvCxnSpPr/>
          <p:nvPr/>
        </p:nvCxnSpPr>
        <p:spPr>
          <a:xfrm>
            <a:off x="4193475" y="3672800"/>
            <a:ext cx="36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5" name="Google Shape;1075;p92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92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92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92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92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92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92"/>
          <p:cNvSpPr txBox="1"/>
          <p:nvPr/>
        </p:nvSpPr>
        <p:spPr>
          <a:xfrm>
            <a:off x="1086350" y="2558300"/>
            <a:ext cx="263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Var(X)       Cov(X,Y)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Cov(X,Y)     Var(Y)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2" name="Google Shape;1082;p92"/>
          <p:cNvSpPr/>
          <p:nvPr/>
        </p:nvSpPr>
        <p:spPr>
          <a:xfrm>
            <a:off x="116235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92"/>
          <p:cNvSpPr/>
          <p:nvPr/>
        </p:nvSpPr>
        <p:spPr>
          <a:xfrm flipH="1">
            <a:off x="328200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4" name="Google Shape;1084;p92"/>
          <p:cNvCxnSpPr>
            <a:stCxn id="1070" idx="2"/>
          </p:cNvCxnSpPr>
          <p:nvPr/>
        </p:nvCxnSpPr>
        <p:spPr>
          <a:xfrm flipH="1" rot="10800000">
            <a:off x="4653750" y="2364175"/>
            <a:ext cx="2891700" cy="2204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9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0" name="Google Shape;1090;p9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Apply Linear Transformation: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91" name="Google Shape;1091;p9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92" name="Google Shape;1092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3" name="Google Shape;1093;p93"/>
          <p:cNvCxnSpPr/>
          <p:nvPr/>
        </p:nvCxnSpPr>
        <p:spPr>
          <a:xfrm rot="10800000">
            <a:off x="5848325" y="1840850"/>
            <a:ext cx="0" cy="320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4" name="Google Shape;1094;p93"/>
          <p:cNvCxnSpPr/>
          <p:nvPr/>
        </p:nvCxnSpPr>
        <p:spPr>
          <a:xfrm>
            <a:off x="4193475" y="3672800"/>
            <a:ext cx="36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5" name="Google Shape;1095;p93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93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93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93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93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93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93"/>
          <p:cNvSpPr txBox="1"/>
          <p:nvPr/>
        </p:nvSpPr>
        <p:spPr>
          <a:xfrm>
            <a:off x="1086350" y="2558300"/>
            <a:ext cx="263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Var(X)       Cov(X,Y)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Cov(X,Y)     Var(Y)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2" name="Google Shape;1102;p93"/>
          <p:cNvSpPr/>
          <p:nvPr/>
        </p:nvSpPr>
        <p:spPr>
          <a:xfrm>
            <a:off x="116235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93"/>
          <p:cNvSpPr/>
          <p:nvPr/>
        </p:nvSpPr>
        <p:spPr>
          <a:xfrm flipH="1">
            <a:off x="328200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4" name="Google Shape;1104;p93"/>
          <p:cNvCxnSpPr>
            <a:stCxn id="1090" idx="2"/>
          </p:cNvCxnSpPr>
          <p:nvPr/>
        </p:nvCxnSpPr>
        <p:spPr>
          <a:xfrm flipH="1" rot="10800000">
            <a:off x="4653750" y="2364175"/>
            <a:ext cx="2891700" cy="2204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5" name="Google Shape;1105;p93"/>
          <p:cNvCxnSpPr/>
          <p:nvPr/>
        </p:nvCxnSpPr>
        <p:spPr>
          <a:xfrm rot="10800000">
            <a:off x="5290775" y="2965250"/>
            <a:ext cx="1114800" cy="13830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1" name="Google Shape;1111;p9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EigenValue measures variance explained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2" name="Google Shape;1112;p9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3" name="Google Shape;1113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4" name="Google Shape;1114;p94"/>
          <p:cNvCxnSpPr/>
          <p:nvPr/>
        </p:nvCxnSpPr>
        <p:spPr>
          <a:xfrm rot="10800000">
            <a:off x="5848325" y="1840850"/>
            <a:ext cx="0" cy="320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15" name="Google Shape;1115;p94"/>
          <p:cNvCxnSpPr/>
          <p:nvPr/>
        </p:nvCxnSpPr>
        <p:spPr>
          <a:xfrm>
            <a:off x="4193475" y="3672800"/>
            <a:ext cx="36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16" name="Google Shape;1116;p94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94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94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94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94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94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94"/>
          <p:cNvSpPr txBox="1"/>
          <p:nvPr/>
        </p:nvSpPr>
        <p:spPr>
          <a:xfrm>
            <a:off x="1086350" y="2558300"/>
            <a:ext cx="263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Var(X)       Cov(X,Y)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Cov(X,Y)     Var(Y)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3" name="Google Shape;1123;p94"/>
          <p:cNvSpPr/>
          <p:nvPr/>
        </p:nvSpPr>
        <p:spPr>
          <a:xfrm>
            <a:off x="116235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94"/>
          <p:cNvSpPr/>
          <p:nvPr/>
        </p:nvSpPr>
        <p:spPr>
          <a:xfrm flipH="1">
            <a:off x="328200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5" name="Google Shape;1125;p94"/>
          <p:cNvCxnSpPr/>
          <p:nvPr/>
        </p:nvCxnSpPr>
        <p:spPr>
          <a:xfrm flipH="1" rot="10800000">
            <a:off x="4653750" y="2364175"/>
            <a:ext cx="2891700" cy="2204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26" name="Google Shape;1126;p94"/>
          <p:cNvCxnSpPr/>
          <p:nvPr/>
        </p:nvCxnSpPr>
        <p:spPr>
          <a:xfrm rot="10800000">
            <a:off x="5290775" y="2965250"/>
            <a:ext cx="1114800" cy="13830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27" name="Google Shape;1127;p94"/>
          <p:cNvSpPr txBox="1"/>
          <p:nvPr/>
        </p:nvSpPr>
        <p:spPr>
          <a:xfrm>
            <a:off x="7545450" y="1919275"/>
            <a:ext cx="62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PC1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8" name="Google Shape;1128;p94"/>
          <p:cNvSpPr txBox="1"/>
          <p:nvPr/>
        </p:nvSpPr>
        <p:spPr>
          <a:xfrm>
            <a:off x="4795475" y="2503550"/>
            <a:ext cx="7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PC2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4" name="Google Shape;1134;p9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EigenValue measures variance explained: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35" name="Google Shape;1135;p9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6" name="Google Shape;1136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7" name="Google Shape;1137;p95"/>
          <p:cNvCxnSpPr/>
          <p:nvPr/>
        </p:nvCxnSpPr>
        <p:spPr>
          <a:xfrm rot="10800000">
            <a:off x="5848325" y="1840850"/>
            <a:ext cx="0" cy="320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38" name="Google Shape;1138;p95"/>
          <p:cNvCxnSpPr/>
          <p:nvPr/>
        </p:nvCxnSpPr>
        <p:spPr>
          <a:xfrm>
            <a:off x="4193475" y="3672800"/>
            <a:ext cx="36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9" name="Google Shape;1139;p95"/>
          <p:cNvSpPr/>
          <p:nvPr/>
        </p:nvSpPr>
        <p:spPr>
          <a:xfrm>
            <a:off x="5189750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5"/>
          <p:cNvSpPr/>
          <p:nvPr/>
        </p:nvSpPr>
        <p:spPr>
          <a:xfrm>
            <a:off x="5991850" y="3029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95"/>
          <p:cNvSpPr/>
          <p:nvPr/>
        </p:nvSpPr>
        <p:spPr>
          <a:xfrm>
            <a:off x="6533050" y="33629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95"/>
          <p:cNvSpPr/>
          <p:nvPr/>
        </p:nvSpPr>
        <p:spPr>
          <a:xfrm>
            <a:off x="5768525" y="37576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5"/>
          <p:cNvSpPr/>
          <p:nvPr/>
        </p:nvSpPr>
        <p:spPr>
          <a:xfrm>
            <a:off x="5353838" y="42891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95"/>
          <p:cNvSpPr/>
          <p:nvPr/>
        </p:nvSpPr>
        <p:spPr>
          <a:xfrm>
            <a:off x="6697138" y="25583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95"/>
          <p:cNvSpPr txBox="1"/>
          <p:nvPr/>
        </p:nvSpPr>
        <p:spPr>
          <a:xfrm>
            <a:off x="1086350" y="2558300"/>
            <a:ext cx="263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Var(X)       Cov(X,Y)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Cov(X,Y)     Var(Y)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6" name="Google Shape;1146;p95"/>
          <p:cNvSpPr/>
          <p:nvPr/>
        </p:nvSpPr>
        <p:spPr>
          <a:xfrm>
            <a:off x="116235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95"/>
          <p:cNvSpPr/>
          <p:nvPr/>
        </p:nvSpPr>
        <p:spPr>
          <a:xfrm flipH="1">
            <a:off x="328200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8" name="Google Shape;1148;p95"/>
          <p:cNvCxnSpPr/>
          <p:nvPr/>
        </p:nvCxnSpPr>
        <p:spPr>
          <a:xfrm flipH="1" rot="10800000">
            <a:off x="4653750" y="2364175"/>
            <a:ext cx="2891700" cy="2204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4" name="Google Shape;1154;p9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EigenValue measures variance explained: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55" name="Google Shape;1155;p9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56" name="Google Shape;1156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7" name="Google Shape;1157;p96"/>
          <p:cNvCxnSpPr/>
          <p:nvPr/>
        </p:nvCxnSpPr>
        <p:spPr>
          <a:xfrm rot="10800000">
            <a:off x="5848325" y="1840850"/>
            <a:ext cx="0" cy="320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58" name="Google Shape;1158;p96"/>
          <p:cNvCxnSpPr/>
          <p:nvPr/>
        </p:nvCxnSpPr>
        <p:spPr>
          <a:xfrm>
            <a:off x="4193475" y="3672800"/>
            <a:ext cx="36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59" name="Google Shape;1159;p96"/>
          <p:cNvSpPr/>
          <p:nvPr/>
        </p:nvSpPr>
        <p:spPr>
          <a:xfrm>
            <a:off x="5316400" y="39217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96"/>
          <p:cNvSpPr/>
          <p:nvPr/>
        </p:nvSpPr>
        <p:spPr>
          <a:xfrm>
            <a:off x="6177600" y="32403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96"/>
          <p:cNvSpPr/>
          <p:nvPr/>
        </p:nvSpPr>
        <p:spPr>
          <a:xfrm>
            <a:off x="6414850" y="3076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96"/>
          <p:cNvSpPr/>
          <p:nvPr/>
        </p:nvSpPr>
        <p:spPr>
          <a:xfrm>
            <a:off x="5650325" y="36728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96"/>
          <p:cNvSpPr/>
          <p:nvPr/>
        </p:nvSpPr>
        <p:spPr>
          <a:xfrm>
            <a:off x="5058338" y="41371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96"/>
          <p:cNvSpPr/>
          <p:nvPr/>
        </p:nvSpPr>
        <p:spPr>
          <a:xfrm>
            <a:off x="6874438" y="2710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96"/>
          <p:cNvSpPr txBox="1"/>
          <p:nvPr/>
        </p:nvSpPr>
        <p:spPr>
          <a:xfrm>
            <a:off x="1086350" y="2558300"/>
            <a:ext cx="263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Var(X)       Cov(X,Y)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Cov(X,Y)     Var(Y)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6" name="Google Shape;1166;p96"/>
          <p:cNvSpPr/>
          <p:nvPr/>
        </p:nvSpPr>
        <p:spPr>
          <a:xfrm>
            <a:off x="116235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96"/>
          <p:cNvSpPr/>
          <p:nvPr/>
        </p:nvSpPr>
        <p:spPr>
          <a:xfrm flipH="1">
            <a:off x="328200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8" name="Google Shape;1168;p96"/>
          <p:cNvCxnSpPr/>
          <p:nvPr/>
        </p:nvCxnSpPr>
        <p:spPr>
          <a:xfrm flipH="1" rot="10800000">
            <a:off x="4653750" y="2364175"/>
            <a:ext cx="2891700" cy="2204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4" name="Google Shape;1174;p9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EigenValue measures variance explained: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75" name="Google Shape;1175;p9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76" name="Google Shape;1176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7"/>
          <p:cNvSpPr/>
          <p:nvPr/>
        </p:nvSpPr>
        <p:spPr>
          <a:xfrm>
            <a:off x="5316400" y="392175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7"/>
          <p:cNvSpPr/>
          <p:nvPr/>
        </p:nvSpPr>
        <p:spPr>
          <a:xfrm>
            <a:off x="6177600" y="32403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97"/>
          <p:cNvSpPr/>
          <p:nvPr/>
        </p:nvSpPr>
        <p:spPr>
          <a:xfrm>
            <a:off x="6414850" y="3076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97"/>
          <p:cNvSpPr/>
          <p:nvPr/>
        </p:nvSpPr>
        <p:spPr>
          <a:xfrm>
            <a:off x="5650325" y="3672800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97"/>
          <p:cNvSpPr/>
          <p:nvPr/>
        </p:nvSpPr>
        <p:spPr>
          <a:xfrm>
            <a:off x="5058338" y="41371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97"/>
          <p:cNvSpPr/>
          <p:nvPr/>
        </p:nvSpPr>
        <p:spPr>
          <a:xfrm>
            <a:off x="6874438" y="2710275"/>
            <a:ext cx="164100" cy="16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97"/>
          <p:cNvSpPr txBox="1"/>
          <p:nvPr/>
        </p:nvSpPr>
        <p:spPr>
          <a:xfrm>
            <a:off x="1086350" y="2558300"/>
            <a:ext cx="263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Var(X)       Cov(X,Y)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Cov(X,Y)     Var(Y)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4" name="Google Shape;1184;p97"/>
          <p:cNvSpPr/>
          <p:nvPr/>
        </p:nvSpPr>
        <p:spPr>
          <a:xfrm>
            <a:off x="116235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97"/>
          <p:cNvSpPr/>
          <p:nvPr/>
        </p:nvSpPr>
        <p:spPr>
          <a:xfrm flipH="1">
            <a:off x="328200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6" name="Google Shape;1186;p97"/>
          <p:cNvCxnSpPr/>
          <p:nvPr/>
        </p:nvCxnSpPr>
        <p:spPr>
          <a:xfrm flipH="1" rot="10800000">
            <a:off x="4653750" y="2364175"/>
            <a:ext cx="2891700" cy="22047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2" name="Google Shape;1192;p9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EigenValue measures variance explained: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93" name="Google Shape;1193;p9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4" name="Google Shape;1194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8"/>
          <p:cNvSpPr/>
          <p:nvPr/>
        </p:nvSpPr>
        <p:spPr>
          <a:xfrm rot="2214704">
            <a:off x="5134003" y="3394454"/>
            <a:ext cx="164340" cy="16434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98"/>
          <p:cNvSpPr/>
          <p:nvPr/>
        </p:nvSpPr>
        <p:spPr>
          <a:xfrm rot="2214704">
            <a:off x="6231762" y="3384267"/>
            <a:ext cx="164340" cy="16434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98"/>
          <p:cNvSpPr/>
          <p:nvPr/>
        </p:nvSpPr>
        <p:spPr>
          <a:xfrm rot="2214704">
            <a:off x="6520032" y="3384261"/>
            <a:ext cx="164340" cy="16434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98"/>
          <p:cNvSpPr/>
          <p:nvPr/>
        </p:nvSpPr>
        <p:spPr>
          <a:xfrm rot="2214704">
            <a:off x="5550514" y="3395286"/>
            <a:ext cx="164340" cy="16434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98"/>
          <p:cNvSpPr/>
          <p:nvPr/>
        </p:nvSpPr>
        <p:spPr>
          <a:xfrm rot="2214704">
            <a:off x="4776475" y="3384248"/>
            <a:ext cx="164340" cy="16434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98"/>
          <p:cNvSpPr/>
          <p:nvPr/>
        </p:nvSpPr>
        <p:spPr>
          <a:xfrm rot="2214704">
            <a:off x="7098837" y="3384252"/>
            <a:ext cx="164340" cy="16434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98"/>
          <p:cNvSpPr txBox="1"/>
          <p:nvPr/>
        </p:nvSpPr>
        <p:spPr>
          <a:xfrm>
            <a:off x="1086350" y="2558300"/>
            <a:ext cx="263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Var(X)       Cov(X,Y)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 Cov(X,Y)     Var(Y)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2" name="Google Shape;1202;p98"/>
          <p:cNvSpPr/>
          <p:nvPr/>
        </p:nvSpPr>
        <p:spPr>
          <a:xfrm>
            <a:off x="116235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98"/>
          <p:cNvSpPr/>
          <p:nvPr/>
        </p:nvSpPr>
        <p:spPr>
          <a:xfrm flipH="1">
            <a:off x="3282000" y="2380975"/>
            <a:ext cx="236400" cy="11400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4" name="Google Shape;1204;p98"/>
          <p:cNvCxnSpPr/>
          <p:nvPr/>
        </p:nvCxnSpPr>
        <p:spPr>
          <a:xfrm flipH="1" rot="-8590659">
            <a:off x="4653682" y="2363993"/>
            <a:ext cx="2891701" cy="2204881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5" name="Google Shape;1205;p98"/>
          <p:cNvSpPr txBox="1"/>
          <p:nvPr/>
        </p:nvSpPr>
        <p:spPr>
          <a:xfrm>
            <a:off x="4666275" y="3592500"/>
            <a:ext cx="312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Principal Component 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Principal Component Analysis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1" name="Google Shape;1211;p9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PCA Steps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Get original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 Covariance Matrix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 EigenVectors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Sort EigenVectors by EigenValues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Choose 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largest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EigenValues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Project original data onto EigenVectors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12" name="Google Shape;1212;p9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3" name="Google Shape;1213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00"/>
          <p:cNvSpPr txBox="1"/>
          <p:nvPr>
            <p:ph type="ctrTitle"/>
          </p:nvPr>
        </p:nvSpPr>
        <p:spPr>
          <a:xfrm>
            <a:off x="311708" y="1098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Principal Component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9" name="Google Shape;1219;p100"/>
          <p:cNvSpPr txBox="1"/>
          <p:nvPr>
            <p:ph idx="1" type="subTitle"/>
          </p:nvPr>
        </p:nvSpPr>
        <p:spPr>
          <a:xfrm>
            <a:off x="311700" y="29725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Manual Implementation</a:t>
            </a:r>
            <a:endParaRPr/>
          </a:p>
        </p:txBody>
      </p:sp>
      <p:pic>
        <p:nvPicPr>
          <p:cNvPr descr="watermark.jpg" id="1220" name="Google Shape;1220;p10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1" name="Google Shape;1221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01"/>
          <p:cNvSpPr txBox="1"/>
          <p:nvPr>
            <p:ph type="ctrTitle"/>
          </p:nvPr>
        </p:nvSpPr>
        <p:spPr>
          <a:xfrm>
            <a:off x="311708" y="1098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Principal Component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7" name="Google Shape;1227;p101"/>
          <p:cNvSpPr txBox="1"/>
          <p:nvPr>
            <p:ph idx="1" type="subTitle"/>
          </p:nvPr>
        </p:nvSpPr>
        <p:spPr>
          <a:xfrm>
            <a:off x="311700" y="29725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Scikit-Learn Implementation</a:t>
            </a:r>
            <a:endParaRPr/>
          </a:p>
        </p:txBody>
      </p:sp>
      <p:pic>
        <p:nvPicPr>
          <p:cNvPr descr="watermark.jpg" id="1228" name="Google Shape;1228;p10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9" name="Google Shape;1229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102"/>
          <p:cNvSpPr txBox="1"/>
          <p:nvPr>
            <p:ph type="ctrTitle"/>
          </p:nvPr>
        </p:nvSpPr>
        <p:spPr>
          <a:xfrm>
            <a:off x="311708" y="1098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Principal Component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5" name="Google Shape;1235;p102"/>
          <p:cNvSpPr txBox="1"/>
          <p:nvPr>
            <p:ph idx="1" type="subTitle"/>
          </p:nvPr>
        </p:nvSpPr>
        <p:spPr>
          <a:xfrm>
            <a:off x="311700" y="29725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Exercise Solutions</a:t>
            </a:r>
            <a:endParaRPr/>
          </a:p>
        </p:txBody>
      </p:sp>
      <p:pic>
        <p:nvPicPr>
          <p:cNvPr descr="watermark.jpg" id="1236" name="Google Shape;1236;p10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37" name="Google Shape;1237;p1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