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6" r:id="rId55"/>
    <p:sldId id="307" r:id="rId56"/>
    <p:sldId id="308" r:id="rId57"/>
    <p:sldId id="309" r:id="rId58"/>
    <p:sldId id="310" r:id="rId59"/>
    <p:sldId id="311" r:id="rId60"/>
    <p:sldId id="312" r:id="rId61"/>
    <p:sldId id="313" r:id="rId62"/>
    <p:sldId id="314" r:id="rId63"/>
    <p:sldId id="315" r:id="rId64"/>
    <p:sldId id="316" r:id="rId65"/>
    <p:sldId id="317" r:id="rId66"/>
  </p:sldIdLst>
  <p:sldSz cy="5143500" cx="9144000"/>
  <p:notesSz cx="6858000" cy="9144000"/>
  <p:embeddedFontLst>
    <p:embeddedFont>
      <p:font typeface="Montserrat"/>
      <p:regular r:id="rId67"/>
      <p:bold r:id="rId68"/>
      <p:italic r:id="rId69"/>
      <p:boldItalic r:id="rId7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70" Type="http://schemas.openxmlformats.org/officeDocument/2006/relationships/font" Target="fonts/Montserrat-boldItalic.fntdata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20" Type="http://schemas.openxmlformats.org/officeDocument/2006/relationships/slide" Target="slides/slide16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22" Type="http://schemas.openxmlformats.org/officeDocument/2006/relationships/slide" Target="slides/slide18.xml"/><Relationship Id="rId66" Type="http://schemas.openxmlformats.org/officeDocument/2006/relationships/slide" Target="slides/slide62.xml"/><Relationship Id="rId21" Type="http://schemas.openxmlformats.org/officeDocument/2006/relationships/slide" Target="slides/slide17.xml"/><Relationship Id="rId65" Type="http://schemas.openxmlformats.org/officeDocument/2006/relationships/slide" Target="slides/slide61.xml"/><Relationship Id="rId24" Type="http://schemas.openxmlformats.org/officeDocument/2006/relationships/slide" Target="slides/slide20.xml"/><Relationship Id="rId68" Type="http://schemas.openxmlformats.org/officeDocument/2006/relationships/font" Target="fonts/Montserrat-bold.fntdata"/><Relationship Id="rId23" Type="http://schemas.openxmlformats.org/officeDocument/2006/relationships/slide" Target="slides/slide19.xml"/><Relationship Id="rId67" Type="http://schemas.openxmlformats.org/officeDocument/2006/relationships/font" Target="fonts/Montserrat-regular.fntdata"/><Relationship Id="rId60" Type="http://schemas.openxmlformats.org/officeDocument/2006/relationships/slide" Target="slides/slide56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69" Type="http://schemas.openxmlformats.org/officeDocument/2006/relationships/font" Target="fonts/Montserrat-italic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slide" Target="slides/slide51.xml"/><Relationship Id="rId10" Type="http://schemas.openxmlformats.org/officeDocument/2006/relationships/slide" Target="slides/slide6.xml"/><Relationship Id="rId54" Type="http://schemas.openxmlformats.org/officeDocument/2006/relationships/slide" Target="slides/slide50.xml"/><Relationship Id="rId13" Type="http://schemas.openxmlformats.org/officeDocument/2006/relationships/slide" Target="slides/slide9.xml"/><Relationship Id="rId57" Type="http://schemas.openxmlformats.org/officeDocument/2006/relationships/slide" Target="slides/slide53.xml"/><Relationship Id="rId12" Type="http://schemas.openxmlformats.org/officeDocument/2006/relationships/slide" Target="slides/slide8.xml"/><Relationship Id="rId56" Type="http://schemas.openxmlformats.org/officeDocument/2006/relationships/slide" Target="slides/slide52.xml"/><Relationship Id="rId15" Type="http://schemas.openxmlformats.org/officeDocument/2006/relationships/slide" Target="slides/slide11.xml"/><Relationship Id="rId59" Type="http://schemas.openxmlformats.org/officeDocument/2006/relationships/slide" Target="slides/slide55.xml"/><Relationship Id="rId14" Type="http://schemas.openxmlformats.org/officeDocument/2006/relationships/slide" Target="slides/slide10.xml"/><Relationship Id="rId58" Type="http://schemas.openxmlformats.org/officeDocument/2006/relationships/slide" Target="slides/slide5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d9bf0d049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d9bf0d049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9bf0d0499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9bf0d0499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d897d358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d897d358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da113c4b7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da113c4b7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da113c4b7d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da113c4b7d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da113c4b7d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da113c4b7d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da113c4b7d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da113c4b7d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da113c4b7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da113c4b7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da113c4b7d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da113c4b7d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da113c4b7d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da113c4b7d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da113c4b7d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da113c4b7d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da113c4b7d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da113c4b7d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da113c4b7d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da113c4b7d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da113c4b7d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da113c4b7d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da113c4b7d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da113c4b7d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da113c4b7d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da113c4b7d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da113c4b7d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da113c4b7d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da113c4b7d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da113c4b7d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da113c4b7d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da113c4b7d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da113c4b7d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da113c4b7d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da113c4b7d_0_2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da113c4b7d_0_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da113c4b7d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da113c4b7d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da113c4b7d_0_2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da113c4b7d_0_2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da113c4b7d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da113c4b7d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da113c4b7d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da113c4b7d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da113c4b7d_0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3" name="Google Shape;353;gda113c4b7d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da113c4b7d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3" name="Google Shape;373;gda113c4b7d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db2c4d7134_1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db2c4d7134_1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db2c4d7134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db2c4d7134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db2c4d7134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0" name="Google Shape;430;gdb2c4d7134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db2c4d7134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db2c4d7134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gdb2c4d7134_1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1" name="Google Shape;471;gdb2c4d7134_1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db2c4d7134_1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db2c4d7134_1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db2c4d7134_1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db2c4d7134_1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d897d358d3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d897d358d3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d9bf0d049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3" name="Google Shape;503;gd9bf0d049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gd9bf0d0499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1" name="Google Shape;511;gd9bf0d0499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db2c4d7134_1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9" name="Google Shape;519;gdb2c4d7134_1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db2c4d7134_1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db2c4d7134_1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gdb2c4d7134_1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5" name="Google Shape;535;gdb2c4d7134_1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gdb2c4d7134_1_1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4" name="Google Shape;544;gdb2c4d7134_1_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gdb2c4d7134_1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6" name="Google Shape;556;gdb2c4d7134_1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gdb2c4d7134_1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5" name="Google Shape;565;gdb2c4d7134_1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gdb2c4d7134_1_2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0" name="Google Shape;580;gdb2c4d7134_1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0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db2c4d7134_1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db2c4d7134_1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db2c4d7134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db2c4d7134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gdb2c4d7134_1_2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8" name="Google Shape;608;gdb2c4d7134_1_2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gdb2c4d7134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6" name="Google Shape;616;gdb2c4d7134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gdb2c4d7134_1_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4" name="Google Shape;624;gdb2c4d7134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gdb2c4d7134_1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3" name="Google Shape;633;gdb2c4d7134_1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db2c4d7134_1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db2c4d7134_1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db2c4d7134_1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db2c4d7134_1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db2c4d7134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db2c4d7134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gdb2c4d7134_1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5" name="Google Shape;665;gdb2c4d7134_1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db2c4d7134_1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4" name="Google Shape;674;gdb2c4d7134_1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db2c4d7134_1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db2c4d7134_1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db2c4d7134_1_3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db2c4d7134_1_3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d897d358d3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d897d358d3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db2c4d7134_1_3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db2c4d7134_1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gd897d358d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5" name="Google Shape;715;gd897d358d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Relationship Id="rId4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Relationship Id="rId4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Relationship Id="rId4" Type="http://schemas.openxmlformats.org/officeDocument/2006/relationships/image" Target="../media/image1.jp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9.png"/><Relationship Id="rId4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.png"/><Relationship Id="rId4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.jp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.jp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.jp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.jp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.jpg"/><Relationship Id="rId4" Type="http://schemas.openxmlformats.org/officeDocument/2006/relationships/image" Target="../media/image5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1.jp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.jp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.jp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- Density-based spatial clustering of applications with noise is a powerful technique which can be used for clustering and outlier detection.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review what this section will cover!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Intuition of DBSCAN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vs. K-Means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Hyperparameters Theory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Hyperparameters Coding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 Project Exercise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Project Solutions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1" name="Google Shape;81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</a:t>
            </a:r>
            <a:endParaRPr/>
          </a:p>
        </p:txBody>
      </p:sp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9" name="Google Shape;89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stands for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ensity-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ased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patial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lustering of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pplications with </a:t>
            </a:r>
            <a:r>
              <a:rPr b="1" lang="en" sz="2900" u="sng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oise.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review a brief history of the algorithm and then explore an intuition based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approach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understanding how it works.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7" name="Google Shape;97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1972: Robert F. Ling published a closely related algorithm in "</a:t>
            </a: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 Theory and Construction of k-Clusters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" with an expected run time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O(n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means that as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points grows, the run time of the algorithm grows cubically!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5" name="Google Shape;105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1" name="Google Shape;111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1996:  Martin Ester, Hans-Peter Kriegel, Jörg Sander and Xiaowei Xu proposed the modern version of DBSCAN with a runtime of O(n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2014: DBSCAN was awarded the test of time award at the leading data mining conference, SIGKDD.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3" name="Google Shape;113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Questions to consider: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does DBSCAN work?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Advantages and disadvantages of DBSCAN?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does it deal with outliers and noise?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1" name="Google Shape;121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Key Ideas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focuses on using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density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of points as its main factor for assigning cluster labels.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creates the ability to find cluster segmentations that other algorithms have difficulty with.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9" name="Google Shape;129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5" name="Google Shape;135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Consider the following data set: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7" name="Google Shape;137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30" y="1922725"/>
            <a:ext cx="4938476" cy="293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Cleary two “moon” shaped clusters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5" name="Google Shape;145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46" name="Google Shape;146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30" y="1922725"/>
            <a:ext cx="4938476" cy="29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24"/>
          <p:cNvSpPr/>
          <p:nvPr/>
        </p:nvSpPr>
        <p:spPr>
          <a:xfrm>
            <a:off x="2831612" y="1980507"/>
            <a:ext cx="3019375" cy="1883975"/>
          </a:xfrm>
          <a:custGeom>
            <a:rect b="b" l="l" r="r" t="t"/>
            <a:pathLst>
              <a:path extrusionOk="0" h="75359" w="120775">
                <a:moveTo>
                  <a:pt x="37427" y="28724"/>
                </a:moveTo>
                <a:cubicBezTo>
                  <a:pt x="28304" y="35336"/>
                  <a:pt x="25126" y="57223"/>
                  <a:pt x="18975" y="64706"/>
                </a:cubicBezTo>
                <a:cubicBezTo>
                  <a:pt x="12824" y="72189"/>
                  <a:pt x="2368" y="78545"/>
                  <a:pt x="523" y="73624"/>
                </a:cubicBezTo>
                <a:cubicBezTo>
                  <a:pt x="-1322" y="68704"/>
                  <a:pt x="1856" y="46767"/>
                  <a:pt x="7904" y="35183"/>
                </a:cubicBezTo>
                <a:cubicBezTo>
                  <a:pt x="13952" y="23599"/>
                  <a:pt x="23947" y="9453"/>
                  <a:pt x="36812" y="4122"/>
                </a:cubicBezTo>
                <a:cubicBezTo>
                  <a:pt x="49677" y="-1209"/>
                  <a:pt x="72896" y="-1209"/>
                  <a:pt x="85095" y="3199"/>
                </a:cubicBezTo>
                <a:cubicBezTo>
                  <a:pt x="97294" y="7607"/>
                  <a:pt x="104059" y="20370"/>
                  <a:pt x="110005" y="30570"/>
                </a:cubicBezTo>
                <a:cubicBezTo>
                  <a:pt x="115951" y="40770"/>
                  <a:pt x="120974" y="57120"/>
                  <a:pt x="120769" y="64398"/>
                </a:cubicBezTo>
                <a:cubicBezTo>
                  <a:pt x="120564" y="71676"/>
                  <a:pt x="113542" y="77314"/>
                  <a:pt x="108775" y="74239"/>
                </a:cubicBezTo>
                <a:cubicBezTo>
                  <a:pt x="104008" y="71164"/>
                  <a:pt x="98011" y="54147"/>
                  <a:pt x="92168" y="45946"/>
                </a:cubicBezTo>
                <a:cubicBezTo>
                  <a:pt x="86325" y="37745"/>
                  <a:pt x="82840" y="27904"/>
                  <a:pt x="73716" y="25034"/>
                </a:cubicBezTo>
                <a:cubicBezTo>
                  <a:pt x="64593" y="22164"/>
                  <a:pt x="46551" y="22112"/>
                  <a:pt x="37427" y="28724"/>
                </a:cubicBezTo>
                <a:close/>
              </a:path>
            </a:pathLst>
          </a:cu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9" name="Google Shape;149;p24"/>
          <p:cNvSpPr/>
          <p:nvPr/>
        </p:nvSpPr>
        <p:spPr>
          <a:xfrm>
            <a:off x="4052082" y="2579842"/>
            <a:ext cx="3010550" cy="1957225"/>
          </a:xfrm>
          <a:custGeom>
            <a:rect b="b" l="l" r="r" t="t"/>
            <a:pathLst>
              <a:path extrusionOk="0" h="78289" w="120422">
                <a:moveTo>
                  <a:pt x="10136" y="5980"/>
                </a:moveTo>
                <a:cubicBezTo>
                  <a:pt x="13468" y="6595"/>
                  <a:pt x="16337" y="10388"/>
                  <a:pt x="20284" y="17359"/>
                </a:cubicBezTo>
                <a:cubicBezTo>
                  <a:pt x="24231" y="24330"/>
                  <a:pt x="28332" y="41091"/>
                  <a:pt x="33816" y="47805"/>
                </a:cubicBezTo>
                <a:cubicBezTo>
                  <a:pt x="39301" y="54520"/>
                  <a:pt x="44734" y="57134"/>
                  <a:pt x="53191" y="57646"/>
                </a:cubicBezTo>
                <a:cubicBezTo>
                  <a:pt x="61648" y="58159"/>
                  <a:pt x="76871" y="56928"/>
                  <a:pt x="84559" y="50880"/>
                </a:cubicBezTo>
                <a:cubicBezTo>
                  <a:pt x="92247" y="44832"/>
                  <a:pt x="95323" y="29455"/>
                  <a:pt x="99321" y="21357"/>
                </a:cubicBezTo>
                <a:cubicBezTo>
                  <a:pt x="103319" y="13259"/>
                  <a:pt x="105267" y="5314"/>
                  <a:pt x="108547" y="2290"/>
                </a:cubicBezTo>
                <a:cubicBezTo>
                  <a:pt x="111827" y="-734"/>
                  <a:pt x="117260" y="-990"/>
                  <a:pt x="119003" y="3213"/>
                </a:cubicBezTo>
                <a:cubicBezTo>
                  <a:pt x="120746" y="7416"/>
                  <a:pt x="121002" y="19410"/>
                  <a:pt x="119003" y="27508"/>
                </a:cubicBezTo>
                <a:cubicBezTo>
                  <a:pt x="117004" y="35606"/>
                  <a:pt x="111417" y="44935"/>
                  <a:pt x="107009" y="51803"/>
                </a:cubicBezTo>
                <a:cubicBezTo>
                  <a:pt x="102601" y="58671"/>
                  <a:pt x="97937" y="64668"/>
                  <a:pt x="92555" y="68717"/>
                </a:cubicBezTo>
                <a:cubicBezTo>
                  <a:pt x="87173" y="72766"/>
                  <a:pt x="81228" y="74560"/>
                  <a:pt x="74718" y="76098"/>
                </a:cubicBezTo>
                <a:cubicBezTo>
                  <a:pt x="68209" y="77636"/>
                  <a:pt x="58777" y="77841"/>
                  <a:pt x="53498" y="77943"/>
                </a:cubicBezTo>
                <a:cubicBezTo>
                  <a:pt x="48219" y="78046"/>
                  <a:pt x="49039" y="79122"/>
                  <a:pt x="43042" y="76713"/>
                </a:cubicBezTo>
                <a:cubicBezTo>
                  <a:pt x="37045" y="74304"/>
                  <a:pt x="23975" y="69640"/>
                  <a:pt x="17517" y="63489"/>
                </a:cubicBezTo>
                <a:cubicBezTo>
                  <a:pt x="11059" y="57338"/>
                  <a:pt x="7163" y="48112"/>
                  <a:pt x="4293" y="39809"/>
                </a:cubicBezTo>
                <a:cubicBezTo>
                  <a:pt x="1423" y="31506"/>
                  <a:pt x="-679" y="19307"/>
                  <a:pt x="295" y="13669"/>
                </a:cubicBezTo>
                <a:cubicBezTo>
                  <a:pt x="1269" y="8031"/>
                  <a:pt x="6805" y="5365"/>
                  <a:pt x="10136" y="5980"/>
                </a:cubicBezTo>
                <a:close/>
              </a:path>
            </a:pathLst>
          </a:custGeom>
          <a:noFill/>
          <a:ln cap="flat" cmpd="sng" w="19050">
            <a:solidFill>
              <a:srgbClr val="E06666"/>
            </a:solidFill>
            <a:prstDash val="solid"/>
            <a:round/>
            <a:headEnd len="med" w="med" type="none"/>
            <a:tailEnd len="med" w="med" type="none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based clustering has issues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56" name="Google Shape;156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7" name="Google Shape;157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30" y="1922725"/>
            <a:ext cx="4938476" cy="2934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5"/>
          <p:cNvCxnSpPr/>
          <p:nvPr/>
        </p:nvCxnSpPr>
        <p:spPr>
          <a:xfrm>
            <a:off x="4313150" y="2360325"/>
            <a:ext cx="0" cy="423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60" name="Google Shape;160;p25"/>
          <p:cNvCxnSpPr/>
          <p:nvPr/>
        </p:nvCxnSpPr>
        <p:spPr>
          <a:xfrm>
            <a:off x="5572675" y="3673650"/>
            <a:ext cx="0" cy="4230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But distance based clustering has issues: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7" name="Google Shape;167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68" name="Google Shape;168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39630" y="1922725"/>
            <a:ext cx="4938476" cy="29349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0" name="Google Shape;170;p26"/>
          <p:cNvCxnSpPr/>
          <p:nvPr/>
        </p:nvCxnSpPr>
        <p:spPr>
          <a:xfrm flipH="1">
            <a:off x="4605275" y="3106100"/>
            <a:ext cx="684300" cy="3231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1" name="Google Shape;171;p26"/>
          <p:cNvCxnSpPr/>
          <p:nvPr/>
        </p:nvCxnSpPr>
        <p:spPr>
          <a:xfrm flipH="1">
            <a:off x="4859125" y="3598150"/>
            <a:ext cx="591900" cy="230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172" name="Google Shape;172;p26"/>
          <p:cNvCxnSpPr/>
          <p:nvPr/>
        </p:nvCxnSpPr>
        <p:spPr>
          <a:xfrm flipH="1">
            <a:off x="4465675" y="2781825"/>
            <a:ext cx="591900" cy="230700"/>
          </a:xfrm>
          <a:prstGeom prst="straightConnector1">
            <a:avLst/>
          </a:prstGeom>
          <a:noFill/>
          <a:ln cap="flat" cmpd="sng" w="19050">
            <a:solidFill>
              <a:srgbClr val="CC0000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37" y="1922725"/>
            <a:ext cx="4938451" cy="29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Results of K-Means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0" name="Google Shape;180;p27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81" name="Google Shape;181;p27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37" y="1922725"/>
            <a:ext cx="4938451" cy="2934949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8" name="Google Shape;188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Results of DBSCAN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89" name="Google Shape;189;p2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0" name="Google Shape;190;p2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28"/>
          <p:cNvSpPr/>
          <p:nvPr/>
        </p:nvSpPr>
        <p:spPr>
          <a:xfrm>
            <a:off x="3821100" y="2776075"/>
            <a:ext cx="195600" cy="169200"/>
          </a:xfrm>
          <a:prstGeom prst="triangle">
            <a:avLst>
              <a:gd fmla="val 50000" name="adj"/>
            </a:avLst>
          </a:prstGeom>
          <a:solidFill>
            <a:srgbClr val="6D9EE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5834075" y="3443600"/>
            <a:ext cx="195600" cy="169200"/>
          </a:xfrm>
          <a:prstGeom prst="triangle">
            <a:avLst>
              <a:gd fmla="val 50000" name="adj"/>
            </a:avLst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239630" y="1922725"/>
            <a:ext cx="4938476" cy="2934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8" name="Google Shape;19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9625" y="1922723"/>
            <a:ext cx="4938476" cy="2934965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Results of DBSCAN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1" name="Google Shape;201;p29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02" name="Google Shape;202;p29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iterates through points and uses two key hyperparameters (epsilon and minimum number of points) to assign cluster labels.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Unlike K-Means, it focuses on density as the main factor for cluster assignment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09" name="Google Shape;209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0" name="Google Shape;210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6" name="Google Shape;216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Key Hyperparameters: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Epsilon: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extended from a point.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Minimum Number of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Minimum number of points in an epsilon distance.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7" name="Google Shape;217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8" name="Google Shape;218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25" name="Google Shape;225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26" name="Google Shape;226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3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34" name="Google Shape;234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35" name="Google Shape;235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33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3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3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3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3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3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3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34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9" name="Google Shape;249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0" name="Google Shape;250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1" name="Google Shape;251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34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34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34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34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4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5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6" name="Google Shape;26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7" name="Google Shape;26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5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5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5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5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5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35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5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35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endParaRPr sz="16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4" name="Google Shape;284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5" name="Google Shape;285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6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36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6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6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36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6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6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36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36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2</a:t>
            </a:r>
            <a:endParaRPr sz="16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7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2" name="Google Shape;302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3" name="Google Shape;303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7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37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37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37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37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37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37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2</a:t>
            </a:r>
            <a:endParaRPr sz="1600"/>
          </a:p>
        </p:txBody>
      </p:sp>
      <p:sp>
        <p:nvSpPr>
          <p:cNvPr id="312" name="Google Shape;312;p37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38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38"/>
          <p:cNvSpPr txBox="1"/>
          <p:nvPr>
            <p:ph idx="1" type="body"/>
          </p:nvPr>
        </p:nvSpPr>
        <p:spPr>
          <a:xfrm>
            <a:off x="311700" y="1152475"/>
            <a:ext cx="502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Point with min. points in epsilon range.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0" name="Google Shape;320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1" name="Google Shape;321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38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8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8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8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8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8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8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8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2</a:t>
            </a:r>
            <a:endParaRPr sz="1600"/>
          </a:p>
        </p:txBody>
      </p:sp>
      <p:sp>
        <p:nvSpPr>
          <p:cNvPr id="330" name="Google Shape;330;p38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39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7" name="Google Shape;337;p39"/>
          <p:cNvSpPr txBox="1"/>
          <p:nvPr>
            <p:ph idx="1" type="body"/>
          </p:nvPr>
        </p:nvSpPr>
        <p:spPr>
          <a:xfrm>
            <a:off x="311700" y="1152475"/>
            <a:ext cx="502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Point with min. points in epsilon range.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8" name="Google Shape;338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9" name="Google Shape;339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9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39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9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9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9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9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9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9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2</a:t>
            </a:r>
            <a:endParaRPr sz="1600"/>
          </a:p>
        </p:txBody>
      </p:sp>
      <p:sp>
        <p:nvSpPr>
          <p:cNvPr id="348" name="Google Shape;348;p39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9"/>
          <p:cNvSpPr txBox="1"/>
          <p:nvPr/>
        </p:nvSpPr>
        <p:spPr>
          <a:xfrm>
            <a:off x="6965625" y="3236800"/>
            <a:ext cx="7053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50" name="Google Shape;350;p39"/>
          <p:cNvCxnSpPr>
            <a:endCxn id="349" idx="1"/>
          </p:cNvCxnSpPr>
          <p:nvPr/>
        </p:nvCxnSpPr>
        <p:spPr>
          <a:xfrm flipH="1" rot="10800000">
            <a:off x="6196725" y="3436900"/>
            <a:ext cx="768900" cy="291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40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7" name="Google Shape;357;p40"/>
          <p:cNvSpPr txBox="1"/>
          <p:nvPr>
            <p:ph idx="1" type="body"/>
          </p:nvPr>
        </p:nvSpPr>
        <p:spPr>
          <a:xfrm>
            <a:off x="311700" y="1152475"/>
            <a:ext cx="502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Point with min. points in epsilon range (including itself).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58" name="Google Shape;358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59" name="Google Shape;359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40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0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p40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0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40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0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6" name="Google Shape;366;p40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40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  <p:sp>
        <p:nvSpPr>
          <p:cNvPr id="368" name="Google Shape;368;p40"/>
          <p:cNvSpPr/>
          <p:nvPr/>
        </p:nvSpPr>
        <p:spPr>
          <a:xfrm>
            <a:off x="5469200" y="316270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40"/>
          <p:cNvSpPr txBox="1"/>
          <p:nvPr/>
        </p:nvSpPr>
        <p:spPr>
          <a:xfrm>
            <a:off x="6965625" y="3236800"/>
            <a:ext cx="7053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0" name="Google Shape;370;p40"/>
          <p:cNvCxnSpPr>
            <a:endCxn id="369" idx="1"/>
          </p:cNvCxnSpPr>
          <p:nvPr/>
        </p:nvCxnSpPr>
        <p:spPr>
          <a:xfrm flipH="1" rot="10800000">
            <a:off x="6196725" y="3436900"/>
            <a:ext cx="768900" cy="291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41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7" name="Google Shape;377;p41"/>
          <p:cNvSpPr txBox="1"/>
          <p:nvPr>
            <p:ph idx="1" type="body"/>
          </p:nvPr>
        </p:nvSpPr>
        <p:spPr>
          <a:xfrm>
            <a:off x="311700" y="1152475"/>
            <a:ext cx="50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epsilon range of core point, but does not contain min. number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78" name="Google Shape;378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9" name="Google Shape;379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0" name="Google Shape;380;p41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41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41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1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41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1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6" name="Google Shape;386;p41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41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2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4" name="Google Shape;394;p42"/>
          <p:cNvSpPr txBox="1"/>
          <p:nvPr>
            <p:ph idx="1" type="body"/>
          </p:nvPr>
        </p:nvSpPr>
        <p:spPr>
          <a:xfrm>
            <a:off x="311700" y="1152475"/>
            <a:ext cx="50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epsilon range of core point, but does not contain min. number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95" name="Google Shape;395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96" name="Google Shape;396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2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rgbClr val="E06666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42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42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2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42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42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2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42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  <p:sp>
        <p:nvSpPr>
          <p:cNvPr id="405" name="Google Shape;405;p42"/>
          <p:cNvSpPr/>
          <p:nvPr/>
        </p:nvSpPr>
        <p:spPr>
          <a:xfrm>
            <a:off x="5502700" y="238835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6" name="Google Shape;406;p42"/>
          <p:cNvSpPr txBox="1"/>
          <p:nvPr/>
        </p:nvSpPr>
        <p:spPr>
          <a:xfrm>
            <a:off x="6965625" y="3236800"/>
            <a:ext cx="7053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7" name="Google Shape;407;p42"/>
          <p:cNvCxnSpPr>
            <a:endCxn id="406" idx="1"/>
          </p:cNvCxnSpPr>
          <p:nvPr/>
        </p:nvCxnSpPr>
        <p:spPr>
          <a:xfrm>
            <a:off x="6258225" y="3106000"/>
            <a:ext cx="707400" cy="330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3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14" name="Google Shape;414;p43"/>
          <p:cNvSpPr txBox="1"/>
          <p:nvPr>
            <p:ph idx="1" type="body"/>
          </p:nvPr>
        </p:nvSpPr>
        <p:spPr>
          <a:xfrm>
            <a:off x="311700" y="1152475"/>
            <a:ext cx="50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epsilon range of core point, but does not contain min. number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15" name="Google Shape;415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16" name="Google Shape;416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43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43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3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43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43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p43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3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43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  <p:sp>
        <p:nvSpPr>
          <p:cNvPr id="425" name="Google Shape;425;p43"/>
          <p:cNvSpPr/>
          <p:nvPr/>
        </p:nvSpPr>
        <p:spPr>
          <a:xfrm>
            <a:off x="5743375" y="1886438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43"/>
          <p:cNvSpPr txBox="1"/>
          <p:nvPr/>
        </p:nvSpPr>
        <p:spPr>
          <a:xfrm>
            <a:off x="6965625" y="3236800"/>
            <a:ext cx="11226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27" name="Google Shape;427;p43"/>
          <p:cNvCxnSpPr>
            <a:endCxn id="426" idx="0"/>
          </p:cNvCxnSpPr>
          <p:nvPr/>
        </p:nvCxnSpPr>
        <p:spPr>
          <a:xfrm>
            <a:off x="6481125" y="2575600"/>
            <a:ext cx="1045800" cy="661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"/>
          <p:cNvSpPr/>
          <p:nvPr/>
        </p:nvSpPr>
        <p:spPr>
          <a:xfrm>
            <a:off x="5743375" y="1886438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44"/>
          <p:cNvSpPr/>
          <p:nvPr/>
        </p:nvSpPr>
        <p:spPr>
          <a:xfrm>
            <a:off x="5502700" y="2388350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311700" y="1152475"/>
            <a:ext cx="5091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 epsilon range of core point, but does not contain min. number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7" name="Google Shape;437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8" name="Google Shape;438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4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4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44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2" name="Google Shape;442;p44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44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44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4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4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  <p:sp>
        <p:nvSpPr>
          <p:cNvPr id="447" name="Google Shape;447;p44"/>
          <p:cNvSpPr txBox="1"/>
          <p:nvPr/>
        </p:nvSpPr>
        <p:spPr>
          <a:xfrm>
            <a:off x="6965625" y="3236800"/>
            <a:ext cx="7053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Core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8" name="Google Shape;448;p44"/>
          <p:cNvCxnSpPr>
            <a:endCxn id="447" idx="1"/>
          </p:cNvCxnSpPr>
          <p:nvPr/>
        </p:nvCxnSpPr>
        <p:spPr>
          <a:xfrm>
            <a:off x="6258225" y="3106000"/>
            <a:ext cx="707400" cy="3309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  <p:sp>
        <p:nvSpPr>
          <p:cNvPr id="449" name="Google Shape;449;p44"/>
          <p:cNvSpPr txBox="1"/>
          <p:nvPr/>
        </p:nvSpPr>
        <p:spPr>
          <a:xfrm>
            <a:off x="7465125" y="2541913"/>
            <a:ext cx="1122600" cy="400200"/>
          </a:xfrm>
          <a:prstGeom prst="rect">
            <a:avLst/>
          </a:prstGeom>
          <a:noFill/>
          <a:ln cap="flat" cmpd="sng" w="3810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Border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50" name="Google Shape;450;p44"/>
          <p:cNvCxnSpPr>
            <a:endCxn id="449" idx="1"/>
          </p:cNvCxnSpPr>
          <p:nvPr/>
        </p:nvCxnSpPr>
        <p:spPr>
          <a:xfrm>
            <a:off x="6473625" y="2467813"/>
            <a:ext cx="991500" cy="274200"/>
          </a:xfrm>
          <a:prstGeom prst="straightConnector1">
            <a:avLst/>
          </a:prstGeom>
          <a:noFill/>
          <a:ln cap="flat" cmpd="sng" w="28575">
            <a:solidFill>
              <a:srgbClr val="666666"/>
            </a:solidFill>
            <a:prstDash val="solid"/>
            <a:round/>
            <a:headEnd len="med" w="med" type="triangl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45"/>
          <p:cNvSpPr/>
          <p:nvPr/>
        </p:nvSpPr>
        <p:spPr>
          <a:xfrm>
            <a:off x="7714050" y="2549138"/>
            <a:ext cx="1242000" cy="1242000"/>
          </a:xfrm>
          <a:prstGeom prst="ellipse">
            <a:avLst/>
          </a:prstGeom>
          <a:noFill/>
          <a:ln cap="flat" cmpd="sng" w="28575">
            <a:solidFill>
              <a:srgbClr val="6D9E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45"/>
          <p:cNvSpPr/>
          <p:nvPr/>
        </p:nvSpPr>
        <p:spPr>
          <a:xfrm>
            <a:off x="5420275" y="1937450"/>
            <a:ext cx="3282900" cy="26679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8" name="Google Shape;458;p45"/>
          <p:cNvSpPr txBox="1"/>
          <p:nvPr>
            <p:ph idx="1" type="body"/>
          </p:nvPr>
        </p:nvSpPr>
        <p:spPr>
          <a:xfrm>
            <a:off x="311700" y="1152475"/>
            <a:ext cx="502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Point Types: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Outlier: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Can not be “reached” by points in a cluster assignment.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59" name="Google Shape;459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0" name="Google Shape;460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45"/>
          <p:cNvSpPr/>
          <p:nvPr/>
        </p:nvSpPr>
        <p:spPr>
          <a:xfrm>
            <a:off x="6004600" y="291390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45"/>
          <p:cNvSpPr/>
          <p:nvPr/>
        </p:nvSpPr>
        <p:spPr>
          <a:xfrm>
            <a:off x="5664950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45"/>
          <p:cNvSpPr/>
          <p:nvPr/>
        </p:nvSpPr>
        <p:spPr>
          <a:xfrm>
            <a:off x="6164675" y="328925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45"/>
          <p:cNvSpPr/>
          <p:nvPr/>
        </p:nvSpPr>
        <p:spPr>
          <a:xfrm>
            <a:off x="5971100" y="3664600"/>
            <a:ext cx="238200" cy="238200"/>
          </a:xfrm>
          <a:prstGeom prst="ellipse">
            <a:avLst/>
          </a:prstGeom>
          <a:solidFill>
            <a:srgbClr val="EFEFE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45"/>
          <p:cNvSpPr/>
          <p:nvPr/>
        </p:nvSpPr>
        <p:spPr>
          <a:xfrm>
            <a:off x="6242800" y="2388350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45"/>
          <p:cNvSpPr/>
          <p:nvPr/>
        </p:nvSpPr>
        <p:spPr>
          <a:xfrm>
            <a:off x="7325475" y="2194775"/>
            <a:ext cx="238200" cy="2382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45"/>
          <p:cNvSpPr/>
          <p:nvPr/>
        </p:nvSpPr>
        <p:spPr>
          <a:xfrm>
            <a:off x="8215950" y="3051050"/>
            <a:ext cx="238200" cy="2382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5"/>
          <p:cNvSpPr txBox="1"/>
          <p:nvPr/>
        </p:nvSpPr>
        <p:spPr>
          <a:xfrm>
            <a:off x="5850825" y="1374475"/>
            <a:ext cx="27369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/>
              <a:t>ε = 1 </a:t>
            </a:r>
            <a:r>
              <a:rPr lang="en" sz="2100"/>
              <a:t> </a:t>
            </a:r>
            <a:r>
              <a:rPr lang="en" sz="1600"/>
              <a:t>and  Min Points = 3</a:t>
            </a:r>
            <a:endParaRPr sz="160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4" name="Google Shape;474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We will discuss neighborhoods, epsilon, and minimum number of points in further detail later on, but let’s review the actual process of DBSCAN for assigning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75" name="Google Shape;475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76" name="Google Shape;476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82" name="Google Shape;482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Procedure: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Pick a random point not yet assigned.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Determine the point type.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point has been found, add all directly reachable points to the same cluster as core.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until all points have been assigned to a cluster or as an outlier.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83" name="Google Shape;483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84" name="Google Shape;484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0" name="Google Shape;490;p4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a useful visualization of the procedure!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1" name="Google Shape;491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2" name="Google Shape;492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4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Example on Data Sets</a:t>
            </a:r>
            <a:endParaRPr/>
          </a:p>
        </p:txBody>
      </p:sp>
      <p:pic>
        <p:nvPicPr>
          <p:cNvPr descr="watermark.jpg" id="499" name="Google Shape;499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0" name="Google Shape;500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6" name="Google Shape;506;p5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explore how DBSCAN compares to K-Means clustering on some unique data sets to get an intuitive understanding of the density based approach of DBSCAN versus a distance based clustering approach of K-Means.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07" name="Google Shape;507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08" name="Google Shape;508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14" name="Google Shape;514;p5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Hyperparameters</a:t>
            </a:r>
            <a:endParaRPr/>
          </a:p>
        </p:txBody>
      </p:sp>
      <p:pic>
        <p:nvPicPr>
          <p:cNvPr descr="watermark.jpg" id="515" name="Google Shape;515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16" name="Google Shape;51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2" name="Google Shape;522;p5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As we’ve seen already, there are two key hyperparameters to consider for DBSCAN: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Epsilon: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extended from a point to search for Min. Number of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Points within Epsilon distance to be a core point.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3" name="Google Shape;523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4" name="Google Shape;524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5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Adjusting these hyperparameters have two main outcomes: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number of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Changing what is an outlier point.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31" name="Google Shape;531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32" name="Google Shape;532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7" name="Google Shape;537;p5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738" y="1860900"/>
            <a:ext cx="4812518" cy="29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38" name="Google Shape;538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9" name="Google Shape;539;p54"/>
          <p:cNvSpPr txBox="1"/>
          <p:nvPr>
            <p:ph idx="1" type="body"/>
          </p:nvPr>
        </p:nvSpPr>
        <p:spPr>
          <a:xfrm>
            <a:off x="311700" y="1152475"/>
            <a:ext cx="8684100" cy="22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Data Set: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0" name="Google Shape;540;p54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41" name="Google Shape;541;p54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738" y="1860900"/>
            <a:ext cx="4812518" cy="29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48" name="Google Shape;548;p55"/>
          <p:cNvSpPr txBox="1"/>
          <p:nvPr>
            <p:ph idx="1" type="body"/>
          </p:nvPr>
        </p:nvSpPr>
        <p:spPr>
          <a:xfrm>
            <a:off x="311700" y="1152475"/>
            <a:ext cx="8684100" cy="225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Example Data Set: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49" name="Google Shape;549;p55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0" name="Google Shape;550;p55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55"/>
          <p:cNvSpPr/>
          <p:nvPr/>
        </p:nvSpPr>
        <p:spPr>
          <a:xfrm>
            <a:off x="3544300" y="252947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55"/>
          <p:cNvSpPr/>
          <p:nvPr/>
        </p:nvSpPr>
        <p:spPr>
          <a:xfrm>
            <a:off x="4803825" y="294327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55"/>
          <p:cNvSpPr/>
          <p:nvPr/>
        </p:nvSpPr>
        <p:spPr>
          <a:xfrm>
            <a:off x="6078725" y="4164350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9" name="Google Shape;559;p5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Results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0" name="Google Shape;560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61" name="Google Shape;561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62" name="Google Shape;562;p5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5775" y="1860900"/>
            <a:ext cx="4812451" cy="294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5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8" name="Google Shape;568;p5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Results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69" name="Google Shape;569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0" name="Google Shape;570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571" name="Google Shape;571;p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65775" y="1860900"/>
            <a:ext cx="4812451" cy="29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57"/>
          <p:cNvSpPr/>
          <p:nvPr/>
        </p:nvSpPr>
        <p:spPr>
          <a:xfrm>
            <a:off x="2860050" y="355202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3" name="Google Shape;573;p57"/>
          <p:cNvSpPr/>
          <p:nvPr/>
        </p:nvSpPr>
        <p:spPr>
          <a:xfrm>
            <a:off x="3765925" y="387357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4" name="Google Shape;574;p57"/>
          <p:cNvSpPr/>
          <p:nvPr/>
        </p:nvSpPr>
        <p:spPr>
          <a:xfrm>
            <a:off x="3280175" y="4272000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5" name="Google Shape;575;p57"/>
          <p:cNvSpPr/>
          <p:nvPr/>
        </p:nvSpPr>
        <p:spPr>
          <a:xfrm>
            <a:off x="3566125" y="253717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57"/>
          <p:cNvSpPr/>
          <p:nvPr/>
        </p:nvSpPr>
        <p:spPr>
          <a:xfrm>
            <a:off x="4803825" y="2943300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57"/>
          <p:cNvSpPr/>
          <p:nvPr/>
        </p:nvSpPr>
        <p:spPr>
          <a:xfrm>
            <a:off x="6071025" y="4172050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2" name="Google Shape;582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65775" y="1827600"/>
            <a:ext cx="4812451" cy="2940475"/>
          </a:xfrm>
          <a:prstGeom prst="rect">
            <a:avLst/>
          </a:prstGeom>
          <a:noFill/>
          <a:ln>
            <a:noFill/>
          </a:ln>
        </p:spPr>
      </p:pic>
      <p:sp>
        <p:nvSpPr>
          <p:cNvPr id="583" name="Google Shape;583;p5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84" name="Google Shape;584;p5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DBSCAN Results: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85" name="Google Shape;585;p58"/>
          <p:cNvPicPr preferRelativeResize="0"/>
          <p:nvPr/>
        </p:nvPicPr>
        <p:blipFill rotWithShape="1">
          <a:blip r:embed="rId4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86" name="Google Shape;586;p58"/>
          <p:cNvPicPr preferRelativeResize="0"/>
          <p:nvPr/>
        </p:nvPicPr>
        <p:blipFill rotWithShape="1">
          <a:blip r:embed="rId4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58"/>
          <p:cNvSpPr/>
          <p:nvPr/>
        </p:nvSpPr>
        <p:spPr>
          <a:xfrm>
            <a:off x="3552000" y="250642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8" name="Google Shape;588;p58"/>
          <p:cNvSpPr/>
          <p:nvPr/>
        </p:nvSpPr>
        <p:spPr>
          <a:xfrm>
            <a:off x="4796150" y="2897175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9" name="Google Shape;589;p58"/>
          <p:cNvSpPr/>
          <p:nvPr/>
        </p:nvSpPr>
        <p:spPr>
          <a:xfrm>
            <a:off x="6071025" y="4141300"/>
            <a:ext cx="199800" cy="199800"/>
          </a:xfrm>
          <a:prstGeom prst="ellipse">
            <a:avLst/>
          </a:prstGeom>
          <a:noFill/>
          <a:ln cap="flat" cmpd="sng" w="1905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3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5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5" name="Google Shape;595;p5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Epsilon Intuition: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Increasing epsilon allows more points to be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points which also results in more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border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points and less outlier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huge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epsilon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, all points would be within the neighborhood and classified as the same cluster!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6" name="Google Shape;596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7" name="Google Shape;597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6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3" name="Google Shape;603;p6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Epsilon Intuition: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Decreasing epsilon causes more points not to be in range of each other, creating more unique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a tiny epsilon, the range would not extend far out enough to come into contact with any other points!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4" name="Google Shape;604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5" name="Google Shape;605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6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1" name="Google Shape;611;p6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Methods for finding an epsilon value: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Run multiple DBSCAN models varying epsilon and measure: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Clusters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Outliers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Percentage of Outliers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12" name="Google Shape;612;p6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13" name="Google Shape;613;p6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6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9" name="Google Shape;619;p6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Methods for finding an epsilon value: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Extremely dependent on the particular data set and domain space.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Requires user to have some expectation or intuition about number of clusters and relative percentage of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0" name="Google Shape;620;p6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1" name="Google Shape;621;p6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6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27" name="Google Shape;627;p6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“elbow/knee” diagram comparing epsilon values: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28" name="Google Shape;628;p6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29" name="Google Shape;629;p6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30" name="Google Shape;630;p6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52700" y="2169700"/>
            <a:ext cx="3838575" cy="2495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6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6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Minimum Number of Samples/Points: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Number of samples in a neighborhood for a point to be considered as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point (including the point itself).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7" name="Google Shape;637;p6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8" name="Google Shape;638;p6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6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44" name="Google Shape;644;p6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Samples Intuition: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Increasing to a larger number of samples needed to be considered a core point, causes more points to be considered unique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5" name="Google Shape;645;p6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46" name="Google Shape;646;p6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6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2" name="Google Shape;652;p6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Samples Intuition: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Imagine if min. number of samples was close to total number of points available, then very likely all points would become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3" name="Google Shape;653;p6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4" name="Google Shape;654;p6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8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6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6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Samples: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multiple potential values and chart against number of outliers labeled.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1" name="Google Shape;661;p6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62" name="Google Shape;662;p6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6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8" name="Google Shape;668;p6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Choosing Min. Number of Samples: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Test multiple potential values and chart against number of outliers labeled.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69" name="Google Shape;669;p6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0" name="Google Shape;670;p6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6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98250" y="2781224"/>
            <a:ext cx="3223650" cy="22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6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7" name="Google Shape;677;p6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Samples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to increase to create potential new small clusters, instead of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complete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8" name="Google Shape;678;p6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79" name="Google Shape;679;p6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3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4" name="Google Shape;684;p7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5" name="Google Shape;685;p7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Min. Number of Samples Note: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Useful to increase to create potential new small clusters, instead of complete outliers.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86" name="Google Shape;686;p7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7" name="Google Shape;687;p7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88" name="Google Shape;688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93837" y="2989950"/>
            <a:ext cx="3156325" cy="2153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7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94" name="Google Shape;694;p7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continue by exploring hyperparameters with code and data examples!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95" name="Google Shape;695;p7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96" name="Google Shape;696;p7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7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7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Hyperparameter Search</a:t>
            </a:r>
            <a:endParaRPr/>
          </a:p>
        </p:txBody>
      </p:sp>
      <p:pic>
        <p:nvPicPr>
          <p:cNvPr descr="watermark.jpg" id="703" name="Google Shape;703;p7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4" name="Google Shape;704;p7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7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0" name="Google Shape;710;p7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Exercise Overview</a:t>
            </a:r>
            <a:endParaRPr/>
          </a:p>
        </p:txBody>
      </p:sp>
      <p:pic>
        <p:nvPicPr>
          <p:cNvPr descr="watermark.jpg" id="711" name="Google Shape;711;p7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12" name="Google Shape;712;p7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" name="Google Shape;717;p7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DBSCAN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8" name="Google Shape;718;p7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Exercise Solutions</a:t>
            </a:r>
            <a:endParaRPr/>
          </a:p>
        </p:txBody>
      </p:sp>
      <p:pic>
        <p:nvPicPr>
          <p:cNvPr descr="watermark.jpg" id="719" name="Google Shape;719;p7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20" name="Google Shape;720;p7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