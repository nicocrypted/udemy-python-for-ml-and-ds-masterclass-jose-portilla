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</p:sldIdLst>
  <p:sldSz cy="5143500" cx="9144000"/>
  <p:notesSz cx="6858000" cy="9144000"/>
  <p:embeddedFontLst>
    <p:embeddedFont>
      <p:font typeface="Montserrat"/>
      <p:regular r:id="rId62"/>
      <p:bold r:id="rId63"/>
      <p:italic r:id="rId64"/>
      <p:boldItalic r:id="rId65"/>
    </p:embeddedFont>
    <p:embeddedFont>
      <p:font typeface="Overpass"/>
      <p:regular r:id="rId66"/>
      <p:bold r:id="rId67"/>
      <p:italic r:id="rId68"/>
      <p:boldItalic r:id="rId6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font" Target="fonts/Montserrat-regular.fntdata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font" Target="fonts/Montserrat-italic.fntdata"/><Relationship Id="rId63" Type="http://schemas.openxmlformats.org/officeDocument/2006/relationships/font" Target="fonts/Montserrat-bold.fntdata"/><Relationship Id="rId22" Type="http://schemas.openxmlformats.org/officeDocument/2006/relationships/slide" Target="slides/slide18.xml"/><Relationship Id="rId66" Type="http://schemas.openxmlformats.org/officeDocument/2006/relationships/font" Target="fonts/Overpass-regular.fntdata"/><Relationship Id="rId21" Type="http://schemas.openxmlformats.org/officeDocument/2006/relationships/slide" Target="slides/slide17.xml"/><Relationship Id="rId65" Type="http://schemas.openxmlformats.org/officeDocument/2006/relationships/font" Target="fonts/Montserrat-boldItalic.fntdata"/><Relationship Id="rId24" Type="http://schemas.openxmlformats.org/officeDocument/2006/relationships/slide" Target="slides/slide20.xml"/><Relationship Id="rId68" Type="http://schemas.openxmlformats.org/officeDocument/2006/relationships/font" Target="fonts/Overpass-italic.fntdata"/><Relationship Id="rId23" Type="http://schemas.openxmlformats.org/officeDocument/2006/relationships/slide" Target="slides/slide19.xml"/><Relationship Id="rId67" Type="http://schemas.openxmlformats.org/officeDocument/2006/relationships/font" Target="fonts/Overpass-bold.fntdata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font" Target="fonts/Overpass-boldItalic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9ca2eb5f60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9ca2eb5f60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404b92013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404b92013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9ca2eb5f60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9ca2eb5f60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9ca2eb5f60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9ca2eb5f60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9ca2eb5f60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9ca2eb5f60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9ca2eb5f60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9ca2eb5f60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9ca2eb5f60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9ca2eb5f60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9ca2eb5f60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9ca2eb5f60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9ca2eb5f60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9ca2eb5f60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9ca2eb5f6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9ca2eb5f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9ca2eb5f60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9ca2eb5f60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9ca2eb5f6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9ca2eb5f6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9ca2eb5f60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9ca2eb5f60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9ca2eb5f60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9ca2eb5f60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9ca2eb5f6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9ca2eb5f6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9ca2eb5f6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9ca2eb5f6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9ca2eb5f60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9ca2eb5f60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9ca2eb5f60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9ca2eb5f60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9ca2eb5f60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9ca2eb5f60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9ca2eb5f60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9ca2eb5f60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9ca2eb5f60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9ca2eb5f60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9ca2eb5f60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9ca2eb5f60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9ca2eb5f60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9ca2eb5f60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9ca2eb5f60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9ca2eb5f60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9ca2eb5f60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9ca2eb5f60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9ca2eb5f60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9ca2eb5f60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9ca2eb5f60_0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9ca2eb5f60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9ca2eb5f60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9ca2eb5f60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9ca2eb5f60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9ca2eb5f60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9ca2eb5f60_0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9ca2eb5f60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9ca2eb5f60_0_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9ca2eb5f60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9ca2eb5f60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9ca2eb5f60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9ca2eb5f60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9ca2eb5f60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9ca2eb5f60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9ca2eb5f60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9ca2eb5f60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9ca2eb5f60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9ca2eb5f60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9ca2eb5f60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9ca2eb5f60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9ca2eb5f60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9ca2eb5f60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9ca2eb5f60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9ca2eb5f60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9ca2eb5f60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9ca2eb5f6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9ca2eb5f6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9ca2eb5f6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9ca2eb5f6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9ce439ef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9ce439ef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9ca2eb5f60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9ca2eb5f60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9ca2eb5f60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9ca2eb5f60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9ca2eb5f60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9ca2eb5f60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9ca2eb5f60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9ca2eb5f60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9ca2eb5f60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9ca2eb5f6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9ca2eb5f60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9ca2eb5f60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9ce439eff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9ce439eff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9ce439eff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9ce439eff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9ce439eff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9ce439eff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9ca2eb5f60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9ca2eb5f60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9ce439eff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9ce439eff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9ce439eff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9ce439eff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9ca2eb5f60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9ca2eb5f60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9ca2eb5f60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9ca2eb5f60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matplotlib.org/" TargetMode="External"/><Relationship Id="rId4" Type="http://schemas.openxmlformats.org/officeDocument/2006/relationships/hyperlink" Target="https://matplotlib.org/gallery.html" TargetMode="External"/><Relationship Id="rId5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Visualizing data is crucial to quickly understanding trends and relationships in your dataset.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Matplotlib is one of the most popular libraries for plotting with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Matplotlib is known as the “Grandfather” of plotting and visualization libraries for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Many other visualization libraries are built directly off of Matplotlib (e.g. seaborn and pandas built-in visualization).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Matplotlib is heavily inspired by the plotting functions of the MatLab programming language.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allows for the creation of almost any plot type and heavy customization.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ability to heavily customize a plot comes at a trade-off for beginners, since it can be confusing to learn the Matplolib syntax at first.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mainly due to the fact that there are actually two separate approaches to creating plots, functional based methods and OOP based methods.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" name="Google Shape;89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Matplotlib section seeks to clear up any confusion by clearly separating out these two approaches.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Matplotlib Basics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Functional Method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Matplotlib Figures and Subplots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OOP Method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Topics Covered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Matplotlib Basics and Functions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Matplotlib Figures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Matplotlib Subplots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Matplotlib Styling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Exercise Questions and Solutions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" name="Google Shape;105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Specialized plot types such as histograms won’t be covered with matplotlib, since we will later learn how to use seaborn to easily create statistical plots.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is important to learn matplotlib first however, since seaborn builds directly off of Matplotlib.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3" name="Google Shape;113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Throughout this section we will be referencing the excellent Matplotlib online documentation: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https://matplotlib.org/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As well as the gallery of example plots and codes (</a:t>
            </a: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very useful!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https://matplotlib.org/gallery.html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0" name="Google Shape;120;p21"/>
          <p:cNvPicPr preferRelativeResize="0"/>
          <p:nvPr/>
        </p:nvPicPr>
        <p:blipFill rotWithShape="1">
          <a:blip r:embed="rId5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1" name="Google Shape;121;p21"/>
          <p:cNvPicPr preferRelativeResize="0"/>
          <p:nvPr/>
        </p:nvPicPr>
        <p:blipFill rotWithShape="1">
          <a:blip r:embed="rId5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Two main goals with Matplotlib: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 able to plot out a functional relationship: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 = 2x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 able to plot out a relationship between raw data points: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x = [1,2,3,4]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 = [2,4,6,8]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8" name="Google Shape;128;p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9" name="Google Shape;129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36" name="Google Shape;136;p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7" name="Google Shape;137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Matplotlib Basics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44" name="Google Shape;144;p2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5" name="Google Shape;145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2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most basic way to use Matplotlib is through the function plot calls: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plt.plot(x,y)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These function calls are simple to use, but don’t allow for very high degrees of control.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2" name="Google Shape;152;p2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3" name="Google Shape;153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recommend using these simple plt.plot() calls for quickly visualizing relationships and data.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Later on we will explore the more robust OOP Matplotlib Figure API.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0" name="Google Shape;160;p2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1" name="Google Shape;161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slight differences in displaying plots within a notebook versus running a python script.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you are running .py scripts instead of .ipynb notebooks, you will need to add the plt.show() command discussed in this video.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8" name="Google Shape;168;p2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9" name="Google Shape;169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>
            <p:ph type="ctrTitle"/>
          </p:nvPr>
        </p:nvSpPr>
        <p:spPr>
          <a:xfrm>
            <a:off x="311700" y="744575"/>
            <a:ext cx="8520600" cy="254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Matplotlib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Figure Object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28"/>
          <p:cNvSpPr txBox="1"/>
          <p:nvPr>
            <p:ph idx="1" type="subTitle"/>
          </p:nvPr>
        </p:nvSpPr>
        <p:spPr>
          <a:xfrm>
            <a:off x="311700" y="32924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ONE : UNDERSTANDING THE FIGURE</a:t>
            </a:r>
            <a:endParaRPr/>
          </a:p>
        </p:txBody>
      </p:sp>
      <p:pic>
        <p:nvPicPr>
          <p:cNvPr descr="watermark.jpg" id="176" name="Google Shape;176;p2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7" name="Google Shape;177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2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more comprehensive Matplotlib OOP API makes use of a Figure object.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then add axes to this Figure object and then plot on those axes.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allows for very robust controls over the entire plot.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4" name="Google Shape;184;p2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5" name="Google Shape;185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p3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quickly visually build an understanding of the Figure object before coding it with Python…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The Figure object we’re about to show is technically not visible until you add axes to it.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2" name="Google Shape;192;p3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3" name="Google Shape;193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p3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plt.figure()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0" name="Google Shape;200;p3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1" name="Google Shape;201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1"/>
          <p:cNvSpPr txBox="1"/>
          <p:nvPr/>
        </p:nvSpPr>
        <p:spPr>
          <a:xfrm>
            <a:off x="3168100" y="4460175"/>
            <a:ext cx="3876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Overpass"/>
                <a:ea typeface="Overpass"/>
                <a:cs typeface="Overpass"/>
                <a:sym typeface="Overpass"/>
              </a:rPr>
              <a:t>&lt;Figure size 432x288 with 0 Axes&gt;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03" name="Google Shape;203;p31"/>
          <p:cNvSpPr/>
          <p:nvPr/>
        </p:nvSpPr>
        <p:spPr>
          <a:xfrm>
            <a:off x="3321550" y="2770525"/>
            <a:ext cx="3300300" cy="2199000"/>
          </a:xfrm>
          <a:prstGeom prst="rect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" name="Google Shape;209;p3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plt.figure(figsize=(10,10))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0" name="Google Shape;210;p3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1" name="Google Shape;211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2"/>
          <p:cNvSpPr txBox="1"/>
          <p:nvPr/>
        </p:nvSpPr>
        <p:spPr>
          <a:xfrm>
            <a:off x="3168100" y="4460175"/>
            <a:ext cx="3876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Overpass"/>
                <a:ea typeface="Overpass"/>
                <a:cs typeface="Overpass"/>
                <a:sym typeface="Overpass"/>
              </a:rPr>
              <a:t>&lt;Figure size 720x720 with 0 Axes&gt;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13" name="Google Shape;213;p32"/>
          <p:cNvSpPr/>
          <p:nvPr/>
        </p:nvSpPr>
        <p:spPr>
          <a:xfrm>
            <a:off x="3168100" y="1776475"/>
            <a:ext cx="3719700" cy="3024900"/>
          </a:xfrm>
          <a:prstGeom prst="rect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" name="Google Shape;219;p3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fig =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plt.figure()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Blank canvas, waiting for a set of axes for plotting.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0" name="Google Shape;220;p3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1" name="Google Shape;221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3"/>
          <p:cNvSpPr txBox="1"/>
          <p:nvPr/>
        </p:nvSpPr>
        <p:spPr>
          <a:xfrm>
            <a:off x="3168100" y="4460175"/>
            <a:ext cx="3876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Overpass"/>
                <a:ea typeface="Overpass"/>
                <a:cs typeface="Overpass"/>
                <a:sym typeface="Overpass"/>
              </a:rPr>
              <a:t>&lt;Figure size 432x288 with 0 Axes&gt;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23" name="Google Shape;223;p33"/>
          <p:cNvSpPr/>
          <p:nvPr/>
        </p:nvSpPr>
        <p:spPr>
          <a:xfrm>
            <a:off x="3321550" y="2770525"/>
            <a:ext cx="3300300" cy="2199000"/>
          </a:xfrm>
          <a:prstGeom prst="rect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" name="Google Shape;229;p3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fig =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plt.figure()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axes = fig.add_axes([0, 0, 1, 1])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0" name="Google Shape;230;p3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1" name="Google Shape;231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0572" y="2696622"/>
            <a:ext cx="3613500" cy="244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p3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fig = plt.figure()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axes = fig.add_axes([0, 0, 1, 1])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9" name="Google Shape;239;p3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0" name="Google Shape;240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5"/>
          <p:cNvSpPr/>
          <p:nvPr/>
        </p:nvSpPr>
        <p:spPr>
          <a:xfrm>
            <a:off x="3352125" y="2775500"/>
            <a:ext cx="3275100" cy="2183400"/>
          </a:xfrm>
          <a:prstGeom prst="rect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5"/>
          <p:cNvSpPr txBox="1"/>
          <p:nvPr/>
        </p:nvSpPr>
        <p:spPr>
          <a:xfrm>
            <a:off x="6381325" y="4635800"/>
            <a:ext cx="125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Overpass"/>
                <a:ea typeface="Overpass"/>
                <a:cs typeface="Overpass"/>
                <a:sym typeface="Overpass"/>
              </a:rPr>
              <a:t>FIGURE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p3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fig = plt.figure()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axes = fig.add_axes([0, 0, 1, 1])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9" name="Google Shape;249;p3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0" name="Google Shape;250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6"/>
          <p:cNvSpPr/>
          <p:nvPr/>
        </p:nvSpPr>
        <p:spPr>
          <a:xfrm>
            <a:off x="3352125" y="2775500"/>
            <a:ext cx="3275100" cy="2183400"/>
          </a:xfrm>
          <a:prstGeom prst="rect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6"/>
          <p:cNvSpPr txBox="1"/>
          <p:nvPr/>
        </p:nvSpPr>
        <p:spPr>
          <a:xfrm>
            <a:off x="6381325" y="4635800"/>
            <a:ext cx="125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Overpass"/>
                <a:ea typeface="Overpass"/>
                <a:cs typeface="Overpass"/>
                <a:sym typeface="Overpass"/>
              </a:rPr>
              <a:t>FIGURE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53" name="Google Shape;253;p36"/>
          <p:cNvSpPr/>
          <p:nvPr/>
        </p:nvSpPr>
        <p:spPr>
          <a:xfrm>
            <a:off x="4629050" y="1645325"/>
            <a:ext cx="631800" cy="507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6"/>
          <p:cNvSpPr/>
          <p:nvPr/>
        </p:nvSpPr>
        <p:spPr>
          <a:xfrm>
            <a:off x="3298300" y="4907025"/>
            <a:ext cx="130800" cy="1308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6"/>
          <p:cNvSpPr txBox="1"/>
          <p:nvPr/>
        </p:nvSpPr>
        <p:spPr>
          <a:xfrm>
            <a:off x="2401075" y="4635800"/>
            <a:ext cx="125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Overpass"/>
                <a:ea typeface="Overpass"/>
                <a:cs typeface="Overpass"/>
                <a:sym typeface="Overpass"/>
              </a:rPr>
              <a:t>(0,0)</a:t>
            </a:r>
            <a:endParaRPr b="1" sz="17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56" name="Google Shape;256;p36"/>
          <p:cNvSpPr txBox="1"/>
          <p:nvPr/>
        </p:nvSpPr>
        <p:spPr>
          <a:xfrm>
            <a:off x="3798050" y="2083450"/>
            <a:ext cx="268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CC0000"/>
                </a:solidFill>
                <a:highlight>
                  <a:srgbClr val="FFFFFF"/>
                </a:highlight>
                <a:latin typeface="Overpass"/>
                <a:ea typeface="Overpass"/>
                <a:cs typeface="Overpass"/>
                <a:sym typeface="Overpass"/>
              </a:rPr>
              <a:t>(x,y) </a:t>
            </a:r>
            <a:endParaRPr b="1" sz="1450">
              <a:solidFill>
                <a:srgbClr val="CC0000"/>
              </a:solidFill>
              <a:highlight>
                <a:srgbClr val="FFFFFF"/>
              </a:highlight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CC0000"/>
                </a:solidFill>
                <a:highlight>
                  <a:srgbClr val="FFFFFF"/>
                </a:highlight>
                <a:latin typeface="Overpass"/>
                <a:ea typeface="Overpass"/>
                <a:cs typeface="Overpass"/>
                <a:sym typeface="Overpass"/>
              </a:rPr>
              <a:t>Lower Left Corner of Axes</a:t>
            </a:r>
            <a:endParaRPr b="1" sz="1450">
              <a:solidFill>
                <a:srgbClr val="CC0000"/>
              </a:solidFill>
              <a:highlight>
                <a:srgbClr val="FFFFFF"/>
              </a:highlight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2" name="Google Shape;262;p3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fig = plt.figure()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axes = fig.add_axes([0, 1, 1, 1])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3" name="Google Shape;263;p3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4" name="Google Shape;264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7"/>
          <p:cNvSpPr/>
          <p:nvPr/>
        </p:nvSpPr>
        <p:spPr>
          <a:xfrm>
            <a:off x="3352125" y="2775500"/>
            <a:ext cx="3275100" cy="2183400"/>
          </a:xfrm>
          <a:prstGeom prst="rect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7"/>
          <p:cNvSpPr txBox="1"/>
          <p:nvPr/>
        </p:nvSpPr>
        <p:spPr>
          <a:xfrm>
            <a:off x="6381325" y="4635800"/>
            <a:ext cx="125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Overpass"/>
                <a:ea typeface="Overpass"/>
                <a:cs typeface="Overpass"/>
                <a:sym typeface="Overpass"/>
              </a:rPr>
              <a:t>FIGURE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67" name="Google Shape;267;p37"/>
          <p:cNvSpPr/>
          <p:nvPr/>
        </p:nvSpPr>
        <p:spPr>
          <a:xfrm>
            <a:off x="4619175" y="1645325"/>
            <a:ext cx="631800" cy="507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7"/>
          <p:cNvSpPr/>
          <p:nvPr/>
        </p:nvSpPr>
        <p:spPr>
          <a:xfrm>
            <a:off x="3290600" y="2726225"/>
            <a:ext cx="130800" cy="1308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7"/>
          <p:cNvSpPr txBox="1"/>
          <p:nvPr/>
        </p:nvSpPr>
        <p:spPr>
          <a:xfrm>
            <a:off x="2308825" y="2726213"/>
            <a:ext cx="125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Overpass"/>
                <a:ea typeface="Overpass"/>
                <a:cs typeface="Overpass"/>
                <a:sym typeface="Overpass"/>
              </a:rPr>
              <a:t>(0,1)</a:t>
            </a:r>
            <a:endParaRPr b="1" sz="17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70" name="Google Shape;270;p37"/>
          <p:cNvSpPr txBox="1"/>
          <p:nvPr/>
        </p:nvSpPr>
        <p:spPr>
          <a:xfrm>
            <a:off x="3798050" y="2083450"/>
            <a:ext cx="268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CC0000"/>
                </a:solidFill>
                <a:highlight>
                  <a:srgbClr val="FFFFFF"/>
                </a:highlight>
                <a:latin typeface="Overpass"/>
                <a:ea typeface="Overpass"/>
                <a:cs typeface="Overpass"/>
                <a:sym typeface="Overpass"/>
              </a:rPr>
              <a:t>(x,y) </a:t>
            </a:r>
            <a:endParaRPr b="1" sz="1450">
              <a:solidFill>
                <a:srgbClr val="CC0000"/>
              </a:solidFill>
              <a:highlight>
                <a:srgbClr val="FFFFFF"/>
              </a:highlight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CC0000"/>
                </a:solidFill>
                <a:highlight>
                  <a:srgbClr val="FFFFFF"/>
                </a:highlight>
                <a:latin typeface="Overpass"/>
                <a:ea typeface="Overpass"/>
                <a:cs typeface="Overpass"/>
                <a:sym typeface="Overpass"/>
              </a:rPr>
              <a:t>Lower Left Corner of Axes</a:t>
            </a:r>
            <a:endParaRPr b="1" sz="1450">
              <a:solidFill>
                <a:srgbClr val="CC0000"/>
              </a:solidFill>
              <a:highlight>
                <a:srgbClr val="FFFFFF"/>
              </a:highlight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6" name="Google Shape;276;p3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fig = plt.figure()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axes = fig.add_axes([ 0.5, 0.5, 1, 1])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7" name="Google Shape;277;p3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8" name="Google Shape;278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8"/>
          <p:cNvSpPr/>
          <p:nvPr/>
        </p:nvSpPr>
        <p:spPr>
          <a:xfrm>
            <a:off x="3352125" y="2775500"/>
            <a:ext cx="3275100" cy="2183400"/>
          </a:xfrm>
          <a:prstGeom prst="rect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8"/>
          <p:cNvSpPr txBox="1"/>
          <p:nvPr/>
        </p:nvSpPr>
        <p:spPr>
          <a:xfrm>
            <a:off x="6381325" y="4635800"/>
            <a:ext cx="125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Overpass"/>
                <a:ea typeface="Overpass"/>
                <a:cs typeface="Overpass"/>
                <a:sym typeface="Overpass"/>
              </a:rPr>
              <a:t>FIGURE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81" name="Google Shape;281;p38"/>
          <p:cNvSpPr/>
          <p:nvPr/>
        </p:nvSpPr>
        <p:spPr>
          <a:xfrm>
            <a:off x="4705250" y="1645325"/>
            <a:ext cx="1342200" cy="492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8"/>
          <p:cNvSpPr/>
          <p:nvPr/>
        </p:nvSpPr>
        <p:spPr>
          <a:xfrm>
            <a:off x="4958975" y="3801800"/>
            <a:ext cx="130800" cy="1308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8"/>
          <p:cNvSpPr txBox="1"/>
          <p:nvPr/>
        </p:nvSpPr>
        <p:spPr>
          <a:xfrm>
            <a:off x="3944400" y="3890313"/>
            <a:ext cx="125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Overpass"/>
                <a:ea typeface="Overpass"/>
                <a:cs typeface="Overpass"/>
                <a:sym typeface="Overpass"/>
              </a:rPr>
              <a:t>(0.5,0.5)</a:t>
            </a:r>
            <a:endParaRPr b="1" sz="17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84" name="Google Shape;284;p38"/>
          <p:cNvSpPr txBox="1"/>
          <p:nvPr/>
        </p:nvSpPr>
        <p:spPr>
          <a:xfrm>
            <a:off x="4163300" y="2106525"/>
            <a:ext cx="268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CC0000"/>
                </a:solidFill>
                <a:highlight>
                  <a:srgbClr val="FFFFFF"/>
                </a:highlight>
                <a:latin typeface="Overpass"/>
                <a:ea typeface="Overpass"/>
                <a:cs typeface="Overpass"/>
                <a:sym typeface="Overpass"/>
              </a:rPr>
              <a:t>(x,y) </a:t>
            </a:r>
            <a:endParaRPr b="1" sz="1450">
              <a:solidFill>
                <a:srgbClr val="CC0000"/>
              </a:solidFill>
              <a:highlight>
                <a:srgbClr val="FFFFFF"/>
              </a:highlight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CC0000"/>
                </a:solidFill>
                <a:highlight>
                  <a:srgbClr val="FFFFFF"/>
                </a:highlight>
                <a:latin typeface="Overpass"/>
                <a:ea typeface="Overpass"/>
                <a:cs typeface="Overpass"/>
                <a:sym typeface="Overpass"/>
              </a:rPr>
              <a:t>Lower Left Corner of Axes</a:t>
            </a:r>
            <a:endParaRPr b="1" sz="1450">
              <a:solidFill>
                <a:srgbClr val="CC0000"/>
              </a:solidFill>
              <a:highlight>
                <a:srgbClr val="FFFFFF"/>
              </a:highlight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0" name="Google Shape;290;p3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fig = plt.figure()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axes = fig.add_axes([0, 0, 1, 1])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1" name="Google Shape;291;p3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2" name="Google Shape;292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9"/>
          <p:cNvSpPr/>
          <p:nvPr/>
        </p:nvSpPr>
        <p:spPr>
          <a:xfrm>
            <a:off x="3352125" y="2775500"/>
            <a:ext cx="3275100" cy="2183400"/>
          </a:xfrm>
          <a:prstGeom prst="rect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9"/>
          <p:cNvSpPr txBox="1"/>
          <p:nvPr/>
        </p:nvSpPr>
        <p:spPr>
          <a:xfrm>
            <a:off x="6381325" y="4635800"/>
            <a:ext cx="125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Overpass"/>
                <a:ea typeface="Overpass"/>
                <a:cs typeface="Overpass"/>
                <a:sym typeface="Overpass"/>
              </a:rPr>
              <a:t>FIGURE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95" name="Google Shape;295;p39"/>
          <p:cNvSpPr/>
          <p:nvPr/>
        </p:nvSpPr>
        <p:spPr>
          <a:xfrm>
            <a:off x="5366300" y="1606925"/>
            <a:ext cx="573600" cy="507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9"/>
          <p:cNvSpPr/>
          <p:nvPr/>
        </p:nvSpPr>
        <p:spPr>
          <a:xfrm>
            <a:off x="3298300" y="4907025"/>
            <a:ext cx="130800" cy="130800"/>
          </a:xfrm>
          <a:prstGeom prst="ellipse">
            <a:avLst/>
          </a:prstGeom>
          <a:solidFill>
            <a:srgbClr val="CC0000"/>
          </a:solidFill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7" name="Google Shape;297;p39"/>
          <p:cNvCxnSpPr/>
          <p:nvPr/>
        </p:nvCxnSpPr>
        <p:spPr>
          <a:xfrm>
            <a:off x="3206050" y="2775500"/>
            <a:ext cx="0" cy="22449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298" name="Google Shape;298;p39"/>
          <p:cNvCxnSpPr/>
          <p:nvPr/>
        </p:nvCxnSpPr>
        <p:spPr>
          <a:xfrm rot="10800000">
            <a:off x="3467425" y="5074300"/>
            <a:ext cx="31215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ash"/>
            <a:round/>
            <a:headEnd len="med" w="med" type="diamond"/>
            <a:tailEnd len="med" w="med" type="diamond"/>
          </a:ln>
        </p:spPr>
      </p:cxnSp>
      <p:sp>
        <p:nvSpPr>
          <p:cNvPr id="299" name="Google Shape;299;p39"/>
          <p:cNvSpPr txBox="1"/>
          <p:nvPr/>
        </p:nvSpPr>
        <p:spPr>
          <a:xfrm>
            <a:off x="4816575" y="2114225"/>
            <a:ext cx="268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CC0000"/>
                </a:solidFill>
                <a:highlight>
                  <a:srgbClr val="FFFFFF"/>
                </a:highlight>
                <a:latin typeface="Overpass"/>
                <a:ea typeface="Overpass"/>
                <a:cs typeface="Overpass"/>
                <a:sym typeface="Overpass"/>
              </a:rPr>
              <a:t>(width,height) </a:t>
            </a:r>
            <a:endParaRPr b="1" sz="1450">
              <a:solidFill>
                <a:srgbClr val="CC0000"/>
              </a:solidFill>
              <a:highlight>
                <a:srgbClr val="FFFFFF"/>
              </a:highlight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CC0000"/>
                </a:solidFill>
                <a:highlight>
                  <a:srgbClr val="FFFFFF"/>
                </a:highlight>
                <a:latin typeface="Overpass"/>
                <a:ea typeface="Overpass"/>
                <a:cs typeface="Overpass"/>
                <a:sym typeface="Overpass"/>
              </a:rPr>
              <a:t>of Axes</a:t>
            </a:r>
            <a:endParaRPr b="1" sz="1450">
              <a:solidFill>
                <a:srgbClr val="CC0000"/>
              </a:solidFill>
              <a:highlight>
                <a:srgbClr val="FFFFFF"/>
              </a:highlight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6059" y="2727350"/>
            <a:ext cx="3457441" cy="2341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6" name="Google Shape;306;p4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fig = plt.figure()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axes = fig.add_axes([0, 0, 1, 1])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7" name="Google Shape;307;p40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8" name="Google Shape;308;p40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40"/>
          <p:cNvSpPr/>
          <p:nvPr/>
        </p:nvSpPr>
        <p:spPr>
          <a:xfrm>
            <a:off x="5344800" y="1682225"/>
            <a:ext cx="562800" cy="507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0" name="Google Shape;310;p40"/>
          <p:cNvCxnSpPr/>
          <p:nvPr/>
        </p:nvCxnSpPr>
        <p:spPr>
          <a:xfrm>
            <a:off x="3206050" y="2775500"/>
            <a:ext cx="0" cy="22449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311" name="Google Shape;311;p40"/>
          <p:cNvCxnSpPr/>
          <p:nvPr/>
        </p:nvCxnSpPr>
        <p:spPr>
          <a:xfrm rot="10800000">
            <a:off x="3467425" y="5074300"/>
            <a:ext cx="31215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ash"/>
            <a:round/>
            <a:headEnd len="med" w="med" type="diamond"/>
            <a:tailEnd len="med" w="med" type="diamond"/>
          </a:ln>
        </p:spPr>
      </p:cxnSp>
      <p:sp>
        <p:nvSpPr>
          <p:cNvPr id="312" name="Google Shape;312;p40"/>
          <p:cNvSpPr txBox="1"/>
          <p:nvPr/>
        </p:nvSpPr>
        <p:spPr>
          <a:xfrm>
            <a:off x="4816575" y="2114225"/>
            <a:ext cx="268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CC0000"/>
                </a:solidFill>
                <a:highlight>
                  <a:srgbClr val="FFFFFF"/>
                </a:highlight>
                <a:latin typeface="Overpass"/>
                <a:ea typeface="Overpass"/>
                <a:cs typeface="Overpass"/>
                <a:sym typeface="Overpass"/>
              </a:rPr>
              <a:t>(width,height) </a:t>
            </a:r>
            <a:endParaRPr b="1" sz="1450">
              <a:solidFill>
                <a:srgbClr val="CC0000"/>
              </a:solidFill>
              <a:highlight>
                <a:srgbClr val="FFFFFF"/>
              </a:highlight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CC0000"/>
                </a:solidFill>
                <a:highlight>
                  <a:srgbClr val="FFFFFF"/>
                </a:highlight>
                <a:latin typeface="Overpass"/>
                <a:ea typeface="Overpass"/>
                <a:cs typeface="Overpass"/>
                <a:sym typeface="Overpass"/>
              </a:rPr>
              <a:t>of Axes</a:t>
            </a:r>
            <a:endParaRPr b="1" sz="1450">
              <a:solidFill>
                <a:srgbClr val="CC0000"/>
              </a:solidFill>
              <a:highlight>
                <a:srgbClr val="FFFFFF"/>
              </a:highlight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8" name="Google Shape;318;p4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fig = plt.figure()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axes = fig.add_axes([0, 0, 0.5, 0.5])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19" name="Google Shape;319;p4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0" name="Google Shape;320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41"/>
          <p:cNvSpPr/>
          <p:nvPr/>
        </p:nvSpPr>
        <p:spPr>
          <a:xfrm>
            <a:off x="3352125" y="2775500"/>
            <a:ext cx="3275100" cy="2183400"/>
          </a:xfrm>
          <a:prstGeom prst="rect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41"/>
          <p:cNvSpPr txBox="1"/>
          <p:nvPr/>
        </p:nvSpPr>
        <p:spPr>
          <a:xfrm>
            <a:off x="6381325" y="4635800"/>
            <a:ext cx="125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Overpass"/>
                <a:ea typeface="Overpass"/>
                <a:cs typeface="Overpass"/>
                <a:sym typeface="Overpass"/>
              </a:rPr>
              <a:t>FIGURE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323" name="Google Shape;323;p41"/>
          <p:cNvSpPr/>
          <p:nvPr/>
        </p:nvSpPr>
        <p:spPr>
          <a:xfrm>
            <a:off x="5460525" y="1660700"/>
            <a:ext cx="1176000" cy="499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4" name="Google Shape;324;p41"/>
          <p:cNvCxnSpPr/>
          <p:nvPr/>
        </p:nvCxnSpPr>
        <p:spPr>
          <a:xfrm>
            <a:off x="3206050" y="3774975"/>
            <a:ext cx="0" cy="12453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325" name="Google Shape;325;p41"/>
          <p:cNvCxnSpPr/>
          <p:nvPr/>
        </p:nvCxnSpPr>
        <p:spPr>
          <a:xfrm rot="10800000">
            <a:off x="3467550" y="5074300"/>
            <a:ext cx="16452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ash"/>
            <a:round/>
            <a:headEnd len="med" w="med" type="diamond"/>
            <a:tailEnd len="med" w="med" type="diamond"/>
          </a:ln>
        </p:spPr>
      </p:cxnSp>
      <p:pic>
        <p:nvPicPr>
          <p:cNvPr id="326" name="Google Shape;326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8925" y="3691939"/>
            <a:ext cx="2017175" cy="1365911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41"/>
          <p:cNvSpPr txBox="1"/>
          <p:nvPr/>
        </p:nvSpPr>
        <p:spPr>
          <a:xfrm>
            <a:off x="5170275" y="2118675"/>
            <a:ext cx="268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CC0000"/>
                </a:solidFill>
                <a:highlight>
                  <a:srgbClr val="FFFFFF"/>
                </a:highlight>
                <a:latin typeface="Overpass"/>
                <a:ea typeface="Overpass"/>
                <a:cs typeface="Overpass"/>
                <a:sym typeface="Overpass"/>
              </a:rPr>
              <a:t>(width,height) </a:t>
            </a:r>
            <a:endParaRPr b="1" sz="1450">
              <a:solidFill>
                <a:srgbClr val="CC0000"/>
              </a:solidFill>
              <a:highlight>
                <a:srgbClr val="FFFFFF"/>
              </a:highlight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CC0000"/>
                </a:solidFill>
                <a:highlight>
                  <a:srgbClr val="FFFFFF"/>
                </a:highlight>
                <a:latin typeface="Overpass"/>
                <a:ea typeface="Overpass"/>
                <a:cs typeface="Overpass"/>
                <a:sym typeface="Overpass"/>
              </a:rPr>
              <a:t>of Axes</a:t>
            </a:r>
            <a:endParaRPr b="1" sz="1450">
              <a:solidFill>
                <a:srgbClr val="CC0000"/>
              </a:solidFill>
              <a:highlight>
                <a:srgbClr val="FFFFFF"/>
              </a:highlight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3" name="Google Shape;333;p4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fig = plt.figure()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axes = fig.add_axes([0, 0, 0.5, 0.5])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4" name="Google Shape;334;p4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5" name="Google Shape;335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2"/>
          <p:cNvSpPr/>
          <p:nvPr/>
        </p:nvSpPr>
        <p:spPr>
          <a:xfrm>
            <a:off x="5384325" y="1660700"/>
            <a:ext cx="1459200" cy="499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7" name="Google Shape;337;p42"/>
          <p:cNvCxnSpPr/>
          <p:nvPr/>
        </p:nvCxnSpPr>
        <p:spPr>
          <a:xfrm>
            <a:off x="3206050" y="3774975"/>
            <a:ext cx="0" cy="12453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338" name="Google Shape;338;p42"/>
          <p:cNvCxnSpPr/>
          <p:nvPr/>
        </p:nvCxnSpPr>
        <p:spPr>
          <a:xfrm rot="10800000">
            <a:off x="3467550" y="5074300"/>
            <a:ext cx="16452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ash"/>
            <a:round/>
            <a:headEnd len="med" w="med" type="diamond"/>
            <a:tailEnd len="med" w="med" type="diamond"/>
          </a:ln>
        </p:spPr>
      </p:cxnSp>
      <p:pic>
        <p:nvPicPr>
          <p:cNvPr id="339" name="Google Shape;339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8925" y="3691939"/>
            <a:ext cx="2017175" cy="1365911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42"/>
          <p:cNvSpPr txBox="1"/>
          <p:nvPr/>
        </p:nvSpPr>
        <p:spPr>
          <a:xfrm>
            <a:off x="5170275" y="2118675"/>
            <a:ext cx="268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CC0000"/>
                </a:solidFill>
                <a:highlight>
                  <a:srgbClr val="FFFFFF"/>
                </a:highlight>
                <a:latin typeface="Overpass"/>
                <a:ea typeface="Overpass"/>
                <a:cs typeface="Overpass"/>
                <a:sym typeface="Overpass"/>
              </a:rPr>
              <a:t>(width,height) </a:t>
            </a:r>
            <a:endParaRPr b="1" sz="1450">
              <a:solidFill>
                <a:srgbClr val="CC0000"/>
              </a:solidFill>
              <a:highlight>
                <a:srgbClr val="FFFFFF"/>
              </a:highlight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CC0000"/>
                </a:solidFill>
                <a:highlight>
                  <a:srgbClr val="FFFFFF"/>
                </a:highlight>
                <a:latin typeface="Overpass"/>
                <a:ea typeface="Overpass"/>
                <a:cs typeface="Overpass"/>
                <a:sym typeface="Overpass"/>
              </a:rPr>
              <a:t>of Axes</a:t>
            </a:r>
            <a:endParaRPr b="1" sz="1450">
              <a:solidFill>
                <a:srgbClr val="CC0000"/>
              </a:solidFill>
              <a:highlight>
                <a:srgbClr val="FFFFFF"/>
              </a:highlight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6" name="Google Shape;346;p4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fig = plt.figure()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axes = fig.add_axes([0, 0, 0.5, 1])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7" name="Google Shape;347;p4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8" name="Google Shape;348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43"/>
          <p:cNvSpPr/>
          <p:nvPr/>
        </p:nvSpPr>
        <p:spPr>
          <a:xfrm>
            <a:off x="3352125" y="2775500"/>
            <a:ext cx="3275100" cy="2183400"/>
          </a:xfrm>
          <a:prstGeom prst="rect">
            <a:avLst/>
          </a:prstGeom>
          <a:noFill/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43"/>
          <p:cNvSpPr txBox="1"/>
          <p:nvPr/>
        </p:nvSpPr>
        <p:spPr>
          <a:xfrm>
            <a:off x="6381325" y="4635800"/>
            <a:ext cx="1255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  <a:highlight>
                  <a:srgbClr val="FFFFFF"/>
                </a:highlight>
                <a:latin typeface="Overpass"/>
                <a:ea typeface="Overpass"/>
                <a:cs typeface="Overpass"/>
                <a:sym typeface="Overpass"/>
              </a:rPr>
              <a:t>FIGURE</a:t>
            </a:r>
            <a:endParaRPr b="1" sz="1350">
              <a:solidFill>
                <a:schemeClr val="dk1"/>
              </a:solidFill>
              <a:highlight>
                <a:srgbClr val="FFFFFF"/>
              </a:highlight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351" name="Google Shape;351;p43"/>
          <p:cNvSpPr/>
          <p:nvPr/>
        </p:nvSpPr>
        <p:spPr>
          <a:xfrm>
            <a:off x="5420125" y="1692975"/>
            <a:ext cx="1025400" cy="499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2" name="Google Shape;352;p43"/>
          <p:cNvCxnSpPr/>
          <p:nvPr/>
        </p:nvCxnSpPr>
        <p:spPr>
          <a:xfrm>
            <a:off x="3206050" y="2798550"/>
            <a:ext cx="0" cy="22218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353" name="Google Shape;353;p43"/>
          <p:cNvCxnSpPr/>
          <p:nvPr/>
        </p:nvCxnSpPr>
        <p:spPr>
          <a:xfrm rot="10800000">
            <a:off x="3467550" y="5074300"/>
            <a:ext cx="16452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ash"/>
            <a:round/>
            <a:headEnd len="med" w="med" type="diamond"/>
            <a:tailEnd len="med" w="med" type="diamond"/>
          </a:ln>
        </p:spPr>
      </p:cxnSp>
      <p:pic>
        <p:nvPicPr>
          <p:cNvPr id="354" name="Google Shape;354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8925" y="2683225"/>
            <a:ext cx="2017175" cy="246027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43"/>
          <p:cNvSpPr txBox="1"/>
          <p:nvPr/>
        </p:nvSpPr>
        <p:spPr>
          <a:xfrm>
            <a:off x="5170275" y="2118675"/>
            <a:ext cx="268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CC0000"/>
                </a:solidFill>
                <a:highlight>
                  <a:srgbClr val="FFFFFF"/>
                </a:highlight>
                <a:latin typeface="Overpass"/>
                <a:ea typeface="Overpass"/>
                <a:cs typeface="Overpass"/>
                <a:sym typeface="Overpass"/>
              </a:rPr>
              <a:t>(width,height) </a:t>
            </a:r>
            <a:endParaRPr b="1" sz="1450">
              <a:solidFill>
                <a:srgbClr val="CC0000"/>
              </a:solidFill>
              <a:highlight>
                <a:srgbClr val="FFFFFF"/>
              </a:highlight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CC0000"/>
                </a:solidFill>
                <a:highlight>
                  <a:srgbClr val="FFFFFF"/>
                </a:highlight>
                <a:latin typeface="Overpass"/>
                <a:ea typeface="Overpass"/>
                <a:cs typeface="Overpass"/>
                <a:sym typeface="Overpass"/>
              </a:rPr>
              <a:t>of Axes</a:t>
            </a:r>
            <a:endParaRPr b="1" sz="1450">
              <a:solidFill>
                <a:srgbClr val="CC0000"/>
              </a:solidFill>
              <a:highlight>
                <a:srgbClr val="FFFFFF"/>
              </a:highlight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1" name="Google Shape;361;p4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fig = plt.figure()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axes = fig.add_axes([0, 0, 0.5, 1])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2" name="Google Shape;362;p4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3" name="Google Shape;363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44"/>
          <p:cNvSpPr/>
          <p:nvPr/>
        </p:nvSpPr>
        <p:spPr>
          <a:xfrm>
            <a:off x="5366300" y="1618875"/>
            <a:ext cx="982500" cy="499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5" name="Google Shape;365;p44"/>
          <p:cNvCxnSpPr/>
          <p:nvPr/>
        </p:nvCxnSpPr>
        <p:spPr>
          <a:xfrm>
            <a:off x="3206050" y="2798550"/>
            <a:ext cx="0" cy="22218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ash"/>
            <a:round/>
            <a:headEnd len="med" w="med" type="diamond"/>
            <a:tailEnd len="med" w="med" type="diamond"/>
          </a:ln>
        </p:spPr>
      </p:cxnSp>
      <p:cxnSp>
        <p:nvCxnSpPr>
          <p:cNvPr id="366" name="Google Shape;366;p44"/>
          <p:cNvCxnSpPr/>
          <p:nvPr/>
        </p:nvCxnSpPr>
        <p:spPr>
          <a:xfrm rot="10800000">
            <a:off x="3467550" y="5074300"/>
            <a:ext cx="16452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ash"/>
            <a:round/>
            <a:headEnd len="med" w="med" type="diamond"/>
            <a:tailEnd len="med" w="med" type="diamond"/>
          </a:ln>
        </p:spPr>
      </p:cxnSp>
      <p:pic>
        <p:nvPicPr>
          <p:cNvPr id="367" name="Google Shape;367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8925" y="2683225"/>
            <a:ext cx="2017175" cy="2460275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44"/>
          <p:cNvSpPr txBox="1"/>
          <p:nvPr/>
        </p:nvSpPr>
        <p:spPr>
          <a:xfrm>
            <a:off x="5170275" y="2118675"/>
            <a:ext cx="268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CC0000"/>
                </a:solidFill>
                <a:highlight>
                  <a:srgbClr val="FFFFFF"/>
                </a:highlight>
                <a:latin typeface="Overpass"/>
                <a:ea typeface="Overpass"/>
                <a:cs typeface="Overpass"/>
                <a:sym typeface="Overpass"/>
              </a:rPr>
              <a:t>(width,height) </a:t>
            </a:r>
            <a:endParaRPr b="1" sz="1450">
              <a:solidFill>
                <a:srgbClr val="CC0000"/>
              </a:solidFill>
              <a:highlight>
                <a:srgbClr val="FFFFFF"/>
              </a:highlight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rgbClr val="CC0000"/>
                </a:solidFill>
                <a:highlight>
                  <a:srgbClr val="FFFFFF"/>
                </a:highlight>
                <a:latin typeface="Overpass"/>
                <a:ea typeface="Overpass"/>
                <a:cs typeface="Overpass"/>
                <a:sym typeface="Overpass"/>
              </a:rPr>
              <a:t>of Axes</a:t>
            </a:r>
            <a:endParaRPr b="1" sz="1450">
              <a:solidFill>
                <a:srgbClr val="CC0000"/>
              </a:solidFill>
              <a:highlight>
                <a:srgbClr val="FFFFFF"/>
              </a:highlight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0572" y="2706684"/>
            <a:ext cx="3613500" cy="242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4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5" name="Google Shape;375;p4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fig =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plt.figure()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axes = fig.add_axes([0, 0, 1, 1])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axes.plot(x, y)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6" name="Google Shape;376;p45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7" name="Google Shape;377;p45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0572" y="2706684"/>
            <a:ext cx="3613500" cy="242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4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4" name="Google Shape;384;p4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fig = plt.figure()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axes = fig.add_axes([0, 0, 1, 1])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axes.plot(x, y)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5" name="Google Shape;385;p46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6" name="Google Shape;386;p46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46"/>
          <p:cNvSpPr/>
          <p:nvPr/>
        </p:nvSpPr>
        <p:spPr>
          <a:xfrm>
            <a:off x="814975" y="1207075"/>
            <a:ext cx="2952300" cy="507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0572" y="2706684"/>
            <a:ext cx="3613500" cy="242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4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4" name="Google Shape;394;p4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fig = plt.figure()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axes = fig.add_axes([0, 0, 1, 1])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axes.plot(x, y)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5" name="Google Shape;395;p47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6" name="Google Shape;396;p47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47"/>
          <p:cNvSpPr/>
          <p:nvPr/>
        </p:nvSpPr>
        <p:spPr>
          <a:xfrm>
            <a:off x="2145050" y="1653000"/>
            <a:ext cx="2445000" cy="507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0572" y="2706684"/>
            <a:ext cx="3613500" cy="242675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4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4" name="Google Shape;404;p4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fig = plt.figure()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axes = fig.add_axes([0, 0, 1, 1])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axes.plot(x, y)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05" name="Google Shape;405;p48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06" name="Google Shape;406;p48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48"/>
          <p:cNvSpPr/>
          <p:nvPr/>
        </p:nvSpPr>
        <p:spPr>
          <a:xfrm>
            <a:off x="1745275" y="2145050"/>
            <a:ext cx="1776000" cy="438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3" name="Google Shape;413;p4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methodology allows us to add in multiple axes as well as move and resize the axes.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4" name="Google Shape;414;p4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15" name="Google Shape;415;p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8588" y="2349498"/>
            <a:ext cx="3986825" cy="279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2" name="Google Shape;422;p5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theory we could set axes side by side using plt.figure() calls, but typically it is easier to use plt.subplots() function calls for this.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We’ll explore multiple side by side plots in a future lecture, for now let’s explore the Figure object methodology for Matplotlib!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23" name="Google Shape;423;p5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4" name="Google Shape;424;p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1"/>
          <p:cNvSpPr txBox="1"/>
          <p:nvPr>
            <p:ph type="ctrTitle"/>
          </p:nvPr>
        </p:nvSpPr>
        <p:spPr>
          <a:xfrm>
            <a:off x="311700" y="744575"/>
            <a:ext cx="8520600" cy="254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Matplotlib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Figure Object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0" name="Google Shape;430;p51"/>
          <p:cNvSpPr txBox="1"/>
          <p:nvPr>
            <p:ph idx="1" type="subTitle"/>
          </p:nvPr>
        </p:nvSpPr>
        <p:spPr>
          <a:xfrm>
            <a:off x="311700" y="32924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TWO: IMPLEMENTING FIGURES AND AXES</a:t>
            </a:r>
            <a:endParaRPr/>
          </a:p>
        </p:txBody>
      </p:sp>
      <p:pic>
        <p:nvPicPr>
          <p:cNvPr descr="watermark.jpg" id="431" name="Google Shape;431;p5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32" name="Google Shape;432;p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2"/>
          <p:cNvSpPr txBox="1"/>
          <p:nvPr>
            <p:ph type="ctrTitle"/>
          </p:nvPr>
        </p:nvSpPr>
        <p:spPr>
          <a:xfrm>
            <a:off x="311700" y="744575"/>
            <a:ext cx="8520600" cy="254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Matplotlib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Figure Object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8" name="Google Shape;438;p52"/>
          <p:cNvSpPr txBox="1"/>
          <p:nvPr>
            <p:ph idx="1" type="subTitle"/>
          </p:nvPr>
        </p:nvSpPr>
        <p:spPr>
          <a:xfrm>
            <a:off x="311700" y="32924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THREE: FIGURE PARAMETERS </a:t>
            </a:r>
            <a:endParaRPr/>
          </a:p>
        </p:txBody>
      </p:sp>
      <p:pic>
        <p:nvPicPr>
          <p:cNvPr descr="watermark.jpg" id="439" name="Google Shape;439;p5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40" name="Google Shape;440;p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Matplotlib SubPlots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6" name="Google Shape;446;p5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447" name="Google Shape;447;p5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48" name="Google Shape;448;p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4" name="Google Shape;454;p5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theory we could create a Figure object and then manually add and arrange sets of axes to line up multiple plots side by side.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However, Matplotlib comes with a pre-configured function call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plt.subplots()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that automatically does this for us!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55" name="Google Shape;455;p5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56" name="Google Shape;456;p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2" name="Google Shape;462;p5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plt.subplots() call allows us to easily create Figure and Axes objects in side by side formations.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plt.subplots() command returns a tuple containing the Figure canvas and then a numpy array holding the axes objects.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63" name="Google Shape;463;p5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64" name="Google Shape;464;p5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0" name="Google Shape;470;p5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fig, axes = plt.subplots(nrows=1, ncols=2)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71" name="Google Shape;471;p5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72" name="Google Shape;472;p5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28550" y="1865150"/>
            <a:ext cx="4617550" cy="306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9" name="Google Shape;479;p5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fig, axes = plt.subplots(nrows=2, ncols=2)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80" name="Google Shape;480;p5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81" name="Google Shape;481;p5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51138" y="1807200"/>
            <a:ext cx="4972375" cy="324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8" name="Google Shape;488;p5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plt.subplots() returns a tuple which by common convention we label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(fig,axes):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fig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the entire Figure canvas.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axes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a numpy array holding each of the axes according to position in the overall canvas.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89" name="Google Shape;489;p5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90" name="Google Shape;490;p5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6" name="Google Shape;496;p5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how to use plt.subplots() to easily create and align multiple plots!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97" name="Google Shape;497;p5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98" name="Google Shape;498;p5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Matplotlib Styling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4" name="Google Shape;504;p6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ONE: LEGENDS</a:t>
            </a:r>
            <a:endParaRPr/>
          </a:p>
        </p:txBody>
      </p:sp>
      <p:pic>
        <p:nvPicPr>
          <p:cNvPr descr="watermark.jpg" id="505" name="Google Shape;505;p6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06" name="Google Shape;506;p6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2" name="Google Shape;512;p6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Matplotlib offers very robust styling functions that allow us to edit colors, legends, line widths, markers, and much more!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Note: Due to the wide amount of possible variations, we will be copying and pasting from the lecture notebook to save typing time in the video.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13" name="Google Shape;513;p6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14" name="Google Shape;514;p6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0" name="Google Shape;520;p6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Main Styling Discussed: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Legends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Visual Styling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Colors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Editing Lines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Colors, Widths, Styles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Editing Markers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Colors, Size, Styles, Edges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21" name="Google Shape;521;p6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22" name="Google Shape;522;p6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8" name="Google Shape;528;p6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begin with adding legends!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29" name="Google Shape;529;p6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30" name="Google Shape;530;p6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Matplotlib Styling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6" name="Google Shape;536;p6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TWO: VISUAL STYLING</a:t>
            </a:r>
            <a:endParaRPr/>
          </a:p>
        </p:txBody>
      </p:sp>
      <p:pic>
        <p:nvPicPr>
          <p:cNvPr descr="watermark.jpg" id="537" name="Google Shape;537;p6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38" name="Google Shape;538;p6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6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Additional Matplotlib Commands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4" name="Google Shape;544;p6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45" name="Google Shape;545;p6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46" name="Google Shape;546;p6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2" name="Google Shape;552;p6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Matplotlib is a huge library!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We’ve added a notebook with some additional concepts you may want to explore on your own.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don’t use these concepts in the course however, so feel free to skip this notebook for now.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3" name="Google Shape;553;p6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54" name="Google Shape;554;p6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0" name="Google Shape;560;p6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 important note is that almost any Matplotlib question you can think of already has an answer in StackOverflow or an example in the Matplotlib gallery.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Leverage these many examples to your advantage and do not waste energy and time into memorizing esoteric commands!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61" name="Google Shape;561;p6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2" name="Google Shape;562;p6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6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Matplotlib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8" name="Google Shape;568;p6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Section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69" name="Google Shape;569;p6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0" name="Google Shape;570;p6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9"/>
          <p:cNvSpPr txBox="1"/>
          <p:nvPr>
            <p:ph type="ctrTitle"/>
          </p:nvPr>
        </p:nvSpPr>
        <p:spPr>
          <a:xfrm>
            <a:off x="311700" y="744575"/>
            <a:ext cx="8520600" cy="288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Matplotlib Exercises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Solutions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76" name="Google Shape;576;p6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7" name="Google Shape;577;p6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