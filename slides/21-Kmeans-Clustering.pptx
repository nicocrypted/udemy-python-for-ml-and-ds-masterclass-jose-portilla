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Lst>
  <p:sldSz cy="5143500" cx="9144000"/>
  <p:notesSz cx="6858000" cy="9144000"/>
  <p:embeddedFontLst>
    <p:embeddedFont>
      <p:font typeface="Montserrat"/>
      <p:regular r:id="rId145"/>
      <p:bold r:id="rId146"/>
      <p:italic r:id="rId147"/>
      <p:boldItalic r:id="rId1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F9D7BD3-A36F-4843-BB6D-49014A3B323A}">
  <a:tblStyle styleId="{0F9D7BD3-A36F-4843-BB6D-49014A3B323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148" Type="http://schemas.openxmlformats.org/officeDocument/2006/relationships/font" Target="fonts/Montserrat-boldItalic.fntdata"/><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font" Target="fonts/Montserrat-italic.fntdata"/><Relationship Id="rId6" Type="http://schemas.openxmlformats.org/officeDocument/2006/relationships/slide" Target="slides/slide1.xml"/><Relationship Id="rId146" Type="http://schemas.openxmlformats.org/officeDocument/2006/relationships/font" Target="fonts/Montserrat-bold.fntdata"/><Relationship Id="rId7" Type="http://schemas.openxmlformats.org/officeDocument/2006/relationships/slide" Target="slides/slide2.xml"/><Relationship Id="rId145" Type="http://schemas.openxmlformats.org/officeDocument/2006/relationships/font" Target="fonts/Montserrat-regular.fntdata"/><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404b920135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404b920135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c3e1c87df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c3e1c87df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c3e1c87df3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c3e1c87df3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c3e1c87df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c3e1c87df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c3e1c87df3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c3e1c87df3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c3e1c87df3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c3e1c87df3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c3e1c87df3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c3e1c87df3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c3e1c87df3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c3e1c87df3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c3e1c87d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c3e1c87d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c3e1c87df3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c3e1c87df3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c581fbe3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c581fbe3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c3e1c87df3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c3e1c87df3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c3e1c87df3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c3e1c87df3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c3e1c87df3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c3e1c87df3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c3e1c87df3_0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c3e1c87df3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c3e1c87df3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c3e1c87df3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c3e1c87df3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c3e1c87df3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c581fbe3ce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c581fbe3ce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c581fbe3ce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c581fbe3ce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c581fbe3ce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c581fbe3ce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c3e1c87df3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c3e1c87df3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c581fbe3c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c581fbe3c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c581fbe3ce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c581fbe3ce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c581fbe3c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c581fbe3c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c581fbe3ce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c581fbe3ce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c581fbe3ce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c581fbe3ce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c581fbe3ce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c581fbe3ce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c3e1c87df3_0_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c3e1c87df3_0_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c581fbe3ce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c581fbe3ce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c581fbe3ce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2" name="Google Shape;812;gc581fbe3ce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c3e1c87df3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c3e1c87df3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c3e1c87df3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8" name="Google Shape;828;gc3e1c87df3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c3e1c87df3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6" name="Google Shape;836;gc3e1c87df3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cb8b8bc57d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cb8b8bc57d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c3e1c87df3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c3e1c87df3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c3e1c87df3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3" name="Google Shape;863;gc3e1c87df3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c3e1c87df3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c3e1c87df3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c3e1c87df3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0" name="Google Shape;880;gc3e1c87df3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c3e1c87df3_0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 name="Google Shape;888;gc3e1c87df3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c3e1c87df3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6" name="Google Shape;896;gc3e1c87df3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c3e1c87df3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4" name="Google Shape;904;gc3e1c87df3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c3e1c87df3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5" name="Google Shape;915;gc3e1c87df3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cb8b8bc5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cb8b8bc5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c3e1c87df3_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c3e1c87df3_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c3e1c87df3_0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c3e1c87df3_0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cb8b8bc57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cb8b8bc57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gcb8b8bc57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2" name="Google Shape;992;gcb8b8bc57d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cb8b8bc57d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4" name="Google Shape;1014;gcb8b8bc57d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cb8b8bc57d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gcb8b8bc57d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cb8b8bc57d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8" name="Google Shape;1058;gcb8b8bc57d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cb8b8bc57d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0" name="Google Shape;1080;gcb8b8bc57d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cb8b8bc57d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2" name="Google Shape;1102;gcb8b8bc57d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cb8b8bc57d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4" name="Google Shape;1124;gcb8b8bc57d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cb8b8bc57d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6" name="Google Shape;1146;gcb8b8bc57d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gcb8b8bc57d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8" name="Google Shape;1168;gcb8b8bc57d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gcb8b8bc57d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0" name="Google Shape;1190;gcb8b8bc57d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cb8b8bc57d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5" name="Google Shape;1215;gcb8b8bc57d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gcb8b8bc57d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0" name="Google Shape;1240;gcb8b8bc57d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3" name="Shape 1263"/>
        <p:cNvGrpSpPr/>
        <p:nvPr/>
      </p:nvGrpSpPr>
      <p:grpSpPr>
        <a:xfrm>
          <a:off x="0" y="0"/>
          <a:ext cx="0" cy="0"/>
          <a:chOff x="0" y="0"/>
          <a:chExt cx="0" cy="0"/>
        </a:xfrm>
      </p:grpSpPr>
      <p:sp>
        <p:nvSpPr>
          <p:cNvPr id="1264" name="Google Shape;1264;gcb8b8bc57d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5" name="Google Shape;1265;gcb8b8bc57d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gcb8b8bc57d_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0" name="Google Shape;1290;gcb8b8bc57d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gcb8b8bc57d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5" name="Google Shape;1315;gcb8b8bc57d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gcb8b8bc57d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0" name="Google Shape;1340;gcb8b8bc57d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gcb8b8bc57d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5" name="Google Shape;1365;gcb8b8bc57d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gcb8b8bc57d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0" name="Google Shape;1390;gcb8b8bc57d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6" name="Shape 1396"/>
        <p:cNvGrpSpPr/>
        <p:nvPr/>
      </p:nvGrpSpPr>
      <p:grpSpPr>
        <a:xfrm>
          <a:off x="0" y="0"/>
          <a:ext cx="0" cy="0"/>
          <a:chOff x="0" y="0"/>
          <a:chExt cx="0" cy="0"/>
        </a:xfrm>
      </p:grpSpPr>
      <p:sp>
        <p:nvSpPr>
          <p:cNvPr id="1397" name="Google Shape;1397;gcb8b8bc57d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8" name="Google Shape;1398;gcb8b8bc57d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gc86c383e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6" name="Google Shape;1406;gc86c383e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2" name="Shape 1412"/>
        <p:cNvGrpSpPr/>
        <p:nvPr/>
      </p:nvGrpSpPr>
      <p:grpSpPr>
        <a:xfrm>
          <a:off x="0" y="0"/>
          <a:ext cx="0" cy="0"/>
          <a:chOff x="0" y="0"/>
          <a:chExt cx="0" cy="0"/>
        </a:xfrm>
      </p:grpSpPr>
      <p:sp>
        <p:nvSpPr>
          <p:cNvPr id="1413" name="Google Shape;1413;gc86c383e2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4" name="Google Shape;1414;gc86c383e2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0" name="Shape 1420"/>
        <p:cNvGrpSpPr/>
        <p:nvPr/>
      </p:nvGrpSpPr>
      <p:grpSpPr>
        <a:xfrm>
          <a:off x="0" y="0"/>
          <a:ext cx="0" cy="0"/>
          <a:chOff x="0" y="0"/>
          <a:chExt cx="0" cy="0"/>
        </a:xfrm>
      </p:grpSpPr>
      <p:sp>
        <p:nvSpPr>
          <p:cNvPr id="1421" name="Google Shape;1421;gc86c383e2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2" name="Google Shape;1422;gc86c383e2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8" name="Shape 1428"/>
        <p:cNvGrpSpPr/>
        <p:nvPr/>
      </p:nvGrpSpPr>
      <p:grpSpPr>
        <a:xfrm>
          <a:off x="0" y="0"/>
          <a:ext cx="0" cy="0"/>
          <a:chOff x="0" y="0"/>
          <a:chExt cx="0" cy="0"/>
        </a:xfrm>
      </p:grpSpPr>
      <p:sp>
        <p:nvSpPr>
          <p:cNvPr id="1429" name="Google Shape;1429;gcb8b8bc57d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0" name="Google Shape;1430;gcb8b8bc57d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6" name="Shape 1436"/>
        <p:cNvGrpSpPr/>
        <p:nvPr/>
      </p:nvGrpSpPr>
      <p:grpSpPr>
        <a:xfrm>
          <a:off x="0" y="0"/>
          <a:ext cx="0" cy="0"/>
          <a:chOff x="0" y="0"/>
          <a:chExt cx="0" cy="0"/>
        </a:xfrm>
      </p:grpSpPr>
      <p:sp>
        <p:nvSpPr>
          <p:cNvPr id="1437" name="Google Shape;1437;gcb8b8bc57d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8" name="Google Shape;1438;gcb8b8bc57d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 name="Shape 1461"/>
        <p:cNvGrpSpPr/>
        <p:nvPr/>
      </p:nvGrpSpPr>
      <p:grpSpPr>
        <a:xfrm>
          <a:off x="0" y="0"/>
          <a:ext cx="0" cy="0"/>
          <a:chOff x="0" y="0"/>
          <a:chExt cx="0" cy="0"/>
        </a:xfrm>
      </p:grpSpPr>
      <p:sp>
        <p:nvSpPr>
          <p:cNvPr id="1462" name="Google Shape;1462;gcb8b8bc57d_0_5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3" name="Google Shape;1463;gcb8b8bc57d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gcb8b8bc57d_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8" name="Google Shape;1488;gcb8b8bc57d_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6" name="Shape 1506"/>
        <p:cNvGrpSpPr/>
        <p:nvPr/>
      </p:nvGrpSpPr>
      <p:grpSpPr>
        <a:xfrm>
          <a:off x="0" y="0"/>
          <a:ext cx="0" cy="0"/>
          <a:chOff x="0" y="0"/>
          <a:chExt cx="0" cy="0"/>
        </a:xfrm>
      </p:grpSpPr>
      <p:sp>
        <p:nvSpPr>
          <p:cNvPr id="1507" name="Google Shape;1507;gcb8b8bc57d_0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8" name="Google Shape;1508;gcb8b8bc57d_0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6" name="Shape 1526"/>
        <p:cNvGrpSpPr/>
        <p:nvPr/>
      </p:nvGrpSpPr>
      <p:grpSpPr>
        <a:xfrm>
          <a:off x="0" y="0"/>
          <a:ext cx="0" cy="0"/>
          <a:chOff x="0" y="0"/>
          <a:chExt cx="0" cy="0"/>
        </a:xfrm>
      </p:grpSpPr>
      <p:sp>
        <p:nvSpPr>
          <p:cNvPr id="1527" name="Google Shape;1527;gcb8b8bc57d_0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8" name="Google Shape;1528;gcb8b8bc57d_0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gcb8b8bc57d_0_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8" name="Google Shape;1548;gcb8b8bc57d_0_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7" name="Shape 1567"/>
        <p:cNvGrpSpPr/>
        <p:nvPr/>
      </p:nvGrpSpPr>
      <p:grpSpPr>
        <a:xfrm>
          <a:off x="0" y="0"/>
          <a:ext cx="0" cy="0"/>
          <a:chOff x="0" y="0"/>
          <a:chExt cx="0" cy="0"/>
        </a:xfrm>
      </p:grpSpPr>
      <p:sp>
        <p:nvSpPr>
          <p:cNvPr id="1568" name="Google Shape;1568;gcb8b8bc57d_0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9" name="Google Shape;1569;gcb8b8bc57d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8" name="Shape 1588"/>
        <p:cNvGrpSpPr/>
        <p:nvPr/>
      </p:nvGrpSpPr>
      <p:grpSpPr>
        <a:xfrm>
          <a:off x="0" y="0"/>
          <a:ext cx="0" cy="0"/>
          <a:chOff x="0" y="0"/>
          <a:chExt cx="0" cy="0"/>
        </a:xfrm>
      </p:grpSpPr>
      <p:sp>
        <p:nvSpPr>
          <p:cNvPr id="1589" name="Google Shape;1589;gcb8b8bc57d_0_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0" name="Google Shape;1590;gcb8b8bc57d_0_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9" name="Shape 1609"/>
        <p:cNvGrpSpPr/>
        <p:nvPr/>
      </p:nvGrpSpPr>
      <p:grpSpPr>
        <a:xfrm>
          <a:off x="0" y="0"/>
          <a:ext cx="0" cy="0"/>
          <a:chOff x="0" y="0"/>
          <a:chExt cx="0" cy="0"/>
        </a:xfrm>
      </p:grpSpPr>
      <p:sp>
        <p:nvSpPr>
          <p:cNvPr id="1610" name="Google Shape;1610;gcb8b8bc57d_0_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1" name="Google Shape;1611;gcb8b8bc57d_0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4" name="Shape 1634"/>
        <p:cNvGrpSpPr/>
        <p:nvPr/>
      </p:nvGrpSpPr>
      <p:grpSpPr>
        <a:xfrm>
          <a:off x="0" y="0"/>
          <a:ext cx="0" cy="0"/>
          <a:chOff x="0" y="0"/>
          <a:chExt cx="0" cy="0"/>
        </a:xfrm>
      </p:grpSpPr>
      <p:sp>
        <p:nvSpPr>
          <p:cNvPr id="1635" name="Google Shape;1635;gcb8b8bc57d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6" name="Google Shape;1636;gcb8b8bc57d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2" name="Shape 1642"/>
        <p:cNvGrpSpPr/>
        <p:nvPr/>
      </p:nvGrpSpPr>
      <p:grpSpPr>
        <a:xfrm>
          <a:off x="0" y="0"/>
          <a:ext cx="0" cy="0"/>
          <a:chOff x="0" y="0"/>
          <a:chExt cx="0" cy="0"/>
        </a:xfrm>
      </p:grpSpPr>
      <p:sp>
        <p:nvSpPr>
          <p:cNvPr id="1643" name="Google Shape;1643;gcb8b8bc57d_0_7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4" name="Google Shape;1644;gcb8b8bc57d_0_7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0" name="Shape 1650"/>
        <p:cNvGrpSpPr/>
        <p:nvPr/>
      </p:nvGrpSpPr>
      <p:grpSpPr>
        <a:xfrm>
          <a:off x="0" y="0"/>
          <a:ext cx="0" cy="0"/>
          <a:chOff x="0" y="0"/>
          <a:chExt cx="0" cy="0"/>
        </a:xfrm>
      </p:grpSpPr>
      <p:sp>
        <p:nvSpPr>
          <p:cNvPr id="1651" name="Google Shape;1651;gcb8b8bc57d_0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2" name="Google Shape;1652;gcb8b8bc57d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4" name="Shape 1674"/>
        <p:cNvGrpSpPr/>
        <p:nvPr/>
      </p:nvGrpSpPr>
      <p:grpSpPr>
        <a:xfrm>
          <a:off x="0" y="0"/>
          <a:ext cx="0" cy="0"/>
          <a:chOff x="0" y="0"/>
          <a:chExt cx="0" cy="0"/>
        </a:xfrm>
      </p:grpSpPr>
      <p:sp>
        <p:nvSpPr>
          <p:cNvPr id="1675" name="Google Shape;1675;gcb8b8bc57d_0_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6" name="Google Shape;1676;gcb8b8bc57d_0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0" name="Shape 1700"/>
        <p:cNvGrpSpPr/>
        <p:nvPr/>
      </p:nvGrpSpPr>
      <p:grpSpPr>
        <a:xfrm>
          <a:off x="0" y="0"/>
          <a:ext cx="0" cy="0"/>
          <a:chOff x="0" y="0"/>
          <a:chExt cx="0" cy="0"/>
        </a:xfrm>
      </p:grpSpPr>
      <p:sp>
        <p:nvSpPr>
          <p:cNvPr id="1701" name="Google Shape;1701;gcb8b8bc57d_0_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2" name="Google Shape;1702;gcb8b8bc57d_0_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8" name="Shape 1728"/>
        <p:cNvGrpSpPr/>
        <p:nvPr/>
      </p:nvGrpSpPr>
      <p:grpSpPr>
        <a:xfrm>
          <a:off x="0" y="0"/>
          <a:ext cx="0" cy="0"/>
          <a:chOff x="0" y="0"/>
          <a:chExt cx="0" cy="0"/>
        </a:xfrm>
      </p:grpSpPr>
      <p:sp>
        <p:nvSpPr>
          <p:cNvPr id="1729" name="Google Shape;1729;gcb8b8bc57d_0_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0" name="Google Shape;1730;gcb8b8bc57d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6" name="Shape 1756"/>
        <p:cNvGrpSpPr/>
        <p:nvPr/>
      </p:nvGrpSpPr>
      <p:grpSpPr>
        <a:xfrm>
          <a:off x="0" y="0"/>
          <a:ext cx="0" cy="0"/>
          <a:chOff x="0" y="0"/>
          <a:chExt cx="0" cy="0"/>
        </a:xfrm>
      </p:grpSpPr>
      <p:sp>
        <p:nvSpPr>
          <p:cNvPr id="1757" name="Google Shape;1757;gcb8b8bc57d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8" name="Google Shape;1758;gcb8b8bc57d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5" name="Shape 1765"/>
        <p:cNvGrpSpPr/>
        <p:nvPr/>
      </p:nvGrpSpPr>
      <p:grpSpPr>
        <a:xfrm>
          <a:off x="0" y="0"/>
          <a:ext cx="0" cy="0"/>
          <a:chOff x="0" y="0"/>
          <a:chExt cx="0" cy="0"/>
        </a:xfrm>
      </p:grpSpPr>
      <p:sp>
        <p:nvSpPr>
          <p:cNvPr id="1766" name="Google Shape;1766;gcb8b8bc57d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7" name="Google Shape;1767;gcb8b8bc57d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4" name="Shape 1774"/>
        <p:cNvGrpSpPr/>
        <p:nvPr/>
      </p:nvGrpSpPr>
      <p:grpSpPr>
        <a:xfrm>
          <a:off x="0" y="0"/>
          <a:ext cx="0" cy="0"/>
          <a:chOff x="0" y="0"/>
          <a:chExt cx="0" cy="0"/>
        </a:xfrm>
      </p:grpSpPr>
      <p:sp>
        <p:nvSpPr>
          <p:cNvPr id="1775" name="Google Shape;1775;gcb8b8bc57d_0_8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6" name="Google Shape;1776;gcb8b8bc57d_0_8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4" name="Shape 1784"/>
        <p:cNvGrpSpPr/>
        <p:nvPr/>
      </p:nvGrpSpPr>
      <p:grpSpPr>
        <a:xfrm>
          <a:off x="0" y="0"/>
          <a:ext cx="0" cy="0"/>
          <a:chOff x="0" y="0"/>
          <a:chExt cx="0" cy="0"/>
        </a:xfrm>
      </p:grpSpPr>
      <p:sp>
        <p:nvSpPr>
          <p:cNvPr id="1785" name="Google Shape;1785;gcb8b8bc57d_0_8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6" name="Google Shape;1786;gcb8b8bc57d_0_8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4" name="Shape 1794"/>
        <p:cNvGrpSpPr/>
        <p:nvPr/>
      </p:nvGrpSpPr>
      <p:grpSpPr>
        <a:xfrm>
          <a:off x="0" y="0"/>
          <a:ext cx="0" cy="0"/>
          <a:chOff x="0" y="0"/>
          <a:chExt cx="0" cy="0"/>
        </a:xfrm>
      </p:grpSpPr>
      <p:sp>
        <p:nvSpPr>
          <p:cNvPr id="1795" name="Google Shape;1795;gcb8b8bc57d_0_8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6" name="Google Shape;1796;gcb8b8bc57d_0_8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4" name="Shape 1804"/>
        <p:cNvGrpSpPr/>
        <p:nvPr/>
      </p:nvGrpSpPr>
      <p:grpSpPr>
        <a:xfrm>
          <a:off x="0" y="0"/>
          <a:ext cx="0" cy="0"/>
          <a:chOff x="0" y="0"/>
          <a:chExt cx="0" cy="0"/>
        </a:xfrm>
      </p:grpSpPr>
      <p:sp>
        <p:nvSpPr>
          <p:cNvPr id="1805" name="Google Shape;1805;gcb8b8bc57d_0_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6" name="Google Shape;1806;gcb8b8bc57d_0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2" name="Shape 1812"/>
        <p:cNvGrpSpPr/>
        <p:nvPr/>
      </p:nvGrpSpPr>
      <p:grpSpPr>
        <a:xfrm>
          <a:off x="0" y="0"/>
          <a:ext cx="0" cy="0"/>
          <a:chOff x="0" y="0"/>
          <a:chExt cx="0" cy="0"/>
        </a:xfrm>
      </p:grpSpPr>
      <p:sp>
        <p:nvSpPr>
          <p:cNvPr id="1813" name="Google Shape;1813;gcb8b8bc57d_0_10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4" name="Google Shape;1814;gcb8b8bc57d_0_10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0" name="Shape 1820"/>
        <p:cNvGrpSpPr/>
        <p:nvPr/>
      </p:nvGrpSpPr>
      <p:grpSpPr>
        <a:xfrm>
          <a:off x="0" y="0"/>
          <a:ext cx="0" cy="0"/>
          <a:chOff x="0" y="0"/>
          <a:chExt cx="0" cy="0"/>
        </a:xfrm>
      </p:grpSpPr>
      <p:sp>
        <p:nvSpPr>
          <p:cNvPr id="1821" name="Google Shape;1821;gcb8b8bc57d_0_10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2" name="Google Shape;1822;gcb8b8bc57d_0_10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8" name="Shape 1828"/>
        <p:cNvGrpSpPr/>
        <p:nvPr/>
      </p:nvGrpSpPr>
      <p:grpSpPr>
        <a:xfrm>
          <a:off x="0" y="0"/>
          <a:ext cx="0" cy="0"/>
          <a:chOff x="0" y="0"/>
          <a:chExt cx="0" cy="0"/>
        </a:xfrm>
      </p:grpSpPr>
      <p:sp>
        <p:nvSpPr>
          <p:cNvPr id="1829" name="Google Shape;1829;gcb8b8bc57d_0_10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0" name="Google Shape;1830;gcb8b8bc57d_0_10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6" name="Shape 1836"/>
        <p:cNvGrpSpPr/>
        <p:nvPr/>
      </p:nvGrpSpPr>
      <p:grpSpPr>
        <a:xfrm>
          <a:off x="0" y="0"/>
          <a:ext cx="0" cy="0"/>
          <a:chOff x="0" y="0"/>
          <a:chExt cx="0" cy="0"/>
        </a:xfrm>
      </p:grpSpPr>
      <p:sp>
        <p:nvSpPr>
          <p:cNvPr id="1837" name="Google Shape;1837;gcb8b8bc57d_0_8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8" name="Google Shape;1838;gcb8b8bc57d_0_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5" name="Shape 1845"/>
        <p:cNvGrpSpPr/>
        <p:nvPr/>
      </p:nvGrpSpPr>
      <p:grpSpPr>
        <a:xfrm>
          <a:off x="0" y="0"/>
          <a:ext cx="0" cy="0"/>
          <a:chOff x="0" y="0"/>
          <a:chExt cx="0" cy="0"/>
        </a:xfrm>
      </p:grpSpPr>
      <p:sp>
        <p:nvSpPr>
          <p:cNvPr id="1846" name="Google Shape;1846;gcb8b8bc57d_0_10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7" name="Google Shape;1847;gcb8b8bc57d_0_10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4" name="Shape 1854"/>
        <p:cNvGrpSpPr/>
        <p:nvPr/>
      </p:nvGrpSpPr>
      <p:grpSpPr>
        <a:xfrm>
          <a:off x="0" y="0"/>
          <a:ext cx="0" cy="0"/>
          <a:chOff x="0" y="0"/>
          <a:chExt cx="0" cy="0"/>
        </a:xfrm>
      </p:grpSpPr>
      <p:sp>
        <p:nvSpPr>
          <p:cNvPr id="1855" name="Google Shape;1855;gcb8b8bc57d_0_10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6" name="Google Shape;1856;gcb8b8bc57d_0_10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3" name="Shape 1863"/>
        <p:cNvGrpSpPr/>
        <p:nvPr/>
      </p:nvGrpSpPr>
      <p:grpSpPr>
        <a:xfrm>
          <a:off x="0" y="0"/>
          <a:ext cx="0" cy="0"/>
          <a:chOff x="0" y="0"/>
          <a:chExt cx="0" cy="0"/>
        </a:xfrm>
      </p:grpSpPr>
      <p:sp>
        <p:nvSpPr>
          <p:cNvPr id="1864" name="Google Shape;1864;gcb8b8bc57d_0_1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5" name="Google Shape;1865;gcb8b8bc57d_0_1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2" name="Shape 1872"/>
        <p:cNvGrpSpPr/>
        <p:nvPr/>
      </p:nvGrpSpPr>
      <p:grpSpPr>
        <a:xfrm>
          <a:off x="0" y="0"/>
          <a:ext cx="0" cy="0"/>
          <a:chOff x="0" y="0"/>
          <a:chExt cx="0" cy="0"/>
        </a:xfrm>
      </p:grpSpPr>
      <p:sp>
        <p:nvSpPr>
          <p:cNvPr id="1873" name="Google Shape;1873;gcb8b8bc57d_0_1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4" name="Google Shape;1874;gcb8b8bc57d_0_1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1" name="Shape 1881"/>
        <p:cNvGrpSpPr/>
        <p:nvPr/>
      </p:nvGrpSpPr>
      <p:grpSpPr>
        <a:xfrm>
          <a:off x="0" y="0"/>
          <a:ext cx="0" cy="0"/>
          <a:chOff x="0" y="0"/>
          <a:chExt cx="0" cy="0"/>
        </a:xfrm>
      </p:grpSpPr>
      <p:sp>
        <p:nvSpPr>
          <p:cNvPr id="1882" name="Google Shape;1882;gcb8b8bc57d_0_10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3" name="Google Shape;1883;gcb8b8bc57d_0_10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0" name="Shape 1890"/>
        <p:cNvGrpSpPr/>
        <p:nvPr/>
      </p:nvGrpSpPr>
      <p:grpSpPr>
        <a:xfrm>
          <a:off x="0" y="0"/>
          <a:ext cx="0" cy="0"/>
          <a:chOff x="0" y="0"/>
          <a:chExt cx="0" cy="0"/>
        </a:xfrm>
      </p:grpSpPr>
      <p:sp>
        <p:nvSpPr>
          <p:cNvPr id="1891" name="Google Shape;1891;gcb8b8bc57d_0_10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2" name="Google Shape;1892;gcb8b8bc57d_0_10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9" name="Shape 1899"/>
        <p:cNvGrpSpPr/>
        <p:nvPr/>
      </p:nvGrpSpPr>
      <p:grpSpPr>
        <a:xfrm>
          <a:off x="0" y="0"/>
          <a:ext cx="0" cy="0"/>
          <a:chOff x="0" y="0"/>
          <a:chExt cx="0" cy="0"/>
        </a:xfrm>
      </p:grpSpPr>
      <p:sp>
        <p:nvSpPr>
          <p:cNvPr id="1900" name="Google Shape;1900;gcb8b8bc57d_0_10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1" name="Google Shape;1901;gcb8b8bc57d_0_10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8" name="Shape 1908"/>
        <p:cNvGrpSpPr/>
        <p:nvPr/>
      </p:nvGrpSpPr>
      <p:grpSpPr>
        <a:xfrm>
          <a:off x="0" y="0"/>
          <a:ext cx="0" cy="0"/>
          <a:chOff x="0" y="0"/>
          <a:chExt cx="0" cy="0"/>
        </a:xfrm>
      </p:grpSpPr>
      <p:sp>
        <p:nvSpPr>
          <p:cNvPr id="1909" name="Google Shape;1909;gcb8b8bc57d_0_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0" name="Google Shape;1910;gcb8b8bc57d_0_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7" name="Shape 1917"/>
        <p:cNvGrpSpPr/>
        <p:nvPr/>
      </p:nvGrpSpPr>
      <p:grpSpPr>
        <a:xfrm>
          <a:off x="0" y="0"/>
          <a:ext cx="0" cy="0"/>
          <a:chOff x="0" y="0"/>
          <a:chExt cx="0" cy="0"/>
        </a:xfrm>
      </p:grpSpPr>
      <p:sp>
        <p:nvSpPr>
          <p:cNvPr id="1918" name="Google Shape;1918;gcb8b8bc57d_0_8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9" name="Google Shape;1919;gcb8b8bc57d_0_8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5" name="Shape 1925"/>
        <p:cNvGrpSpPr/>
        <p:nvPr/>
      </p:nvGrpSpPr>
      <p:grpSpPr>
        <a:xfrm>
          <a:off x="0" y="0"/>
          <a:ext cx="0" cy="0"/>
          <a:chOff x="0" y="0"/>
          <a:chExt cx="0" cy="0"/>
        </a:xfrm>
      </p:grpSpPr>
      <p:sp>
        <p:nvSpPr>
          <p:cNvPr id="1926" name="Google Shape;1926;gcb8b8bc57d_0_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7" name="Google Shape;1927;gcb8b8bc57d_0_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4" name="Shape 1934"/>
        <p:cNvGrpSpPr/>
        <p:nvPr/>
      </p:nvGrpSpPr>
      <p:grpSpPr>
        <a:xfrm>
          <a:off x="0" y="0"/>
          <a:ext cx="0" cy="0"/>
          <a:chOff x="0" y="0"/>
          <a:chExt cx="0" cy="0"/>
        </a:xfrm>
      </p:grpSpPr>
      <p:sp>
        <p:nvSpPr>
          <p:cNvPr id="1935" name="Google Shape;1935;gcb8b8bc57d_0_8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6" name="Google Shape;1936;gcb8b8bc57d_0_8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3" name="Shape 1943"/>
        <p:cNvGrpSpPr/>
        <p:nvPr/>
      </p:nvGrpSpPr>
      <p:grpSpPr>
        <a:xfrm>
          <a:off x="0" y="0"/>
          <a:ext cx="0" cy="0"/>
          <a:chOff x="0" y="0"/>
          <a:chExt cx="0" cy="0"/>
        </a:xfrm>
      </p:grpSpPr>
      <p:sp>
        <p:nvSpPr>
          <p:cNvPr id="1944" name="Google Shape;1944;gcb8b8bc57d_0_8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5" name="Google Shape;1945;gcb8b8bc57d_0_8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2" name="Shape 1952"/>
        <p:cNvGrpSpPr/>
        <p:nvPr/>
      </p:nvGrpSpPr>
      <p:grpSpPr>
        <a:xfrm>
          <a:off x="0" y="0"/>
          <a:ext cx="0" cy="0"/>
          <a:chOff x="0" y="0"/>
          <a:chExt cx="0" cy="0"/>
        </a:xfrm>
      </p:grpSpPr>
      <p:sp>
        <p:nvSpPr>
          <p:cNvPr id="1953" name="Google Shape;1953;gcb8b8bc57d_0_10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4" name="Google Shape;1954;gcb8b8bc57d_0_1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1" name="Shape 1961"/>
        <p:cNvGrpSpPr/>
        <p:nvPr/>
      </p:nvGrpSpPr>
      <p:grpSpPr>
        <a:xfrm>
          <a:off x="0" y="0"/>
          <a:ext cx="0" cy="0"/>
          <a:chOff x="0" y="0"/>
          <a:chExt cx="0" cy="0"/>
        </a:xfrm>
      </p:grpSpPr>
      <p:sp>
        <p:nvSpPr>
          <p:cNvPr id="1962" name="Google Shape;1962;gcb8b8bc57d_0_10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3" name="Google Shape;1963;gcb8b8bc57d_0_10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0" name="Shape 1970"/>
        <p:cNvGrpSpPr/>
        <p:nvPr/>
      </p:nvGrpSpPr>
      <p:grpSpPr>
        <a:xfrm>
          <a:off x="0" y="0"/>
          <a:ext cx="0" cy="0"/>
          <a:chOff x="0" y="0"/>
          <a:chExt cx="0" cy="0"/>
        </a:xfrm>
      </p:grpSpPr>
      <p:sp>
        <p:nvSpPr>
          <p:cNvPr id="1971" name="Google Shape;1971;gcb8b8bc57d_0_1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2" name="Google Shape;1972;gcb8b8bc57d_0_1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9" name="Shape 1979"/>
        <p:cNvGrpSpPr/>
        <p:nvPr/>
      </p:nvGrpSpPr>
      <p:grpSpPr>
        <a:xfrm>
          <a:off x="0" y="0"/>
          <a:ext cx="0" cy="0"/>
          <a:chOff x="0" y="0"/>
          <a:chExt cx="0" cy="0"/>
        </a:xfrm>
      </p:grpSpPr>
      <p:sp>
        <p:nvSpPr>
          <p:cNvPr id="1980" name="Google Shape;1980;gcb8b8bc57d_0_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1" name="Google Shape;1981;gcb8b8bc57d_0_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8" name="Shape 1988"/>
        <p:cNvGrpSpPr/>
        <p:nvPr/>
      </p:nvGrpSpPr>
      <p:grpSpPr>
        <a:xfrm>
          <a:off x="0" y="0"/>
          <a:ext cx="0" cy="0"/>
          <a:chOff x="0" y="0"/>
          <a:chExt cx="0" cy="0"/>
        </a:xfrm>
      </p:grpSpPr>
      <p:sp>
        <p:nvSpPr>
          <p:cNvPr id="1989" name="Google Shape;1989;gcb8b8bc57d_0_9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0" name="Google Shape;1990;gcb8b8bc57d_0_9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6" name="Shape 1996"/>
        <p:cNvGrpSpPr/>
        <p:nvPr/>
      </p:nvGrpSpPr>
      <p:grpSpPr>
        <a:xfrm>
          <a:off x="0" y="0"/>
          <a:ext cx="0" cy="0"/>
          <a:chOff x="0" y="0"/>
          <a:chExt cx="0" cy="0"/>
        </a:xfrm>
      </p:grpSpPr>
      <p:sp>
        <p:nvSpPr>
          <p:cNvPr id="1997" name="Google Shape;1997;gcb8b8bc57d_0_9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8" name="Google Shape;1998;gcb8b8bc57d_0_9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3" name="Shape 2013"/>
        <p:cNvGrpSpPr/>
        <p:nvPr/>
      </p:nvGrpSpPr>
      <p:grpSpPr>
        <a:xfrm>
          <a:off x="0" y="0"/>
          <a:ext cx="0" cy="0"/>
          <a:chOff x="0" y="0"/>
          <a:chExt cx="0" cy="0"/>
        </a:xfrm>
      </p:grpSpPr>
      <p:sp>
        <p:nvSpPr>
          <p:cNvPr id="2014" name="Google Shape;2014;gcb8b8bc57d_0_9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5" name="Google Shape;2015;gcb8b8bc57d_0_9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2" name="Shape 2022"/>
        <p:cNvGrpSpPr/>
        <p:nvPr/>
      </p:nvGrpSpPr>
      <p:grpSpPr>
        <a:xfrm>
          <a:off x="0" y="0"/>
          <a:ext cx="0" cy="0"/>
          <a:chOff x="0" y="0"/>
          <a:chExt cx="0" cy="0"/>
        </a:xfrm>
      </p:grpSpPr>
      <p:sp>
        <p:nvSpPr>
          <p:cNvPr id="2023" name="Google Shape;2023;gcb8b8bc57d_0_9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4" name="Google Shape;2024;gcb8b8bc57d_0_9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1" name="Shape 2031"/>
        <p:cNvGrpSpPr/>
        <p:nvPr/>
      </p:nvGrpSpPr>
      <p:grpSpPr>
        <a:xfrm>
          <a:off x="0" y="0"/>
          <a:ext cx="0" cy="0"/>
          <a:chOff x="0" y="0"/>
          <a:chExt cx="0" cy="0"/>
        </a:xfrm>
      </p:grpSpPr>
      <p:sp>
        <p:nvSpPr>
          <p:cNvPr id="2032" name="Google Shape;2032;gcb8b8bc57d_0_9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3" name="Google Shape;2033;gcb8b8bc57d_0_9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9" name="Shape 2039"/>
        <p:cNvGrpSpPr/>
        <p:nvPr/>
      </p:nvGrpSpPr>
      <p:grpSpPr>
        <a:xfrm>
          <a:off x="0" y="0"/>
          <a:ext cx="0" cy="0"/>
          <a:chOff x="0" y="0"/>
          <a:chExt cx="0" cy="0"/>
        </a:xfrm>
      </p:grpSpPr>
      <p:sp>
        <p:nvSpPr>
          <p:cNvPr id="2040" name="Google Shape;2040;gcb8b8bc57d_0_1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1" name="Google Shape;2041;gcb8b8bc57d_0_1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7" name="Shape 2047"/>
        <p:cNvGrpSpPr/>
        <p:nvPr/>
      </p:nvGrpSpPr>
      <p:grpSpPr>
        <a:xfrm>
          <a:off x="0" y="0"/>
          <a:ext cx="0" cy="0"/>
          <a:chOff x="0" y="0"/>
          <a:chExt cx="0" cy="0"/>
        </a:xfrm>
      </p:grpSpPr>
      <p:sp>
        <p:nvSpPr>
          <p:cNvPr id="2048" name="Google Shape;2048;gcb8b8bc57d_0_1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9" name="Google Shape;2049;gcb8b8bc57d_0_1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6" name="Shape 2056"/>
        <p:cNvGrpSpPr/>
        <p:nvPr/>
      </p:nvGrpSpPr>
      <p:grpSpPr>
        <a:xfrm>
          <a:off x="0" y="0"/>
          <a:ext cx="0" cy="0"/>
          <a:chOff x="0" y="0"/>
          <a:chExt cx="0" cy="0"/>
        </a:xfrm>
      </p:grpSpPr>
      <p:sp>
        <p:nvSpPr>
          <p:cNvPr id="2057" name="Google Shape;2057;gcb8b8bc57d_0_1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8" name="Google Shape;2058;gcb8b8bc57d_0_1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5" name="Shape 2065"/>
        <p:cNvGrpSpPr/>
        <p:nvPr/>
      </p:nvGrpSpPr>
      <p:grpSpPr>
        <a:xfrm>
          <a:off x="0" y="0"/>
          <a:ext cx="0" cy="0"/>
          <a:chOff x="0" y="0"/>
          <a:chExt cx="0" cy="0"/>
        </a:xfrm>
      </p:grpSpPr>
      <p:sp>
        <p:nvSpPr>
          <p:cNvPr id="2066" name="Google Shape;2066;gcb8b8bc57d_0_1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7" name="Google Shape;2067;gcb8b8bc57d_0_1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4" name="Shape 2074"/>
        <p:cNvGrpSpPr/>
        <p:nvPr/>
      </p:nvGrpSpPr>
      <p:grpSpPr>
        <a:xfrm>
          <a:off x="0" y="0"/>
          <a:ext cx="0" cy="0"/>
          <a:chOff x="0" y="0"/>
          <a:chExt cx="0" cy="0"/>
        </a:xfrm>
      </p:grpSpPr>
      <p:sp>
        <p:nvSpPr>
          <p:cNvPr id="2075" name="Google Shape;2075;gcb8b8bc57d_0_1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6" name="Google Shape;2076;gcb8b8bc57d_0_1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3" name="Shape 2083"/>
        <p:cNvGrpSpPr/>
        <p:nvPr/>
      </p:nvGrpSpPr>
      <p:grpSpPr>
        <a:xfrm>
          <a:off x="0" y="0"/>
          <a:ext cx="0" cy="0"/>
          <a:chOff x="0" y="0"/>
          <a:chExt cx="0" cy="0"/>
        </a:xfrm>
      </p:grpSpPr>
      <p:sp>
        <p:nvSpPr>
          <p:cNvPr id="2084" name="Google Shape;2084;gcb8b8bc57d_0_1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5" name="Google Shape;2085;gcb8b8bc57d_0_1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5" name="Shape 2095"/>
        <p:cNvGrpSpPr/>
        <p:nvPr/>
      </p:nvGrpSpPr>
      <p:grpSpPr>
        <a:xfrm>
          <a:off x="0" y="0"/>
          <a:ext cx="0" cy="0"/>
          <a:chOff x="0" y="0"/>
          <a:chExt cx="0" cy="0"/>
        </a:xfrm>
      </p:grpSpPr>
      <p:sp>
        <p:nvSpPr>
          <p:cNvPr id="2096" name="Google Shape;2096;gcb8b8bc57d_0_1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7" name="Google Shape;2097;gcb8b8bc57d_0_1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3" name="Shape 2113"/>
        <p:cNvGrpSpPr/>
        <p:nvPr/>
      </p:nvGrpSpPr>
      <p:grpSpPr>
        <a:xfrm>
          <a:off x="0" y="0"/>
          <a:ext cx="0" cy="0"/>
          <a:chOff x="0" y="0"/>
          <a:chExt cx="0" cy="0"/>
        </a:xfrm>
      </p:grpSpPr>
      <p:sp>
        <p:nvSpPr>
          <p:cNvPr id="2114" name="Google Shape;2114;gcb8b8bc57d_0_1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5" name="Google Shape;2115;gcb8b8bc57d_0_1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1" name="Shape 2131"/>
        <p:cNvGrpSpPr/>
        <p:nvPr/>
      </p:nvGrpSpPr>
      <p:grpSpPr>
        <a:xfrm>
          <a:off x="0" y="0"/>
          <a:ext cx="0" cy="0"/>
          <a:chOff x="0" y="0"/>
          <a:chExt cx="0" cy="0"/>
        </a:xfrm>
      </p:grpSpPr>
      <p:sp>
        <p:nvSpPr>
          <p:cNvPr id="2132" name="Google Shape;2132;gcb8b8bc57d_0_1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3" name="Google Shape;2133;gcb8b8bc57d_0_1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3" name="Shape 2143"/>
        <p:cNvGrpSpPr/>
        <p:nvPr/>
      </p:nvGrpSpPr>
      <p:grpSpPr>
        <a:xfrm>
          <a:off x="0" y="0"/>
          <a:ext cx="0" cy="0"/>
          <a:chOff x="0" y="0"/>
          <a:chExt cx="0" cy="0"/>
        </a:xfrm>
      </p:grpSpPr>
      <p:sp>
        <p:nvSpPr>
          <p:cNvPr id="2144" name="Google Shape;2144;gcb8b8bc57d_0_1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5" name="Google Shape;2145;gcb8b8bc57d_0_1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5" name="Shape 2155"/>
        <p:cNvGrpSpPr/>
        <p:nvPr/>
      </p:nvGrpSpPr>
      <p:grpSpPr>
        <a:xfrm>
          <a:off x="0" y="0"/>
          <a:ext cx="0" cy="0"/>
          <a:chOff x="0" y="0"/>
          <a:chExt cx="0" cy="0"/>
        </a:xfrm>
      </p:grpSpPr>
      <p:sp>
        <p:nvSpPr>
          <p:cNvPr id="2156" name="Google Shape;2156;gcb8b8bc57d_0_1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7" name="Google Shape;2157;gcb8b8bc57d_0_1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5" name="Shape 2165"/>
        <p:cNvGrpSpPr/>
        <p:nvPr/>
      </p:nvGrpSpPr>
      <p:grpSpPr>
        <a:xfrm>
          <a:off x="0" y="0"/>
          <a:ext cx="0" cy="0"/>
          <a:chOff x="0" y="0"/>
          <a:chExt cx="0" cy="0"/>
        </a:xfrm>
      </p:grpSpPr>
      <p:sp>
        <p:nvSpPr>
          <p:cNvPr id="2166" name="Google Shape;2166;gcb8b8bc57d_0_1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7" name="Google Shape;2167;gcb8b8bc57d_0_1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5" name="Shape 2175"/>
        <p:cNvGrpSpPr/>
        <p:nvPr/>
      </p:nvGrpSpPr>
      <p:grpSpPr>
        <a:xfrm>
          <a:off x="0" y="0"/>
          <a:ext cx="0" cy="0"/>
          <a:chOff x="0" y="0"/>
          <a:chExt cx="0" cy="0"/>
        </a:xfrm>
      </p:grpSpPr>
      <p:sp>
        <p:nvSpPr>
          <p:cNvPr id="2176" name="Google Shape;2176;gcb8b8bc57d_0_1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7" name="Google Shape;2177;gcb8b8bc57d_0_1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4" name="Shape 2194"/>
        <p:cNvGrpSpPr/>
        <p:nvPr/>
      </p:nvGrpSpPr>
      <p:grpSpPr>
        <a:xfrm>
          <a:off x="0" y="0"/>
          <a:ext cx="0" cy="0"/>
          <a:chOff x="0" y="0"/>
          <a:chExt cx="0" cy="0"/>
        </a:xfrm>
      </p:grpSpPr>
      <p:sp>
        <p:nvSpPr>
          <p:cNvPr id="2195" name="Google Shape;2195;gcb8b8bc57d_0_1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6" name="Google Shape;2196;gcb8b8bc57d_0_1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4" name="Shape 2204"/>
        <p:cNvGrpSpPr/>
        <p:nvPr/>
      </p:nvGrpSpPr>
      <p:grpSpPr>
        <a:xfrm>
          <a:off x="0" y="0"/>
          <a:ext cx="0" cy="0"/>
          <a:chOff x="0" y="0"/>
          <a:chExt cx="0" cy="0"/>
        </a:xfrm>
      </p:grpSpPr>
      <p:sp>
        <p:nvSpPr>
          <p:cNvPr id="2205" name="Google Shape;2205;gcb8b8bc57d_0_1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6" name="Google Shape;2206;gcb8b8bc57d_0_1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4" name="Shape 2214"/>
        <p:cNvGrpSpPr/>
        <p:nvPr/>
      </p:nvGrpSpPr>
      <p:grpSpPr>
        <a:xfrm>
          <a:off x="0" y="0"/>
          <a:ext cx="0" cy="0"/>
          <a:chOff x="0" y="0"/>
          <a:chExt cx="0" cy="0"/>
        </a:xfrm>
      </p:grpSpPr>
      <p:sp>
        <p:nvSpPr>
          <p:cNvPr id="2215" name="Google Shape;2215;gcb8b8bc57d_0_1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6" name="Google Shape;2216;gcb8b8bc57d_0_1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4" name="Shape 2224"/>
        <p:cNvGrpSpPr/>
        <p:nvPr/>
      </p:nvGrpSpPr>
      <p:grpSpPr>
        <a:xfrm>
          <a:off x="0" y="0"/>
          <a:ext cx="0" cy="0"/>
          <a:chOff x="0" y="0"/>
          <a:chExt cx="0" cy="0"/>
        </a:xfrm>
      </p:grpSpPr>
      <p:sp>
        <p:nvSpPr>
          <p:cNvPr id="2225" name="Google Shape;2225;gcb8b8bc57d_0_1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6" name="Google Shape;2226;gcb8b8bc57d_0_1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4" name="Shape 2234"/>
        <p:cNvGrpSpPr/>
        <p:nvPr/>
      </p:nvGrpSpPr>
      <p:grpSpPr>
        <a:xfrm>
          <a:off x="0" y="0"/>
          <a:ext cx="0" cy="0"/>
          <a:chOff x="0" y="0"/>
          <a:chExt cx="0" cy="0"/>
        </a:xfrm>
      </p:grpSpPr>
      <p:sp>
        <p:nvSpPr>
          <p:cNvPr id="2235" name="Google Shape;2235;gcb8b8bc57d_0_1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6" name="Google Shape;2236;gcb8b8bc57d_0_1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5" name="Shape 2245"/>
        <p:cNvGrpSpPr/>
        <p:nvPr/>
      </p:nvGrpSpPr>
      <p:grpSpPr>
        <a:xfrm>
          <a:off x="0" y="0"/>
          <a:ext cx="0" cy="0"/>
          <a:chOff x="0" y="0"/>
          <a:chExt cx="0" cy="0"/>
        </a:xfrm>
      </p:grpSpPr>
      <p:sp>
        <p:nvSpPr>
          <p:cNvPr id="2246" name="Google Shape;2246;gcb8b8bc57d_0_1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7" name="Google Shape;2247;gcb8b8bc57d_0_1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6" name="Shape 2256"/>
        <p:cNvGrpSpPr/>
        <p:nvPr/>
      </p:nvGrpSpPr>
      <p:grpSpPr>
        <a:xfrm>
          <a:off x="0" y="0"/>
          <a:ext cx="0" cy="0"/>
          <a:chOff x="0" y="0"/>
          <a:chExt cx="0" cy="0"/>
        </a:xfrm>
      </p:grpSpPr>
      <p:sp>
        <p:nvSpPr>
          <p:cNvPr id="2257" name="Google Shape;2257;gcb8b8bc57d_0_1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8" name="Google Shape;2258;gcb8b8bc57d_0_1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7" name="Shape 2267"/>
        <p:cNvGrpSpPr/>
        <p:nvPr/>
      </p:nvGrpSpPr>
      <p:grpSpPr>
        <a:xfrm>
          <a:off x="0" y="0"/>
          <a:ext cx="0" cy="0"/>
          <a:chOff x="0" y="0"/>
          <a:chExt cx="0" cy="0"/>
        </a:xfrm>
      </p:grpSpPr>
      <p:sp>
        <p:nvSpPr>
          <p:cNvPr id="2268" name="Google Shape;2268;gcb8b8bc57d_0_1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9" name="Google Shape;2269;gcb8b8bc57d_0_1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5" name="Shape 2275"/>
        <p:cNvGrpSpPr/>
        <p:nvPr/>
      </p:nvGrpSpPr>
      <p:grpSpPr>
        <a:xfrm>
          <a:off x="0" y="0"/>
          <a:ext cx="0" cy="0"/>
          <a:chOff x="0" y="0"/>
          <a:chExt cx="0" cy="0"/>
        </a:xfrm>
      </p:grpSpPr>
      <p:sp>
        <p:nvSpPr>
          <p:cNvPr id="2276" name="Google Shape;2276;gcb8b8bc57d_0_1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7" name="Google Shape;2277;gcb8b8bc57d_0_1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2" name="Shape 2282"/>
        <p:cNvGrpSpPr/>
        <p:nvPr/>
      </p:nvGrpSpPr>
      <p:grpSpPr>
        <a:xfrm>
          <a:off x="0" y="0"/>
          <a:ext cx="0" cy="0"/>
          <a:chOff x="0" y="0"/>
          <a:chExt cx="0" cy="0"/>
        </a:xfrm>
      </p:grpSpPr>
      <p:sp>
        <p:nvSpPr>
          <p:cNvPr id="2283" name="Google Shape;2283;gcb8b8bc57d_0_1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4" name="Google Shape;2284;gcb8b8bc57d_0_1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jp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jp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jp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jp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1.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1.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1.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1.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1.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1.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1.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1.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1.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1.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1.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1.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1.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1.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1.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1.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1.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1.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1.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1.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1.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1.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1.jpg"/><Relationship Id="rId4" Type="http://schemas.openxmlformats.org/officeDocument/2006/relationships/image" Target="../media/image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1.jpg"/><Relationship Id="rId4" Type="http://schemas.openxmlformats.org/officeDocument/2006/relationships/image" Target="../media/image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1.jpg"/><Relationship Id="rId4" Type="http://schemas.openxmlformats.org/officeDocument/2006/relationships/image" Target="../media/image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1.jpg"/><Relationship Id="rId4" Type="http://schemas.openxmlformats.org/officeDocument/2006/relationships/image" Target="../media/image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1.jpg"/><Relationship Id="rId4" Type="http://schemas.openxmlformats.org/officeDocument/2006/relationships/image" Target="../media/image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1.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1.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1.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1.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4.png"/><Relationship Id="rId4" Type="http://schemas.openxmlformats.org/officeDocument/2006/relationships/image" Target="../media/image1.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4.png"/><Relationship Id="rId4" Type="http://schemas.openxmlformats.org/officeDocument/2006/relationships/image" Target="../media/image1.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4.png"/><Relationship Id="rId4" Type="http://schemas.openxmlformats.org/officeDocument/2006/relationships/image" Target="../media/image1.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4.png"/><Relationship Id="rId4" Type="http://schemas.openxmlformats.org/officeDocument/2006/relationships/image" Target="../media/image1.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1.jpg"/><Relationship Id="rId4" Type="http://schemas.openxmlformats.org/officeDocument/2006/relationships/image" Target="../media/image4.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1.jpg"/><Relationship Id="rId4" Type="http://schemas.openxmlformats.org/officeDocument/2006/relationships/image" Target="../media/image4.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1.jpg"/><Relationship Id="rId4" Type="http://schemas.openxmlformats.org/officeDocument/2006/relationships/image" Target="../media/image4.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4.png"/><Relationship Id="rId4" Type="http://schemas.openxmlformats.org/officeDocument/2006/relationships/image" Target="../media/image1.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4.png"/><Relationship Id="rId4" Type="http://schemas.openxmlformats.org/officeDocument/2006/relationships/image" Target="../media/image1.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image" Target="../media/image1.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1.jpg"/><Relationship Id="rId4" Type="http://schemas.openxmlformats.org/officeDocument/2006/relationships/image" Target="../media/image10.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1.jpg"/><Relationship Id="rId4" Type="http://schemas.openxmlformats.org/officeDocument/2006/relationships/image" Target="../media/image8.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1.jpg"/><Relationship Id="rId4" Type="http://schemas.openxmlformats.org/officeDocument/2006/relationships/image" Target="../media/image7.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1.jpg"/><Relationship Id="rId4" Type="http://schemas.openxmlformats.org/officeDocument/2006/relationships/image" Target="../media/image7.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1.jpg"/><Relationship Id="rId4" Type="http://schemas.openxmlformats.org/officeDocument/2006/relationships/image" Target="../media/image7.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1.jpg"/><Relationship Id="rId4" Type="http://schemas.openxmlformats.org/officeDocument/2006/relationships/image" Target="../media/image7.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 Id="rId3" Type="http://schemas.openxmlformats.org/officeDocument/2006/relationships/image" Target="../media/image1.jpg"/><Relationship Id="rId4" Type="http://schemas.openxmlformats.org/officeDocument/2006/relationships/image" Target="../media/image9.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 Id="rId3" Type="http://schemas.openxmlformats.org/officeDocument/2006/relationships/image" Target="../media/image1.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1.jpg"/><Relationship Id="rId4" Type="http://schemas.openxmlformats.org/officeDocument/2006/relationships/image" Target="../media/image9.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1.jpg"/><Relationship Id="rId4" Type="http://schemas.openxmlformats.org/officeDocument/2006/relationships/image" Target="../media/image9.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image" Target="../media/image1.jpg"/><Relationship Id="rId4" Type="http://schemas.openxmlformats.org/officeDocument/2006/relationships/image" Target="../media/image9.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1.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1.jp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1.jpg"/><Relationship Id="rId4" Type="http://schemas.openxmlformats.org/officeDocument/2006/relationships/image" Target="../media/image13.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 Id="rId3" Type="http://schemas.openxmlformats.org/officeDocument/2006/relationships/image" Target="../media/image1.jpg"/><Relationship Id="rId4" Type="http://schemas.openxmlformats.org/officeDocument/2006/relationships/image" Target="../media/image13.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1.jpg"/><Relationship Id="rId4" Type="http://schemas.openxmlformats.org/officeDocument/2006/relationships/image" Target="../media/image13.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 Id="rId3" Type="http://schemas.openxmlformats.org/officeDocument/2006/relationships/image" Target="../media/image1.jpg"/><Relationship Id="rId4" Type="http://schemas.openxmlformats.org/officeDocument/2006/relationships/image" Target="../media/image13.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1.jpg"/><Relationship Id="rId4" Type="http://schemas.openxmlformats.org/officeDocument/2006/relationships/image" Target="../media/image1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image" Target="../media/image1.jpg"/><Relationship Id="rId4" Type="http://schemas.openxmlformats.org/officeDocument/2006/relationships/image" Target="../media/image13.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1.jpg"/><Relationship Id="rId4" Type="http://schemas.openxmlformats.org/officeDocument/2006/relationships/image" Target="../media/image13.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image" Target="../media/image1.jpg"/><Relationship Id="rId4" Type="http://schemas.openxmlformats.org/officeDocument/2006/relationships/image" Target="../media/image13.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 Id="rId3" Type="http://schemas.openxmlformats.org/officeDocument/2006/relationships/image" Target="../media/image1.jpg"/><Relationship Id="rId4" Type="http://schemas.openxmlformats.org/officeDocument/2006/relationships/image" Target="../media/image13.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 Id="rId3" Type="http://schemas.openxmlformats.org/officeDocument/2006/relationships/image" Target="../media/image1.jpg"/><Relationship Id="rId4" Type="http://schemas.openxmlformats.org/officeDocument/2006/relationships/image" Target="../media/image13.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 Id="rId3" Type="http://schemas.openxmlformats.org/officeDocument/2006/relationships/image" Target="../media/image1.jpg"/><Relationship Id="rId4" Type="http://schemas.openxmlformats.org/officeDocument/2006/relationships/image" Target="../media/image13.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 Id="rId3" Type="http://schemas.openxmlformats.org/officeDocument/2006/relationships/image" Target="../media/image1.jpg"/><Relationship Id="rId4" Type="http://schemas.openxmlformats.org/officeDocument/2006/relationships/image" Target="../media/image13.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image" Target="../media/image1.jpg"/><Relationship Id="rId4" Type="http://schemas.openxmlformats.org/officeDocument/2006/relationships/image" Target="../media/image13.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 Id="rId3" Type="http://schemas.openxmlformats.org/officeDocument/2006/relationships/image" Target="../media/image1.jpg"/><Relationship Id="rId4" Type="http://schemas.openxmlformats.org/officeDocument/2006/relationships/image" Target="../media/image13.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 Id="rId3" Type="http://schemas.openxmlformats.org/officeDocument/2006/relationships/image" Target="../media/image1.jpg"/><Relationship Id="rId4" Type="http://schemas.openxmlformats.org/officeDocument/2006/relationships/image" Target="../media/image13.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 Id="rId3" Type="http://schemas.openxmlformats.org/officeDocument/2006/relationships/image" Target="../media/image1.jpg"/><Relationship Id="rId4" Type="http://schemas.openxmlformats.org/officeDocument/2006/relationships/image" Target="../media/image13.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 Id="rId3" Type="http://schemas.openxmlformats.org/officeDocument/2006/relationships/image" Target="../media/image1.jpg"/><Relationship Id="rId4" Type="http://schemas.openxmlformats.org/officeDocument/2006/relationships/image" Target="../media/image13.png"/><Relationship Id="rId5" Type="http://schemas.openxmlformats.org/officeDocument/2006/relationships/image" Target="../media/image1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 Id="rId3" Type="http://schemas.openxmlformats.org/officeDocument/2006/relationships/image" Target="../media/image1.jpg"/><Relationship Id="rId4" Type="http://schemas.openxmlformats.org/officeDocument/2006/relationships/image" Target="../media/image13.png"/><Relationship Id="rId5" Type="http://schemas.openxmlformats.org/officeDocument/2006/relationships/image" Target="../media/image1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 Id="rId3" Type="http://schemas.openxmlformats.org/officeDocument/2006/relationships/image" Target="../media/image1.jpg"/><Relationship Id="rId4" Type="http://schemas.openxmlformats.org/officeDocument/2006/relationships/image" Target="../media/image13.png"/><Relationship Id="rId5" Type="http://schemas.openxmlformats.org/officeDocument/2006/relationships/image" Target="../media/image1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1.jp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1.jp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K-Means Clustering</a:t>
            </a:r>
            <a:endParaRPr b="1">
              <a:latin typeface="Montserrat"/>
              <a:ea typeface="Montserrat"/>
              <a:cs typeface="Montserrat"/>
              <a:sym typeface="Montserrat"/>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56" name="Google Shape;56;p1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7" name="Google Shape;57;p1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K-Means Clustering</a:t>
            </a:r>
            <a:endParaRPr>
              <a:latin typeface="Montserrat"/>
              <a:ea typeface="Montserrat"/>
              <a:cs typeface="Montserrat"/>
              <a:sym typeface="Montserrat"/>
            </a:endParaRPr>
          </a:p>
        </p:txBody>
      </p:sp>
      <p:sp>
        <p:nvSpPr>
          <p:cNvPr id="63" name="Google Shape;63;p1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Section Overview</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Understanding Clustering</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History and Intuition of K-Means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Mathematical Theory of K-Means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Example of K-Means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K-Means Project Exercise</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K-Means Project Exercise Solution</a:t>
            </a:r>
            <a:endParaRPr sz="2900">
              <a:solidFill>
                <a:srgbClr val="434343"/>
              </a:solidFill>
              <a:latin typeface="Montserrat"/>
              <a:ea typeface="Montserrat"/>
              <a:cs typeface="Montserrat"/>
              <a:sym typeface="Montserrat"/>
            </a:endParaRPr>
          </a:p>
        </p:txBody>
      </p:sp>
      <p:pic>
        <p:nvPicPr>
          <p:cNvPr descr="watermark.jpg" id="64" name="Google Shape;64;p1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5" name="Google Shape;65;p1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K-Means Clustering</a:t>
            </a:r>
            <a:endParaRPr>
              <a:latin typeface="Montserrat"/>
              <a:ea typeface="Montserrat"/>
              <a:cs typeface="Montserrat"/>
              <a:sym typeface="Montserrat"/>
            </a:endParaRPr>
          </a:p>
        </p:txBody>
      </p:sp>
      <p:sp>
        <p:nvSpPr>
          <p:cNvPr id="71" name="Google Shape;71;p1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b="1" i="1" lang="en" sz="2900">
                <a:solidFill>
                  <a:srgbClr val="434343"/>
                </a:solidFill>
                <a:latin typeface="Montserrat"/>
                <a:ea typeface="Montserrat"/>
                <a:cs typeface="Montserrat"/>
                <a:sym typeface="Montserrat"/>
              </a:rPr>
              <a:t>Important Note:</a:t>
            </a:r>
            <a:endParaRPr b="1" i="1"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Do not confuse K-Means with KNN!</a:t>
            </a:r>
            <a:endParaRPr i="1"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The “K” is completely different in both algorithms, they solve completely different problems and are not related in any way!</a:t>
            </a:r>
            <a:endParaRPr i="1" sz="2900">
              <a:solidFill>
                <a:srgbClr val="434343"/>
              </a:solidFill>
              <a:latin typeface="Montserrat"/>
              <a:ea typeface="Montserrat"/>
              <a:cs typeface="Montserrat"/>
              <a:sym typeface="Montserrat"/>
            </a:endParaRPr>
          </a:p>
        </p:txBody>
      </p:sp>
      <p:pic>
        <p:nvPicPr>
          <p:cNvPr descr="watermark.jpg" id="72" name="Google Shape;72;p1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3" name="Google Shape;73;p1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Let’s get started!</a:t>
            </a:r>
            <a:endParaRPr b="1">
              <a:latin typeface="Montserrat"/>
              <a:ea typeface="Montserrat"/>
              <a:cs typeface="Montserrat"/>
              <a:sym typeface="Montserrat"/>
            </a:endParaRPr>
          </a:p>
        </p:txBody>
      </p:sp>
      <p:sp>
        <p:nvSpPr>
          <p:cNvPr id="79" name="Google Shape;79;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80" name="Google Shape;80;p1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1" name="Google Shape;81;p1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Clustering</a:t>
            </a:r>
            <a:endParaRPr b="1">
              <a:latin typeface="Montserrat"/>
              <a:ea typeface="Montserrat"/>
              <a:cs typeface="Montserrat"/>
              <a:sym typeface="Montserrat"/>
            </a:endParaRPr>
          </a:p>
        </p:txBody>
      </p:sp>
      <p:sp>
        <p:nvSpPr>
          <p:cNvPr id="87" name="Google Shape;87;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General Concepts</a:t>
            </a:r>
            <a:endParaRPr/>
          </a:p>
        </p:txBody>
      </p:sp>
      <p:pic>
        <p:nvPicPr>
          <p:cNvPr descr="watermark.jpg" id="88" name="Google Shape;88;p1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9" name="Google Shape;89;p1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95" name="Google Shape;95;p1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Clustering uses </a:t>
            </a:r>
            <a:r>
              <a:rPr b="1" lang="en" sz="2900">
                <a:solidFill>
                  <a:srgbClr val="434343"/>
                </a:solidFill>
                <a:latin typeface="Montserrat"/>
                <a:ea typeface="Montserrat"/>
                <a:cs typeface="Montserrat"/>
                <a:sym typeface="Montserrat"/>
              </a:rPr>
              <a:t>unlabeled data</a:t>
            </a:r>
            <a:r>
              <a:rPr lang="en" sz="2900">
                <a:solidFill>
                  <a:srgbClr val="434343"/>
                </a:solidFill>
                <a:latin typeface="Montserrat"/>
                <a:ea typeface="Montserrat"/>
                <a:cs typeface="Montserrat"/>
                <a:sym typeface="Montserrat"/>
              </a:rPr>
              <a:t> and looks for similarities between groups (clusters) in order to attempt to segment the data into separate clusters.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Keep in mind that we don’t actually know the true correct label for this data!</a:t>
            </a:r>
            <a:endParaRPr sz="2900">
              <a:solidFill>
                <a:srgbClr val="434343"/>
              </a:solidFill>
              <a:latin typeface="Montserrat"/>
              <a:ea typeface="Montserrat"/>
              <a:cs typeface="Montserrat"/>
              <a:sym typeface="Montserrat"/>
            </a:endParaRPr>
          </a:p>
        </p:txBody>
      </p:sp>
      <p:pic>
        <p:nvPicPr>
          <p:cNvPr descr="watermark.jpg" id="96" name="Google Shape;96;p1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7" name="Google Shape;97;p1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03" name="Google Shape;103;p1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Imagine an example data set:</a:t>
            </a:r>
            <a:endParaRPr sz="2900">
              <a:solidFill>
                <a:srgbClr val="434343"/>
              </a:solidFill>
              <a:latin typeface="Montserrat"/>
              <a:ea typeface="Montserrat"/>
              <a:cs typeface="Montserrat"/>
              <a:sym typeface="Montserrat"/>
            </a:endParaRPr>
          </a:p>
        </p:txBody>
      </p:sp>
      <p:pic>
        <p:nvPicPr>
          <p:cNvPr descr="watermark.jpg" id="104" name="Google Shape;104;p1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5" name="Google Shape;105;p1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06" name="Google Shape;106;p19"/>
          <p:cNvGraphicFramePr/>
          <p:nvPr/>
        </p:nvGraphicFramePr>
        <p:xfrm>
          <a:off x="2190375" y="2103875"/>
          <a:ext cx="3000000" cy="3000000"/>
        </p:xfrm>
        <a:graphic>
          <a:graphicData uri="http://schemas.openxmlformats.org/drawingml/2006/table">
            <a:tbl>
              <a:tblPr>
                <a:noFill/>
                <a:tableStyleId>{0F9D7BD3-A36F-4843-BB6D-49014A3B323A}</a:tableStyleId>
              </a:tblPr>
              <a:tblGrid>
                <a:gridCol w="2381625"/>
                <a:gridCol w="2381625"/>
              </a:tblGrid>
              <a:tr h="381000">
                <a:tc>
                  <a:txBody>
                    <a:bodyPr/>
                    <a:lstStyle/>
                    <a:p>
                      <a:pPr indent="0" lvl="0" marL="0" rtl="0" algn="ctr">
                        <a:spcBef>
                          <a:spcPts val="0"/>
                        </a:spcBef>
                        <a:spcAft>
                          <a:spcPts val="0"/>
                        </a:spcAft>
                        <a:buNone/>
                      </a:pPr>
                      <a:r>
                        <a:rPr lang="en" sz="1800">
                          <a:latin typeface="Montserrat"/>
                          <a:ea typeface="Montserrat"/>
                          <a:cs typeface="Montserrat"/>
                          <a:sym typeface="Montserrat"/>
                        </a:rPr>
                        <a:t>X1</a:t>
                      </a:r>
                      <a:endParaRPr sz="1800">
                        <a:latin typeface="Montserrat"/>
                        <a:ea typeface="Montserrat"/>
                        <a:cs typeface="Montserrat"/>
                        <a:sym typeface="Montserrat"/>
                      </a:endParaRPr>
                    </a:p>
                  </a:txBody>
                  <a:tcPr marT="91425" marB="91425" marR="91425" marL="91425">
                    <a:solidFill>
                      <a:srgbClr val="D0E0E3"/>
                    </a:solidFill>
                  </a:tcPr>
                </a:tc>
                <a:tc>
                  <a:txBody>
                    <a:bodyPr/>
                    <a:lstStyle/>
                    <a:p>
                      <a:pPr indent="0" lvl="0" marL="0" rtl="0" algn="ctr">
                        <a:spcBef>
                          <a:spcPts val="0"/>
                        </a:spcBef>
                        <a:spcAft>
                          <a:spcPts val="0"/>
                        </a:spcAft>
                        <a:buNone/>
                      </a:pPr>
                      <a:r>
                        <a:rPr lang="en" sz="1800">
                          <a:latin typeface="Montserrat"/>
                          <a:ea typeface="Montserrat"/>
                          <a:cs typeface="Montserrat"/>
                          <a:sym typeface="Montserrat"/>
                        </a:rPr>
                        <a:t>X2</a:t>
                      </a:r>
                      <a:endParaRPr sz="1800">
                        <a:latin typeface="Montserrat"/>
                        <a:ea typeface="Montserrat"/>
                        <a:cs typeface="Montserrat"/>
                        <a:sym typeface="Montserrat"/>
                      </a:endParaRPr>
                    </a:p>
                  </a:txBody>
                  <a:tcPr marT="91425" marB="91425" marR="91425" marL="91425">
                    <a:solidFill>
                      <a:srgbClr val="D0E0E3"/>
                    </a:solidFill>
                  </a:tcPr>
                </a:tc>
              </a:tr>
              <a:tr h="381000">
                <a:tc>
                  <a:txBody>
                    <a:bodyPr/>
                    <a:lstStyle/>
                    <a:p>
                      <a:pPr indent="0" lvl="0" marL="0" rtl="0" algn="ctr">
                        <a:spcBef>
                          <a:spcPts val="0"/>
                        </a:spcBef>
                        <a:spcAft>
                          <a:spcPts val="0"/>
                        </a:spcAft>
                        <a:buNone/>
                      </a:pPr>
                      <a:r>
                        <a:rPr lang="en" sz="1800">
                          <a:latin typeface="Montserrat"/>
                          <a:ea typeface="Montserrat"/>
                          <a:cs typeface="Montserrat"/>
                          <a:sym typeface="Montserrat"/>
                        </a:rPr>
                        <a:t>2</a:t>
                      </a:r>
                      <a:endParaRPr sz="18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800">
                          <a:latin typeface="Montserrat"/>
                          <a:ea typeface="Montserrat"/>
                          <a:cs typeface="Montserrat"/>
                          <a:sym typeface="Montserrat"/>
                        </a:rPr>
                        <a:t>4</a:t>
                      </a:r>
                      <a:endParaRPr sz="1800">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sz="1800">
                          <a:latin typeface="Montserrat"/>
                          <a:ea typeface="Montserrat"/>
                          <a:cs typeface="Montserrat"/>
                          <a:sym typeface="Montserrat"/>
                        </a:rPr>
                        <a:t>6</a:t>
                      </a:r>
                      <a:endParaRPr sz="18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800">
                          <a:latin typeface="Montserrat"/>
                          <a:ea typeface="Montserrat"/>
                          <a:cs typeface="Montserrat"/>
                          <a:sym typeface="Montserrat"/>
                        </a:rPr>
                        <a:t>3</a:t>
                      </a:r>
                      <a:endParaRPr sz="1800">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sz="1800">
                          <a:latin typeface="Montserrat"/>
                          <a:ea typeface="Montserrat"/>
                          <a:cs typeface="Montserrat"/>
                          <a:sym typeface="Montserrat"/>
                        </a:rPr>
                        <a:t>...</a:t>
                      </a:r>
                      <a:endParaRPr sz="18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800">
                          <a:latin typeface="Montserrat"/>
                          <a:ea typeface="Montserrat"/>
                          <a:cs typeface="Montserrat"/>
                          <a:sym typeface="Montserrat"/>
                        </a:rPr>
                        <a:t>...</a:t>
                      </a:r>
                      <a:endParaRPr sz="1800">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sz="1800">
                          <a:latin typeface="Montserrat"/>
                          <a:ea typeface="Montserrat"/>
                          <a:cs typeface="Montserrat"/>
                          <a:sym typeface="Montserrat"/>
                        </a:rPr>
                        <a:t>1</a:t>
                      </a:r>
                      <a:endParaRPr sz="18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800">
                          <a:latin typeface="Montserrat"/>
                          <a:ea typeface="Montserrat"/>
                          <a:cs typeface="Montserrat"/>
                          <a:sym typeface="Montserrat"/>
                        </a:rPr>
                        <a:t>2</a:t>
                      </a:r>
                      <a:endParaRPr sz="1800">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12" name="Google Shape;112;p2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Notice again we only have features!</a:t>
            </a:r>
            <a:endParaRPr sz="2900">
              <a:solidFill>
                <a:srgbClr val="434343"/>
              </a:solidFill>
              <a:latin typeface="Montserrat"/>
              <a:ea typeface="Montserrat"/>
              <a:cs typeface="Montserrat"/>
              <a:sym typeface="Montserrat"/>
            </a:endParaRPr>
          </a:p>
        </p:txBody>
      </p:sp>
      <p:pic>
        <p:nvPicPr>
          <p:cNvPr descr="watermark.jpg" id="113" name="Google Shape;113;p2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4" name="Google Shape;114;p2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15" name="Google Shape;115;p20"/>
          <p:cNvGraphicFramePr/>
          <p:nvPr/>
        </p:nvGraphicFramePr>
        <p:xfrm>
          <a:off x="2190375" y="2103875"/>
          <a:ext cx="3000000" cy="3000000"/>
        </p:xfrm>
        <a:graphic>
          <a:graphicData uri="http://schemas.openxmlformats.org/drawingml/2006/table">
            <a:tbl>
              <a:tblPr>
                <a:noFill/>
                <a:tableStyleId>{0F9D7BD3-A36F-4843-BB6D-49014A3B323A}</a:tableStyleId>
              </a:tblPr>
              <a:tblGrid>
                <a:gridCol w="2381625"/>
                <a:gridCol w="2381625"/>
              </a:tblGrid>
              <a:tr h="381000">
                <a:tc>
                  <a:txBody>
                    <a:bodyPr/>
                    <a:lstStyle/>
                    <a:p>
                      <a:pPr indent="0" lvl="0" marL="0" rtl="0" algn="ctr">
                        <a:spcBef>
                          <a:spcPts val="0"/>
                        </a:spcBef>
                        <a:spcAft>
                          <a:spcPts val="0"/>
                        </a:spcAft>
                        <a:buNone/>
                      </a:pPr>
                      <a:r>
                        <a:rPr lang="en" sz="1800">
                          <a:latin typeface="Montserrat"/>
                          <a:ea typeface="Montserrat"/>
                          <a:cs typeface="Montserrat"/>
                          <a:sym typeface="Montserrat"/>
                        </a:rPr>
                        <a:t>X1</a:t>
                      </a:r>
                      <a:endParaRPr sz="1800">
                        <a:latin typeface="Montserrat"/>
                        <a:ea typeface="Montserrat"/>
                        <a:cs typeface="Montserrat"/>
                        <a:sym typeface="Montserrat"/>
                      </a:endParaRPr>
                    </a:p>
                  </a:txBody>
                  <a:tcPr marT="91425" marB="91425" marR="91425" marL="91425">
                    <a:solidFill>
                      <a:srgbClr val="D0E0E3"/>
                    </a:solidFill>
                  </a:tcPr>
                </a:tc>
                <a:tc>
                  <a:txBody>
                    <a:bodyPr/>
                    <a:lstStyle/>
                    <a:p>
                      <a:pPr indent="0" lvl="0" marL="0" rtl="0" algn="ctr">
                        <a:spcBef>
                          <a:spcPts val="0"/>
                        </a:spcBef>
                        <a:spcAft>
                          <a:spcPts val="0"/>
                        </a:spcAft>
                        <a:buNone/>
                      </a:pPr>
                      <a:r>
                        <a:rPr lang="en" sz="1800">
                          <a:latin typeface="Montserrat"/>
                          <a:ea typeface="Montserrat"/>
                          <a:cs typeface="Montserrat"/>
                          <a:sym typeface="Montserrat"/>
                        </a:rPr>
                        <a:t>X2</a:t>
                      </a:r>
                      <a:endParaRPr sz="1800">
                        <a:latin typeface="Montserrat"/>
                        <a:ea typeface="Montserrat"/>
                        <a:cs typeface="Montserrat"/>
                        <a:sym typeface="Montserrat"/>
                      </a:endParaRPr>
                    </a:p>
                  </a:txBody>
                  <a:tcPr marT="91425" marB="91425" marR="91425" marL="91425">
                    <a:solidFill>
                      <a:srgbClr val="D0E0E3"/>
                    </a:solidFill>
                  </a:tcPr>
                </a:tc>
              </a:tr>
              <a:tr h="381000">
                <a:tc>
                  <a:txBody>
                    <a:bodyPr/>
                    <a:lstStyle/>
                    <a:p>
                      <a:pPr indent="0" lvl="0" marL="0" rtl="0" algn="ctr">
                        <a:spcBef>
                          <a:spcPts val="0"/>
                        </a:spcBef>
                        <a:spcAft>
                          <a:spcPts val="0"/>
                        </a:spcAft>
                        <a:buNone/>
                      </a:pPr>
                      <a:r>
                        <a:rPr lang="en" sz="1800">
                          <a:latin typeface="Montserrat"/>
                          <a:ea typeface="Montserrat"/>
                          <a:cs typeface="Montserrat"/>
                          <a:sym typeface="Montserrat"/>
                        </a:rPr>
                        <a:t>2</a:t>
                      </a:r>
                      <a:endParaRPr sz="18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800">
                          <a:latin typeface="Montserrat"/>
                          <a:ea typeface="Montserrat"/>
                          <a:cs typeface="Montserrat"/>
                          <a:sym typeface="Montserrat"/>
                        </a:rPr>
                        <a:t>4</a:t>
                      </a:r>
                      <a:endParaRPr sz="1800">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sz="1800">
                          <a:latin typeface="Montserrat"/>
                          <a:ea typeface="Montserrat"/>
                          <a:cs typeface="Montserrat"/>
                          <a:sym typeface="Montserrat"/>
                        </a:rPr>
                        <a:t>6</a:t>
                      </a:r>
                      <a:endParaRPr sz="18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800">
                          <a:latin typeface="Montserrat"/>
                          <a:ea typeface="Montserrat"/>
                          <a:cs typeface="Montserrat"/>
                          <a:sym typeface="Montserrat"/>
                        </a:rPr>
                        <a:t>3</a:t>
                      </a:r>
                      <a:endParaRPr sz="1800">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sz="1800">
                          <a:latin typeface="Montserrat"/>
                          <a:ea typeface="Montserrat"/>
                          <a:cs typeface="Montserrat"/>
                          <a:sym typeface="Montserrat"/>
                        </a:rPr>
                        <a:t>...</a:t>
                      </a:r>
                      <a:endParaRPr sz="18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800">
                          <a:latin typeface="Montserrat"/>
                          <a:ea typeface="Montserrat"/>
                          <a:cs typeface="Montserrat"/>
                          <a:sym typeface="Montserrat"/>
                        </a:rPr>
                        <a:t>...</a:t>
                      </a:r>
                      <a:endParaRPr sz="1800">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sz="1800">
                          <a:latin typeface="Montserrat"/>
                          <a:ea typeface="Montserrat"/>
                          <a:cs typeface="Montserrat"/>
                          <a:sym typeface="Montserrat"/>
                        </a:rPr>
                        <a:t>1</a:t>
                      </a:r>
                      <a:endParaRPr sz="18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800">
                          <a:latin typeface="Montserrat"/>
                          <a:ea typeface="Montserrat"/>
                          <a:cs typeface="Montserrat"/>
                          <a:sym typeface="Montserrat"/>
                        </a:rPr>
                        <a:t>2</a:t>
                      </a:r>
                      <a:endParaRPr sz="1800">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21" name="Google Shape;121;p2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How could we cluster this data together?</a:t>
            </a:r>
            <a:endParaRPr sz="2900">
              <a:solidFill>
                <a:srgbClr val="434343"/>
              </a:solidFill>
              <a:latin typeface="Montserrat"/>
              <a:ea typeface="Montserrat"/>
              <a:cs typeface="Montserrat"/>
              <a:sym typeface="Montserrat"/>
            </a:endParaRPr>
          </a:p>
        </p:txBody>
      </p:sp>
      <p:pic>
        <p:nvPicPr>
          <p:cNvPr descr="watermark.jpg" id="122" name="Google Shape;122;p2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3" name="Google Shape;123;p2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24" name="Google Shape;124;p21"/>
          <p:cNvGraphicFramePr/>
          <p:nvPr/>
        </p:nvGraphicFramePr>
        <p:xfrm>
          <a:off x="2190375" y="2103875"/>
          <a:ext cx="3000000" cy="3000000"/>
        </p:xfrm>
        <a:graphic>
          <a:graphicData uri="http://schemas.openxmlformats.org/drawingml/2006/table">
            <a:tbl>
              <a:tblPr>
                <a:noFill/>
                <a:tableStyleId>{0F9D7BD3-A36F-4843-BB6D-49014A3B323A}</a:tableStyleId>
              </a:tblPr>
              <a:tblGrid>
                <a:gridCol w="2381625"/>
                <a:gridCol w="2381625"/>
              </a:tblGrid>
              <a:tr h="381000">
                <a:tc>
                  <a:txBody>
                    <a:bodyPr/>
                    <a:lstStyle/>
                    <a:p>
                      <a:pPr indent="0" lvl="0" marL="0" rtl="0" algn="ctr">
                        <a:spcBef>
                          <a:spcPts val="0"/>
                        </a:spcBef>
                        <a:spcAft>
                          <a:spcPts val="0"/>
                        </a:spcAft>
                        <a:buNone/>
                      </a:pPr>
                      <a:r>
                        <a:rPr lang="en" sz="1800">
                          <a:latin typeface="Montserrat"/>
                          <a:ea typeface="Montserrat"/>
                          <a:cs typeface="Montserrat"/>
                          <a:sym typeface="Montserrat"/>
                        </a:rPr>
                        <a:t>X1</a:t>
                      </a:r>
                      <a:endParaRPr sz="1800">
                        <a:latin typeface="Montserrat"/>
                        <a:ea typeface="Montserrat"/>
                        <a:cs typeface="Montserrat"/>
                        <a:sym typeface="Montserrat"/>
                      </a:endParaRPr>
                    </a:p>
                  </a:txBody>
                  <a:tcPr marT="91425" marB="91425" marR="91425" marL="91425">
                    <a:solidFill>
                      <a:srgbClr val="D0E0E3"/>
                    </a:solidFill>
                  </a:tcPr>
                </a:tc>
                <a:tc>
                  <a:txBody>
                    <a:bodyPr/>
                    <a:lstStyle/>
                    <a:p>
                      <a:pPr indent="0" lvl="0" marL="0" rtl="0" algn="ctr">
                        <a:spcBef>
                          <a:spcPts val="0"/>
                        </a:spcBef>
                        <a:spcAft>
                          <a:spcPts val="0"/>
                        </a:spcAft>
                        <a:buNone/>
                      </a:pPr>
                      <a:r>
                        <a:rPr lang="en" sz="1800">
                          <a:latin typeface="Montserrat"/>
                          <a:ea typeface="Montserrat"/>
                          <a:cs typeface="Montserrat"/>
                          <a:sym typeface="Montserrat"/>
                        </a:rPr>
                        <a:t>X2</a:t>
                      </a:r>
                      <a:endParaRPr sz="1800">
                        <a:latin typeface="Montserrat"/>
                        <a:ea typeface="Montserrat"/>
                        <a:cs typeface="Montserrat"/>
                        <a:sym typeface="Montserrat"/>
                      </a:endParaRPr>
                    </a:p>
                  </a:txBody>
                  <a:tcPr marT="91425" marB="91425" marR="91425" marL="91425">
                    <a:solidFill>
                      <a:srgbClr val="D0E0E3"/>
                    </a:solidFill>
                  </a:tcPr>
                </a:tc>
              </a:tr>
              <a:tr h="381000">
                <a:tc>
                  <a:txBody>
                    <a:bodyPr/>
                    <a:lstStyle/>
                    <a:p>
                      <a:pPr indent="0" lvl="0" marL="0" rtl="0" algn="ctr">
                        <a:spcBef>
                          <a:spcPts val="0"/>
                        </a:spcBef>
                        <a:spcAft>
                          <a:spcPts val="0"/>
                        </a:spcAft>
                        <a:buNone/>
                      </a:pPr>
                      <a:r>
                        <a:rPr lang="en" sz="1800">
                          <a:latin typeface="Montserrat"/>
                          <a:ea typeface="Montserrat"/>
                          <a:cs typeface="Montserrat"/>
                          <a:sym typeface="Montserrat"/>
                        </a:rPr>
                        <a:t>2</a:t>
                      </a:r>
                      <a:endParaRPr sz="18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800">
                          <a:latin typeface="Montserrat"/>
                          <a:ea typeface="Montserrat"/>
                          <a:cs typeface="Montserrat"/>
                          <a:sym typeface="Montserrat"/>
                        </a:rPr>
                        <a:t>4</a:t>
                      </a:r>
                      <a:endParaRPr sz="1800">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sz="1800">
                          <a:latin typeface="Montserrat"/>
                          <a:ea typeface="Montserrat"/>
                          <a:cs typeface="Montserrat"/>
                          <a:sym typeface="Montserrat"/>
                        </a:rPr>
                        <a:t>6</a:t>
                      </a:r>
                      <a:endParaRPr sz="18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800">
                          <a:latin typeface="Montserrat"/>
                          <a:ea typeface="Montserrat"/>
                          <a:cs typeface="Montserrat"/>
                          <a:sym typeface="Montserrat"/>
                        </a:rPr>
                        <a:t>3</a:t>
                      </a:r>
                      <a:endParaRPr sz="1800">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sz="1800">
                          <a:latin typeface="Montserrat"/>
                          <a:ea typeface="Montserrat"/>
                          <a:cs typeface="Montserrat"/>
                          <a:sym typeface="Montserrat"/>
                        </a:rPr>
                        <a:t>...</a:t>
                      </a:r>
                      <a:endParaRPr sz="18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800">
                          <a:latin typeface="Montserrat"/>
                          <a:ea typeface="Montserrat"/>
                          <a:cs typeface="Montserrat"/>
                          <a:sym typeface="Montserrat"/>
                        </a:rPr>
                        <a:t>...</a:t>
                      </a:r>
                      <a:endParaRPr sz="1800">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sz="1800">
                          <a:latin typeface="Montserrat"/>
                          <a:ea typeface="Montserrat"/>
                          <a:cs typeface="Montserrat"/>
                          <a:sym typeface="Montserrat"/>
                        </a:rPr>
                        <a:t>1</a:t>
                      </a:r>
                      <a:endParaRPr sz="1800">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sz="1800">
                          <a:latin typeface="Montserrat"/>
                          <a:ea typeface="Montserrat"/>
                          <a:cs typeface="Montserrat"/>
                          <a:sym typeface="Montserrat"/>
                        </a:rPr>
                        <a:t>2</a:t>
                      </a:r>
                      <a:endParaRPr sz="1800">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30" name="Google Shape;130;p22"/>
          <p:cNvSpPr txBox="1"/>
          <p:nvPr>
            <p:ph idx="1" type="body"/>
          </p:nvPr>
        </p:nvSpPr>
        <p:spPr>
          <a:xfrm>
            <a:off x="311700" y="1152475"/>
            <a:ext cx="8684100" cy="8979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Could simply plot and discover patterns:</a:t>
            </a:r>
            <a:endParaRPr sz="2900">
              <a:solidFill>
                <a:srgbClr val="434343"/>
              </a:solidFill>
              <a:latin typeface="Montserrat"/>
              <a:ea typeface="Montserrat"/>
              <a:cs typeface="Montserrat"/>
              <a:sym typeface="Montserrat"/>
            </a:endParaRPr>
          </a:p>
        </p:txBody>
      </p:sp>
      <p:pic>
        <p:nvPicPr>
          <p:cNvPr descr="watermark.jpg" id="131" name="Google Shape;131;p2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2" name="Google Shape;132;p2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33" name="Google Shape;133;p22"/>
          <p:cNvSpPr txBox="1"/>
          <p:nvPr/>
        </p:nvSpPr>
        <p:spPr>
          <a:xfrm>
            <a:off x="4076525" y="470455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34" name="Google Shape;134;p22"/>
          <p:cNvSpPr txBox="1"/>
          <p:nvPr/>
        </p:nvSpPr>
        <p:spPr>
          <a:xfrm>
            <a:off x="864350" y="291330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35" name="Google Shape;135;p22"/>
          <p:cNvSpPr/>
          <p:nvPr/>
        </p:nvSpPr>
        <p:spPr>
          <a:xfrm>
            <a:off x="2239625" y="1847950"/>
            <a:ext cx="5006400" cy="28566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41" name="Google Shape;141;p23"/>
          <p:cNvSpPr txBox="1"/>
          <p:nvPr>
            <p:ph idx="1" type="body"/>
          </p:nvPr>
        </p:nvSpPr>
        <p:spPr>
          <a:xfrm>
            <a:off x="311700" y="1152475"/>
            <a:ext cx="8684100" cy="8595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Here we intuitively see 2 groupings</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p:txBody>
      </p:sp>
      <p:pic>
        <p:nvPicPr>
          <p:cNvPr descr="watermark.jpg" id="142" name="Google Shape;142;p2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43" name="Google Shape;143;p2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44" name="Google Shape;144;p23"/>
          <p:cNvSpPr txBox="1"/>
          <p:nvPr/>
        </p:nvSpPr>
        <p:spPr>
          <a:xfrm>
            <a:off x="4076525" y="470455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45" name="Google Shape;145;p23"/>
          <p:cNvSpPr txBox="1"/>
          <p:nvPr/>
        </p:nvSpPr>
        <p:spPr>
          <a:xfrm>
            <a:off x="864350" y="291330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46" name="Google Shape;146;p23"/>
          <p:cNvSpPr/>
          <p:nvPr/>
        </p:nvSpPr>
        <p:spPr>
          <a:xfrm>
            <a:off x="3224700" y="409637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3"/>
          <p:cNvSpPr/>
          <p:nvPr/>
        </p:nvSpPr>
        <p:spPr>
          <a:xfrm>
            <a:off x="3583200" y="3686300"/>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3"/>
          <p:cNvSpPr/>
          <p:nvPr/>
        </p:nvSpPr>
        <p:spPr>
          <a:xfrm>
            <a:off x="3669350" y="33454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3"/>
          <p:cNvSpPr/>
          <p:nvPr/>
        </p:nvSpPr>
        <p:spPr>
          <a:xfrm>
            <a:off x="3777575" y="394907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3"/>
          <p:cNvSpPr/>
          <p:nvPr/>
        </p:nvSpPr>
        <p:spPr>
          <a:xfrm>
            <a:off x="3282075" y="33454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3"/>
          <p:cNvSpPr/>
          <p:nvPr/>
        </p:nvSpPr>
        <p:spPr>
          <a:xfrm>
            <a:off x="3372000" y="37547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3"/>
          <p:cNvSpPr/>
          <p:nvPr/>
        </p:nvSpPr>
        <p:spPr>
          <a:xfrm>
            <a:off x="3924875" y="36074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a:off x="4217150" y="32518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3"/>
          <p:cNvSpPr/>
          <p:nvPr/>
        </p:nvSpPr>
        <p:spPr>
          <a:xfrm>
            <a:off x="4156050" y="34927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3"/>
          <p:cNvSpPr/>
          <p:nvPr/>
        </p:nvSpPr>
        <p:spPr>
          <a:xfrm>
            <a:off x="4089000" y="380177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3"/>
          <p:cNvSpPr/>
          <p:nvPr/>
        </p:nvSpPr>
        <p:spPr>
          <a:xfrm>
            <a:off x="3943250" y="32518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3"/>
          <p:cNvSpPr/>
          <p:nvPr/>
        </p:nvSpPr>
        <p:spPr>
          <a:xfrm>
            <a:off x="3730500" y="31045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3"/>
          <p:cNvSpPr/>
          <p:nvPr/>
        </p:nvSpPr>
        <p:spPr>
          <a:xfrm>
            <a:off x="4987250" y="271287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3"/>
          <p:cNvSpPr/>
          <p:nvPr/>
        </p:nvSpPr>
        <p:spPr>
          <a:xfrm>
            <a:off x="5261825" y="3027250"/>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3"/>
          <p:cNvSpPr/>
          <p:nvPr/>
        </p:nvSpPr>
        <p:spPr>
          <a:xfrm>
            <a:off x="5261825" y="2818900"/>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3"/>
          <p:cNvSpPr/>
          <p:nvPr/>
        </p:nvSpPr>
        <p:spPr>
          <a:xfrm rot="6226896">
            <a:off x="5789533" y="2222242"/>
            <a:ext cx="147342" cy="147342"/>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3"/>
          <p:cNvSpPr/>
          <p:nvPr/>
        </p:nvSpPr>
        <p:spPr>
          <a:xfrm rot="6226896">
            <a:off x="5474169" y="2407936"/>
            <a:ext cx="147342" cy="147342"/>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3"/>
          <p:cNvSpPr/>
          <p:nvPr/>
        </p:nvSpPr>
        <p:spPr>
          <a:xfrm rot="6226896">
            <a:off x="5749834" y="2776562"/>
            <a:ext cx="147342" cy="147342"/>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3"/>
          <p:cNvSpPr/>
          <p:nvPr/>
        </p:nvSpPr>
        <p:spPr>
          <a:xfrm rot="6226896">
            <a:off x="5530447" y="2659790"/>
            <a:ext cx="147342" cy="147342"/>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3"/>
          <p:cNvSpPr/>
          <p:nvPr/>
        </p:nvSpPr>
        <p:spPr>
          <a:xfrm rot="6226896">
            <a:off x="5246294" y="2520993"/>
            <a:ext cx="147342" cy="147342"/>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3"/>
          <p:cNvSpPr/>
          <p:nvPr/>
        </p:nvSpPr>
        <p:spPr>
          <a:xfrm rot="6226896">
            <a:off x="5815134" y="2510560"/>
            <a:ext cx="147342" cy="147342"/>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3"/>
          <p:cNvSpPr/>
          <p:nvPr/>
        </p:nvSpPr>
        <p:spPr>
          <a:xfrm rot="6226896">
            <a:off x="6008908" y="2339062"/>
            <a:ext cx="147342" cy="147342"/>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3"/>
          <p:cNvSpPr/>
          <p:nvPr/>
        </p:nvSpPr>
        <p:spPr>
          <a:xfrm rot="7203796">
            <a:off x="6165647" y="2888466"/>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3"/>
          <p:cNvSpPr/>
          <p:nvPr/>
        </p:nvSpPr>
        <p:spPr>
          <a:xfrm rot="7203796">
            <a:off x="5810841" y="2978189"/>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3"/>
          <p:cNvSpPr/>
          <p:nvPr/>
        </p:nvSpPr>
        <p:spPr>
          <a:xfrm rot="7203796">
            <a:off x="5971972" y="3409365"/>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3"/>
          <p:cNvSpPr/>
          <p:nvPr/>
        </p:nvSpPr>
        <p:spPr>
          <a:xfrm rot="7203796">
            <a:off x="5794174" y="3235716"/>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3"/>
          <p:cNvSpPr/>
          <p:nvPr/>
        </p:nvSpPr>
        <p:spPr>
          <a:xfrm rot="7203796">
            <a:off x="5560395" y="3022749"/>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3"/>
          <p:cNvSpPr/>
          <p:nvPr/>
        </p:nvSpPr>
        <p:spPr>
          <a:xfrm rot="7203796">
            <a:off x="6109302" y="3172381"/>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3"/>
          <p:cNvSpPr/>
          <p:nvPr/>
        </p:nvSpPr>
        <p:spPr>
          <a:xfrm rot="7203796">
            <a:off x="6343419" y="3062159"/>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3"/>
          <p:cNvSpPr/>
          <p:nvPr/>
        </p:nvSpPr>
        <p:spPr>
          <a:xfrm rot="7203796">
            <a:off x="3193847" y="3650466"/>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3"/>
          <p:cNvSpPr/>
          <p:nvPr/>
        </p:nvSpPr>
        <p:spPr>
          <a:xfrm rot="7203796">
            <a:off x="2839041" y="3740189"/>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3"/>
          <p:cNvSpPr/>
          <p:nvPr/>
        </p:nvSpPr>
        <p:spPr>
          <a:xfrm rot="7203796">
            <a:off x="3000172" y="4171365"/>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3"/>
          <p:cNvSpPr/>
          <p:nvPr/>
        </p:nvSpPr>
        <p:spPr>
          <a:xfrm rot="7203796">
            <a:off x="2822374" y="3997716"/>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3"/>
          <p:cNvSpPr/>
          <p:nvPr/>
        </p:nvSpPr>
        <p:spPr>
          <a:xfrm rot="7203796">
            <a:off x="2588595" y="3784749"/>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3"/>
          <p:cNvSpPr/>
          <p:nvPr/>
        </p:nvSpPr>
        <p:spPr>
          <a:xfrm rot="7203796">
            <a:off x="3137502" y="3934381"/>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3"/>
          <p:cNvSpPr/>
          <p:nvPr/>
        </p:nvSpPr>
        <p:spPr>
          <a:xfrm>
            <a:off x="2239625" y="1847950"/>
            <a:ext cx="5006400" cy="28566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87" name="Google Shape;187;p24"/>
          <p:cNvSpPr txBox="1"/>
          <p:nvPr>
            <p:ph idx="1" type="body"/>
          </p:nvPr>
        </p:nvSpPr>
        <p:spPr>
          <a:xfrm>
            <a:off x="311700" y="1152475"/>
            <a:ext cx="8684100" cy="8595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Note how distance is the intuitive metric</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p:txBody>
      </p:sp>
      <p:pic>
        <p:nvPicPr>
          <p:cNvPr descr="watermark.jpg" id="188" name="Google Shape;188;p2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9" name="Google Shape;189;p2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90" name="Google Shape;190;p24"/>
          <p:cNvSpPr txBox="1"/>
          <p:nvPr/>
        </p:nvSpPr>
        <p:spPr>
          <a:xfrm>
            <a:off x="4076525" y="470455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91" name="Google Shape;191;p24"/>
          <p:cNvSpPr txBox="1"/>
          <p:nvPr/>
        </p:nvSpPr>
        <p:spPr>
          <a:xfrm>
            <a:off x="864350" y="291330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92" name="Google Shape;192;p24"/>
          <p:cNvSpPr/>
          <p:nvPr/>
        </p:nvSpPr>
        <p:spPr>
          <a:xfrm>
            <a:off x="3224700" y="409637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4"/>
          <p:cNvSpPr/>
          <p:nvPr/>
        </p:nvSpPr>
        <p:spPr>
          <a:xfrm>
            <a:off x="3583200" y="3686300"/>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4"/>
          <p:cNvSpPr/>
          <p:nvPr/>
        </p:nvSpPr>
        <p:spPr>
          <a:xfrm>
            <a:off x="3669350" y="33454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4"/>
          <p:cNvSpPr/>
          <p:nvPr/>
        </p:nvSpPr>
        <p:spPr>
          <a:xfrm>
            <a:off x="3777575" y="394907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4"/>
          <p:cNvSpPr/>
          <p:nvPr/>
        </p:nvSpPr>
        <p:spPr>
          <a:xfrm>
            <a:off x="3282075" y="33454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4"/>
          <p:cNvSpPr/>
          <p:nvPr/>
        </p:nvSpPr>
        <p:spPr>
          <a:xfrm>
            <a:off x="3372000" y="37547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4"/>
          <p:cNvSpPr/>
          <p:nvPr/>
        </p:nvSpPr>
        <p:spPr>
          <a:xfrm>
            <a:off x="3924875" y="36074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4"/>
          <p:cNvSpPr/>
          <p:nvPr/>
        </p:nvSpPr>
        <p:spPr>
          <a:xfrm>
            <a:off x="4217150" y="32518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4"/>
          <p:cNvSpPr/>
          <p:nvPr/>
        </p:nvSpPr>
        <p:spPr>
          <a:xfrm>
            <a:off x="4156050" y="34927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4"/>
          <p:cNvSpPr/>
          <p:nvPr/>
        </p:nvSpPr>
        <p:spPr>
          <a:xfrm>
            <a:off x="4089000" y="380177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4"/>
          <p:cNvSpPr/>
          <p:nvPr/>
        </p:nvSpPr>
        <p:spPr>
          <a:xfrm>
            <a:off x="3943250" y="32518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4"/>
          <p:cNvSpPr/>
          <p:nvPr/>
        </p:nvSpPr>
        <p:spPr>
          <a:xfrm>
            <a:off x="3730500" y="31045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4"/>
          <p:cNvSpPr/>
          <p:nvPr/>
        </p:nvSpPr>
        <p:spPr>
          <a:xfrm>
            <a:off x="4987250" y="271287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4"/>
          <p:cNvSpPr/>
          <p:nvPr/>
        </p:nvSpPr>
        <p:spPr>
          <a:xfrm>
            <a:off x="5261825" y="3027250"/>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4"/>
          <p:cNvSpPr/>
          <p:nvPr/>
        </p:nvSpPr>
        <p:spPr>
          <a:xfrm>
            <a:off x="5261825" y="2818900"/>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4"/>
          <p:cNvSpPr/>
          <p:nvPr/>
        </p:nvSpPr>
        <p:spPr>
          <a:xfrm rot="6226896">
            <a:off x="5789533" y="2222242"/>
            <a:ext cx="147342" cy="147342"/>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4"/>
          <p:cNvSpPr/>
          <p:nvPr/>
        </p:nvSpPr>
        <p:spPr>
          <a:xfrm rot="6226896">
            <a:off x="5474169" y="2407936"/>
            <a:ext cx="147342" cy="147342"/>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4"/>
          <p:cNvSpPr/>
          <p:nvPr/>
        </p:nvSpPr>
        <p:spPr>
          <a:xfrm rot="6226896">
            <a:off x="5749834" y="2776562"/>
            <a:ext cx="147342" cy="147342"/>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4"/>
          <p:cNvSpPr/>
          <p:nvPr/>
        </p:nvSpPr>
        <p:spPr>
          <a:xfrm rot="6226896">
            <a:off x="5530447" y="2659790"/>
            <a:ext cx="147342" cy="147342"/>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4"/>
          <p:cNvSpPr/>
          <p:nvPr/>
        </p:nvSpPr>
        <p:spPr>
          <a:xfrm rot="6226896">
            <a:off x="5246294" y="2520993"/>
            <a:ext cx="147342" cy="147342"/>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4"/>
          <p:cNvSpPr/>
          <p:nvPr/>
        </p:nvSpPr>
        <p:spPr>
          <a:xfrm rot="6226896">
            <a:off x="5815134" y="2510560"/>
            <a:ext cx="147342" cy="147342"/>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4"/>
          <p:cNvSpPr/>
          <p:nvPr/>
        </p:nvSpPr>
        <p:spPr>
          <a:xfrm rot="6226896">
            <a:off x="6008908" y="2339062"/>
            <a:ext cx="147342" cy="147342"/>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4"/>
          <p:cNvSpPr/>
          <p:nvPr/>
        </p:nvSpPr>
        <p:spPr>
          <a:xfrm rot="7203796">
            <a:off x="6165647" y="2888466"/>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4"/>
          <p:cNvSpPr/>
          <p:nvPr/>
        </p:nvSpPr>
        <p:spPr>
          <a:xfrm rot="7203796">
            <a:off x="5810841" y="2978189"/>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4"/>
          <p:cNvSpPr/>
          <p:nvPr/>
        </p:nvSpPr>
        <p:spPr>
          <a:xfrm rot="7203796">
            <a:off x="5971972" y="3409365"/>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4"/>
          <p:cNvSpPr/>
          <p:nvPr/>
        </p:nvSpPr>
        <p:spPr>
          <a:xfrm rot="7203796">
            <a:off x="5794174" y="3235716"/>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4"/>
          <p:cNvSpPr/>
          <p:nvPr/>
        </p:nvSpPr>
        <p:spPr>
          <a:xfrm rot="7203796">
            <a:off x="5560395" y="3022749"/>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4"/>
          <p:cNvSpPr/>
          <p:nvPr/>
        </p:nvSpPr>
        <p:spPr>
          <a:xfrm rot="7203796">
            <a:off x="6109302" y="3172381"/>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4"/>
          <p:cNvSpPr/>
          <p:nvPr/>
        </p:nvSpPr>
        <p:spPr>
          <a:xfrm rot="7203796">
            <a:off x="6343419" y="3062159"/>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4"/>
          <p:cNvSpPr/>
          <p:nvPr/>
        </p:nvSpPr>
        <p:spPr>
          <a:xfrm rot="7203796">
            <a:off x="3193847" y="3650466"/>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4"/>
          <p:cNvSpPr/>
          <p:nvPr/>
        </p:nvSpPr>
        <p:spPr>
          <a:xfrm rot="7203796">
            <a:off x="2839041" y="3740189"/>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4"/>
          <p:cNvSpPr/>
          <p:nvPr/>
        </p:nvSpPr>
        <p:spPr>
          <a:xfrm rot="7203796">
            <a:off x="3000172" y="4171365"/>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4"/>
          <p:cNvSpPr/>
          <p:nvPr/>
        </p:nvSpPr>
        <p:spPr>
          <a:xfrm rot="7203796">
            <a:off x="2822374" y="3997716"/>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p:nvPr/>
        </p:nvSpPr>
        <p:spPr>
          <a:xfrm rot="7203796">
            <a:off x="2588595" y="3784749"/>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4"/>
          <p:cNvSpPr/>
          <p:nvPr/>
        </p:nvSpPr>
        <p:spPr>
          <a:xfrm rot="7203796">
            <a:off x="3137502" y="3934381"/>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4"/>
          <p:cNvSpPr/>
          <p:nvPr/>
        </p:nvSpPr>
        <p:spPr>
          <a:xfrm>
            <a:off x="2239625" y="1847950"/>
            <a:ext cx="5006400" cy="28566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4"/>
          <p:cNvSpPr/>
          <p:nvPr/>
        </p:nvSpPr>
        <p:spPr>
          <a:xfrm rot="-1450041">
            <a:off x="2463263" y="3055525"/>
            <a:ext cx="2257677" cy="1251107"/>
          </a:xfrm>
          <a:prstGeom prst="ellipse">
            <a:avLst/>
          </a:prstGeom>
          <a:solidFill>
            <a:srgbClr val="57BFE8">
              <a:alpha val="441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4"/>
          <p:cNvSpPr/>
          <p:nvPr/>
        </p:nvSpPr>
        <p:spPr>
          <a:xfrm rot="-1450408">
            <a:off x="4982674" y="2009047"/>
            <a:ext cx="1530401" cy="1758305"/>
          </a:xfrm>
          <a:prstGeom prst="ellipse">
            <a:avLst/>
          </a:prstGeom>
          <a:solidFill>
            <a:srgbClr val="E8575B">
              <a:alpha val="441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5"/>
          <p:cNvSpPr/>
          <p:nvPr/>
        </p:nvSpPr>
        <p:spPr>
          <a:xfrm>
            <a:off x="2239625" y="1847950"/>
            <a:ext cx="5006400" cy="28566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236" name="Google Shape;236;p25"/>
          <p:cNvSpPr txBox="1"/>
          <p:nvPr>
            <p:ph idx="1" type="body"/>
          </p:nvPr>
        </p:nvSpPr>
        <p:spPr>
          <a:xfrm>
            <a:off x="311700" y="1152475"/>
            <a:ext cx="8684100" cy="8115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could then assign clusters</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p:txBody>
      </p:sp>
      <p:pic>
        <p:nvPicPr>
          <p:cNvPr descr="watermark.jpg" id="237" name="Google Shape;237;p2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38" name="Google Shape;238;p2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39" name="Google Shape;239;p25"/>
          <p:cNvSpPr txBox="1"/>
          <p:nvPr/>
        </p:nvSpPr>
        <p:spPr>
          <a:xfrm>
            <a:off x="4076525" y="470455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240" name="Google Shape;240;p25"/>
          <p:cNvSpPr txBox="1"/>
          <p:nvPr/>
        </p:nvSpPr>
        <p:spPr>
          <a:xfrm>
            <a:off x="864350" y="291330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241" name="Google Shape;241;p25"/>
          <p:cNvSpPr/>
          <p:nvPr/>
        </p:nvSpPr>
        <p:spPr>
          <a:xfrm>
            <a:off x="3224700" y="4096375"/>
            <a:ext cx="147300" cy="147300"/>
          </a:xfrm>
          <a:prstGeom prst="ellipse">
            <a:avLst/>
          </a:prstGeom>
          <a:solidFill>
            <a:srgbClr val="6FA8D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5"/>
          <p:cNvSpPr/>
          <p:nvPr/>
        </p:nvSpPr>
        <p:spPr>
          <a:xfrm>
            <a:off x="3583200" y="3686300"/>
            <a:ext cx="147300" cy="147300"/>
          </a:xfrm>
          <a:prstGeom prst="ellipse">
            <a:avLst/>
          </a:prstGeom>
          <a:solidFill>
            <a:srgbClr val="6FA8D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5"/>
          <p:cNvSpPr/>
          <p:nvPr/>
        </p:nvSpPr>
        <p:spPr>
          <a:xfrm>
            <a:off x="3669350" y="3345425"/>
            <a:ext cx="147300" cy="147300"/>
          </a:xfrm>
          <a:prstGeom prst="ellipse">
            <a:avLst/>
          </a:prstGeom>
          <a:solidFill>
            <a:srgbClr val="6FA8D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5"/>
          <p:cNvSpPr/>
          <p:nvPr/>
        </p:nvSpPr>
        <p:spPr>
          <a:xfrm>
            <a:off x="3777575" y="3949075"/>
            <a:ext cx="147300" cy="147300"/>
          </a:xfrm>
          <a:prstGeom prst="ellipse">
            <a:avLst/>
          </a:prstGeom>
          <a:solidFill>
            <a:srgbClr val="6FA8D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5"/>
          <p:cNvSpPr/>
          <p:nvPr/>
        </p:nvSpPr>
        <p:spPr>
          <a:xfrm>
            <a:off x="3282075" y="3345425"/>
            <a:ext cx="147300" cy="147300"/>
          </a:xfrm>
          <a:prstGeom prst="ellipse">
            <a:avLst/>
          </a:prstGeom>
          <a:solidFill>
            <a:srgbClr val="6FA8D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5"/>
          <p:cNvSpPr/>
          <p:nvPr/>
        </p:nvSpPr>
        <p:spPr>
          <a:xfrm>
            <a:off x="3372000" y="3754725"/>
            <a:ext cx="147300" cy="147300"/>
          </a:xfrm>
          <a:prstGeom prst="ellipse">
            <a:avLst/>
          </a:prstGeom>
          <a:solidFill>
            <a:srgbClr val="6FA8D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5"/>
          <p:cNvSpPr/>
          <p:nvPr/>
        </p:nvSpPr>
        <p:spPr>
          <a:xfrm>
            <a:off x="3924875" y="3607425"/>
            <a:ext cx="147300" cy="147300"/>
          </a:xfrm>
          <a:prstGeom prst="ellipse">
            <a:avLst/>
          </a:prstGeom>
          <a:solidFill>
            <a:srgbClr val="6FA8D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5"/>
          <p:cNvSpPr/>
          <p:nvPr/>
        </p:nvSpPr>
        <p:spPr>
          <a:xfrm>
            <a:off x="4217150" y="3251825"/>
            <a:ext cx="147300" cy="147300"/>
          </a:xfrm>
          <a:prstGeom prst="ellipse">
            <a:avLst/>
          </a:prstGeom>
          <a:solidFill>
            <a:srgbClr val="6FA8D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5"/>
          <p:cNvSpPr/>
          <p:nvPr/>
        </p:nvSpPr>
        <p:spPr>
          <a:xfrm>
            <a:off x="4156050" y="3492725"/>
            <a:ext cx="147300" cy="147300"/>
          </a:xfrm>
          <a:prstGeom prst="ellipse">
            <a:avLst/>
          </a:prstGeom>
          <a:solidFill>
            <a:srgbClr val="6FA8D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p:nvPr/>
        </p:nvSpPr>
        <p:spPr>
          <a:xfrm>
            <a:off x="4089000" y="3801775"/>
            <a:ext cx="147300" cy="147300"/>
          </a:xfrm>
          <a:prstGeom prst="ellipse">
            <a:avLst/>
          </a:prstGeom>
          <a:solidFill>
            <a:srgbClr val="6FA8D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5"/>
          <p:cNvSpPr/>
          <p:nvPr/>
        </p:nvSpPr>
        <p:spPr>
          <a:xfrm>
            <a:off x="3943250" y="3251825"/>
            <a:ext cx="147300" cy="147300"/>
          </a:xfrm>
          <a:prstGeom prst="ellipse">
            <a:avLst/>
          </a:prstGeom>
          <a:solidFill>
            <a:srgbClr val="6FA8D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5"/>
          <p:cNvSpPr/>
          <p:nvPr/>
        </p:nvSpPr>
        <p:spPr>
          <a:xfrm>
            <a:off x="3730500" y="3104525"/>
            <a:ext cx="147300" cy="147300"/>
          </a:xfrm>
          <a:prstGeom prst="ellipse">
            <a:avLst/>
          </a:prstGeom>
          <a:solidFill>
            <a:srgbClr val="6FA8D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5"/>
          <p:cNvSpPr/>
          <p:nvPr/>
        </p:nvSpPr>
        <p:spPr>
          <a:xfrm>
            <a:off x="4987250" y="2712875"/>
            <a:ext cx="147300" cy="147300"/>
          </a:xfrm>
          <a:prstGeom prst="ellipse">
            <a:avLst/>
          </a:prstGeom>
          <a:solidFill>
            <a:srgbClr val="E0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5"/>
          <p:cNvSpPr/>
          <p:nvPr/>
        </p:nvSpPr>
        <p:spPr>
          <a:xfrm>
            <a:off x="5261825" y="3027250"/>
            <a:ext cx="147300" cy="147300"/>
          </a:xfrm>
          <a:prstGeom prst="ellipse">
            <a:avLst/>
          </a:prstGeom>
          <a:solidFill>
            <a:srgbClr val="E0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5"/>
          <p:cNvSpPr/>
          <p:nvPr/>
        </p:nvSpPr>
        <p:spPr>
          <a:xfrm>
            <a:off x="5261825" y="2818900"/>
            <a:ext cx="147300" cy="147300"/>
          </a:xfrm>
          <a:prstGeom prst="ellipse">
            <a:avLst/>
          </a:prstGeom>
          <a:solidFill>
            <a:srgbClr val="E0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5"/>
          <p:cNvSpPr/>
          <p:nvPr/>
        </p:nvSpPr>
        <p:spPr>
          <a:xfrm rot="6226896">
            <a:off x="5789533" y="2222242"/>
            <a:ext cx="147342" cy="147342"/>
          </a:xfrm>
          <a:prstGeom prst="ellipse">
            <a:avLst/>
          </a:prstGeom>
          <a:solidFill>
            <a:srgbClr val="E0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5"/>
          <p:cNvSpPr/>
          <p:nvPr/>
        </p:nvSpPr>
        <p:spPr>
          <a:xfrm rot="6226896">
            <a:off x="5474169" y="2407936"/>
            <a:ext cx="147342" cy="147342"/>
          </a:xfrm>
          <a:prstGeom prst="ellipse">
            <a:avLst/>
          </a:prstGeom>
          <a:solidFill>
            <a:srgbClr val="E0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5"/>
          <p:cNvSpPr/>
          <p:nvPr/>
        </p:nvSpPr>
        <p:spPr>
          <a:xfrm rot="6226896">
            <a:off x="5749834" y="2776562"/>
            <a:ext cx="147342" cy="147342"/>
          </a:xfrm>
          <a:prstGeom prst="ellipse">
            <a:avLst/>
          </a:prstGeom>
          <a:solidFill>
            <a:srgbClr val="E0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5"/>
          <p:cNvSpPr/>
          <p:nvPr/>
        </p:nvSpPr>
        <p:spPr>
          <a:xfrm rot="6226896">
            <a:off x="5530447" y="2659790"/>
            <a:ext cx="147342" cy="147342"/>
          </a:xfrm>
          <a:prstGeom prst="ellipse">
            <a:avLst/>
          </a:prstGeom>
          <a:solidFill>
            <a:srgbClr val="E0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5"/>
          <p:cNvSpPr/>
          <p:nvPr/>
        </p:nvSpPr>
        <p:spPr>
          <a:xfrm rot="6226896">
            <a:off x="5246294" y="2520993"/>
            <a:ext cx="147342" cy="147342"/>
          </a:xfrm>
          <a:prstGeom prst="ellipse">
            <a:avLst/>
          </a:prstGeom>
          <a:solidFill>
            <a:srgbClr val="E0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5"/>
          <p:cNvSpPr/>
          <p:nvPr/>
        </p:nvSpPr>
        <p:spPr>
          <a:xfrm rot="6226896">
            <a:off x="5815134" y="2510560"/>
            <a:ext cx="147342" cy="147342"/>
          </a:xfrm>
          <a:prstGeom prst="ellipse">
            <a:avLst/>
          </a:prstGeom>
          <a:solidFill>
            <a:srgbClr val="E0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5"/>
          <p:cNvSpPr/>
          <p:nvPr/>
        </p:nvSpPr>
        <p:spPr>
          <a:xfrm rot="6226896">
            <a:off x="6008908" y="2339062"/>
            <a:ext cx="147342" cy="147342"/>
          </a:xfrm>
          <a:prstGeom prst="ellipse">
            <a:avLst/>
          </a:prstGeom>
          <a:solidFill>
            <a:srgbClr val="E0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5"/>
          <p:cNvSpPr/>
          <p:nvPr/>
        </p:nvSpPr>
        <p:spPr>
          <a:xfrm rot="7203796">
            <a:off x="6165647" y="2888466"/>
            <a:ext cx="147318" cy="147318"/>
          </a:xfrm>
          <a:prstGeom prst="ellipse">
            <a:avLst/>
          </a:prstGeom>
          <a:solidFill>
            <a:srgbClr val="E0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5"/>
          <p:cNvSpPr/>
          <p:nvPr/>
        </p:nvSpPr>
        <p:spPr>
          <a:xfrm rot="7203796">
            <a:off x="5810841" y="2978189"/>
            <a:ext cx="147318" cy="147318"/>
          </a:xfrm>
          <a:prstGeom prst="ellipse">
            <a:avLst/>
          </a:prstGeom>
          <a:solidFill>
            <a:srgbClr val="E0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5"/>
          <p:cNvSpPr/>
          <p:nvPr/>
        </p:nvSpPr>
        <p:spPr>
          <a:xfrm rot="7203796">
            <a:off x="5971972" y="3409365"/>
            <a:ext cx="147318" cy="147318"/>
          </a:xfrm>
          <a:prstGeom prst="ellipse">
            <a:avLst/>
          </a:prstGeom>
          <a:solidFill>
            <a:srgbClr val="E0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5"/>
          <p:cNvSpPr/>
          <p:nvPr/>
        </p:nvSpPr>
        <p:spPr>
          <a:xfrm rot="7203796">
            <a:off x="5794174" y="3235716"/>
            <a:ext cx="147318" cy="147318"/>
          </a:xfrm>
          <a:prstGeom prst="ellipse">
            <a:avLst/>
          </a:prstGeom>
          <a:solidFill>
            <a:srgbClr val="E0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5"/>
          <p:cNvSpPr/>
          <p:nvPr/>
        </p:nvSpPr>
        <p:spPr>
          <a:xfrm rot="7203796">
            <a:off x="5560395" y="3022749"/>
            <a:ext cx="147318" cy="147318"/>
          </a:xfrm>
          <a:prstGeom prst="ellipse">
            <a:avLst/>
          </a:prstGeom>
          <a:solidFill>
            <a:srgbClr val="E0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5"/>
          <p:cNvSpPr/>
          <p:nvPr/>
        </p:nvSpPr>
        <p:spPr>
          <a:xfrm rot="7203796">
            <a:off x="6109302" y="3172381"/>
            <a:ext cx="147318" cy="147318"/>
          </a:xfrm>
          <a:prstGeom prst="ellipse">
            <a:avLst/>
          </a:prstGeom>
          <a:solidFill>
            <a:srgbClr val="E0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5"/>
          <p:cNvSpPr/>
          <p:nvPr/>
        </p:nvSpPr>
        <p:spPr>
          <a:xfrm rot="7203796">
            <a:off x="6343419" y="3062159"/>
            <a:ext cx="147318" cy="147318"/>
          </a:xfrm>
          <a:prstGeom prst="ellipse">
            <a:avLst/>
          </a:prstGeom>
          <a:solidFill>
            <a:srgbClr val="E0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5"/>
          <p:cNvSpPr/>
          <p:nvPr/>
        </p:nvSpPr>
        <p:spPr>
          <a:xfrm rot="7203796">
            <a:off x="3193847" y="3650466"/>
            <a:ext cx="147318" cy="147318"/>
          </a:xfrm>
          <a:prstGeom prst="ellipse">
            <a:avLst/>
          </a:prstGeom>
          <a:solidFill>
            <a:srgbClr val="6FA8D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5"/>
          <p:cNvSpPr/>
          <p:nvPr/>
        </p:nvSpPr>
        <p:spPr>
          <a:xfrm rot="7203796">
            <a:off x="2839041" y="3740189"/>
            <a:ext cx="147318" cy="147318"/>
          </a:xfrm>
          <a:prstGeom prst="ellipse">
            <a:avLst/>
          </a:prstGeom>
          <a:solidFill>
            <a:srgbClr val="6FA8D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5"/>
          <p:cNvSpPr/>
          <p:nvPr/>
        </p:nvSpPr>
        <p:spPr>
          <a:xfrm rot="7203796">
            <a:off x="3000172" y="4171365"/>
            <a:ext cx="147318" cy="147318"/>
          </a:xfrm>
          <a:prstGeom prst="ellipse">
            <a:avLst/>
          </a:prstGeom>
          <a:solidFill>
            <a:srgbClr val="6FA8D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5"/>
          <p:cNvSpPr/>
          <p:nvPr/>
        </p:nvSpPr>
        <p:spPr>
          <a:xfrm rot="7203796">
            <a:off x="2822374" y="3997716"/>
            <a:ext cx="147318" cy="147318"/>
          </a:xfrm>
          <a:prstGeom prst="ellipse">
            <a:avLst/>
          </a:prstGeom>
          <a:solidFill>
            <a:srgbClr val="6FA8D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5"/>
          <p:cNvSpPr/>
          <p:nvPr/>
        </p:nvSpPr>
        <p:spPr>
          <a:xfrm rot="7203796">
            <a:off x="2588595" y="3784749"/>
            <a:ext cx="147318" cy="147318"/>
          </a:xfrm>
          <a:prstGeom prst="ellipse">
            <a:avLst/>
          </a:prstGeom>
          <a:solidFill>
            <a:srgbClr val="6FA8D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5"/>
          <p:cNvSpPr/>
          <p:nvPr/>
        </p:nvSpPr>
        <p:spPr>
          <a:xfrm rot="7203796">
            <a:off x="3137502" y="3934381"/>
            <a:ext cx="147318" cy="147318"/>
          </a:xfrm>
          <a:prstGeom prst="ellipse">
            <a:avLst/>
          </a:prstGeom>
          <a:solidFill>
            <a:srgbClr val="6FA8D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281" name="Google Shape;281;p2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Notice how we don’t actually know for sure if this is a correct way of grouping together these data points, there was no correct label to </a:t>
            </a:r>
            <a:r>
              <a:rPr lang="en" sz="2900">
                <a:solidFill>
                  <a:srgbClr val="434343"/>
                </a:solidFill>
                <a:latin typeface="Montserrat"/>
                <a:ea typeface="Montserrat"/>
                <a:cs typeface="Montserrat"/>
                <a:sym typeface="Montserrat"/>
              </a:rPr>
              <a:t>begin with!</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And what about situations that are not so obvious or multi-dimensional?</a:t>
            </a:r>
            <a:endParaRPr sz="2900">
              <a:solidFill>
                <a:srgbClr val="434343"/>
              </a:solidFill>
              <a:latin typeface="Montserrat"/>
              <a:ea typeface="Montserrat"/>
              <a:cs typeface="Montserrat"/>
              <a:sym typeface="Montserrat"/>
            </a:endParaRPr>
          </a:p>
        </p:txBody>
      </p:sp>
      <p:pic>
        <p:nvPicPr>
          <p:cNvPr descr="watermark.jpg" id="282" name="Google Shape;282;p2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83" name="Google Shape;283;p2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289" name="Google Shape;289;p27"/>
          <p:cNvSpPr txBox="1"/>
          <p:nvPr>
            <p:ph idx="1" type="body"/>
          </p:nvPr>
        </p:nvSpPr>
        <p:spPr>
          <a:xfrm>
            <a:off x="311700" y="1152475"/>
            <a:ext cx="8684100" cy="8595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2 or 3 clusters could both be reasonable</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p:txBody>
      </p:sp>
      <p:pic>
        <p:nvPicPr>
          <p:cNvPr descr="watermark.jpg" id="290" name="Google Shape;290;p2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91" name="Google Shape;291;p2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92" name="Google Shape;292;p27"/>
          <p:cNvSpPr txBox="1"/>
          <p:nvPr/>
        </p:nvSpPr>
        <p:spPr>
          <a:xfrm>
            <a:off x="4076525" y="470455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293" name="Google Shape;293;p27"/>
          <p:cNvSpPr txBox="1"/>
          <p:nvPr/>
        </p:nvSpPr>
        <p:spPr>
          <a:xfrm>
            <a:off x="864350" y="291330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294" name="Google Shape;294;p27"/>
          <p:cNvSpPr/>
          <p:nvPr/>
        </p:nvSpPr>
        <p:spPr>
          <a:xfrm>
            <a:off x="4215300" y="417257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7"/>
          <p:cNvSpPr/>
          <p:nvPr/>
        </p:nvSpPr>
        <p:spPr>
          <a:xfrm>
            <a:off x="4573800" y="3762500"/>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7"/>
          <p:cNvSpPr/>
          <p:nvPr/>
        </p:nvSpPr>
        <p:spPr>
          <a:xfrm>
            <a:off x="4659950" y="34216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7"/>
          <p:cNvSpPr/>
          <p:nvPr/>
        </p:nvSpPr>
        <p:spPr>
          <a:xfrm>
            <a:off x="4768175" y="402527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7"/>
          <p:cNvSpPr/>
          <p:nvPr/>
        </p:nvSpPr>
        <p:spPr>
          <a:xfrm>
            <a:off x="4272675" y="34216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7"/>
          <p:cNvSpPr/>
          <p:nvPr/>
        </p:nvSpPr>
        <p:spPr>
          <a:xfrm>
            <a:off x="4362600" y="38309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7"/>
          <p:cNvSpPr/>
          <p:nvPr/>
        </p:nvSpPr>
        <p:spPr>
          <a:xfrm>
            <a:off x="4915475" y="36836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7"/>
          <p:cNvSpPr/>
          <p:nvPr/>
        </p:nvSpPr>
        <p:spPr>
          <a:xfrm>
            <a:off x="5207750" y="33280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7"/>
          <p:cNvSpPr/>
          <p:nvPr/>
        </p:nvSpPr>
        <p:spPr>
          <a:xfrm>
            <a:off x="5146650" y="35689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7"/>
          <p:cNvSpPr/>
          <p:nvPr/>
        </p:nvSpPr>
        <p:spPr>
          <a:xfrm>
            <a:off x="5079600" y="387797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7"/>
          <p:cNvSpPr/>
          <p:nvPr/>
        </p:nvSpPr>
        <p:spPr>
          <a:xfrm>
            <a:off x="4933850" y="33280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7"/>
          <p:cNvSpPr/>
          <p:nvPr/>
        </p:nvSpPr>
        <p:spPr>
          <a:xfrm>
            <a:off x="4721100" y="318072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7"/>
          <p:cNvSpPr/>
          <p:nvPr/>
        </p:nvSpPr>
        <p:spPr>
          <a:xfrm>
            <a:off x="4987250" y="2712875"/>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7"/>
          <p:cNvSpPr/>
          <p:nvPr/>
        </p:nvSpPr>
        <p:spPr>
          <a:xfrm>
            <a:off x="5261825" y="3027250"/>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7"/>
          <p:cNvSpPr/>
          <p:nvPr/>
        </p:nvSpPr>
        <p:spPr>
          <a:xfrm>
            <a:off x="5261825" y="2818900"/>
            <a:ext cx="147300" cy="147300"/>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7"/>
          <p:cNvSpPr/>
          <p:nvPr/>
        </p:nvSpPr>
        <p:spPr>
          <a:xfrm rot="6226896">
            <a:off x="5789533" y="2222242"/>
            <a:ext cx="147342" cy="147342"/>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7"/>
          <p:cNvSpPr/>
          <p:nvPr/>
        </p:nvSpPr>
        <p:spPr>
          <a:xfrm rot="6226896">
            <a:off x="5474169" y="2407936"/>
            <a:ext cx="147342" cy="147342"/>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7"/>
          <p:cNvSpPr/>
          <p:nvPr/>
        </p:nvSpPr>
        <p:spPr>
          <a:xfrm rot="6226896">
            <a:off x="5749834" y="2776562"/>
            <a:ext cx="147342" cy="147342"/>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7"/>
          <p:cNvSpPr/>
          <p:nvPr/>
        </p:nvSpPr>
        <p:spPr>
          <a:xfrm rot="6226896">
            <a:off x="5530447" y="2659790"/>
            <a:ext cx="147342" cy="147342"/>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7"/>
          <p:cNvSpPr/>
          <p:nvPr/>
        </p:nvSpPr>
        <p:spPr>
          <a:xfrm rot="6226896">
            <a:off x="5246294" y="2520993"/>
            <a:ext cx="147342" cy="147342"/>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7"/>
          <p:cNvSpPr/>
          <p:nvPr/>
        </p:nvSpPr>
        <p:spPr>
          <a:xfrm rot="6226896">
            <a:off x="5815134" y="2510560"/>
            <a:ext cx="147342" cy="147342"/>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7"/>
          <p:cNvSpPr/>
          <p:nvPr/>
        </p:nvSpPr>
        <p:spPr>
          <a:xfrm rot="6226896">
            <a:off x="6008908" y="2339062"/>
            <a:ext cx="147342" cy="147342"/>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7"/>
          <p:cNvSpPr/>
          <p:nvPr/>
        </p:nvSpPr>
        <p:spPr>
          <a:xfrm rot="7203796">
            <a:off x="6165647" y="2888466"/>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7"/>
          <p:cNvSpPr/>
          <p:nvPr/>
        </p:nvSpPr>
        <p:spPr>
          <a:xfrm rot="7203796">
            <a:off x="5810841" y="2978189"/>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7"/>
          <p:cNvSpPr/>
          <p:nvPr/>
        </p:nvSpPr>
        <p:spPr>
          <a:xfrm rot="7203796">
            <a:off x="5971972" y="3409365"/>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7"/>
          <p:cNvSpPr/>
          <p:nvPr/>
        </p:nvSpPr>
        <p:spPr>
          <a:xfrm rot="7203796">
            <a:off x="5794174" y="3235716"/>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7"/>
          <p:cNvSpPr/>
          <p:nvPr/>
        </p:nvSpPr>
        <p:spPr>
          <a:xfrm rot="7203796">
            <a:off x="5560395" y="3022749"/>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7"/>
          <p:cNvSpPr/>
          <p:nvPr/>
        </p:nvSpPr>
        <p:spPr>
          <a:xfrm rot="7203796">
            <a:off x="6109302" y="3172381"/>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7"/>
          <p:cNvSpPr/>
          <p:nvPr/>
        </p:nvSpPr>
        <p:spPr>
          <a:xfrm rot="7203796">
            <a:off x="6343419" y="3062159"/>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7"/>
          <p:cNvSpPr/>
          <p:nvPr/>
        </p:nvSpPr>
        <p:spPr>
          <a:xfrm rot="7203796">
            <a:off x="4184447" y="3726666"/>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7"/>
          <p:cNvSpPr/>
          <p:nvPr/>
        </p:nvSpPr>
        <p:spPr>
          <a:xfrm rot="7203796">
            <a:off x="3829641" y="3816389"/>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7"/>
          <p:cNvSpPr/>
          <p:nvPr/>
        </p:nvSpPr>
        <p:spPr>
          <a:xfrm rot="7203796">
            <a:off x="3990772" y="4247565"/>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7"/>
          <p:cNvSpPr/>
          <p:nvPr/>
        </p:nvSpPr>
        <p:spPr>
          <a:xfrm rot="7203796">
            <a:off x="3812974" y="4073916"/>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7"/>
          <p:cNvSpPr/>
          <p:nvPr/>
        </p:nvSpPr>
        <p:spPr>
          <a:xfrm rot="7203796">
            <a:off x="3579195" y="3860949"/>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7"/>
          <p:cNvSpPr/>
          <p:nvPr/>
        </p:nvSpPr>
        <p:spPr>
          <a:xfrm rot="7203796">
            <a:off x="4128102" y="4010581"/>
            <a:ext cx="147318" cy="147318"/>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7"/>
          <p:cNvSpPr/>
          <p:nvPr/>
        </p:nvSpPr>
        <p:spPr>
          <a:xfrm rot="10279492">
            <a:off x="3914877" y="2248208"/>
            <a:ext cx="147184" cy="147184"/>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7"/>
          <p:cNvSpPr/>
          <p:nvPr/>
        </p:nvSpPr>
        <p:spPr>
          <a:xfrm rot="10279492">
            <a:off x="3621760" y="2707301"/>
            <a:ext cx="147184" cy="147184"/>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7"/>
          <p:cNvSpPr/>
          <p:nvPr/>
        </p:nvSpPr>
        <p:spPr>
          <a:xfrm rot="10279492">
            <a:off x="3587576" y="3057228"/>
            <a:ext cx="147184" cy="147184"/>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7"/>
          <p:cNvSpPr/>
          <p:nvPr/>
        </p:nvSpPr>
        <p:spPr>
          <a:xfrm rot="10279492">
            <a:off x="3390261" y="2476562"/>
            <a:ext cx="147184" cy="147184"/>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7"/>
          <p:cNvSpPr/>
          <p:nvPr/>
        </p:nvSpPr>
        <p:spPr>
          <a:xfrm rot="10279492">
            <a:off x="3970492" y="2999290"/>
            <a:ext cx="147184" cy="147184"/>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7"/>
          <p:cNvSpPr/>
          <p:nvPr/>
        </p:nvSpPr>
        <p:spPr>
          <a:xfrm rot="10279492">
            <a:off x="3820347" y="2608049"/>
            <a:ext cx="147184" cy="147184"/>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7"/>
          <p:cNvSpPr/>
          <p:nvPr/>
        </p:nvSpPr>
        <p:spPr>
          <a:xfrm rot="10279492">
            <a:off x="3295730" y="2836403"/>
            <a:ext cx="147184" cy="147184"/>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7"/>
          <p:cNvSpPr/>
          <p:nvPr/>
        </p:nvSpPr>
        <p:spPr>
          <a:xfrm rot="10279492">
            <a:off x="3059943" y="3231727"/>
            <a:ext cx="147184" cy="147184"/>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7"/>
          <p:cNvSpPr/>
          <p:nvPr/>
        </p:nvSpPr>
        <p:spPr>
          <a:xfrm rot="10279492">
            <a:off x="3084316" y="2984397"/>
            <a:ext cx="147184" cy="147184"/>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7"/>
          <p:cNvSpPr/>
          <p:nvPr/>
        </p:nvSpPr>
        <p:spPr>
          <a:xfrm rot="10279492">
            <a:off x="3104377" y="2668794"/>
            <a:ext cx="147184" cy="147184"/>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7"/>
          <p:cNvSpPr/>
          <p:nvPr/>
        </p:nvSpPr>
        <p:spPr>
          <a:xfrm rot="10279492">
            <a:off x="3330761" y="3190751"/>
            <a:ext cx="147184" cy="147184"/>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7"/>
          <p:cNvSpPr/>
          <p:nvPr/>
        </p:nvSpPr>
        <p:spPr>
          <a:xfrm rot="10279492">
            <a:off x="3563153" y="3304565"/>
            <a:ext cx="147184" cy="147184"/>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7"/>
          <p:cNvSpPr/>
          <p:nvPr/>
        </p:nvSpPr>
        <p:spPr>
          <a:xfrm rot="-4110111">
            <a:off x="4012058" y="2684294"/>
            <a:ext cx="147351" cy="147351"/>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7"/>
          <p:cNvSpPr/>
          <p:nvPr/>
        </p:nvSpPr>
        <p:spPr>
          <a:xfrm rot="-4110111">
            <a:off x="4349448" y="2542501"/>
            <a:ext cx="147351" cy="147351"/>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7"/>
          <p:cNvSpPr/>
          <p:nvPr/>
        </p:nvSpPr>
        <p:spPr>
          <a:xfrm rot="-4110111">
            <a:off x="4125626" y="2140282"/>
            <a:ext cx="147351" cy="147351"/>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7"/>
          <p:cNvSpPr/>
          <p:nvPr/>
        </p:nvSpPr>
        <p:spPr>
          <a:xfrm rot="-4110111">
            <a:off x="4327401" y="2285378"/>
            <a:ext cx="147351" cy="147351"/>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7"/>
          <p:cNvSpPr/>
          <p:nvPr/>
        </p:nvSpPr>
        <p:spPr>
          <a:xfrm rot="-4110111">
            <a:off x="4590410" y="2460975"/>
            <a:ext cx="147351" cy="147351"/>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7"/>
          <p:cNvSpPr/>
          <p:nvPr/>
        </p:nvSpPr>
        <p:spPr>
          <a:xfrm rot="-4110111">
            <a:off x="4025295" y="2395145"/>
            <a:ext cx="147351" cy="147351"/>
          </a:xfrm>
          <a:prstGeom prst="ellipse">
            <a:avLst/>
          </a:prstGeom>
          <a:solidFill>
            <a:srgbClr val="66666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7"/>
          <p:cNvSpPr/>
          <p:nvPr/>
        </p:nvSpPr>
        <p:spPr>
          <a:xfrm>
            <a:off x="2239625" y="1847950"/>
            <a:ext cx="5006400" cy="28566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353" name="Google Shape;353;p28"/>
          <p:cNvSpPr txBox="1"/>
          <p:nvPr>
            <p:ph idx="1" type="body"/>
          </p:nvPr>
        </p:nvSpPr>
        <p:spPr>
          <a:xfrm>
            <a:off x="311700" y="1152475"/>
            <a:ext cx="8684100" cy="8595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2 or 3 clusters could both be reasonable:</a:t>
            </a:r>
            <a:endParaRPr sz="2900">
              <a:solidFill>
                <a:srgbClr val="434343"/>
              </a:solidFill>
              <a:latin typeface="Montserrat"/>
              <a:ea typeface="Montserrat"/>
              <a:cs typeface="Montserrat"/>
              <a:sym typeface="Montserrat"/>
            </a:endParaRPr>
          </a:p>
        </p:txBody>
      </p:sp>
      <p:pic>
        <p:nvPicPr>
          <p:cNvPr descr="watermark.jpg" id="354" name="Google Shape;354;p2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55" name="Google Shape;355;p2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56" name="Google Shape;356;p28"/>
          <p:cNvSpPr txBox="1"/>
          <p:nvPr/>
        </p:nvSpPr>
        <p:spPr>
          <a:xfrm>
            <a:off x="4076525" y="470455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357" name="Google Shape;357;p28"/>
          <p:cNvSpPr txBox="1"/>
          <p:nvPr/>
        </p:nvSpPr>
        <p:spPr>
          <a:xfrm>
            <a:off x="864350" y="291330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358" name="Google Shape;358;p28"/>
          <p:cNvSpPr/>
          <p:nvPr/>
        </p:nvSpPr>
        <p:spPr>
          <a:xfrm>
            <a:off x="4215300" y="417257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8"/>
          <p:cNvSpPr/>
          <p:nvPr/>
        </p:nvSpPr>
        <p:spPr>
          <a:xfrm>
            <a:off x="4573800" y="3762500"/>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8"/>
          <p:cNvSpPr/>
          <p:nvPr/>
        </p:nvSpPr>
        <p:spPr>
          <a:xfrm>
            <a:off x="4659950" y="34216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8"/>
          <p:cNvSpPr/>
          <p:nvPr/>
        </p:nvSpPr>
        <p:spPr>
          <a:xfrm>
            <a:off x="4768175" y="402527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8"/>
          <p:cNvSpPr/>
          <p:nvPr/>
        </p:nvSpPr>
        <p:spPr>
          <a:xfrm>
            <a:off x="4272675" y="34216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8"/>
          <p:cNvSpPr/>
          <p:nvPr/>
        </p:nvSpPr>
        <p:spPr>
          <a:xfrm>
            <a:off x="4362600" y="38309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8"/>
          <p:cNvSpPr/>
          <p:nvPr/>
        </p:nvSpPr>
        <p:spPr>
          <a:xfrm>
            <a:off x="4915475" y="36836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8"/>
          <p:cNvSpPr/>
          <p:nvPr/>
        </p:nvSpPr>
        <p:spPr>
          <a:xfrm>
            <a:off x="5207750" y="33280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8"/>
          <p:cNvSpPr/>
          <p:nvPr/>
        </p:nvSpPr>
        <p:spPr>
          <a:xfrm>
            <a:off x="5146650" y="35689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8"/>
          <p:cNvSpPr/>
          <p:nvPr/>
        </p:nvSpPr>
        <p:spPr>
          <a:xfrm>
            <a:off x="5079600" y="387797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8"/>
          <p:cNvSpPr/>
          <p:nvPr/>
        </p:nvSpPr>
        <p:spPr>
          <a:xfrm>
            <a:off x="4933850" y="33280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8"/>
          <p:cNvSpPr/>
          <p:nvPr/>
        </p:nvSpPr>
        <p:spPr>
          <a:xfrm>
            <a:off x="4721100" y="31807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8"/>
          <p:cNvSpPr/>
          <p:nvPr/>
        </p:nvSpPr>
        <p:spPr>
          <a:xfrm>
            <a:off x="4987250" y="271287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8"/>
          <p:cNvSpPr/>
          <p:nvPr/>
        </p:nvSpPr>
        <p:spPr>
          <a:xfrm>
            <a:off x="5261825" y="3027250"/>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8"/>
          <p:cNvSpPr/>
          <p:nvPr/>
        </p:nvSpPr>
        <p:spPr>
          <a:xfrm>
            <a:off x="5261825" y="2818900"/>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8"/>
          <p:cNvSpPr/>
          <p:nvPr/>
        </p:nvSpPr>
        <p:spPr>
          <a:xfrm rot="6226896">
            <a:off x="5789533" y="2222242"/>
            <a:ext cx="147342" cy="147342"/>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8"/>
          <p:cNvSpPr/>
          <p:nvPr/>
        </p:nvSpPr>
        <p:spPr>
          <a:xfrm rot="6226896">
            <a:off x="5474169" y="2407936"/>
            <a:ext cx="147342" cy="147342"/>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8"/>
          <p:cNvSpPr/>
          <p:nvPr/>
        </p:nvSpPr>
        <p:spPr>
          <a:xfrm rot="6226896">
            <a:off x="5749834" y="2776562"/>
            <a:ext cx="147342" cy="147342"/>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8"/>
          <p:cNvSpPr/>
          <p:nvPr/>
        </p:nvSpPr>
        <p:spPr>
          <a:xfrm rot="6226896">
            <a:off x="5530447" y="2659790"/>
            <a:ext cx="147342" cy="147342"/>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8"/>
          <p:cNvSpPr/>
          <p:nvPr/>
        </p:nvSpPr>
        <p:spPr>
          <a:xfrm rot="6226896">
            <a:off x="5246294" y="2520993"/>
            <a:ext cx="147342" cy="147342"/>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8"/>
          <p:cNvSpPr/>
          <p:nvPr/>
        </p:nvSpPr>
        <p:spPr>
          <a:xfrm rot="6226896">
            <a:off x="5815134" y="2510560"/>
            <a:ext cx="147342" cy="147342"/>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8"/>
          <p:cNvSpPr/>
          <p:nvPr/>
        </p:nvSpPr>
        <p:spPr>
          <a:xfrm rot="6226896">
            <a:off x="6008908" y="2339062"/>
            <a:ext cx="147342" cy="147342"/>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8"/>
          <p:cNvSpPr/>
          <p:nvPr/>
        </p:nvSpPr>
        <p:spPr>
          <a:xfrm rot="7203796">
            <a:off x="6165647" y="2888466"/>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8"/>
          <p:cNvSpPr/>
          <p:nvPr/>
        </p:nvSpPr>
        <p:spPr>
          <a:xfrm rot="7203796">
            <a:off x="5810841" y="2978189"/>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8"/>
          <p:cNvSpPr/>
          <p:nvPr/>
        </p:nvSpPr>
        <p:spPr>
          <a:xfrm rot="7203796">
            <a:off x="5971972" y="3409365"/>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8"/>
          <p:cNvSpPr/>
          <p:nvPr/>
        </p:nvSpPr>
        <p:spPr>
          <a:xfrm rot="7203796">
            <a:off x="5794174" y="3235716"/>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8"/>
          <p:cNvSpPr/>
          <p:nvPr/>
        </p:nvSpPr>
        <p:spPr>
          <a:xfrm rot="7203796">
            <a:off x="5560395" y="3022749"/>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8"/>
          <p:cNvSpPr/>
          <p:nvPr/>
        </p:nvSpPr>
        <p:spPr>
          <a:xfrm rot="7203796">
            <a:off x="6109302" y="3172381"/>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8"/>
          <p:cNvSpPr/>
          <p:nvPr/>
        </p:nvSpPr>
        <p:spPr>
          <a:xfrm rot="7203796">
            <a:off x="6343419" y="3062159"/>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8"/>
          <p:cNvSpPr/>
          <p:nvPr/>
        </p:nvSpPr>
        <p:spPr>
          <a:xfrm rot="7203796">
            <a:off x="4184447" y="3726666"/>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8"/>
          <p:cNvSpPr/>
          <p:nvPr/>
        </p:nvSpPr>
        <p:spPr>
          <a:xfrm rot="7203796">
            <a:off x="3829641" y="3816389"/>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8"/>
          <p:cNvSpPr/>
          <p:nvPr/>
        </p:nvSpPr>
        <p:spPr>
          <a:xfrm rot="7203796">
            <a:off x="3990772" y="4247565"/>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8"/>
          <p:cNvSpPr/>
          <p:nvPr/>
        </p:nvSpPr>
        <p:spPr>
          <a:xfrm rot="7203796">
            <a:off x="3812974" y="4073916"/>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8"/>
          <p:cNvSpPr/>
          <p:nvPr/>
        </p:nvSpPr>
        <p:spPr>
          <a:xfrm rot="7203796">
            <a:off x="3579195" y="3860949"/>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8"/>
          <p:cNvSpPr/>
          <p:nvPr/>
        </p:nvSpPr>
        <p:spPr>
          <a:xfrm rot="7203796">
            <a:off x="4128102" y="4010581"/>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8"/>
          <p:cNvSpPr/>
          <p:nvPr/>
        </p:nvSpPr>
        <p:spPr>
          <a:xfrm rot="10279492">
            <a:off x="3914877" y="2248208"/>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8"/>
          <p:cNvSpPr/>
          <p:nvPr/>
        </p:nvSpPr>
        <p:spPr>
          <a:xfrm rot="10279492">
            <a:off x="3621760" y="2707301"/>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8"/>
          <p:cNvSpPr/>
          <p:nvPr/>
        </p:nvSpPr>
        <p:spPr>
          <a:xfrm rot="10279492">
            <a:off x="3587576" y="3057228"/>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8"/>
          <p:cNvSpPr/>
          <p:nvPr/>
        </p:nvSpPr>
        <p:spPr>
          <a:xfrm rot="10279492">
            <a:off x="3390261" y="2476562"/>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8"/>
          <p:cNvSpPr/>
          <p:nvPr/>
        </p:nvSpPr>
        <p:spPr>
          <a:xfrm rot="10279492">
            <a:off x="3970492" y="2999290"/>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8"/>
          <p:cNvSpPr/>
          <p:nvPr/>
        </p:nvSpPr>
        <p:spPr>
          <a:xfrm rot="10279492">
            <a:off x="3820347" y="2608049"/>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8"/>
          <p:cNvSpPr/>
          <p:nvPr/>
        </p:nvSpPr>
        <p:spPr>
          <a:xfrm rot="10279492">
            <a:off x="3295730" y="2836403"/>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8"/>
          <p:cNvSpPr/>
          <p:nvPr/>
        </p:nvSpPr>
        <p:spPr>
          <a:xfrm rot="10279492">
            <a:off x="3059943" y="3231727"/>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8"/>
          <p:cNvSpPr/>
          <p:nvPr/>
        </p:nvSpPr>
        <p:spPr>
          <a:xfrm rot="10279492">
            <a:off x="3084316" y="2984397"/>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8"/>
          <p:cNvSpPr/>
          <p:nvPr/>
        </p:nvSpPr>
        <p:spPr>
          <a:xfrm rot="10279492">
            <a:off x="3104377" y="2668794"/>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8"/>
          <p:cNvSpPr/>
          <p:nvPr/>
        </p:nvSpPr>
        <p:spPr>
          <a:xfrm rot="10279492">
            <a:off x="3330761" y="3190751"/>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8"/>
          <p:cNvSpPr/>
          <p:nvPr/>
        </p:nvSpPr>
        <p:spPr>
          <a:xfrm rot="10279492">
            <a:off x="3563153" y="3304565"/>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8"/>
          <p:cNvSpPr/>
          <p:nvPr/>
        </p:nvSpPr>
        <p:spPr>
          <a:xfrm rot="-4110111">
            <a:off x="4012058" y="2684294"/>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8"/>
          <p:cNvSpPr/>
          <p:nvPr/>
        </p:nvSpPr>
        <p:spPr>
          <a:xfrm rot="-4110111">
            <a:off x="4349448" y="2542501"/>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8"/>
          <p:cNvSpPr/>
          <p:nvPr/>
        </p:nvSpPr>
        <p:spPr>
          <a:xfrm rot="-4110111">
            <a:off x="4125626" y="2140282"/>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8"/>
          <p:cNvSpPr/>
          <p:nvPr/>
        </p:nvSpPr>
        <p:spPr>
          <a:xfrm rot="-4110111">
            <a:off x="4327401" y="2285378"/>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8"/>
          <p:cNvSpPr/>
          <p:nvPr/>
        </p:nvSpPr>
        <p:spPr>
          <a:xfrm rot="-4110111">
            <a:off x="4590410" y="2460975"/>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8"/>
          <p:cNvSpPr/>
          <p:nvPr/>
        </p:nvSpPr>
        <p:spPr>
          <a:xfrm rot="-4110111">
            <a:off x="4025295" y="2395145"/>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8"/>
          <p:cNvSpPr/>
          <p:nvPr/>
        </p:nvSpPr>
        <p:spPr>
          <a:xfrm>
            <a:off x="2239625" y="1847950"/>
            <a:ext cx="5006400" cy="28566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417" name="Google Shape;417;p29"/>
          <p:cNvSpPr txBox="1"/>
          <p:nvPr>
            <p:ph idx="1" type="body"/>
          </p:nvPr>
        </p:nvSpPr>
        <p:spPr>
          <a:xfrm>
            <a:off x="311700" y="1152475"/>
            <a:ext cx="8684100" cy="8595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2 or 3 clusters could both be reasonable:</a:t>
            </a:r>
            <a:endParaRPr sz="2900">
              <a:solidFill>
                <a:srgbClr val="434343"/>
              </a:solidFill>
              <a:latin typeface="Montserrat"/>
              <a:ea typeface="Montserrat"/>
              <a:cs typeface="Montserrat"/>
              <a:sym typeface="Montserrat"/>
            </a:endParaRPr>
          </a:p>
        </p:txBody>
      </p:sp>
      <p:pic>
        <p:nvPicPr>
          <p:cNvPr descr="watermark.jpg" id="418" name="Google Shape;418;p2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19" name="Google Shape;419;p2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420" name="Google Shape;420;p29"/>
          <p:cNvSpPr txBox="1"/>
          <p:nvPr/>
        </p:nvSpPr>
        <p:spPr>
          <a:xfrm>
            <a:off x="4076525" y="470455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421" name="Google Shape;421;p29"/>
          <p:cNvSpPr txBox="1"/>
          <p:nvPr/>
        </p:nvSpPr>
        <p:spPr>
          <a:xfrm>
            <a:off x="864350" y="291330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422" name="Google Shape;422;p29"/>
          <p:cNvSpPr/>
          <p:nvPr/>
        </p:nvSpPr>
        <p:spPr>
          <a:xfrm>
            <a:off x="4215300" y="417257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9"/>
          <p:cNvSpPr/>
          <p:nvPr/>
        </p:nvSpPr>
        <p:spPr>
          <a:xfrm>
            <a:off x="4573800" y="3762500"/>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9"/>
          <p:cNvSpPr/>
          <p:nvPr/>
        </p:nvSpPr>
        <p:spPr>
          <a:xfrm>
            <a:off x="4659950" y="34216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9"/>
          <p:cNvSpPr/>
          <p:nvPr/>
        </p:nvSpPr>
        <p:spPr>
          <a:xfrm>
            <a:off x="4768175" y="402527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9"/>
          <p:cNvSpPr/>
          <p:nvPr/>
        </p:nvSpPr>
        <p:spPr>
          <a:xfrm>
            <a:off x="4272675" y="34216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9"/>
          <p:cNvSpPr/>
          <p:nvPr/>
        </p:nvSpPr>
        <p:spPr>
          <a:xfrm>
            <a:off x="4362600" y="38309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9"/>
          <p:cNvSpPr/>
          <p:nvPr/>
        </p:nvSpPr>
        <p:spPr>
          <a:xfrm>
            <a:off x="4915475" y="36836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9"/>
          <p:cNvSpPr/>
          <p:nvPr/>
        </p:nvSpPr>
        <p:spPr>
          <a:xfrm>
            <a:off x="5207750" y="33280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9"/>
          <p:cNvSpPr/>
          <p:nvPr/>
        </p:nvSpPr>
        <p:spPr>
          <a:xfrm>
            <a:off x="5146650" y="35689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9"/>
          <p:cNvSpPr/>
          <p:nvPr/>
        </p:nvSpPr>
        <p:spPr>
          <a:xfrm>
            <a:off x="5079600" y="387797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9"/>
          <p:cNvSpPr/>
          <p:nvPr/>
        </p:nvSpPr>
        <p:spPr>
          <a:xfrm>
            <a:off x="4933850" y="33280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9"/>
          <p:cNvSpPr/>
          <p:nvPr/>
        </p:nvSpPr>
        <p:spPr>
          <a:xfrm>
            <a:off x="4721100" y="31807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9"/>
          <p:cNvSpPr/>
          <p:nvPr/>
        </p:nvSpPr>
        <p:spPr>
          <a:xfrm>
            <a:off x="4987250" y="2712875"/>
            <a:ext cx="147300" cy="147300"/>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9"/>
          <p:cNvSpPr/>
          <p:nvPr/>
        </p:nvSpPr>
        <p:spPr>
          <a:xfrm>
            <a:off x="5261825" y="3027250"/>
            <a:ext cx="147300" cy="147300"/>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9"/>
          <p:cNvSpPr/>
          <p:nvPr/>
        </p:nvSpPr>
        <p:spPr>
          <a:xfrm>
            <a:off x="5261825" y="2818900"/>
            <a:ext cx="147300" cy="147300"/>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9"/>
          <p:cNvSpPr/>
          <p:nvPr/>
        </p:nvSpPr>
        <p:spPr>
          <a:xfrm rot="6226896">
            <a:off x="5789533" y="2222242"/>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9"/>
          <p:cNvSpPr/>
          <p:nvPr/>
        </p:nvSpPr>
        <p:spPr>
          <a:xfrm rot="6226896">
            <a:off x="5474169" y="2407936"/>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9"/>
          <p:cNvSpPr/>
          <p:nvPr/>
        </p:nvSpPr>
        <p:spPr>
          <a:xfrm rot="6226896">
            <a:off x="5749834" y="2776562"/>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9"/>
          <p:cNvSpPr/>
          <p:nvPr/>
        </p:nvSpPr>
        <p:spPr>
          <a:xfrm rot="6226896">
            <a:off x="5530447" y="2659790"/>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9"/>
          <p:cNvSpPr/>
          <p:nvPr/>
        </p:nvSpPr>
        <p:spPr>
          <a:xfrm rot="6226896">
            <a:off x="5246294" y="2520993"/>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9"/>
          <p:cNvSpPr/>
          <p:nvPr/>
        </p:nvSpPr>
        <p:spPr>
          <a:xfrm rot="6226896">
            <a:off x="5815134" y="2510560"/>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9"/>
          <p:cNvSpPr/>
          <p:nvPr/>
        </p:nvSpPr>
        <p:spPr>
          <a:xfrm rot="6226896">
            <a:off x="6008908" y="2339062"/>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9"/>
          <p:cNvSpPr/>
          <p:nvPr/>
        </p:nvSpPr>
        <p:spPr>
          <a:xfrm rot="7203796">
            <a:off x="6165647" y="2888466"/>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9"/>
          <p:cNvSpPr/>
          <p:nvPr/>
        </p:nvSpPr>
        <p:spPr>
          <a:xfrm rot="7203796">
            <a:off x="5810841" y="2978189"/>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9"/>
          <p:cNvSpPr/>
          <p:nvPr/>
        </p:nvSpPr>
        <p:spPr>
          <a:xfrm rot="7203796">
            <a:off x="5971972" y="3409365"/>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9"/>
          <p:cNvSpPr/>
          <p:nvPr/>
        </p:nvSpPr>
        <p:spPr>
          <a:xfrm rot="7203796">
            <a:off x="5794174" y="3235716"/>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9"/>
          <p:cNvSpPr/>
          <p:nvPr/>
        </p:nvSpPr>
        <p:spPr>
          <a:xfrm rot="7203796">
            <a:off x="5560395" y="3022749"/>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9"/>
          <p:cNvSpPr/>
          <p:nvPr/>
        </p:nvSpPr>
        <p:spPr>
          <a:xfrm rot="7203796">
            <a:off x="6109302" y="3172381"/>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9"/>
          <p:cNvSpPr/>
          <p:nvPr/>
        </p:nvSpPr>
        <p:spPr>
          <a:xfrm rot="7203796">
            <a:off x="6343419" y="3062159"/>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9"/>
          <p:cNvSpPr/>
          <p:nvPr/>
        </p:nvSpPr>
        <p:spPr>
          <a:xfrm rot="7203796">
            <a:off x="4184447" y="3726666"/>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9"/>
          <p:cNvSpPr/>
          <p:nvPr/>
        </p:nvSpPr>
        <p:spPr>
          <a:xfrm rot="7203796">
            <a:off x="3829641" y="3816389"/>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9"/>
          <p:cNvSpPr/>
          <p:nvPr/>
        </p:nvSpPr>
        <p:spPr>
          <a:xfrm rot="7203796">
            <a:off x="3990772" y="4247565"/>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9"/>
          <p:cNvSpPr/>
          <p:nvPr/>
        </p:nvSpPr>
        <p:spPr>
          <a:xfrm rot="7203796">
            <a:off x="3812974" y="4073916"/>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9"/>
          <p:cNvSpPr/>
          <p:nvPr/>
        </p:nvSpPr>
        <p:spPr>
          <a:xfrm rot="7203796">
            <a:off x="3579195" y="3860949"/>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9"/>
          <p:cNvSpPr/>
          <p:nvPr/>
        </p:nvSpPr>
        <p:spPr>
          <a:xfrm rot="7203796">
            <a:off x="4128102" y="4010581"/>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9"/>
          <p:cNvSpPr/>
          <p:nvPr/>
        </p:nvSpPr>
        <p:spPr>
          <a:xfrm rot="10279492">
            <a:off x="3914877" y="2248208"/>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9"/>
          <p:cNvSpPr/>
          <p:nvPr/>
        </p:nvSpPr>
        <p:spPr>
          <a:xfrm rot="10279492">
            <a:off x="3621760" y="2707301"/>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9"/>
          <p:cNvSpPr/>
          <p:nvPr/>
        </p:nvSpPr>
        <p:spPr>
          <a:xfrm rot="10279492">
            <a:off x="3587576" y="3057228"/>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9"/>
          <p:cNvSpPr/>
          <p:nvPr/>
        </p:nvSpPr>
        <p:spPr>
          <a:xfrm rot="10279492">
            <a:off x="3390261" y="2476562"/>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9"/>
          <p:cNvSpPr/>
          <p:nvPr/>
        </p:nvSpPr>
        <p:spPr>
          <a:xfrm rot="10279492">
            <a:off x="3970492" y="2999290"/>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9"/>
          <p:cNvSpPr/>
          <p:nvPr/>
        </p:nvSpPr>
        <p:spPr>
          <a:xfrm rot="10279492">
            <a:off x="3820347" y="2608049"/>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9"/>
          <p:cNvSpPr/>
          <p:nvPr/>
        </p:nvSpPr>
        <p:spPr>
          <a:xfrm rot="10279492">
            <a:off x="3295730" y="2836403"/>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9"/>
          <p:cNvSpPr/>
          <p:nvPr/>
        </p:nvSpPr>
        <p:spPr>
          <a:xfrm rot="10279492">
            <a:off x="3059943" y="3231727"/>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9"/>
          <p:cNvSpPr/>
          <p:nvPr/>
        </p:nvSpPr>
        <p:spPr>
          <a:xfrm rot="10279492">
            <a:off x="3084316" y="2984397"/>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9"/>
          <p:cNvSpPr/>
          <p:nvPr/>
        </p:nvSpPr>
        <p:spPr>
          <a:xfrm rot="10279492">
            <a:off x="3104377" y="2668794"/>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9"/>
          <p:cNvSpPr/>
          <p:nvPr/>
        </p:nvSpPr>
        <p:spPr>
          <a:xfrm rot="10279492">
            <a:off x="3330761" y="3190751"/>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9"/>
          <p:cNvSpPr/>
          <p:nvPr/>
        </p:nvSpPr>
        <p:spPr>
          <a:xfrm rot="10279492">
            <a:off x="3563153" y="3304565"/>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9"/>
          <p:cNvSpPr/>
          <p:nvPr/>
        </p:nvSpPr>
        <p:spPr>
          <a:xfrm rot="-4110111">
            <a:off x="4012058" y="2684294"/>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9"/>
          <p:cNvSpPr/>
          <p:nvPr/>
        </p:nvSpPr>
        <p:spPr>
          <a:xfrm rot="-4110111">
            <a:off x="4349448" y="2542501"/>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9"/>
          <p:cNvSpPr/>
          <p:nvPr/>
        </p:nvSpPr>
        <p:spPr>
          <a:xfrm rot="-4110111">
            <a:off x="4125626" y="2140282"/>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9"/>
          <p:cNvSpPr/>
          <p:nvPr/>
        </p:nvSpPr>
        <p:spPr>
          <a:xfrm rot="-4110111">
            <a:off x="4327401" y="2285378"/>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9"/>
          <p:cNvSpPr/>
          <p:nvPr/>
        </p:nvSpPr>
        <p:spPr>
          <a:xfrm rot="-4110111">
            <a:off x="4590410" y="2460975"/>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9"/>
          <p:cNvSpPr/>
          <p:nvPr/>
        </p:nvSpPr>
        <p:spPr>
          <a:xfrm rot="-4110111">
            <a:off x="4025295" y="2395145"/>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9"/>
          <p:cNvSpPr/>
          <p:nvPr/>
        </p:nvSpPr>
        <p:spPr>
          <a:xfrm>
            <a:off x="2239625" y="1847950"/>
            <a:ext cx="5006400" cy="28566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3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481" name="Google Shape;481;p30"/>
          <p:cNvSpPr txBox="1"/>
          <p:nvPr>
            <p:ph idx="1" type="body"/>
          </p:nvPr>
        </p:nvSpPr>
        <p:spPr>
          <a:xfrm>
            <a:off x="311700" y="1152475"/>
            <a:ext cx="8684100" cy="8595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Different methods can be used to decide!</a:t>
            </a:r>
            <a:endParaRPr sz="2900">
              <a:solidFill>
                <a:srgbClr val="434343"/>
              </a:solidFill>
              <a:latin typeface="Montserrat"/>
              <a:ea typeface="Montserrat"/>
              <a:cs typeface="Montserrat"/>
              <a:sym typeface="Montserrat"/>
            </a:endParaRPr>
          </a:p>
        </p:txBody>
      </p:sp>
      <p:pic>
        <p:nvPicPr>
          <p:cNvPr descr="watermark.jpg" id="482" name="Google Shape;482;p3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83" name="Google Shape;483;p3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484" name="Google Shape;484;p30"/>
          <p:cNvSpPr txBox="1"/>
          <p:nvPr/>
        </p:nvSpPr>
        <p:spPr>
          <a:xfrm>
            <a:off x="4076525" y="470455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485" name="Google Shape;485;p30"/>
          <p:cNvSpPr txBox="1"/>
          <p:nvPr/>
        </p:nvSpPr>
        <p:spPr>
          <a:xfrm>
            <a:off x="864350" y="291330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486" name="Google Shape;486;p30"/>
          <p:cNvSpPr/>
          <p:nvPr/>
        </p:nvSpPr>
        <p:spPr>
          <a:xfrm>
            <a:off x="4215300" y="417257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0"/>
          <p:cNvSpPr/>
          <p:nvPr/>
        </p:nvSpPr>
        <p:spPr>
          <a:xfrm>
            <a:off x="4573800" y="3762500"/>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0"/>
          <p:cNvSpPr/>
          <p:nvPr/>
        </p:nvSpPr>
        <p:spPr>
          <a:xfrm>
            <a:off x="4659950" y="34216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0"/>
          <p:cNvSpPr/>
          <p:nvPr/>
        </p:nvSpPr>
        <p:spPr>
          <a:xfrm>
            <a:off x="4768175" y="402527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0"/>
          <p:cNvSpPr/>
          <p:nvPr/>
        </p:nvSpPr>
        <p:spPr>
          <a:xfrm>
            <a:off x="4272675" y="34216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0"/>
          <p:cNvSpPr/>
          <p:nvPr/>
        </p:nvSpPr>
        <p:spPr>
          <a:xfrm>
            <a:off x="4362600" y="38309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0"/>
          <p:cNvSpPr/>
          <p:nvPr/>
        </p:nvSpPr>
        <p:spPr>
          <a:xfrm>
            <a:off x="4915475" y="36836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0"/>
          <p:cNvSpPr/>
          <p:nvPr/>
        </p:nvSpPr>
        <p:spPr>
          <a:xfrm>
            <a:off x="5207750" y="33280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0"/>
          <p:cNvSpPr/>
          <p:nvPr/>
        </p:nvSpPr>
        <p:spPr>
          <a:xfrm>
            <a:off x="5146650" y="35689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0"/>
          <p:cNvSpPr/>
          <p:nvPr/>
        </p:nvSpPr>
        <p:spPr>
          <a:xfrm>
            <a:off x="5079600" y="387797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0"/>
          <p:cNvSpPr/>
          <p:nvPr/>
        </p:nvSpPr>
        <p:spPr>
          <a:xfrm>
            <a:off x="4933850" y="33280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0"/>
          <p:cNvSpPr/>
          <p:nvPr/>
        </p:nvSpPr>
        <p:spPr>
          <a:xfrm>
            <a:off x="4721100" y="31807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0"/>
          <p:cNvSpPr/>
          <p:nvPr/>
        </p:nvSpPr>
        <p:spPr>
          <a:xfrm>
            <a:off x="4987250" y="2712875"/>
            <a:ext cx="147300" cy="147300"/>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0"/>
          <p:cNvSpPr/>
          <p:nvPr/>
        </p:nvSpPr>
        <p:spPr>
          <a:xfrm>
            <a:off x="5261825" y="3027250"/>
            <a:ext cx="147300" cy="147300"/>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0"/>
          <p:cNvSpPr/>
          <p:nvPr/>
        </p:nvSpPr>
        <p:spPr>
          <a:xfrm>
            <a:off x="5261825" y="2818900"/>
            <a:ext cx="147300" cy="147300"/>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0"/>
          <p:cNvSpPr/>
          <p:nvPr/>
        </p:nvSpPr>
        <p:spPr>
          <a:xfrm rot="6226896">
            <a:off x="5789533" y="2222242"/>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0"/>
          <p:cNvSpPr/>
          <p:nvPr/>
        </p:nvSpPr>
        <p:spPr>
          <a:xfrm rot="6226896">
            <a:off x="5474169" y="2407936"/>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0"/>
          <p:cNvSpPr/>
          <p:nvPr/>
        </p:nvSpPr>
        <p:spPr>
          <a:xfrm rot="6226896">
            <a:off x="5749834" y="2776562"/>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0"/>
          <p:cNvSpPr/>
          <p:nvPr/>
        </p:nvSpPr>
        <p:spPr>
          <a:xfrm rot="6226896">
            <a:off x="5530447" y="2659790"/>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0"/>
          <p:cNvSpPr/>
          <p:nvPr/>
        </p:nvSpPr>
        <p:spPr>
          <a:xfrm rot="6226896">
            <a:off x="5246294" y="2520993"/>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0"/>
          <p:cNvSpPr/>
          <p:nvPr/>
        </p:nvSpPr>
        <p:spPr>
          <a:xfrm rot="6226896">
            <a:off x="5815134" y="2510560"/>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0"/>
          <p:cNvSpPr/>
          <p:nvPr/>
        </p:nvSpPr>
        <p:spPr>
          <a:xfrm rot="6226896">
            <a:off x="6008908" y="2339062"/>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0"/>
          <p:cNvSpPr/>
          <p:nvPr/>
        </p:nvSpPr>
        <p:spPr>
          <a:xfrm rot="7203796">
            <a:off x="6165647" y="2888466"/>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0"/>
          <p:cNvSpPr/>
          <p:nvPr/>
        </p:nvSpPr>
        <p:spPr>
          <a:xfrm rot="7203796">
            <a:off x="5810841" y="2978189"/>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0"/>
          <p:cNvSpPr/>
          <p:nvPr/>
        </p:nvSpPr>
        <p:spPr>
          <a:xfrm rot="7203796">
            <a:off x="5971972" y="3409365"/>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0"/>
          <p:cNvSpPr/>
          <p:nvPr/>
        </p:nvSpPr>
        <p:spPr>
          <a:xfrm rot="7203796">
            <a:off x="5794174" y="3235716"/>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0"/>
          <p:cNvSpPr/>
          <p:nvPr/>
        </p:nvSpPr>
        <p:spPr>
          <a:xfrm rot="7203796">
            <a:off x="5560395" y="3022749"/>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0"/>
          <p:cNvSpPr/>
          <p:nvPr/>
        </p:nvSpPr>
        <p:spPr>
          <a:xfrm rot="7203796">
            <a:off x="6109302" y="3172381"/>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0"/>
          <p:cNvSpPr/>
          <p:nvPr/>
        </p:nvSpPr>
        <p:spPr>
          <a:xfrm rot="7203796">
            <a:off x="6343419" y="3062159"/>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0"/>
          <p:cNvSpPr/>
          <p:nvPr/>
        </p:nvSpPr>
        <p:spPr>
          <a:xfrm rot="7203796">
            <a:off x="4184447" y="3726666"/>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0"/>
          <p:cNvSpPr/>
          <p:nvPr/>
        </p:nvSpPr>
        <p:spPr>
          <a:xfrm rot="7203796">
            <a:off x="3829641" y="3816389"/>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0"/>
          <p:cNvSpPr/>
          <p:nvPr/>
        </p:nvSpPr>
        <p:spPr>
          <a:xfrm rot="7203796">
            <a:off x="3990772" y="4247565"/>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0"/>
          <p:cNvSpPr/>
          <p:nvPr/>
        </p:nvSpPr>
        <p:spPr>
          <a:xfrm rot="7203796">
            <a:off x="3812974" y="4073916"/>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0"/>
          <p:cNvSpPr/>
          <p:nvPr/>
        </p:nvSpPr>
        <p:spPr>
          <a:xfrm rot="7203796">
            <a:off x="3579195" y="3860949"/>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0"/>
          <p:cNvSpPr/>
          <p:nvPr/>
        </p:nvSpPr>
        <p:spPr>
          <a:xfrm rot="7203796">
            <a:off x="4128102" y="4010581"/>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0"/>
          <p:cNvSpPr/>
          <p:nvPr/>
        </p:nvSpPr>
        <p:spPr>
          <a:xfrm rot="10279492">
            <a:off x="3914877" y="2248208"/>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0"/>
          <p:cNvSpPr/>
          <p:nvPr/>
        </p:nvSpPr>
        <p:spPr>
          <a:xfrm rot="10279492">
            <a:off x="3621760" y="2707301"/>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0"/>
          <p:cNvSpPr/>
          <p:nvPr/>
        </p:nvSpPr>
        <p:spPr>
          <a:xfrm rot="10279492">
            <a:off x="3587576" y="3057228"/>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0"/>
          <p:cNvSpPr/>
          <p:nvPr/>
        </p:nvSpPr>
        <p:spPr>
          <a:xfrm rot="10279492">
            <a:off x="3390261" y="2476562"/>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0"/>
          <p:cNvSpPr/>
          <p:nvPr/>
        </p:nvSpPr>
        <p:spPr>
          <a:xfrm rot="10279492">
            <a:off x="3970492" y="2999290"/>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0"/>
          <p:cNvSpPr/>
          <p:nvPr/>
        </p:nvSpPr>
        <p:spPr>
          <a:xfrm rot="10279492">
            <a:off x="3820347" y="2608049"/>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0"/>
          <p:cNvSpPr/>
          <p:nvPr/>
        </p:nvSpPr>
        <p:spPr>
          <a:xfrm rot="10279492">
            <a:off x="3295730" y="2836403"/>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0"/>
          <p:cNvSpPr/>
          <p:nvPr/>
        </p:nvSpPr>
        <p:spPr>
          <a:xfrm rot="10279492">
            <a:off x="3059943" y="3231727"/>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0"/>
          <p:cNvSpPr/>
          <p:nvPr/>
        </p:nvSpPr>
        <p:spPr>
          <a:xfrm rot="10279492">
            <a:off x="3084316" y="2984397"/>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0"/>
          <p:cNvSpPr/>
          <p:nvPr/>
        </p:nvSpPr>
        <p:spPr>
          <a:xfrm rot="10279492">
            <a:off x="3104377" y="2668794"/>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0"/>
          <p:cNvSpPr/>
          <p:nvPr/>
        </p:nvSpPr>
        <p:spPr>
          <a:xfrm rot="10279492">
            <a:off x="3330761" y="3190751"/>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0"/>
          <p:cNvSpPr/>
          <p:nvPr/>
        </p:nvSpPr>
        <p:spPr>
          <a:xfrm rot="10279492">
            <a:off x="3563153" y="3304565"/>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0"/>
          <p:cNvSpPr/>
          <p:nvPr/>
        </p:nvSpPr>
        <p:spPr>
          <a:xfrm rot="-4110111">
            <a:off x="4012058" y="2684294"/>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0"/>
          <p:cNvSpPr/>
          <p:nvPr/>
        </p:nvSpPr>
        <p:spPr>
          <a:xfrm rot="-4110111">
            <a:off x="4349448" y="2542501"/>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0"/>
          <p:cNvSpPr/>
          <p:nvPr/>
        </p:nvSpPr>
        <p:spPr>
          <a:xfrm rot="-4110111">
            <a:off x="4125626" y="2140282"/>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0"/>
          <p:cNvSpPr/>
          <p:nvPr/>
        </p:nvSpPr>
        <p:spPr>
          <a:xfrm rot="-4110111">
            <a:off x="4327401" y="2285378"/>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0"/>
          <p:cNvSpPr/>
          <p:nvPr/>
        </p:nvSpPr>
        <p:spPr>
          <a:xfrm rot="-4110111">
            <a:off x="4590410" y="2460975"/>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0"/>
          <p:cNvSpPr/>
          <p:nvPr/>
        </p:nvSpPr>
        <p:spPr>
          <a:xfrm rot="-4110111">
            <a:off x="4025295" y="2395145"/>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0"/>
          <p:cNvSpPr/>
          <p:nvPr/>
        </p:nvSpPr>
        <p:spPr>
          <a:xfrm>
            <a:off x="2239625" y="1847950"/>
            <a:ext cx="5006400" cy="28566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3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545" name="Google Shape;545;p31"/>
          <p:cNvSpPr txBox="1"/>
          <p:nvPr>
            <p:ph idx="1" type="body"/>
          </p:nvPr>
        </p:nvSpPr>
        <p:spPr>
          <a:xfrm>
            <a:off x="311700" y="1152475"/>
            <a:ext cx="8684100" cy="8595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Clustering doesn’t “label” these for you!</a:t>
            </a:r>
            <a:endParaRPr sz="2900">
              <a:solidFill>
                <a:srgbClr val="434343"/>
              </a:solidFill>
              <a:latin typeface="Montserrat"/>
              <a:ea typeface="Montserrat"/>
              <a:cs typeface="Montserrat"/>
              <a:sym typeface="Montserrat"/>
            </a:endParaRPr>
          </a:p>
        </p:txBody>
      </p:sp>
      <p:pic>
        <p:nvPicPr>
          <p:cNvPr descr="watermark.jpg" id="546" name="Google Shape;546;p3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47" name="Google Shape;547;p3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548" name="Google Shape;548;p31"/>
          <p:cNvSpPr txBox="1"/>
          <p:nvPr/>
        </p:nvSpPr>
        <p:spPr>
          <a:xfrm>
            <a:off x="4076525" y="470455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549" name="Google Shape;549;p31"/>
          <p:cNvSpPr txBox="1"/>
          <p:nvPr/>
        </p:nvSpPr>
        <p:spPr>
          <a:xfrm>
            <a:off x="864350" y="291330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550" name="Google Shape;550;p31"/>
          <p:cNvSpPr/>
          <p:nvPr/>
        </p:nvSpPr>
        <p:spPr>
          <a:xfrm>
            <a:off x="4215300" y="417257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1"/>
          <p:cNvSpPr/>
          <p:nvPr/>
        </p:nvSpPr>
        <p:spPr>
          <a:xfrm>
            <a:off x="4573800" y="3762500"/>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1"/>
          <p:cNvSpPr/>
          <p:nvPr/>
        </p:nvSpPr>
        <p:spPr>
          <a:xfrm>
            <a:off x="4659950" y="34216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31"/>
          <p:cNvSpPr/>
          <p:nvPr/>
        </p:nvSpPr>
        <p:spPr>
          <a:xfrm>
            <a:off x="4768175" y="402527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1"/>
          <p:cNvSpPr/>
          <p:nvPr/>
        </p:nvSpPr>
        <p:spPr>
          <a:xfrm>
            <a:off x="4272675" y="34216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31"/>
          <p:cNvSpPr/>
          <p:nvPr/>
        </p:nvSpPr>
        <p:spPr>
          <a:xfrm>
            <a:off x="4362600" y="38309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31"/>
          <p:cNvSpPr/>
          <p:nvPr/>
        </p:nvSpPr>
        <p:spPr>
          <a:xfrm>
            <a:off x="4915475" y="36836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1"/>
          <p:cNvSpPr/>
          <p:nvPr/>
        </p:nvSpPr>
        <p:spPr>
          <a:xfrm>
            <a:off x="5207750" y="33280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1"/>
          <p:cNvSpPr/>
          <p:nvPr/>
        </p:nvSpPr>
        <p:spPr>
          <a:xfrm>
            <a:off x="5146650" y="35689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31"/>
          <p:cNvSpPr/>
          <p:nvPr/>
        </p:nvSpPr>
        <p:spPr>
          <a:xfrm>
            <a:off x="5079600" y="387797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1"/>
          <p:cNvSpPr/>
          <p:nvPr/>
        </p:nvSpPr>
        <p:spPr>
          <a:xfrm>
            <a:off x="4933850" y="33280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31"/>
          <p:cNvSpPr/>
          <p:nvPr/>
        </p:nvSpPr>
        <p:spPr>
          <a:xfrm>
            <a:off x="4721100" y="31807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31"/>
          <p:cNvSpPr/>
          <p:nvPr/>
        </p:nvSpPr>
        <p:spPr>
          <a:xfrm>
            <a:off x="4987250" y="2712875"/>
            <a:ext cx="147300" cy="147300"/>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31"/>
          <p:cNvSpPr/>
          <p:nvPr/>
        </p:nvSpPr>
        <p:spPr>
          <a:xfrm>
            <a:off x="5261825" y="3027250"/>
            <a:ext cx="147300" cy="147300"/>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1"/>
          <p:cNvSpPr/>
          <p:nvPr/>
        </p:nvSpPr>
        <p:spPr>
          <a:xfrm>
            <a:off x="5261825" y="2818900"/>
            <a:ext cx="147300" cy="147300"/>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31"/>
          <p:cNvSpPr/>
          <p:nvPr/>
        </p:nvSpPr>
        <p:spPr>
          <a:xfrm rot="6226896">
            <a:off x="5789533" y="2222242"/>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31"/>
          <p:cNvSpPr/>
          <p:nvPr/>
        </p:nvSpPr>
        <p:spPr>
          <a:xfrm rot="6226896">
            <a:off x="5474169" y="2407936"/>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1"/>
          <p:cNvSpPr/>
          <p:nvPr/>
        </p:nvSpPr>
        <p:spPr>
          <a:xfrm rot="6226896">
            <a:off x="5749834" y="2776562"/>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31"/>
          <p:cNvSpPr/>
          <p:nvPr/>
        </p:nvSpPr>
        <p:spPr>
          <a:xfrm rot="6226896">
            <a:off x="5530447" y="2659790"/>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1"/>
          <p:cNvSpPr/>
          <p:nvPr/>
        </p:nvSpPr>
        <p:spPr>
          <a:xfrm rot="6226896">
            <a:off x="5246294" y="2520993"/>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1"/>
          <p:cNvSpPr/>
          <p:nvPr/>
        </p:nvSpPr>
        <p:spPr>
          <a:xfrm rot="6226896">
            <a:off x="5815134" y="2510560"/>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31"/>
          <p:cNvSpPr/>
          <p:nvPr/>
        </p:nvSpPr>
        <p:spPr>
          <a:xfrm rot="6226896">
            <a:off x="6008908" y="2339062"/>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31"/>
          <p:cNvSpPr/>
          <p:nvPr/>
        </p:nvSpPr>
        <p:spPr>
          <a:xfrm rot="7203796">
            <a:off x="6165647" y="2888466"/>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1"/>
          <p:cNvSpPr/>
          <p:nvPr/>
        </p:nvSpPr>
        <p:spPr>
          <a:xfrm rot="7203796">
            <a:off x="5810841" y="2978189"/>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1"/>
          <p:cNvSpPr/>
          <p:nvPr/>
        </p:nvSpPr>
        <p:spPr>
          <a:xfrm rot="7203796">
            <a:off x="5971972" y="3409365"/>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1"/>
          <p:cNvSpPr/>
          <p:nvPr/>
        </p:nvSpPr>
        <p:spPr>
          <a:xfrm rot="7203796">
            <a:off x="5794174" y="3235716"/>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1"/>
          <p:cNvSpPr/>
          <p:nvPr/>
        </p:nvSpPr>
        <p:spPr>
          <a:xfrm rot="7203796">
            <a:off x="5560395" y="3022749"/>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1"/>
          <p:cNvSpPr/>
          <p:nvPr/>
        </p:nvSpPr>
        <p:spPr>
          <a:xfrm rot="7203796">
            <a:off x="6109302" y="3172381"/>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1"/>
          <p:cNvSpPr/>
          <p:nvPr/>
        </p:nvSpPr>
        <p:spPr>
          <a:xfrm rot="7203796">
            <a:off x="6343419" y="3062159"/>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1"/>
          <p:cNvSpPr/>
          <p:nvPr/>
        </p:nvSpPr>
        <p:spPr>
          <a:xfrm rot="7203796">
            <a:off x="4184447" y="3726666"/>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1"/>
          <p:cNvSpPr/>
          <p:nvPr/>
        </p:nvSpPr>
        <p:spPr>
          <a:xfrm rot="7203796">
            <a:off x="3829641" y="3816389"/>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1"/>
          <p:cNvSpPr/>
          <p:nvPr/>
        </p:nvSpPr>
        <p:spPr>
          <a:xfrm rot="7203796">
            <a:off x="3990772" y="4247565"/>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1"/>
          <p:cNvSpPr/>
          <p:nvPr/>
        </p:nvSpPr>
        <p:spPr>
          <a:xfrm rot="7203796">
            <a:off x="3812974" y="4073916"/>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1"/>
          <p:cNvSpPr/>
          <p:nvPr/>
        </p:nvSpPr>
        <p:spPr>
          <a:xfrm rot="7203796">
            <a:off x="3579195" y="3860949"/>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1"/>
          <p:cNvSpPr/>
          <p:nvPr/>
        </p:nvSpPr>
        <p:spPr>
          <a:xfrm rot="7203796">
            <a:off x="4128102" y="4010581"/>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1"/>
          <p:cNvSpPr/>
          <p:nvPr/>
        </p:nvSpPr>
        <p:spPr>
          <a:xfrm rot="10279492">
            <a:off x="3914877" y="2248208"/>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1"/>
          <p:cNvSpPr/>
          <p:nvPr/>
        </p:nvSpPr>
        <p:spPr>
          <a:xfrm rot="10279492">
            <a:off x="3621760" y="2707301"/>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1"/>
          <p:cNvSpPr/>
          <p:nvPr/>
        </p:nvSpPr>
        <p:spPr>
          <a:xfrm rot="10279492">
            <a:off x="3587576" y="3057228"/>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1"/>
          <p:cNvSpPr/>
          <p:nvPr/>
        </p:nvSpPr>
        <p:spPr>
          <a:xfrm rot="10279492">
            <a:off x="3390261" y="2476562"/>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1"/>
          <p:cNvSpPr/>
          <p:nvPr/>
        </p:nvSpPr>
        <p:spPr>
          <a:xfrm rot="10279492">
            <a:off x="3970492" y="2999290"/>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31"/>
          <p:cNvSpPr/>
          <p:nvPr/>
        </p:nvSpPr>
        <p:spPr>
          <a:xfrm rot="10279492">
            <a:off x="3820347" y="2608049"/>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31"/>
          <p:cNvSpPr/>
          <p:nvPr/>
        </p:nvSpPr>
        <p:spPr>
          <a:xfrm rot="10279492">
            <a:off x="3295730" y="2836403"/>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1"/>
          <p:cNvSpPr/>
          <p:nvPr/>
        </p:nvSpPr>
        <p:spPr>
          <a:xfrm rot="10279492">
            <a:off x="3059943" y="3231727"/>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1"/>
          <p:cNvSpPr/>
          <p:nvPr/>
        </p:nvSpPr>
        <p:spPr>
          <a:xfrm rot="10279492">
            <a:off x="3084316" y="2984397"/>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1"/>
          <p:cNvSpPr/>
          <p:nvPr/>
        </p:nvSpPr>
        <p:spPr>
          <a:xfrm rot="10279492">
            <a:off x="3104377" y="2668794"/>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1"/>
          <p:cNvSpPr/>
          <p:nvPr/>
        </p:nvSpPr>
        <p:spPr>
          <a:xfrm rot="10279492">
            <a:off x="3330761" y="3190751"/>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1"/>
          <p:cNvSpPr/>
          <p:nvPr/>
        </p:nvSpPr>
        <p:spPr>
          <a:xfrm rot="10279492">
            <a:off x="3563153" y="3304565"/>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1"/>
          <p:cNvSpPr/>
          <p:nvPr/>
        </p:nvSpPr>
        <p:spPr>
          <a:xfrm rot="-4110111">
            <a:off x="4012058" y="2684294"/>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1"/>
          <p:cNvSpPr/>
          <p:nvPr/>
        </p:nvSpPr>
        <p:spPr>
          <a:xfrm rot="-4110111">
            <a:off x="4349448" y="2542501"/>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1"/>
          <p:cNvSpPr/>
          <p:nvPr/>
        </p:nvSpPr>
        <p:spPr>
          <a:xfrm rot="-4110111">
            <a:off x="4125626" y="2140282"/>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1"/>
          <p:cNvSpPr/>
          <p:nvPr/>
        </p:nvSpPr>
        <p:spPr>
          <a:xfrm rot="-4110111">
            <a:off x="4327401" y="2285378"/>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1"/>
          <p:cNvSpPr/>
          <p:nvPr/>
        </p:nvSpPr>
        <p:spPr>
          <a:xfrm rot="-4110111">
            <a:off x="4590410" y="2460975"/>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1"/>
          <p:cNvSpPr/>
          <p:nvPr/>
        </p:nvSpPr>
        <p:spPr>
          <a:xfrm rot="-4110111">
            <a:off x="4025295" y="2395145"/>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1"/>
          <p:cNvSpPr/>
          <p:nvPr/>
        </p:nvSpPr>
        <p:spPr>
          <a:xfrm>
            <a:off x="2239625" y="1847950"/>
            <a:ext cx="5006400" cy="28566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3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609" name="Google Shape;609;p32"/>
          <p:cNvSpPr txBox="1"/>
          <p:nvPr>
            <p:ph idx="1" type="body"/>
          </p:nvPr>
        </p:nvSpPr>
        <p:spPr>
          <a:xfrm>
            <a:off x="311700" y="1152475"/>
            <a:ext cx="8684100" cy="8595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Clustering doesn’t “label” these for you!</a:t>
            </a:r>
            <a:endParaRPr sz="2900">
              <a:solidFill>
                <a:srgbClr val="434343"/>
              </a:solidFill>
              <a:latin typeface="Montserrat"/>
              <a:ea typeface="Montserrat"/>
              <a:cs typeface="Montserrat"/>
              <a:sym typeface="Montserrat"/>
            </a:endParaRPr>
          </a:p>
        </p:txBody>
      </p:sp>
      <p:pic>
        <p:nvPicPr>
          <p:cNvPr descr="watermark.jpg" id="610" name="Google Shape;610;p3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11" name="Google Shape;611;p3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612" name="Google Shape;612;p32"/>
          <p:cNvSpPr txBox="1"/>
          <p:nvPr/>
        </p:nvSpPr>
        <p:spPr>
          <a:xfrm>
            <a:off x="4076525" y="470455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613" name="Google Shape;613;p32"/>
          <p:cNvSpPr txBox="1"/>
          <p:nvPr/>
        </p:nvSpPr>
        <p:spPr>
          <a:xfrm>
            <a:off x="864350" y="291330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614" name="Google Shape;614;p32"/>
          <p:cNvSpPr/>
          <p:nvPr/>
        </p:nvSpPr>
        <p:spPr>
          <a:xfrm>
            <a:off x="4215300" y="417257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2"/>
          <p:cNvSpPr/>
          <p:nvPr/>
        </p:nvSpPr>
        <p:spPr>
          <a:xfrm>
            <a:off x="4573800" y="3762500"/>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2"/>
          <p:cNvSpPr/>
          <p:nvPr/>
        </p:nvSpPr>
        <p:spPr>
          <a:xfrm>
            <a:off x="4659950" y="34216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32"/>
          <p:cNvSpPr/>
          <p:nvPr/>
        </p:nvSpPr>
        <p:spPr>
          <a:xfrm>
            <a:off x="4768175" y="402527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32"/>
          <p:cNvSpPr/>
          <p:nvPr/>
        </p:nvSpPr>
        <p:spPr>
          <a:xfrm>
            <a:off x="4272675" y="34216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32"/>
          <p:cNvSpPr/>
          <p:nvPr/>
        </p:nvSpPr>
        <p:spPr>
          <a:xfrm>
            <a:off x="4362600" y="38309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32"/>
          <p:cNvSpPr/>
          <p:nvPr/>
        </p:nvSpPr>
        <p:spPr>
          <a:xfrm>
            <a:off x="4915475" y="36836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32"/>
          <p:cNvSpPr/>
          <p:nvPr/>
        </p:nvSpPr>
        <p:spPr>
          <a:xfrm>
            <a:off x="5207750" y="33280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32"/>
          <p:cNvSpPr/>
          <p:nvPr/>
        </p:nvSpPr>
        <p:spPr>
          <a:xfrm>
            <a:off x="5146650" y="35689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2"/>
          <p:cNvSpPr/>
          <p:nvPr/>
        </p:nvSpPr>
        <p:spPr>
          <a:xfrm>
            <a:off x="5079600" y="387797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32"/>
          <p:cNvSpPr/>
          <p:nvPr/>
        </p:nvSpPr>
        <p:spPr>
          <a:xfrm>
            <a:off x="4933850" y="33280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32"/>
          <p:cNvSpPr/>
          <p:nvPr/>
        </p:nvSpPr>
        <p:spPr>
          <a:xfrm>
            <a:off x="4721100" y="31807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32"/>
          <p:cNvSpPr/>
          <p:nvPr/>
        </p:nvSpPr>
        <p:spPr>
          <a:xfrm>
            <a:off x="4987250" y="2712875"/>
            <a:ext cx="147300" cy="147300"/>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2"/>
          <p:cNvSpPr/>
          <p:nvPr/>
        </p:nvSpPr>
        <p:spPr>
          <a:xfrm>
            <a:off x="5261825" y="3027250"/>
            <a:ext cx="147300" cy="147300"/>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32"/>
          <p:cNvSpPr/>
          <p:nvPr/>
        </p:nvSpPr>
        <p:spPr>
          <a:xfrm>
            <a:off x="5261825" y="2818900"/>
            <a:ext cx="147300" cy="147300"/>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32"/>
          <p:cNvSpPr/>
          <p:nvPr/>
        </p:nvSpPr>
        <p:spPr>
          <a:xfrm rot="6226896">
            <a:off x="5789533" y="2222242"/>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32"/>
          <p:cNvSpPr/>
          <p:nvPr/>
        </p:nvSpPr>
        <p:spPr>
          <a:xfrm rot="6226896">
            <a:off x="5474169" y="2407936"/>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32"/>
          <p:cNvSpPr/>
          <p:nvPr/>
        </p:nvSpPr>
        <p:spPr>
          <a:xfrm rot="6226896">
            <a:off x="5749834" y="2776562"/>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2"/>
          <p:cNvSpPr/>
          <p:nvPr/>
        </p:nvSpPr>
        <p:spPr>
          <a:xfrm rot="6226896">
            <a:off x="5530447" y="2659790"/>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2"/>
          <p:cNvSpPr/>
          <p:nvPr/>
        </p:nvSpPr>
        <p:spPr>
          <a:xfrm rot="6226896">
            <a:off x="5246294" y="2520993"/>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32"/>
          <p:cNvSpPr/>
          <p:nvPr/>
        </p:nvSpPr>
        <p:spPr>
          <a:xfrm rot="6226896">
            <a:off x="5815134" y="2510560"/>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2"/>
          <p:cNvSpPr/>
          <p:nvPr/>
        </p:nvSpPr>
        <p:spPr>
          <a:xfrm rot="6226896">
            <a:off x="6008908" y="2339062"/>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32"/>
          <p:cNvSpPr/>
          <p:nvPr/>
        </p:nvSpPr>
        <p:spPr>
          <a:xfrm rot="7203796">
            <a:off x="6165647" y="2888466"/>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2"/>
          <p:cNvSpPr/>
          <p:nvPr/>
        </p:nvSpPr>
        <p:spPr>
          <a:xfrm rot="7203796">
            <a:off x="5810841" y="2978189"/>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2"/>
          <p:cNvSpPr/>
          <p:nvPr/>
        </p:nvSpPr>
        <p:spPr>
          <a:xfrm rot="7203796">
            <a:off x="5971972" y="3409365"/>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32"/>
          <p:cNvSpPr/>
          <p:nvPr/>
        </p:nvSpPr>
        <p:spPr>
          <a:xfrm rot="7203796">
            <a:off x="5794174" y="3235716"/>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32"/>
          <p:cNvSpPr/>
          <p:nvPr/>
        </p:nvSpPr>
        <p:spPr>
          <a:xfrm rot="7203796">
            <a:off x="5560395" y="3022749"/>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32"/>
          <p:cNvSpPr/>
          <p:nvPr/>
        </p:nvSpPr>
        <p:spPr>
          <a:xfrm rot="7203796">
            <a:off x="6109302" y="3172381"/>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32"/>
          <p:cNvSpPr/>
          <p:nvPr/>
        </p:nvSpPr>
        <p:spPr>
          <a:xfrm rot="7203796">
            <a:off x="6343419" y="3062159"/>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2"/>
          <p:cNvSpPr/>
          <p:nvPr/>
        </p:nvSpPr>
        <p:spPr>
          <a:xfrm rot="7203796">
            <a:off x="4184447" y="3726666"/>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2"/>
          <p:cNvSpPr/>
          <p:nvPr/>
        </p:nvSpPr>
        <p:spPr>
          <a:xfrm rot="7203796">
            <a:off x="3829641" y="3816389"/>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2"/>
          <p:cNvSpPr/>
          <p:nvPr/>
        </p:nvSpPr>
        <p:spPr>
          <a:xfrm rot="7203796">
            <a:off x="3990772" y="4247565"/>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2"/>
          <p:cNvSpPr/>
          <p:nvPr/>
        </p:nvSpPr>
        <p:spPr>
          <a:xfrm rot="7203796">
            <a:off x="3812974" y="4073916"/>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2"/>
          <p:cNvSpPr/>
          <p:nvPr/>
        </p:nvSpPr>
        <p:spPr>
          <a:xfrm rot="7203796">
            <a:off x="3579195" y="3860949"/>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2"/>
          <p:cNvSpPr/>
          <p:nvPr/>
        </p:nvSpPr>
        <p:spPr>
          <a:xfrm rot="7203796">
            <a:off x="4128102" y="4010581"/>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2"/>
          <p:cNvSpPr/>
          <p:nvPr/>
        </p:nvSpPr>
        <p:spPr>
          <a:xfrm rot="10279492">
            <a:off x="3914877" y="2248208"/>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32"/>
          <p:cNvSpPr/>
          <p:nvPr/>
        </p:nvSpPr>
        <p:spPr>
          <a:xfrm rot="10279492">
            <a:off x="3621760" y="2707301"/>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32"/>
          <p:cNvSpPr/>
          <p:nvPr/>
        </p:nvSpPr>
        <p:spPr>
          <a:xfrm rot="10279492">
            <a:off x="3587576" y="3057228"/>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2"/>
          <p:cNvSpPr/>
          <p:nvPr/>
        </p:nvSpPr>
        <p:spPr>
          <a:xfrm rot="10279492">
            <a:off x="3390261" y="2476562"/>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32"/>
          <p:cNvSpPr/>
          <p:nvPr/>
        </p:nvSpPr>
        <p:spPr>
          <a:xfrm rot="10279492">
            <a:off x="3970492" y="2999290"/>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2"/>
          <p:cNvSpPr/>
          <p:nvPr/>
        </p:nvSpPr>
        <p:spPr>
          <a:xfrm rot="10279492">
            <a:off x="3820347" y="2608049"/>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2"/>
          <p:cNvSpPr/>
          <p:nvPr/>
        </p:nvSpPr>
        <p:spPr>
          <a:xfrm rot="10279492">
            <a:off x="3295730" y="2836403"/>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32"/>
          <p:cNvSpPr/>
          <p:nvPr/>
        </p:nvSpPr>
        <p:spPr>
          <a:xfrm rot="10279492">
            <a:off x="3059943" y="3231727"/>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2"/>
          <p:cNvSpPr/>
          <p:nvPr/>
        </p:nvSpPr>
        <p:spPr>
          <a:xfrm rot="10279492">
            <a:off x="3084316" y="2984397"/>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2"/>
          <p:cNvSpPr/>
          <p:nvPr/>
        </p:nvSpPr>
        <p:spPr>
          <a:xfrm rot="10279492">
            <a:off x="3104377" y="2668794"/>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32"/>
          <p:cNvSpPr/>
          <p:nvPr/>
        </p:nvSpPr>
        <p:spPr>
          <a:xfrm rot="10279492">
            <a:off x="3330761" y="3190751"/>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2"/>
          <p:cNvSpPr/>
          <p:nvPr/>
        </p:nvSpPr>
        <p:spPr>
          <a:xfrm rot="10279492">
            <a:off x="3563153" y="3304565"/>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32"/>
          <p:cNvSpPr/>
          <p:nvPr/>
        </p:nvSpPr>
        <p:spPr>
          <a:xfrm rot="-4110111">
            <a:off x="4012058" y="2684294"/>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32"/>
          <p:cNvSpPr/>
          <p:nvPr/>
        </p:nvSpPr>
        <p:spPr>
          <a:xfrm rot="-4110111">
            <a:off x="4349448" y="2542501"/>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32"/>
          <p:cNvSpPr/>
          <p:nvPr/>
        </p:nvSpPr>
        <p:spPr>
          <a:xfrm rot="-4110111">
            <a:off x="4125626" y="2140282"/>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32"/>
          <p:cNvSpPr/>
          <p:nvPr/>
        </p:nvSpPr>
        <p:spPr>
          <a:xfrm rot="-4110111">
            <a:off x="4327401" y="2285378"/>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32"/>
          <p:cNvSpPr/>
          <p:nvPr/>
        </p:nvSpPr>
        <p:spPr>
          <a:xfrm rot="-4110111">
            <a:off x="4590410" y="2460975"/>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32"/>
          <p:cNvSpPr/>
          <p:nvPr/>
        </p:nvSpPr>
        <p:spPr>
          <a:xfrm rot="-4110111">
            <a:off x="4025295" y="2395145"/>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32"/>
          <p:cNvSpPr/>
          <p:nvPr/>
        </p:nvSpPr>
        <p:spPr>
          <a:xfrm>
            <a:off x="2239625" y="1847950"/>
            <a:ext cx="5006400" cy="28566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2"/>
          <p:cNvSpPr txBox="1"/>
          <p:nvPr/>
        </p:nvSpPr>
        <p:spPr>
          <a:xfrm>
            <a:off x="2876725" y="2110400"/>
            <a:ext cx="794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Montserrat"/>
                <a:ea typeface="Montserrat"/>
                <a:cs typeface="Montserrat"/>
                <a:sym typeface="Montserrat"/>
              </a:rPr>
              <a:t>CATS</a:t>
            </a:r>
            <a:endParaRPr b="1">
              <a:latin typeface="Montserrat"/>
              <a:ea typeface="Montserrat"/>
              <a:cs typeface="Montserrat"/>
              <a:sym typeface="Montserrat"/>
            </a:endParaRPr>
          </a:p>
        </p:txBody>
      </p:sp>
      <p:sp>
        <p:nvSpPr>
          <p:cNvPr id="669" name="Google Shape;669;p32"/>
          <p:cNvSpPr txBox="1"/>
          <p:nvPr/>
        </p:nvSpPr>
        <p:spPr>
          <a:xfrm>
            <a:off x="5993475" y="2481550"/>
            <a:ext cx="794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Montserrat"/>
                <a:ea typeface="Montserrat"/>
                <a:cs typeface="Montserrat"/>
                <a:sym typeface="Montserrat"/>
              </a:rPr>
              <a:t>DOGS</a:t>
            </a:r>
            <a:endParaRPr b="1">
              <a:latin typeface="Montserrat"/>
              <a:ea typeface="Montserrat"/>
              <a:cs typeface="Montserrat"/>
              <a:sym typeface="Montserrat"/>
            </a:endParaRPr>
          </a:p>
        </p:txBody>
      </p:sp>
      <p:sp>
        <p:nvSpPr>
          <p:cNvPr id="670" name="Google Shape;670;p32"/>
          <p:cNvSpPr txBox="1"/>
          <p:nvPr/>
        </p:nvSpPr>
        <p:spPr>
          <a:xfrm>
            <a:off x="4444475" y="4107075"/>
            <a:ext cx="794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Montserrat"/>
                <a:ea typeface="Montserrat"/>
                <a:cs typeface="Montserrat"/>
                <a:sym typeface="Montserrat"/>
              </a:rPr>
              <a:t>BIRDS</a:t>
            </a:r>
            <a:endParaRPr b="1">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3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676" name="Google Shape;676;p33"/>
          <p:cNvSpPr txBox="1"/>
          <p:nvPr>
            <p:ph idx="1" type="body"/>
          </p:nvPr>
        </p:nvSpPr>
        <p:spPr>
          <a:xfrm>
            <a:off x="311700" y="1152475"/>
            <a:ext cx="8684100" cy="8595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Clustering doesn’t “label” these for you!</a:t>
            </a:r>
            <a:endParaRPr sz="2900">
              <a:solidFill>
                <a:srgbClr val="434343"/>
              </a:solidFill>
              <a:latin typeface="Montserrat"/>
              <a:ea typeface="Montserrat"/>
              <a:cs typeface="Montserrat"/>
              <a:sym typeface="Montserrat"/>
            </a:endParaRPr>
          </a:p>
        </p:txBody>
      </p:sp>
      <p:pic>
        <p:nvPicPr>
          <p:cNvPr descr="watermark.jpg" id="677" name="Google Shape;677;p3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78" name="Google Shape;678;p3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679" name="Google Shape;679;p33"/>
          <p:cNvSpPr txBox="1"/>
          <p:nvPr/>
        </p:nvSpPr>
        <p:spPr>
          <a:xfrm>
            <a:off x="4076525" y="470455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680" name="Google Shape;680;p33"/>
          <p:cNvSpPr txBox="1"/>
          <p:nvPr/>
        </p:nvSpPr>
        <p:spPr>
          <a:xfrm>
            <a:off x="864350" y="2913300"/>
            <a:ext cx="1332600" cy="2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681" name="Google Shape;681;p33"/>
          <p:cNvSpPr/>
          <p:nvPr/>
        </p:nvSpPr>
        <p:spPr>
          <a:xfrm>
            <a:off x="4215300" y="417257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33"/>
          <p:cNvSpPr/>
          <p:nvPr/>
        </p:nvSpPr>
        <p:spPr>
          <a:xfrm>
            <a:off x="4573800" y="3762500"/>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3"/>
          <p:cNvSpPr/>
          <p:nvPr/>
        </p:nvSpPr>
        <p:spPr>
          <a:xfrm>
            <a:off x="4659950" y="34216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3"/>
          <p:cNvSpPr/>
          <p:nvPr/>
        </p:nvSpPr>
        <p:spPr>
          <a:xfrm>
            <a:off x="4768175" y="402527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33"/>
          <p:cNvSpPr/>
          <p:nvPr/>
        </p:nvSpPr>
        <p:spPr>
          <a:xfrm>
            <a:off x="4272675" y="34216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33"/>
          <p:cNvSpPr/>
          <p:nvPr/>
        </p:nvSpPr>
        <p:spPr>
          <a:xfrm>
            <a:off x="4362600" y="38309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3"/>
          <p:cNvSpPr/>
          <p:nvPr/>
        </p:nvSpPr>
        <p:spPr>
          <a:xfrm>
            <a:off x="4915475" y="36836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3"/>
          <p:cNvSpPr/>
          <p:nvPr/>
        </p:nvSpPr>
        <p:spPr>
          <a:xfrm>
            <a:off x="5207750" y="33280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3"/>
          <p:cNvSpPr/>
          <p:nvPr/>
        </p:nvSpPr>
        <p:spPr>
          <a:xfrm>
            <a:off x="5146650" y="35689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33"/>
          <p:cNvSpPr/>
          <p:nvPr/>
        </p:nvSpPr>
        <p:spPr>
          <a:xfrm>
            <a:off x="5079600" y="387797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33"/>
          <p:cNvSpPr/>
          <p:nvPr/>
        </p:nvSpPr>
        <p:spPr>
          <a:xfrm>
            <a:off x="4933850" y="33280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33"/>
          <p:cNvSpPr/>
          <p:nvPr/>
        </p:nvSpPr>
        <p:spPr>
          <a:xfrm>
            <a:off x="4721100" y="3180725"/>
            <a:ext cx="147300" cy="147300"/>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33"/>
          <p:cNvSpPr/>
          <p:nvPr/>
        </p:nvSpPr>
        <p:spPr>
          <a:xfrm>
            <a:off x="4987250" y="2712875"/>
            <a:ext cx="147300" cy="147300"/>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33"/>
          <p:cNvSpPr/>
          <p:nvPr/>
        </p:nvSpPr>
        <p:spPr>
          <a:xfrm>
            <a:off x="5261825" y="3027250"/>
            <a:ext cx="147300" cy="147300"/>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3"/>
          <p:cNvSpPr/>
          <p:nvPr/>
        </p:nvSpPr>
        <p:spPr>
          <a:xfrm>
            <a:off x="5261825" y="2818900"/>
            <a:ext cx="147300" cy="147300"/>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3"/>
          <p:cNvSpPr/>
          <p:nvPr/>
        </p:nvSpPr>
        <p:spPr>
          <a:xfrm rot="6226896">
            <a:off x="5789533" y="2222242"/>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3"/>
          <p:cNvSpPr/>
          <p:nvPr/>
        </p:nvSpPr>
        <p:spPr>
          <a:xfrm rot="6226896">
            <a:off x="5474169" y="2407936"/>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33"/>
          <p:cNvSpPr/>
          <p:nvPr/>
        </p:nvSpPr>
        <p:spPr>
          <a:xfrm rot="6226896">
            <a:off x="5749834" y="2776562"/>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3"/>
          <p:cNvSpPr/>
          <p:nvPr/>
        </p:nvSpPr>
        <p:spPr>
          <a:xfrm rot="6226896">
            <a:off x="5530447" y="2659790"/>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3"/>
          <p:cNvSpPr/>
          <p:nvPr/>
        </p:nvSpPr>
        <p:spPr>
          <a:xfrm rot="6226896">
            <a:off x="5246294" y="2520993"/>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3"/>
          <p:cNvSpPr/>
          <p:nvPr/>
        </p:nvSpPr>
        <p:spPr>
          <a:xfrm rot="6226896">
            <a:off x="5815134" y="2510560"/>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3"/>
          <p:cNvSpPr/>
          <p:nvPr/>
        </p:nvSpPr>
        <p:spPr>
          <a:xfrm rot="6226896">
            <a:off x="6008908" y="2339062"/>
            <a:ext cx="147342" cy="147342"/>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3"/>
          <p:cNvSpPr/>
          <p:nvPr/>
        </p:nvSpPr>
        <p:spPr>
          <a:xfrm rot="7203796">
            <a:off x="6165647" y="2888466"/>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3"/>
          <p:cNvSpPr/>
          <p:nvPr/>
        </p:nvSpPr>
        <p:spPr>
          <a:xfrm rot="7203796">
            <a:off x="5810841" y="2978189"/>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3"/>
          <p:cNvSpPr/>
          <p:nvPr/>
        </p:nvSpPr>
        <p:spPr>
          <a:xfrm rot="7203796">
            <a:off x="5971972" y="3409365"/>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33"/>
          <p:cNvSpPr/>
          <p:nvPr/>
        </p:nvSpPr>
        <p:spPr>
          <a:xfrm rot="7203796">
            <a:off x="5794174" y="3235716"/>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33"/>
          <p:cNvSpPr/>
          <p:nvPr/>
        </p:nvSpPr>
        <p:spPr>
          <a:xfrm rot="7203796">
            <a:off x="5560395" y="3022749"/>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3"/>
          <p:cNvSpPr/>
          <p:nvPr/>
        </p:nvSpPr>
        <p:spPr>
          <a:xfrm rot="7203796">
            <a:off x="6109302" y="3172381"/>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3"/>
          <p:cNvSpPr/>
          <p:nvPr/>
        </p:nvSpPr>
        <p:spPr>
          <a:xfrm rot="7203796">
            <a:off x="6343419" y="3062159"/>
            <a:ext cx="147318" cy="147318"/>
          </a:xfrm>
          <a:prstGeom prst="ellipse">
            <a:avLst/>
          </a:prstGeom>
          <a:solidFill>
            <a:srgbClr val="F6B26B"/>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3"/>
          <p:cNvSpPr/>
          <p:nvPr/>
        </p:nvSpPr>
        <p:spPr>
          <a:xfrm rot="7203796">
            <a:off x="4184447" y="3726666"/>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3"/>
          <p:cNvSpPr/>
          <p:nvPr/>
        </p:nvSpPr>
        <p:spPr>
          <a:xfrm rot="7203796">
            <a:off x="3829641" y="3816389"/>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3"/>
          <p:cNvSpPr/>
          <p:nvPr/>
        </p:nvSpPr>
        <p:spPr>
          <a:xfrm rot="7203796">
            <a:off x="3990772" y="4247565"/>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33"/>
          <p:cNvSpPr/>
          <p:nvPr/>
        </p:nvSpPr>
        <p:spPr>
          <a:xfrm rot="7203796">
            <a:off x="3812974" y="4073916"/>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3"/>
          <p:cNvSpPr/>
          <p:nvPr/>
        </p:nvSpPr>
        <p:spPr>
          <a:xfrm rot="7203796">
            <a:off x="3579195" y="3860949"/>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3"/>
          <p:cNvSpPr/>
          <p:nvPr/>
        </p:nvSpPr>
        <p:spPr>
          <a:xfrm rot="7203796">
            <a:off x="4128102" y="4010581"/>
            <a:ext cx="147318" cy="147318"/>
          </a:xfrm>
          <a:prstGeom prst="ellipse">
            <a:avLst/>
          </a:prstGeom>
          <a:solidFill>
            <a:srgbClr val="9FC5E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3"/>
          <p:cNvSpPr/>
          <p:nvPr/>
        </p:nvSpPr>
        <p:spPr>
          <a:xfrm rot="10279492">
            <a:off x="3914877" y="2248208"/>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3"/>
          <p:cNvSpPr/>
          <p:nvPr/>
        </p:nvSpPr>
        <p:spPr>
          <a:xfrm rot="10279492">
            <a:off x="3621760" y="2707301"/>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3"/>
          <p:cNvSpPr/>
          <p:nvPr/>
        </p:nvSpPr>
        <p:spPr>
          <a:xfrm rot="10279492">
            <a:off x="3587576" y="3057228"/>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3"/>
          <p:cNvSpPr/>
          <p:nvPr/>
        </p:nvSpPr>
        <p:spPr>
          <a:xfrm rot="10279492">
            <a:off x="3390261" y="2476562"/>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3"/>
          <p:cNvSpPr/>
          <p:nvPr/>
        </p:nvSpPr>
        <p:spPr>
          <a:xfrm rot="10279492">
            <a:off x="3970492" y="2999290"/>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3"/>
          <p:cNvSpPr/>
          <p:nvPr/>
        </p:nvSpPr>
        <p:spPr>
          <a:xfrm rot="10279492">
            <a:off x="3820347" y="2608049"/>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3"/>
          <p:cNvSpPr/>
          <p:nvPr/>
        </p:nvSpPr>
        <p:spPr>
          <a:xfrm rot="10279492">
            <a:off x="3295730" y="2836403"/>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3"/>
          <p:cNvSpPr/>
          <p:nvPr/>
        </p:nvSpPr>
        <p:spPr>
          <a:xfrm rot="10279492">
            <a:off x="3059943" y="3231727"/>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3"/>
          <p:cNvSpPr/>
          <p:nvPr/>
        </p:nvSpPr>
        <p:spPr>
          <a:xfrm rot="10279492">
            <a:off x="3084316" y="2984397"/>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3"/>
          <p:cNvSpPr/>
          <p:nvPr/>
        </p:nvSpPr>
        <p:spPr>
          <a:xfrm rot="10279492">
            <a:off x="3104377" y="2668794"/>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3"/>
          <p:cNvSpPr/>
          <p:nvPr/>
        </p:nvSpPr>
        <p:spPr>
          <a:xfrm rot="10279492">
            <a:off x="3330761" y="3190751"/>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33"/>
          <p:cNvSpPr/>
          <p:nvPr/>
        </p:nvSpPr>
        <p:spPr>
          <a:xfrm rot="10279492">
            <a:off x="3563153" y="3304565"/>
            <a:ext cx="147184" cy="147184"/>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33"/>
          <p:cNvSpPr/>
          <p:nvPr/>
        </p:nvSpPr>
        <p:spPr>
          <a:xfrm rot="-4110111">
            <a:off x="4012058" y="2684294"/>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33"/>
          <p:cNvSpPr/>
          <p:nvPr/>
        </p:nvSpPr>
        <p:spPr>
          <a:xfrm rot="-4110111">
            <a:off x="4349448" y="2542501"/>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3"/>
          <p:cNvSpPr/>
          <p:nvPr/>
        </p:nvSpPr>
        <p:spPr>
          <a:xfrm rot="-4110111">
            <a:off x="4125626" y="2140282"/>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3"/>
          <p:cNvSpPr/>
          <p:nvPr/>
        </p:nvSpPr>
        <p:spPr>
          <a:xfrm rot="-4110111">
            <a:off x="4327401" y="2285378"/>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33"/>
          <p:cNvSpPr/>
          <p:nvPr/>
        </p:nvSpPr>
        <p:spPr>
          <a:xfrm rot="-4110111">
            <a:off x="4590410" y="2460975"/>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33"/>
          <p:cNvSpPr/>
          <p:nvPr/>
        </p:nvSpPr>
        <p:spPr>
          <a:xfrm rot="-4110111">
            <a:off x="4025295" y="2395145"/>
            <a:ext cx="147351" cy="147351"/>
          </a:xfrm>
          <a:prstGeom prst="ellipse">
            <a:avLst/>
          </a:prstGeom>
          <a:solidFill>
            <a:srgbClr val="EA99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33"/>
          <p:cNvSpPr/>
          <p:nvPr/>
        </p:nvSpPr>
        <p:spPr>
          <a:xfrm>
            <a:off x="2239625" y="1847950"/>
            <a:ext cx="5006400" cy="28566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3"/>
          <p:cNvSpPr txBox="1"/>
          <p:nvPr/>
        </p:nvSpPr>
        <p:spPr>
          <a:xfrm>
            <a:off x="2756900" y="2110400"/>
            <a:ext cx="996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Montserrat"/>
                <a:ea typeface="Montserrat"/>
                <a:cs typeface="Montserrat"/>
                <a:sym typeface="Montserrat"/>
              </a:rPr>
              <a:t>Group: 0</a:t>
            </a:r>
            <a:endParaRPr b="1">
              <a:latin typeface="Montserrat"/>
              <a:ea typeface="Montserrat"/>
              <a:cs typeface="Montserrat"/>
              <a:sym typeface="Montserrat"/>
            </a:endParaRPr>
          </a:p>
        </p:txBody>
      </p:sp>
      <p:sp>
        <p:nvSpPr>
          <p:cNvPr id="736" name="Google Shape;736;p33"/>
          <p:cNvSpPr txBox="1"/>
          <p:nvPr/>
        </p:nvSpPr>
        <p:spPr>
          <a:xfrm>
            <a:off x="6050175" y="2441225"/>
            <a:ext cx="996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Montserrat"/>
                <a:ea typeface="Montserrat"/>
                <a:cs typeface="Montserrat"/>
                <a:sym typeface="Montserrat"/>
              </a:rPr>
              <a:t>Group: 1</a:t>
            </a:r>
            <a:endParaRPr b="1">
              <a:latin typeface="Montserrat"/>
              <a:ea typeface="Montserrat"/>
              <a:cs typeface="Montserrat"/>
              <a:sym typeface="Montserrat"/>
            </a:endParaRPr>
          </a:p>
        </p:txBody>
      </p:sp>
      <p:sp>
        <p:nvSpPr>
          <p:cNvPr id="737" name="Google Shape;737;p33"/>
          <p:cNvSpPr txBox="1"/>
          <p:nvPr/>
        </p:nvSpPr>
        <p:spPr>
          <a:xfrm>
            <a:off x="4439025" y="4141288"/>
            <a:ext cx="996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Montserrat"/>
                <a:ea typeface="Montserrat"/>
                <a:cs typeface="Montserrat"/>
                <a:sym typeface="Montserrat"/>
              </a:rPr>
              <a:t>Group: 2</a:t>
            </a:r>
            <a:endParaRPr b="1">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3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743" name="Google Shape;743;p3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Main Clustering Ideas: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features to decide which points are most similar to other points.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Realize that there is no final correct </a:t>
            </a:r>
            <a:r>
              <a:rPr b="1" lang="en" sz="2900">
                <a:solidFill>
                  <a:srgbClr val="434343"/>
                </a:solidFill>
                <a:latin typeface="Montserrat"/>
                <a:ea typeface="Montserrat"/>
                <a:cs typeface="Montserrat"/>
                <a:sym typeface="Montserrat"/>
              </a:rPr>
              <a:t>y</a:t>
            </a:r>
            <a:r>
              <a:rPr lang="en" sz="2900">
                <a:solidFill>
                  <a:srgbClr val="434343"/>
                </a:solidFill>
                <a:latin typeface="Montserrat"/>
                <a:ea typeface="Montserrat"/>
                <a:cs typeface="Montserrat"/>
                <a:sym typeface="Montserrat"/>
              </a:rPr>
              <a:t> label to compare cluster results to.</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think of clustering as an unsupervised learning process that “discovers” potential labels.</a:t>
            </a:r>
            <a:endParaRPr sz="2900">
              <a:solidFill>
                <a:srgbClr val="434343"/>
              </a:solidFill>
              <a:latin typeface="Montserrat"/>
              <a:ea typeface="Montserrat"/>
              <a:cs typeface="Montserrat"/>
              <a:sym typeface="Montserrat"/>
            </a:endParaRPr>
          </a:p>
        </p:txBody>
      </p:sp>
      <p:pic>
        <p:nvPicPr>
          <p:cNvPr descr="watermark.jpg" id="744" name="Google Shape;744;p3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45" name="Google Shape;745;p3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3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751" name="Google Shape;751;p3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Unsupervised Learning Paradigm Shift: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What about a new unlabeled data point?</a:t>
            </a:r>
            <a:endParaRPr i="1"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How do we assign it to a cluster?</a:t>
            </a:r>
            <a:endParaRPr i="1"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Was it the correct cluster for assignment?</a:t>
            </a:r>
            <a:endParaRPr i="1" sz="2900">
              <a:solidFill>
                <a:srgbClr val="434343"/>
              </a:solidFill>
              <a:latin typeface="Montserrat"/>
              <a:ea typeface="Montserrat"/>
              <a:cs typeface="Montserrat"/>
              <a:sym typeface="Montserrat"/>
            </a:endParaRPr>
          </a:p>
        </p:txBody>
      </p:sp>
      <p:pic>
        <p:nvPicPr>
          <p:cNvPr descr="watermark.jpg" id="752" name="Google Shape;752;p3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53" name="Google Shape;753;p3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3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759" name="Google Shape;759;p3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Unsupervised Learning Paradigm Shift: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How do we assign a new data point to a cluster?</a:t>
            </a:r>
            <a:endParaRPr i="1"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Different approaches depending on the unsupervised learning algorithm used.</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features to assign most appropriate cluster.</a:t>
            </a:r>
            <a:endParaRPr sz="2900">
              <a:solidFill>
                <a:srgbClr val="434343"/>
              </a:solidFill>
              <a:latin typeface="Montserrat"/>
              <a:ea typeface="Montserrat"/>
              <a:cs typeface="Montserrat"/>
              <a:sym typeface="Montserrat"/>
            </a:endParaRPr>
          </a:p>
        </p:txBody>
      </p:sp>
      <p:pic>
        <p:nvPicPr>
          <p:cNvPr descr="watermark.jpg" id="760" name="Google Shape;760;p3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61" name="Google Shape;761;p3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3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767" name="Google Shape;767;p3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Unsupervised Learning Paradigm Shift: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How do we assign a new data point to a cluster?</a:t>
            </a:r>
            <a:endParaRPr i="1"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Just as before, no way to measure if this was the “correct” assignment.</a:t>
            </a:r>
            <a:endParaRPr sz="2900">
              <a:solidFill>
                <a:srgbClr val="434343"/>
              </a:solidFill>
              <a:latin typeface="Montserrat"/>
              <a:ea typeface="Montserrat"/>
              <a:cs typeface="Montserrat"/>
              <a:sym typeface="Montserrat"/>
            </a:endParaRPr>
          </a:p>
        </p:txBody>
      </p:sp>
      <p:pic>
        <p:nvPicPr>
          <p:cNvPr descr="watermark.jpg" id="768" name="Google Shape;768;p3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69" name="Google Shape;769;p3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3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775" name="Google Shape;775;p3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Unsupervised Learning Paradigm Shift: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If we’ve discovered these new cluster labels, could we use that as a </a:t>
            </a:r>
            <a:r>
              <a:rPr b="1" i="1" lang="en" sz="2900">
                <a:solidFill>
                  <a:srgbClr val="434343"/>
                </a:solidFill>
                <a:latin typeface="Montserrat"/>
                <a:ea typeface="Montserrat"/>
                <a:cs typeface="Montserrat"/>
                <a:sym typeface="Montserrat"/>
              </a:rPr>
              <a:t>y</a:t>
            </a:r>
            <a:r>
              <a:rPr i="1" lang="en" sz="2900">
                <a:solidFill>
                  <a:srgbClr val="434343"/>
                </a:solidFill>
                <a:latin typeface="Montserrat"/>
                <a:ea typeface="Montserrat"/>
                <a:cs typeface="Montserrat"/>
                <a:sym typeface="Montserrat"/>
              </a:rPr>
              <a:t> for supervised training?</a:t>
            </a:r>
            <a:endParaRPr i="1"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Yes! We can use unsupervised learning to discover possible labels, then apply supervised learning on new data points.</a:t>
            </a:r>
            <a:endParaRPr sz="2900">
              <a:solidFill>
                <a:srgbClr val="434343"/>
              </a:solidFill>
              <a:latin typeface="Montserrat"/>
              <a:ea typeface="Montserrat"/>
              <a:cs typeface="Montserrat"/>
              <a:sym typeface="Montserrat"/>
            </a:endParaRPr>
          </a:p>
        </p:txBody>
      </p:sp>
      <p:pic>
        <p:nvPicPr>
          <p:cNvPr descr="watermark.jpg" id="776" name="Google Shape;776;p3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77" name="Google Shape;777;p3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3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783" name="Google Shape;783;p3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Unsupervised Learning Paradigm Shift: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If we’ve discovered these new cluster labels, could we use that as a </a:t>
            </a:r>
            <a:r>
              <a:rPr b="1" i="1" lang="en" sz="2900">
                <a:solidFill>
                  <a:srgbClr val="434343"/>
                </a:solidFill>
                <a:latin typeface="Montserrat"/>
                <a:ea typeface="Montserrat"/>
                <a:cs typeface="Montserrat"/>
                <a:sym typeface="Montserrat"/>
              </a:rPr>
              <a:t>y</a:t>
            </a:r>
            <a:r>
              <a:rPr i="1" lang="en" sz="2900">
                <a:solidFill>
                  <a:srgbClr val="434343"/>
                </a:solidFill>
                <a:latin typeface="Montserrat"/>
                <a:ea typeface="Montserrat"/>
                <a:cs typeface="Montserrat"/>
                <a:sym typeface="Montserrat"/>
              </a:rPr>
              <a:t> for supervised training?</a:t>
            </a:r>
            <a:endParaRPr i="1"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What’s the trade-off?</a:t>
            </a:r>
            <a:endParaRPr sz="2900">
              <a:solidFill>
                <a:srgbClr val="434343"/>
              </a:solidFill>
              <a:latin typeface="Montserrat"/>
              <a:ea typeface="Montserrat"/>
              <a:cs typeface="Montserrat"/>
              <a:sym typeface="Montserrat"/>
            </a:endParaRPr>
          </a:p>
        </p:txBody>
      </p:sp>
      <p:pic>
        <p:nvPicPr>
          <p:cNvPr descr="watermark.jpg" id="784" name="Google Shape;784;p3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85" name="Google Shape;785;p3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4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791" name="Google Shape;791;p4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Unsupervised Learning Paradigm Shift: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If we’ve discovered these new cluster labels, could we use that as a </a:t>
            </a:r>
            <a:r>
              <a:rPr b="1" i="1" lang="en" sz="2900">
                <a:solidFill>
                  <a:srgbClr val="434343"/>
                </a:solidFill>
                <a:latin typeface="Montserrat"/>
                <a:ea typeface="Montserrat"/>
                <a:cs typeface="Montserrat"/>
                <a:sym typeface="Montserrat"/>
              </a:rPr>
              <a:t>y</a:t>
            </a:r>
            <a:r>
              <a:rPr i="1" lang="en" sz="2900">
                <a:solidFill>
                  <a:srgbClr val="434343"/>
                </a:solidFill>
                <a:latin typeface="Montserrat"/>
                <a:ea typeface="Montserrat"/>
                <a:cs typeface="Montserrat"/>
                <a:sym typeface="Montserrat"/>
              </a:rPr>
              <a:t> for supervised training?</a:t>
            </a:r>
            <a:endParaRPr i="1"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Clustering doesn’t tell you what these new cluster labels represent, no real way of knowing if these clusters are truly significant.</a:t>
            </a:r>
            <a:endParaRPr sz="2900">
              <a:solidFill>
                <a:srgbClr val="434343"/>
              </a:solidFill>
              <a:latin typeface="Montserrat"/>
              <a:ea typeface="Montserrat"/>
              <a:cs typeface="Montserrat"/>
              <a:sym typeface="Montserrat"/>
            </a:endParaRPr>
          </a:p>
        </p:txBody>
      </p:sp>
      <p:pic>
        <p:nvPicPr>
          <p:cNvPr descr="watermark.jpg" id="792" name="Google Shape;792;p4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93" name="Google Shape;793;p4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4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799" name="Google Shape;799;p4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Clustering ideas still to come</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How do we decide which number of clusters is best? </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Do we decide or let the algorithm decide?</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How can we measure “goodness of fit” for clustering without a </a:t>
            </a:r>
            <a:r>
              <a:rPr b="1" lang="en" sz="2900">
                <a:solidFill>
                  <a:srgbClr val="434343"/>
                </a:solidFill>
                <a:latin typeface="Montserrat"/>
                <a:ea typeface="Montserrat"/>
                <a:cs typeface="Montserrat"/>
                <a:sym typeface="Montserrat"/>
              </a:rPr>
              <a:t>y</a:t>
            </a:r>
            <a:r>
              <a:rPr lang="en" sz="2900">
                <a:solidFill>
                  <a:srgbClr val="434343"/>
                </a:solidFill>
                <a:latin typeface="Montserrat"/>
                <a:ea typeface="Montserrat"/>
                <a:cs typeface="Montserrat"/>
                <a:sym typeface="Montserrat"/>
              </a:rPr>
              <a:t> label for comparison?</a:t>
            </a:r>
            <a:endParaRPr sz="2900">
              <a:solidFill>
                <a:srgbClr val="434343"/>
              </a:solidFill>
              <a:latin typeface="Montserrat"/>
              <a:ea typeface="Montserrat"/>
              <a:cs typeface="Montserrat"/>
              <a:sym typeface="Montserrat"/>
            </a:endParaRPr>
          </a:p>
        </p:txBody>
      </p:sp>
      <p:pic>
        <p:nvPicPr>
          <p:cNvPr descr="watermark.jpg" id="800" name="Google Shape;800;p4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01" name="Google Shape;801;p4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4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807" name="Google Shape;807;p4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Machine Learning as an art: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What is ground truth?</a:t>
            </a:r>
            <a:endParaRPr i="1"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What trade-offs are we making by using unsupervised learning as a substitute for ground </a:t>
            </a:r>
            <a:r>
              <a:rPr i="1" lang="en" sz="2900">
                <a:solidFill>
                  <a:srgbClr val="434343"/>
                </a:solidFill>
                <a:latin typeface="Montserrat"/>
                <a:ea typeface="Montserrat"/>
                <a:cs typeface="Montserrat"/>
                <a:sym typeface="Montserrat"/>
              </a:rPr>
              <a:t>truth of the y label that was not given?</a:t>
            </a:r>
            <a:endParaRPr i="1" sz="2900">
              <a:solidFill>
                <a:srgbClr val="434343"/>
              </a:solidFill>
              <a:latin typeface="Montserrat"/>
              <a:ea typeface="Montserrat"/>
              <a:cs typeface="Montserrat"/>
              <a:sym typeface="Montserrat"/>
            </a:endParaRPr>
          </a:p>
        </p:txBody>
      </p:sp>
      <p:pic>
        <p:nvPicPr>
          <p:cNvPr descr="watermark.jpg" id="808" name="Google Shape;808;p4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09" name="Google Shape;809;p4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4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815" name="Google Shape;815;p4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Keep these ideas in mind as we discover the different algorithms behind clustering!</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Also keep in mind that it’s much harder to compare unsupervised algorithms against each other due to the lack of ground truth based performance metrics (e.g. can’t use accuracy or RMSE).</a:t>
            </a:r>
            <a:endParaRPr sz="2900">
              <a:solidFill>
                <a:srgbClr val="434343"/>
              </a:solidFill>
              <a:latin typeface="Montserrat"/>
              <a:ea typeface="Montserrat"/>
              <a:cs typeface="Montserrat"/>
              <a:sym typeface="Montserrat"/>
            </a:endParaRPr>
          </a:p>
        </p:txBody>
      </p:sp>
      <p:pic>
        <p:nvPicPr>
          <p:cNvPr descr="watermark.jpg" id="816" name="Google Shape;816;p4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17" name="Google Shape;817;p4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4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K-Means Clustering</a:t>
            </a:r>
            <a:endParaRPr b="1">
              <a:latin typeface="Montserrat"/>
              <a:ea typeface="Montserrat"/>
              <a:cs typeface="Montserrat"/>
              <a:sym typeface="Montserrat"/>
            </a:endParaRPr>
          </a:p>
        </p:txBody>
      </p:sp>
      <p:sp>
        <p:nvSpPr>
          <p:cNvPr id="823" name="Google Shape;823;p4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History, Intuition and Theory</a:t>
            </a:r>
            <a:endParaRPr/>
          </a:p>
        </p:txBody>
      </p:sp>
      <p:pic>
        <p:nvPicPr>
          <p:cNvPr descr="watermark.jpg" id="824" name="Google Shape;824;p4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25" name="Google Shape;825;p4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4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K-Means Clustering</a:t>
            </a:r>
            <a:endParaRPr>
              <a:latin typeface="Montserrat"/>
              <a:ea typeface="Montserrat"/>
              <a:cs typeface="Montserrat"/>
              <a:sym typeface="Montserrat"/>
            </a:endParaRPr>
          </a:p>
        </p:txBody>
      </p:sp>
      <p:sp>
        <p:nvSpPr>
          <p:cNvPr id="831" name="Google Shape;831;p4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briefly go through a tour of the </a:t>
            </a:r>
            <a:r>
              <a:rPr lang="en" sz="2900">
                <a:solidFill>
                  <a:srgbClr val="434343"/>
                </a:solidFill>
                <a:latin typeface="Montserrat"/>
                <a:ea typeface="Montserrat"/>
                <a:cs typeface="Montserrat"/>
                <a:sym typeface="Montserrat"/>
              </a:rPr>
              <a:t>timeline</a:t>
            </a:r>
            <a:r>
              <a:rPr lang="en" sz="2900">
                <a:solidFill>
                  <a:srgbClr val="434343"/>
                </a:solidFill>
                <a:latin typeface="Montserrat"/>
                <a:ea typeface="Montserrat"/>
                <a:cs typeface="Montserrat"/>
                <a:sym typeface="Montserrat"/>
              </a:rPr>
              <a:t> of the development of K-Means clustering.</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Afterwards, we’ll dive deeper into the main method and concepts.</a:t>
            </a:r>
            <a:endParaRPr sz="2900">
              <a:solidFill>
                <a:srgbClr val="434343"/>
              </a:solidFill>
              <a:latin typeface="Montserrat"/>
              <a:ea typeface="Montserrat"/>
              <a:cs typeface="Montserrat"/>
              <a:sym typeface="Montserrat"/>
            </a:endParaRPr>
          </a:p>
        </p:txBody>
      </p:sp>
      <p:pic>
        <p:nvPicPr>
          <p:cNvPr descr="watermark.jpg" id="832" name="Google Shape;832;p4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33" name="Google Shape;833;p4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4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K-Means Clustering</a:t>
            </a:r>
            <a:endParaRPr>
              <a:latin typeface="Montserrat"/>
              <a:ea typeface="Montserrat"/>
              <a:cs typeface="Montserrat"/>
              <a:sym typeface="Montserrat"/>
            </a:endParaRPr>
          </a:p>
        </p:txBody>
      </p:sp>
      <p:sp>
        <p:nvSpPr>
          <p:cNvPr id="839" name="Google Shape;839;p46"/>
          <p:cNvSpPr txBox="1"/>
          <p:nvPr>
            <p:ph idx="1" type="body"/>
          </p:nvPr>
        </p:nvSpPr>
        <p:spPr>
          <a:xfrm>
            <a:off x="311700" y="1152475"/>
            <a:ext cx="71634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Hugo Steinhaus was the mathematician who began laying out the groundwork for clustering methods.</a:t>
            </a:r>
            <a:endParaRPr sz="2900">
              <a:solidFill>
                <a:srgbClr val="434343"/>
              </a:solidFill>
              <a:latin typeface="Montserrat"/>
              <a:ea typeface="Montserrat"/>
              <a:cs typeface="Montserrat"/>
              <a:sym typeface="Montserrat"/>
            </a:endParaRPr>
          </a:p>
        </p:txBody>
      </p:sp>
      <p:pic>
        <p:nvPicPr>
          <p:cNvPr descr="watermark.jpg" id="840" name="Google Shape;840;p4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41" name="Google Shape;841;p4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842" name="Google Shape;842;p46"/>
          <p:cNvPicPr preferRelativeResize="0"/>
          <p:nvPr/>
        </p:nvPicPr>
        <p:blipFill>
          <a:blip r:embed="rId4">
            <a:alphaModFix/>
          </a:blip>
          <a:stretch>
            <a:fillRect/>
          </a:stretch>
        </p:blipFill>
        <p:spPr>
          <a:xfrm>
            <a:off x="7497425" y="1545350"/>
            <a:ext cx="1314550" cy="197509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4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K-Means Clustering</a:t>
            </a:r>
            <a:endParaRPr>
              <a:latin typeface="Montserrat"/>
              <a:ea typeface="Montserrat"/>
              <a:cs typeface="Montserrat"/>
              <a:sym typeface="Montserrat"/>
            </a:endParaRPr>
          </a:p>
        </p:txBody>
      </p:sp>
      <p:sp>
        <p:nvSpPr>
          <p:cNvPr id="848" name="Google Shape;848;p47"/>
          <p:cNvSpPr txBox="1"/>
          <p:nvPr>
            <p:ph idx="1" type="body"/>
          </p:nvPr>
        </p:nvSpPr>
        <p:spPr>
          <a:xfrm>
            <a:off x="311700" y="1152475"/>
            <a:ext cx="71634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1940s-1950s: Hugo Steinhaus Polish mathematician and professor.</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During WWII he was in hiding from Nazi occupation, yet still taught clandestine math classes from memory, since higher education for Poles was forbidden!</a:t>
            </a:r>
            <a:endParaRPr sz="2900">
              <a:solidFill>
                <a:srgbClr val="434343"/>
              </a:solidFill>
              <a:latin typeface="Montserrat"/>
              <a:ea typeface="Montserrat"/>
              <a:cs typeface="Montserrat"/>
              <a:sym typeface="Montserrat"/>
            </a:endParaRPr>
          </a:p>
        </p:txBody>
      </p:sp>
      <p:pic>
        <p:nvPicPr>
          <p:cNvPr descr="watermark.jpg" id="849" name="Google Shape;849;p4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50" name="Google Shape;850;p4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851" name="Google Shape;851;p47"/>
          <p:cNvPicPr preferRelativeResize="0"/>
          <p:nvPr/>
        </p:nvPicPr>
        <p:blipFill>
          <a:blip r:embed="rId4">
            <a:alphaModFix/>
          </a:blip>
          <a:stretch>
            <a:fillRect/>
          </a:stretch>
        </p:blipFill>
        <p:spPr>
          <a:xfrm>
            <a:off x="7497425" y="1545350"/>
            <a:ext cx="1314550" cy="197509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4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K-Means Clustering</a:t>
            </a:r>
            <a:endParaRPr>
              <a:latin typeface="Montserrat"/>
              <a:ea typeface="Montserrat"/>
              <a:cs typeface="Montserrat"/>
              <a:sym typeface="Montserrat"/>
            </a:endParaRPr>
          </a:p>
        </p:txBody>
      </p:sp>
      <p:sp>
        <p:nvSpPr>
          <p:cNvPr id="857" name="Google Shape;857;p48"/>
          <p:cNvSpPr txBox="1"/>
          <p:nvPr>
            <p:ph idx="1" type="body"/>
          </p:nvPr>
        </p:nvSpPr>
        <p:spPr>
          <a:xfrm>
            <a:off x="311700" y="1152475"/>
            <a:ext cx="71634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He even established statistical methods for estimating German </a:t>
            </a:r>
            <a:r>
              <a:rPr lang="en" sz="2900">
                <a:solidFill>
                  <a:srgbClr val="434343"/>
                </a:solidFill>
                <a:latin typeface="Montserrat"/>
                <a:ea typeface="Montserrat"/>
                <a:cs typeface="Montserrat"/>
                <a:sym typeface="Montserrat"/>
              </a:rPr>
              <a:t>casualty</a:t>
            </a:r>
            <a:r>
              <a:rPr lang="en" sz="2900">
                <a:solidFill>
                  <a:srgbClr val="434343"/>
                </a:solidFill>
                <a:latin typeface="Montserrat"/>
                <a:ea typeface="Montserrat"/>
                <a:cs typeface="Montserrat"/>
                <a:sym typeface="Montserrat"/>
              </a:rPr>
              <a:t> rates based simply on relative frequencies of obituaries in local newspapers.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After WWII he helped establish the mathematics department at the University of Wrocław.</a:t>
            </a:r>
            <a:endParaRPr sz="2900">
              <a:solidFill>
                <a:srgbClr val="434343"/>
              </a:solidFill>
              <a:latin typeface="Montserrat"/>
              <a:ea typeface="Montserrat"/>
              <a:cs typeface="Montserrat"/>
              <a:sym typeface="Montserrat"/>
            </a:endParaRPr>
          </a:p>
        </p:txBody>
      </p:sp>
      <p:pic>
        <p:nvPicPr>
          <p:cNvPr descr="watermark.jpg" id="858" name="Google Shape;858;p4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59" name="Google Shape;859;p4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860" name="Google Shape;860;p48"/>
          <p:cNvPicPr preferRelativeResize="0"/>
          <p:nvPr/>
        </p:nvPicPr>
        <p:blipFill>
          <a:blip r:embed="rId4">
            <a:alphaModFix/>
          </a:blip>
          <a:stretch>
            <a:fillRect/>
          </a:stretch>
        </p:blipFill>
        <p:spPr>
          <a:xfrm>
            <a:off x="7497425" y="1545350"/>
            <a:ext cx="1314550" cy="197509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4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K-Means Clustering</a:t>
            </a:r>
            <a:endParaRPr>
              <a:latin typeface="Montserrat"/>
              <a:ea typeface="Montserrat"/>
              <a:cs typeface="Montserrat"/>
              <a:sym typeface="Montserrat"/>
            </a:endParaRPr>
          </a:p>
        </p:txBody>
      </p:sp>
      <p:sp>
        <p:nvSpPr>
          <p:cNvPr id="866" name="Google Shape;866;p49"/>
          <p:cNvSpPr txBox="1"/>
          <p:nvPr>
            <p:ph idx="1" type="body"/>
          </p:nvPr>
        </p:nvSpPr>
        <p:spPr>
          <a:xfrm>
            <a:off x="311700" y="1152475"/>
            <a:ext cx="71634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It was at the University of Wrocław where he began to develop the ideas that would become the foundation of K-Means clustering!</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Check out his Wikipedia page for more interesting stories from his incredible life!</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867" name="Google Shape;867;p4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68" name="Google Shape;868;p4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869" name="Google Shape;869;p49"/>
          <p:cNvPicPr preferRelativeResize="0"/>
          <p:nvPr/>
        </p:nvPicPr>
        <p:blipFill>
          <a:blip r:embed="rId4">
            <a:alphaModFix/>
          </a:blip>
          <a:stretch>
            <a:fillRect/>
          </a:stretch>
        </p:blipFill>
        <p:spPr>
          <a:xfrm>
            <a:off x="7497425" y="1545350"/>
            <a:ext cx="1314550" cy="197509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5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875" name="Google Shape;875;p5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1957: Stuart Lloyd of Bell Labs developed the standard algorithmic technique for clustering related to K-Means. </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However Lloyd did not publish his technique in a journal until 1982.</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 1965 Edward W. Forgy published the clustering technique, thus both Lloyd and Forgy are credited with the development.</a:t>
            </a:r>
            <a:endParaRPr sz="2900">
              <a:solidFill>
                <a:srgbClr val="434343"/>
              </a:solidFill>
              <a:latin typeface="Montserrat"/>
              <a:ea typeface="Montserrat"/>
              <a:cs typeface="Montserrat"/>
              <a:sym typeface="Montserrat"/>
            </a:endParaRPr>
          </a:p>
        </p:txBody>
      </p:sp>
      <p:pic>
        <p:nvPicPr>
          <p:cNvPr descr="watermark.jpg" id="876" name="Google Shape;876;p5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77" name="Google Shape;877;p5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5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883" name="Google Shape;883;p5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1967: James MacQueen of UCLA develops and publishes “</a:t>
            </a:r>
            <a:r>
              <a:rPr i="1" lang="en" sz="2900">
                <a:solidFill>
                  <a:srgbClr val="434343"/>
                </a:solidFill>
                <a:latin typeface="Montserrat"/>
                <a:ea typeface="Montserrat"/>
                <a:cs typeface="Montserrat"/>
                <a:sym typeface="Montserrat"/>
              </a:rPr>
              <a:t>Some methods for classification and analysis of multivariate observations</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is the first publication to introduce the term “K-Means” as a sequential clustering algorithm.</a:t>
            </a:r>
            <a:endParaRPr sz="2900">
              <a:solidFill>
                <a:srgbClr val="434343"/>
              </a:solidFill>
              <a:latin typeface="Montserrat"/>
              <a:ea typeface="Montserrat"/>
              <a:cs typeface="Montserrat"/>
              <a:sym typeface="Montserrat"/>
            </a:endParaRPr>
          </a:p>
        </p:txBody>
      </p:sp>
      <p:pic>
        <p:nvPicPr>
          <p:cNvPr descr="watermark.jpg" id="884" name="Google Shape;884;p5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85" name="Google Shape;885;p5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5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891" name="Google Shape;891;p5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So how does K-Means clustering actually work?</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main concept is actually very simple!</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walk through an example of </a:t>
            </a:r>
            <a:r>
              <a:rPr lang="en" sz="2900">
                <a:solidFill>
                  <a:srgbClr val="434343"/>
                </a:solidFill>
                <a:latin typeface="Montserrat"/>
                <a:ea typeface="Montserrat"/>
                <a:cs typeface="Montserrat"/>
                <a:sym typeface="Montserrat"/>
              </a:rPr>
              <a:t>clustering</a:t>
            </a:r>
            <a:r>
              <a:rPr lang="en" sz="2900">
                <a:solidFill>
                  <a:srgbClr val="434343"/>
                </a:solidFill>
                <a:latin typeface="Montserrat"/>
                <a:ea typeface="Montserrat"/>
                <a:cs typeface="Montserrat"/>
                <a:sym typeface="Montserrat"/>
              </a:rPr>
              <a:t> unlabeled data.</a:t>
            </a:r>
            <a:endParaRPr sz="2900">
              <a:solidFill>
                <a:srgbClr val="434343"/>
              </a:solidFill>
              <a:latin typeface="Montserrat"/>
              <a:ea typeface="Montserrat"/>
              <a:cs typeface="Montserrat"/>
              <a:sym typeface="Montserrat"/>
            </a:endParaRPr>
          </a:p>
        </p:txBody>
      </p:sp>
      <p:pic>
        <p:nvPicPr>
          <p:cNvPr descr="watermark.jpg" id="892" name="Google Shape;892;p5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93" name="Google Shape;893;p5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5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899" name="Google Shape;899;p5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First a set of properties each point must satisfy:</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Each point must belong to a cluster.</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Each point can only belong to one cluster (no single point can belong to multiple clusters).</a:t>
            </a:r>
            <a:endParaRPr sz="2900">
              <a:solidFill>
                <a:srgbClr val="434343"/>
              </a:solidFill>
              <a:latin typeface="Montserrat"/>
              <a:ea typeface="Montserrat"/>
              <a:cs typeface="Montserrat"/>
              <a:sym typeface="Montserrat"/>
            </a:endParaRPr>
          </a:p>
        </p:txBody>
      </p:sp>
      <p:pic>
        <p:nvPicPr>
          <p:cNvPr descr="watermark.jpg" id="900" name="Google Shape;900;p5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01" name="Google Shape;901;p5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5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907" name="Google Shape;907;p54"/>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So how does K-Means clustering actually work?</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908" name="Google Shape;908;p5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09" name="Google Shape;909;p5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910" name="Google Shape;910;p54"/>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911" name="Google Shape;911;p54"/>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912" name="Google Shape;912;p54"/>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5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918" name="Google Shape;918;p55"/>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Note: For visualization purposes, we’ll work with a simple dataset with only 2 features.</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919" name="Google Shape;919;p5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20" name="Google Shape;920;p5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921" name="Google Shape;921;p55"/>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922" name="Google Shape;922;p55"/>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923" name="Google Shape;923;p55"/>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5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929" name="Google Shape;929;p56"/>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process shown here easily extends to </a:t>
            </a:r>
            <a:r>
              <a:rPr b="1" lang="en" sz="2900">
                <a:solidFill>
                  <a:srgbClr val="434343"/>
                </a:solidFill>
                <a:latin typeface="Montserrat"/>
                <a:ea typeface="Montserrat"/>
                <a:cs typeface="Montserrat"/>
                <a:sym typeface="Montserrat"/>
              </a:rPr>
              <a:t>N</a:t>
            </a:r>
            <a:r>
              <a:rPr lang="en" sz="2900">
                <a:solidFill>
                  <a:srgbClr val="434343"/>
                </a:solidFill>
                <a:latin typeface="Montserrat"/>
                <a:ea typeface="Montserrat"/>
                <a:cs typeface="Montserrat"/>
                <a:sym typeface="Montserrat"/>
              </a:rPr>
              <a:t> feature </a:t>
            </a:r>
            <a:r>
              <a:rPr lang="en" sz="2900">
                <a:solidFill>
                  <a:srgbClr val="434343"/>
                </a:solidFill>
                <a:latin typeface="Montserrat"/>
                <a:ea typeface="Montserrat"/>
                <a:cs typeface="Montserrat"/>
                <a:sym typeface="Montserrat"/>
              </a:rPr>
              <a:t>dimensions</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930" name="Google Shape;930;p5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31" name="Google Shape;931;p5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932" name="Google Shape;932;p56"/>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933" name="Google Shape;933;p56"/>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934" name="Google Shape;934;p56"/>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5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940" name="Google Shape;940;p57"/>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Step 1: Start with unlabeled data (only features).</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941" name="Google Shape;941;p5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42" name="Google Shape;942;p5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943" name="Google Shape;943;p57"/>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944" name="Google Shape;944;p57"/>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945" name="Google Shape;945;p57"/>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5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951" name="Google Shape;951;p58"/>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Step 0: Start with unlabeled data (only features).</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952" name="Google Shape;952;p5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53" name="Google Shape;953;p5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954" name="Google Shape;954;p58"/>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955" name="Google Shape;955;p58"/>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956" name="Google Shape;956;p58"/>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58"/>
          <p:cNvSpPr/>
          <p:nvPr/>
        </p:nvSpPr>
        <p:spPr>
          <a:xfrm>
            <a:off x="3442725" y="2569475"/>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58"/>
          <p:cNvSpPr/>
          <p:nvPr/>
        </p:nvSpPr>
        <p:spPr>
          <a:xfrm>
            <a:off x="3883175" y="25881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58"/>
          <p:cNvSpPr/>
          <p:nvPr/>
        </p:nvSpPr>
        <p:spPr>
          <a:xfrm>
            <a:off x="4038575" y="31776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58"/>
          <p:cNvSpPr/>
          <p:nvPr/>
        </p:nvSpPr>
        <p:spPr>
          <a:xfrm>
            <a:off x="3642325" y="29048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58"/>
          <p:cNvSpPr/>
          <p:nvPr/>
        </p:nvSpPr>
        <p:spPr>
          <a:xfrm>
            <a:off x="3747525" y="3712475"/>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58"/>
          <p:cNvSpPr/>
          <p:nvPr/>
        </p:nvSpPr>
        <p:spPr>
          <a:xfrm>
            <a:off x="4187975" y="37311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58"/>
          <p:cNvSpPr/>
          <p:nvPr/>
        </p:nvSpPr>
        <p:spPr>
          <a:xfrm>
            <a:off x="3947125" y="40478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58"/>
          <p:cNvSpPr/>
          <p:nvPr/>
        </p:nvSpPr>
        <p:spPr>
          <a:xfrm>
            <a:off x="5347725" y="2874275"/>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58"/>
          <p:cNvSpPr/>
          <p:nvPr/>
        </p:nvSpPr>
        <p:spPr>
          <a:xfrm>
            <a:off x="5788175" y="28929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58"/>
          <p:cNvSpPr/>
          <p:nvPr/>
        </p:nvSpPr>
        <p:spPr>
          <a:xfrm>
            <a:off x="5547325" y="32096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58"/>
          <p:cNvSpPr/>
          <p:nvPr/>
        </p:nvSpPr>
        <p:spPr>
          <a:xfrm>
            <a:off x="5247100" y="31776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5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973" name="Google Shape;973;p59"/>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Note: </a:t>
            </a:r>
            <a:r>
              <a:rPr i="1" lang="en" sz="2900">
                <a:solidFill>
                  <a:srgbClr val="434343"/>
                </a:solidFill>
                <a:latin typeface="Montserrat"/>
                <a:ea typeface="Montserrat"/>
                <a:cs typeface="Montserrat"/>
                <a:sym typeface="Montserrat"/>
              </a:rPr>
              <a:t>If we had the group labels, it wouldn’t make sense to cluster!</a:t>
            </a:r>
            <a:endParaRPr i="1" sz="2900">
              <a:solidFill>
                <a:srgbClr val="434343"/>
              </a:solidFill>
              <a:latin typeface="Montserrat"/>
              <a:ea typeface="Montserrat"/>
              <a:cs typeface="Montserrat"/>
              <a:sym typeface="Montserrat"/>
            </a:endParaRPr>
          </a:p>
        </p:txBody>
      </p:sp>
      <p:pic>
        <p:nvPicPr>
          <p:cNvPr descr="watermark.jpg" id="974" name="Google Shape;974;p5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75" name="Google Shape;975;p5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976" name="Google Shape;976;p59"/>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977" name="Google Shape;977;p59"/>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978" name="Google Shape;978;p59"/>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59"/>
          <p:cNvSpPr/>
          <p:nvPr/>
        </p:nvSpPr>
        <p:spPr>
          <a:xfrm>
            <a:off x="3442725" y="2569475"/>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59"/>
          <p:cNvSpPr/>
          <p:nvPr/>
        </p:nvSpPr>
        <p:spPr>
          <a:xfrm>
            <a:off x="3883175" y="25881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59"/>
          <p:cNvSpPr/>
          <p:nvPr/>
        </p:nvSpPr>
        <p:spPr>
          <a:xfrm>
            <a:off x="4038575" y="31776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59"/>
          <p:cNvSpPr/>
          <p:nvPr/>
        </p:nvSpPr>
        <p:spPr>
          <a:xfrm>
            <a:off x="3642325" y="29048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59"/>
          <p:cNvSpPr/>
          <p:nvPr/>
        </p:nvSpPr>
        <p:spPr>
          <a:xfrm>
            <a:off x="3747525" y="3712475"/>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59"/>
          <p:cNvSpPr/>
          <p:nvPr/>
        </p:nvSpPr>
        <p:spPr>
          <a:xfrm>
            <a:off x="4187975" y="37311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59"/>
          <p:cNvSpPr/>
          <p:nvPr/>
        </p:nvSpPr>
        <p:spPr>
          <a:xfrm>
            <a:off x="3947125" y="40478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59"/>
          <p:cNvSpPr/>
          <p:nvPr/>
        </p:nvSpPr>
        <p:spPr>
          <a:xfrm>
            <a:off x="5347725" y="2874275"/>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59"/>
          <p:cNvSpPr/>
          <p:nvPr/>
        </p:nvSpPr>
        <p:spPr>
          <a:xfrm>
            <a:off x="5788175" y="28929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59"/>
          <p:cNvSpPr/>
          <p:nvPr/>
        </p:nvSpPr>
        <p:spPr>
          <a:xfrm>
            <a:off x="5547325" y="32096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59"/>
          <p:cNvSpPr/>
          <p:nvPr/>
        </p:nvSpPr>
        <p:spPr>
          <a:xfrm>
            <a:off x="5247100" y="31776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6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995" name="Google Shape;995;p60"/>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Step 1: Choose the number of clusters to create (this is the K value).</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996" name="Google Shape;996;p6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97" name="Google Shape;997;p6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998" name="Google Shape;998;p60"/>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999" name="Google Shape;999;p60"/>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000" name="Google Shape;1000;p60"/>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60"/>
          <p:cNvSpPr/>
          <p:nvPr/>
        </p:nvSpPr>
        <p:spPr>
          <a:xfrm>
            <a:off x="3442725" y="2569475"/>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60"/>
          <p:cNvSpPr/>
          <p:nvPr/>
        </p:nvSpPr>
        <p:spPr>
          <a:xfrm>
            <a:off x="3883175" y="25881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60"/>
          <p:cNvSpPr/>
          <p:nvPr/>
        </p:nvSpPr>
        <p:spPr>
          <a:xfrm>
            <a:off x="4038575" y="31776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60"/>
          <p:cNvSpPr/>
          <p:nvPr/>
        </p:nvSpPr>
        <p:spPr>
          <a:xfrm>
            <a:off x="3642325" y="29048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60"/>
          <p:cNvSpPr/>
          <p:nvPr/>
        </p:nvSpPr>
        <p:spPr>
          <a:xfrm>
            <a:off x="3747525" y="3712475"/>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60"/>
          <p:cNvSpPr/>
          <p:nvPr/>
        </p:nvSpPr>
        <p:spPr>
          <a:xfrm>
            <a:off x="4187975" y="37311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60"/>
          <p:cNvSpPr/>
          <p:nvPr/>
        </p:nvSpPr>
        <p:spPr>
          <a:xfrm>
            <a:off x="3947125" y="40478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60"/>
          <p:cNvSpPr/>
          <p:nvPr/>
        </p:nvSpPr>
        <p:spPr>
          <a:xfrm>
            <a:off x="5347725" y="2874275"/>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60"/>
          <p:cNvSpPr/>
          <p:nvPr/>
        </p:nvSpPr>
        <p:spPr>
          <a:xfrm>
            <a:off x="5788175" y="28929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60"/>
          <p:cNvSpPr/>
          <p:nvPr/>
        </p:nvSpPr>
        <p:spPr>
          <a:xfrm>
            <a:off x="5547325" y="32096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60"/>
          <p:cNvSpPr/>
          <p:nvPr/>
        </p:nvSpPr>
        <p:spPr>
          <a:xfrm>
            <a:off x="5247100" y="31776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p6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017" name="Google Shape;1017;p61"/>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Step 1: We’ll choose K=3. Note in most situations you won’t visualize the data!</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018" name="Google Shape;1018;p6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19" name="Google Shape;1019;p6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020" name="Google Shape;1020;p61"/>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021" name="Google Shape;1021;p61"/>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022" name="Google Shape;1022;p61"/>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61"/>
          <p:cNvSpPr/>
          <p:nvPr/>
        </p:nvSpPr>
        <p:spPr>
          <a:xfrm>
            <a:off x="3442725" y="2569475"/>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61"/>
          <p:cNvSpPr/>
          <p:nvPr/>
        </p:nvSpPr>
        <p:spPr>
          <a:xfrm>
            <a:off x="3883175" y="25881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61"/>
          <p:cNvSpPr/>
          <p:nvPr/>
        </p:nvSpPr>
        <p:spPr>
          <a:xfrm>
            <a:off x="4038575" y="31776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61"/>
          <p:cNvSpPr/>
          <p:nvPr/>
        </p:nvSpPr>
        <p:spPr>
          <a:xfrm>
            <a:off x="3642325" y="29048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61"/>
          <p:cNvSpPr/>
          <p:nvPr/>
        </p:nvSpPr>
        <p:spPr>
          <a:xfrm>
            <a:off x="3747525" y="3712475"/>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61"/>
          <p:cNvSpPr/>
          <p:nvPr/>
        </p:nvSpPr>
        <p:spPr>
          <a:xfrm>
            <a:off x="4187975" y="37311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61"/>
          <p:cNvSpPr/>
          <p:nvPr/>
        </p:nvSpPr>
        <p:spPr>
          <a:xfrm>
            <a:off x="3947125" y="40478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61"/>
          <p:cNvSpPr/>
          <p:nvPr/>
        </p:nvSpPr>
        <p:spPr>
          <a:xfrm>
            <a:off x="5347725" y="2874275"/>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61"/>
          <p:cNvSpPr/>
          <p:nvPr/>
        </p:nvSpPr>
        <p:spPr>
          <a:xfrm>
            <a:off x="5788175" y="28929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61"/>
          <p:cNvSpPr/>
          <p:nvPr/>
        </p:nvSpPr>
        <p:spPr>
          <a:xfrm>
            <a:off x="5547325" y="32096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61"/>
          <p:cNvSpPr/>
          <p:nvPr/>
        </p:nvSpPr>
        <p:spPr>
          <a:xfrm>
            <a:off x="5247100" y="31776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6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039" name="Google Shape;1039;p62"/>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Step 2: Randomly select K distinct data points. </a:t>
            </a:r>
            <a:endParaRPr sz="2900">
              <a:solidFill>
                <a:srgbClr val="434343"/>
              </a:solidFill>
              <a:latin typeface="Montserrat"/>
              <a:ea typeface="Montserrat"/>
              <a:cs typeface="Montserrat"/>
              <a:sym typeface="Montserrat"/>
            </a:endParaRPr>
          </a:p>
        </p:txBody>
      </p:sp>
      <p:pic>
        <p:nvPicPr>
          <p:cNvPr descr="watermark.jpg" id="1040" name="Google Shape;1040;p6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41" name="Google Shape;1041;p6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042" name="Google Shape;1042;p62"/>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043" name="Google Shape;1043;p62"/>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044" name="Google Shape;1044;p62"/>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62"/>
          <p:cNvSpPr/>
          <p:nvPr/>
        </p:nvSpPr>
        <p:spPr>
          <a:xfrm>
            <a:off x="3442725" y="2569475"/>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62"/>
          <p:cNvSpPr/>
          <p:nvPr/>
        </p:nvSpPr>
        <p:spPr>
          <a:xfrm>
            <a:off x="3883175" y="25881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62"/>
          <p:cNvSpPr/>
          <p:nvPr/>
        </p:nvSpPr>
        <p:spPr>
          <a:xfrm>
            <a:off x="4038575" y="31776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62"/>
          <p:cNvSpPr/>
          <p:nvPr/>
        </p:nvSpPr>
        <p:spPr>
          <a:xfrm>
            <a:off x="3642325" y="29048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62"/>
          <p:cNvSpPr/>
          <p:nvPr/>
        </p:nvSpPr>
        <p:spPr>
          <a:xfrm>
            <a:off x="3747525" y="3712475"/>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62"/>
          <p:cNvSpPr/>
          <p:nvPr/>
        </p:nvSpPr>
        <p:spPr>
          <a:xfrm>
            <a:off x="4187975" y="37311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62"/>
          <p:cNvSpPr/>
          <p:nvPr/>
        </p:nvSpPr>
        <p:spPr>
          <a:xfrm>
            <a:off x="3947125" y="40478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62"/>
          <p:cNvSpPr/>
          <p:nvPr/>
        </p:nvSpPr>
        <p:spPr>
          <a:xfrm>
            <a:off x="5347725" y="2874275"/>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62"/>
          <p:cNvSpPr/>
          <p:nvPr/>
        </p:nvSpPr>
        <p:spPr>
          <a:xfrm>
            <a:off x="5788175" y="28929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62"/>
          <p:cNvSpPr/>
          <p:nvPr/>
        </p:nvSpPr>
        <p:spPr>
          <a:xfrm>
            <a:off x="5547325" y="32096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62"/>
          <p:cNvSpPr/>
          <p:nvPr/>
        </p:nvSpPr>
        <p:spPr>
          <a:xfrm>
            <a:off x="5247100" y="31776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p6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061" name="Google Shape;1061;p63"/>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Step 2: Randomly select K distinct data points. Our K=3:</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062" name="Google Shape;1062;p6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63" name="Google Shape;1063;p6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064" name="Google Shape;1064;p63"/>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065" name="Google Shape;1065;p63"/>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066" name="Google Shape;1066;p63"/>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63"/>
          <p:cNvSpPr/>
          <p:nvPr/>
        </p:nvSpPr>
        <p:spPr>
          <a:xfrm>
            <a:off x="3442725" y="2569475"/>
            <a:ext cx="155400" cy="155400"/>
          </a:xfrm>
          <a:prstGeom prst="ellipse">
            <a:avLst/>
          </a:prstGeom>
          <a:solidFill>
            <a:srgbClr val="CC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63"/>
          <p:cNvSpPr/>
          <p:nvPr/>
        </p:nvSpPr>
        <p:spPr>
          <a:xfrm>
            <a:off x="3883175" y="25881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63"/>
          <p:cNvSpPr/>
          <p:nvPr/>
        </p:nvSpPr>
        <p:spPr>
          <a:xfrm>
            <a:off x="4038575" y="31776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63"/>
          <p:cNvSpPr/>
          <p:nvPr/>
        </p:nvSpPr>
        <p:spPr>
          <a:xfrm>
            <a:off x="3642325" y="2904850"/>
            <a:ext cx="155400" cy="155400"/>
          </a:xfrm>
          <a:prstGeom prst="ellipse">
            <a:avLst/>
          </a:prstGeom>
          <a:solidFill>
            <a:srgbClr val="1155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63"/>
          <p:cNvSpPr/>
          <p:nvPr/>
        </p:nvSpPr>
        <p:spPr>
          <a:xfrm>
            <a:off x="3747525" y="3712475"/>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63"/>
          <p:cNvSpPr/>
          <p:nvPr/>
        </p:nvSpPr>
        <p:spPr>
          <a:xfrm>
            <a:off x="4187975" y="37311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63"/>
          <p:cNvSpPr/>
          <p:nvPr/>
        </p:nvSpPr>
        <p:spPr>
          <a:xfrm>
            <a:off x="3947125" y="40478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63"/>
          <p:cNvSpPr/>
          <p:nvPr/>
        </p:nvSpPr>
        <p:spPr>
          <a:xfrm>
            <a:off x="5347725" y="2874275"/>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63"/>
          <p:cNvSpPr/>
          <p:nvPr/>
        </p:nvSpPr>
        <p:spPr>
          <a:xfrm>
            <a:off x="5788175" y="28929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63"/>
          <p:cNvSpPr/>
          <p:nvPr/>
        </p:nvSpPr>
        <p:spPr>
          <a:xfrm>
            <a:off x="5547325" y="32096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63"/>
          <p:cNvSpPr/>
          <p:nvPr/>
        </p:nvSpPr>
        <p:spPr>
          <a:xfrm>
            <a:off x="5247100" y="3177650"/>
            <a:ext cx="155400" cy="155400"/>
          </a:xfrm>
          <a:prstGeom prst="ellipse">
            <a:avLst/>
          </a:prstGeom>
          <a:solidFill>
            <a:srgbClr val="6AA84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6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083" name="Google Shape;1083;p64"/>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Step 2: We’ll treat these new K points as our “cluster” points.</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084" name="Google Shape;1084;p6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85" name="Google Shape;1085;p6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086" name="Google Shape;1086;p64"/>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087" name="Google Shape;1087;p64"/>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088" name="Google Shape;1088;p64"/>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64"/>
          <p:cNvSpPr/>
          <p:nvPr/>
        </p:nvSpPr>
        <p:spPr>
          <a:xfrm>
            <a:off x="3442725" y="2569475"/>
            <a:ext cx="155400" cy="155400"/>
          </a:xfrm>
          <a:prstGeom prst="ellipse">
            <a:avLst/>
          </a:prstGeom>
          <a:solidFill>
            <a:srgbClr val="CC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64"/>
          <p:cNvSpPr/>
          <p:nvPr/>
        </p:nvSpPr>
        <p:spPr>
          <a:xfrm>
            <a:off x="3883175" y="25881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64"/>
          <p:cNvSpPr/>
          <p:nvPr/>
        </p:nvSpPr>
        <p:spPr>
          <a:xfrm>
            <a:off x="4038575" y="31776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64"/>
          <p:cNvSpPr/>
          <p:nvPr/>
        </p:nvSpPr>
        <p:spPr>
          <a:xfrm>
            <a:off x="3642325" y="2904850"/>
            <a:ext cx="155400" cy="155400"/>
          </a:xfrm>
          <a:prstGeom prst="ellipse">
            <a:avLst/>
          </a:prstGeom>
          <a:solidFill>
            <a:srgbClr val="1155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64"/>
          <p:cNvSpPr/>
          <p:nvPr/>
        </p:nvSpPr>
        <p:spPr>
          <a:xfrm>
            <a:off x="3747525" y="3712475"/>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64"/>
          <p:cNvSpPr/>
          <p:nvPr/>
        </p:nvSpPr>
        <p:spPr>
          <a:xfrm>
            <a:off x="4187975" y="37311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64"/>
          <p:cNvSpPr/>
          <p:nvPr/>
        </p:nvSpPr>
        <p:spPr>
          <a:xfrm>
            <a:off x="3947125" y="40478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64"/>
          <p:cNvSpPr/>
          <p:nvPr/>
        </p:nvSpPr>
        <p:spPr>
          <a:xfrm>
            <a:off x="5347725" y="2874275"/>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64"/>
          <p:cNvSpPr/>
          <p:nvPr/>
        </p:nvSpPr>
        <p:spPr>
          <a:xfrm>
            <a:off x="5788175" y="28929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64"/>
          <p:cNvSpPr/>
          <p:nvPr/>
        </p:nvSpPr>
        <p:spPr>
          <a:xfrm>
            <a:off x="5547325" y="32096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64"/>
          <p:cNvSpPr/>
          <p:nvPr/>
        </p:nvSpPr>
        <p:spPr>
          <a:xfrm>
            <a:off x="5247100" y="3177650"/>
            <a:ext cx="155400" cy="155400"/>
          </a:xfrm>
          <a:prstGeom prst="ellipse">
            <a:avLst/>
          </a:prstGeom>
          <a:solidFill>
            <a:srgbClr val="6AA84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6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105" name="Google Shape;1105;p65"/>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Step 3: Assign each remaining point to the nearest “cluster” point.</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106" name="Google Shape;1106;p6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07" name="Google Shape;1107;p6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108" name="Google Shape;1108;p65"/>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109" name="Google Shape;1109;p65"/>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110" name="Google Shape;1110;p65"/>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65"/>
          <p:cNvSpPr/>
          <p:nvPr/>
        </p:nvSpPr>
        <p:spPr>
          <a:xfrm>
            <a:off x="3442725" y="2569475"/>
            <a:ext cx="155400" cy="155400"/>
          </a:xfrm>
          <a:prstGeom prst="ellipse">
            <a:avLst/>
          </a:prstGeom>
          <a:solidFill>
            <a:srgbClr val="CC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65"/>
          <p:cNvSpPr/>
          <p:nvPr/>
        </p:nvSpPr>
        <p:spPr>
          <a:xfrm>
            <a:off x="3883175" y="25881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65"/>
          <p:cNvSpPr/>
          <p:nvPr/>
        </p:nvSpPr>
        <p:spPr>
          <a:xfrm>
            <a:off x="4038575" y="31776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65"/>
          <p:cNvSpPr/>
          <p:nvPr/>
        </p:nvSpPr>
        <p:spPr>
          <a:xfrm>
            <a:off x="3642325" y="2904850"/>
            <a:ext cx="155400" cy="155400"/>
          </a:xfrm>
          <a:prstGeom prst="ellipse">
            <a:avLst/>
          </a:prstGeom>
          <a:solidFill>
            <a:srgbClr val="1155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65"/>
          <p:cNvSpPr/>
          <p:nvPr/>
        </p:nvSpPr>
        <p:spPr>
          <a:xfrm>
            <a:off x="3747525" y="3712475"/>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65"/>
          <p:cNvSpPr/>
          <p:nvPr/>
        </p:nvSpPr>
        <p:spPr>
          <a:xfrm>
            <a:off x="4187975" y="37311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65"/>
          <p:cNvSpPr/>
          <p:nvPr/>
        </p:nvSpPr>
        <p:spPr>
          <a:xfrm>
            <a:off x="3947125" y="40478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65"/>
          <p:cNvSpPr/>
          <p:nvPr/>
        </p:nvSpPr>
        <p:spPr>
          <a:xfrm>
            <a:off x="5347725" y="2874275"/>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65"/>
          <p:cNvSpPr/>
          <p:nvPr/>
        </p:nvSpPr>
        <p:spPr>
          <a:xfrm>
            <a:off x="5788175" y="28929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65"/>
          <p:cNvSpPr/>
          <p:nvPr/>
        </p:nvSpPr>
        <p:spPr>
          <a:xfrm>
            <a:off x="5547325" y="3209650"/>
            <a:ext cx="155400" cy="155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65"/>
          <p:cNvSpPr/>
          <p:nvPr/>
        </p:nvSpPr>
        <p:spPr>
          <a:xfrm>
            <a:off x="5247100" y="3177650"/>
            <a:ext cx="155400" cy="155400"/>
          </a:xfrm>
          <a:prstGeom prst="ellipse">
            <a:avLst/>
          </a:prstGeom>
          <a:solidFill>
            <a:srgbClr val="6AA84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6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127" name="Google Shape;1127;p66"/>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Step 3: Assign each remaining point to the nearest “cluster” point.</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128" name="Google Shape;1128;p6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29" name="Google Shape;1129;p6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130" name="Google Shape;1130;p66"/>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131" name="Google Shape;1131;p66"/>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132" name="Google Shape;1132;p66"/>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66"/>
          <p:cNvSpPr/>
          <p:nvPr/>
        </p:nvSpPr>
        <p:spPr>
          <a:xfrm>
            <a:off x="3442725" y="2569475"/>
            <a:ext cx="155400" cy="155400"/>
          </a:xfrm>
          <a:prstGeom prst="ellipse">
            <a:avLst/>
          </a:prstGeom>
          <a:solidFill>
            <a:srgbClr val="CC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66"/>
          <p:cNvSpPr/>
          <p:nvPr/>
        </p:nvSpPr>
        <p:spPr>
          <a:xfrm>
            <a:off x="3883175" y="2588150"/>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66"/>
          <p:cNvSpPr/>
          <p:nvPr/>
        </p:nvSpPr>
        <p:spPr>
          <a:xfrm>
            <a:off x="4038575" y="31776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66"/>
          <p:cNvSpPr/>
          <p:nvPr/>
        </p:nvSpPr>
        <p:spPr>
          <a:xfrm>
            <a:off x="3642325" y="2904850"/>
            <a:ext cx="155400" cy="155400"/>
          </a:xfrm>
          <a:prstGeom prst="ellipse">
            <a:avLst/>
          </a:prstGeom>
          <a:solidFill>
            <a:srgbClr val="1155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66"/>
          <p:cNvSpPr/>
          <p:nvPr/>
        </p:nvSpPr>
        <p:spPr>
          <a:xfrm>
            <a:off x="3747525" y="3712475"/>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66"/>
          <p:cNvSpPr/>
          <p:nvPr/>
        </p:nvSpPr>
        <p:spPr>
          <a:xfrm>
            <a:off x="4187975" y="37311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66"/>
          <p:cNvSpPr/>
          <p:nvPr/>
        </p:nvSpPr>
        <p:spPr>
          <a:xfrm>
            <a:off x="3947125" y="40478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66"/>
          <p:cNvSpPr/>
          <p:nvPr/>
        </p:nvSpPr>
        <p:spPr>
          <a:xfrm>
            <a:off x="5347725" y="2874275"/>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66"/>
          <p:cNvSpPr/>
          <p:nvPr/>
        </p:nvSpPr>
        <p:spPr>
          <a:xfrm>
            <a:off x="5788175" y="28929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66"/>
          <p:cNvSpPr/>
          <p:nvPr/>
        </p:nvSpPr>
        <p:spPr>
          <a:xfrm>
            <a:off x="5547325" y="32096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66"/>
          <p:cNvSpPr/>
          <p:nvPr/>
        </p:nvSpPr>
        <p:spPr>
          <a:xfrm>
            <a:off x="5247100" y="3177650"/>
            <a:ext cx="155400" cy="155400"/>
          </a:xfrm>
          <a:prstGeom prst="ellipse">
            <a:avLst/>
          </a:prstGeom>
          <a:solidFill>
            <a:srgbClr val="6AA84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p6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149" name="Google Shape;1149;p67"/>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Step 3: Note how this is using a distance metric to judge the nearest point.</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150" name="Google Shape;1150;p6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51" name="Google Shape;1151;p6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152" name="Google Shape;1152;p67"/>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153" name="Google Shape;1153;p67"/>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154" name="Google Shape;1154;p67"/>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67"/>
          <p:cNvSpPr/>
          <p:nvPr/>
        </p:nvSpPr>
        <p:spPr>
          <a:xfrm>
            <a:off x="3442725" y="2569475"/>
            <a:ext cx="155400" cy="155400"/>
          </a:xfrm>
          <a:prstGeom prst="ellipse">
            <a:avLst/>
          </a:prstGeom>
          <a:solidFill>
            <a:srgbClr val="CC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67"/>
          <p:cNvSpPr/>
          <p:nvPr/>
        </p:nvSpPr>
        <p:spPr>
          <a:xfrm>
            <a:off x="3883175" y="2588150"/>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67"/>
          <p:cNvSpPr/>
          <p:nvPr/>
        </p:nvSpPr>
        <p:spPr>
          <a:xfrm>
            <a:off x="4038575" y="31776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67"/>
          <p:cNvSpPr/>
          <p:nvPr/>
        </p:nvSpPr>
        <p:spPr>
          <a:xfrm>
            <a:off x="3642325" y="2904850"/>
            <a:ext cx="155400" cy="155400"/>
          </a:xfrm>
          <a:prstGeom prst="ellipse">
            <a:avLst/>
          </a:prstGeom>
          <a:solidFill>
            <a:srgbClr val="1155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67"/>
          <p:cNvSpPr/>
          <p:nvPr/>
        </p:nvSpPr>
        <p:spPr>
          <a:xfrm>
            <a:off x="3747525" y="3712475"/>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67"/>
          <p:cNvSpPr/>
          <p:nvPr/>
        </p:nvSpPr>
        <p:spPr>
          <a:xfrm>
            <a:off x="4187975" y="37311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67"/>
          <p:cNvSpPr/>
          <p:nvPr/>
        </p:nvSpPr>
        <p:spPr>
          <a:xfrm>
            <a:off x="3947125" y="40478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67"/>
          <p:cNvSpPr/>
          <p:nvPr/>
        </p:nvSpPr>
        <p:spPr>
          <a:xfrm>
            <a:off x="5347725" y="2874275"/>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67"/>
          <p:cNvSpPr/>
          <p:nvPr/>
        </p:nvSpPr>
        <p:spPr>
          <a:xfrm>
            <a:off x="5788175" y="28929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67"/>
          <p:cNvSpPr/>
          <p:nvPr/>
        </p:nvSpPr>
        <p:spPr>
          <a:xfrm>
            <a:off x="5547325" y="32096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67"/>
          <p:cNvSpPr/>
          <p:nvPr/>
        </p:nvSpPr>
        <p:spPr>
          <a:xfrm>
            <a:off x="5247100" y="3177650"/>
            <a:ext cx="155400" cy="155400"/>
          </a:xfrm>
          <a:prstGeom prst="ellipse">
            <a:avLst/>
          </a:prstGeom>
          <a:solidFill>
            <a:srgbClr val="6AA84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6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171" name="Google Shape;1171;p68"/>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Step 4: </a:t>
            </a:r>
            <a:r>
              <a:rPr lang="en" sz="2900">
                <a:solidFill>
                  <a:srgbClr val="434343"/>
                </a:solidFill>
                <a:latin typeface="Montserrat"/>
                <a:ea typeface="Montserrat"/>
                <a:cs typeface="Montserrat"/>
                <a:sym typeface="Montserrat"/>
              </a:rPr>
              <a:t>Calculate</a:t>
            </a:r>
            <a:r>
              <a:rPr lang="en" sz="2900">
                <a:solidFill>
                  <a:srgbClr val="434343"/>
                </a:solidFill>
                <a:latin typeface="Montserrat"/>
                <a:ea typeface="Montserrat"/>
                <a:cs typeface="Montserrat"/>
                <a:sym typeface="Montserrat"/>
              </a:rPr>
              <a:t> the center of the cluster points (mean value of each point vector).</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172" name="Google Shape;1172;p6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73" name="Google Shape;1173;p6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174" name="Google Shape;1174;p68"/>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175" name="Google Shape;1175;p68"/>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176" name="Google Shape;1176;p68"/>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68"/>
          <p:cNvSpPr/>
          <p:nvPr/>
        </p:nvSpPr>
        <p:spPr>
          <a:xfrm>
            <a:off x="3442725" y="2569475"/>
            <a:ext cx="155400" cy="155400"/>
          </a:xfrm>
          <a:prstGeom prst="ellipse">
            <a:avLst/>
          </a:prstGeom>
          <a:solidFill>
            <a:srgbClr val="CC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68"/>
          <p:cNvSpPr/>
          <p:nvPr/>
        </p:nvSpPr>
        <p:spPr>
          <a:xfrm>
            <a:off x="3883175" y="2588150"/>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68"/>
          <p:cNvSpPr/>
          <p:nvPr/>
        </p:nvSpPr>
        <p:spPr>
          <a:xfrm>
            <a:off x="4038575" y="31776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68"/>
          <p:cNvSpPr/>
          <p:nvPr/>
        </p:nvSpPr>
        <p:spPr>
          <a:xfrm>
            <a:off x="3642325" y="2904850"/>
            <a:ext cx="155400" cy="155400"/>
          </a:xfrm>
          <a:prstGeom prst="ellipse">
            <a:avLst/>
          </a:prstGeom>
          <a:solidFill>
            <a:srgbClr val="1155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68"/>
          <p:cNvSpPr/>
          <p:nvPr/>
        </p:nvSpPr>
        <p:spPr>
          <a:xfrm>
            <a:off x="3747525" y="3712475"/>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68"/>
          <p:cNvSpPr/>
          <p:nvPr/>
        </p:nvSpPr>
        <p:spPr>
          <a:xfrm>
            <a:off x="4187975" y="37311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68"/>
          <p:cNvSpPr/>
          <p:nvPr/>
        </p:nvSpPr>
        <p:spPr>
          <a:xfrm>
            <a:off x="3947125" y="40478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68"/>
          <p:cNvSpPr/>
          <p:nvPr/>
        </p:nvSpPr>
        <p:spPr>
          <a:xfrm>
            <a:off x="5347725" y="2874275"/>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68"/>
          <p:cNvSpPr/>
          <p:nvPr/>
        </p:nvSpPr>
        <p:spPr>
          <a:xfrm>
            <a:off x="5788175" y="28929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68"/>
          <p:cNvSpPr/>
          <p:nvPr/>
        </p:nvSpPr>
        <p:spPr>
          <a:xfrm>
            <a:off x="5547325" y="32096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68"/>
          <p:cNvSpPr/>
          <p:nvPr/>
        </p:nvSpPr>
        <p:spPr>
          <a:xfrm>
            <a:off x="5247100" y="3177650"/>
            <a:ext cx="155400" cy="155400"/>
          </a:xfrm>
          <a:prstGeom prst="ellipse">
            <a:avLst/>
          </a:prstGeom>
          <a:solidFill>
            <a:srgbClr val="6AA84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6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193" name="Google Shape;1193;p69"/>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Step 4: Calculate the center of the cluster points (mean value of point vectors).</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194" name="Google Shape;1194;p6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95" name="Google Shape;1195;p6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196" name="Google Shape;1196;p69"/>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197" name="Google Shape;1197;p69"/>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198" name="Google Shape;1198;p69"/>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69"/>
          <p:cNvSpPr/>
          <p:nvPr/>
        </p:nvSpPr>
        <p:spPr>
          <a:xfrm>
            <a:off x="3442725" y="2569475"/>
            <a:ext cx="155400" cy="155400"/>
          </a:xfrm>
          <a:prstGeom prst="ellipse">
            <a:avLst/>
          </a:prstGeom>
          <a:solidFill>
            <a:srgbClr val="CC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69"/>
          <p:cNvSpPr/>
          <p:nvPr/>
        </p:nvSpPr>
        <p:spPr>
          <a:xfrm>
            <a:off x="3883175" y="2588150"/>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69"/>
          <p:cNvSpPr/>
          <p:nvPr/>
        </p:nvSpPr>
        <p:spPr>
          <a:xfrm>
            <a:off x="4038575" y="31776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69"/>
          <p:cNvSpPr/>
          <p:nvPr/>
        </p:nvSpPr>
        <p:spPr>
          <a:xfrm>
            <a:off x="3642325" y="2904850"/>
            <a:ext cx="155400" cy="155400"/>
          </a:xfrm>
          <a:prstGeom prst="ellipse">
            <a:avLst/>
          </a:prstGeom>
          <a:solidFill>
            <a:srgbClr val="1155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69"/>
          <p:cNvSpPr/>
          <p:nvPr/>
        </p:nvSpPr>
        <p:spPr>
          <a:xfrm>
            <a:off x="3747525" y="3712475"/>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69"/>
          <p:cNvSpPr/>
          <p:nvPr/>
        </p:nvSpPr>
        <p:spPr>
          <a:xfrm>
            <a:off x="4187975" y="37311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69"/>
          <p:cNvSpPr/>
          <p:nvPr/>
        </p:nvSpPr>
        <p:spPr>
          <a:xfrm>
            <a:off x="3947125" y="40478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69"/>
          <p:cNvSpPr/>
          <p:nvPr/>
        </p:nvSpPr>
        <p:spPr>
          <a:xfrm>
            <a:off x="5347725" y="2874275"/>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69"/>
          <p:cNvSpPr/>
          <p:nvPr/>
        </p:nvSpPr>
        <p:spPr>
          <a:xfrm>
            <a:off x="5788175" y="28929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69"/>
          <p:cNvSpPr/>
          <p:nvPr/>
        </p:nvSpPr>
        <p:spPr>
          <a:xfrm>
            <a:off x="5547325" y="32096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69"/>
          <p:cNvSpPr/>
          <p:nvPr/>
        </p:nvSpPr>
        <p:spPr>
          <a:xfrm>
            <a:off x="5247100" y="3177650"/>
            <a:ext cx="155400" cy="155400"/>
          </a:xfrm>
          <a:prstGeom prst="ellipse">
            <a:avLst/>
          </a:prstGeom>
          <a:solidFill>
            <a:srgbClr val="6AA84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69"/>
          <p:cNvSpPr/>
          <p:nvPr/>
        </p:nvSpPr>
        <p:spPr>
          <a:xfrm rot="10800000">
            <a:off x="3662950" y="2588150"/>
            <a:ext cx="155400" cy="134400"/>
          </a:xfrm>
          <a:prstGeom prst="triangle">
            <a:avLst>
              <a:gd fmla="val 50000"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69"/>
          <p:cNvSpPr/>
          <p:nvPr/>
        </p:nvSpPr>
        <p:spPr>
          <a:xfrm rot="10800000">
            <a:off x="3947125" y="3596750"/>
            <a:ext cx="155400" cy="134400"/>
          </a:xfrm>
          <a:prstGeom prst="triangle">
            <a:avLst>
              <a:gd fmla="val 50000"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69"/>
          <p:cNvSpPr/>
          <p:nvPr/>
        </p:nvSpPr>
        <p:spPr>
          <a:xfrm rot="10800000">
            <a:off x="5503125" y="3029675"/>
            <a:ext cx="155400" cy="134400"/>
          </a:xfrm>
          <a:prstGeom prst="triangl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7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218" name="Google Shape;1218;p70"/>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Step 5: Now assign each point to the nearest cluster center.</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219" name="Google Shape;1219;p7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20" name="Google Shape;1220;p7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221" name="Google Shape;1221;p70"/>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222" name="Google Shape;1222;p70"/>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223" name="Google Shape;1223;p70"/>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70"/>
          <p:cNvSpPr/>
          <p:nvPr/>
        </p:nvSpPr>
        <p:spPr>
          <a:xfrm>
            <a:off x="3442725" y="2569475"/>
            <a:ext cx="155400" cy="155400"/>
          </a:xfrm>
          <a:prstGeom prst="ellipse">
            <a:avLst/>
          </a:prstGeom>
          <a:solidFill>
            <a:srgbClr val="CC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70"/>
          <p:cNvSpPr/>
          <p:nvPr/>
        </p:nvSpPr>
        <p:spPr>
          <a:xfrm>
            <a:off x="3883175" y="2588150"/>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70"/>
          <p:cNvSpPr/>
          <p:nvPr/>
        </p:nvSpPr>
        <p:spPr>
          <a:xfrm>
            <a:off x="4038575" y="31776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70"/>
          <p:cNvSpPr/>
          <p:nvPr/>
        </p:nvSpPr>
        <p:spPr>
          <a:xfrm>
            <a:off x="3642325" y="2904850"/>
            <a:ext cx="155400" cy="155400"/>
          </a:xfrm>
          <a:prstGeom prst="ellipse">
            <a:avLst/>
          </a:prstGeom>
          <a:solidFill>
            <a:srgbClr val="1155C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70"/>
          <p:cNvSpPr/>
          <p:nvPr/>
        </p:nvSpPr>
        <p:spPr>
          <a:xfrm>
            <a:off x="3747525" y="3712475"/>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70"/>
          <p:cNvSpPr/>
          <p:nvPr/>
        </p:nvSpPr>
        <p:spPr>
          <a:xfrm>
            <a:off x="4187975" y="37311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70"/>
          <p:cNvSpPr/>
          <p:nvPr/>
        </p:nvSpPr>
        <p:spPr>
          <a:xfrm>
            <a:off x="3947125" y="40478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70"/>
          <p:cNvSpPr/>
          <p:nvPr/>
        </p:nvSpPr>
        <p:spPr>
          <a:xfrm>
            <a:off x="5347725" y="2874275"/>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70"/>
          <p:cNvSpPr/>
          <p:nvPr/>
        </p:nvSpPr>
        <p:spPr>
          <a:xfrm>
            <a:off x="5788175" y="28929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70"/>
          <p:cNvSpPr/>
          <p:nvPr/>
        </p:nvSpPr>
        <p:spPr>
          <a:xfrm>
            <a:off x="5547325" y="32096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70"/>
          <p:cNvSpPr/>
          <p:nvPr/>
        </p:nvSpPr>
        <p:spPr>
          <a:xfrm>
            <a:off x="5247100" y="3177650"/>
            <a:ext cx="155400" cy="155400"/>
          </a:xfrm>
          <a:prstGeom prst="ellipse">
            <a:avLst/>
          </a:prstGeom>
          <a:solidFill>
            <a:srgbClr val="6AA84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70"/>
          <p:cNvSpPr/>
          <p:nvPr/>
        </p:nvSpPr>
        <p:spPr>
          <a:xfrm rot="10800000">
            <a:off x="3662950" y="2588150"/>
            <a:ext cx="155400" cy="134400"/>
          </a:xfrm>
          <a:prstGeom prst="triangle">
            <a:avLst>
              <a:gd fmla="val 50000"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70"/>
          <p:cNvSpPr/>
          <p:nvPr/>
        </p:nvSpPr>
        <p:spPr>
          <a:xfrm rot="10800000">
            <a:off x="3947125" y="3596750"/>
            <a:ext cx="155400" cy="134400"/>
          </a:xfrm>
          <a:prstGeom prst="triangle">
            <a:avLst>
              <a:gd fmla="val 50000"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70"/>
          <p:cNvSpPr/>
          <p:nvPr/>
        </p:nvSpPr>
        <p:spPr>
          <a:xfrm rot="10800000">
            <a:off x="5503125" y="3029675"/>
            <a:ext cx="155400" cy="134400"/>
          </a:xfrm>
          <a:prstGeom prst="triangl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sp>
        <p:nvSpPr>
          <p:cNvPr id="1242" name="Google Shape;1242;p7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243" name="Google Shape;1243;p71"/>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Step 5: Now assign each point to the nearest cluster center.</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244" name="Google Shape;1244;p7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45" name="Google Shape;1245;p7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246" name="Google Shape;1246;p71"/>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247" name="Google Shape;1247;p71"/>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248" name="Google Shape;1248;p71"/>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71"/>
          <p:cNvSpPr/>
          <p:nvPr/>
        </p:nvSpPr>
        <p:spPr>
          <a:xfrm>
            <a:off x="3442725" y="2569475"/>
            <a:ext cx="155400" cy="155400"/>
          </a:xfrm>
          <a:prstGeom prst="ellipse">
            <a:avLst/>
          </a:prstGeom>
          <a:solidFill>
            <a:srgbClr val="CC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71"/>
          <p:cNvSpPr/>
          <p:nvPr/>
        </p:nvSpPr>
        <p:spPr>
          <a:xfrm>
            <a:off x="3883175" y="2588150"/>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71"/>
          <p:cNvSpPr/>
          <p:nvPr/>
        </p:nvSpPr>
        <p:spPr>
          <a:xfrm>
            <a:off x="4038575" y="31776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71"/>
          <p:cNvSpPr/>
          <p:nvPr/>
        </p:nvSpPr>
        <p:spPr>
          <a:xfrm>
            <a:off x="3642325" y="2904850"/>
            <a:ext cx="155400" cy="155400"/>
          </a:xfrm>
          <a:prstGeom prst="ellipse">
            <a:avLst/>
          </a:prstGeom>
          <a:solidFill>
            <a:srgbClr val="CC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71"/>
          <p:cNvSpPr/>
          <p:nvPr/>
        </p:nvSpPr>
        <p:spPr>
          <a:xfrm>
            <a:off x="3747525" y="3712475"/>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71"/>
          <p:cNvSpPr/>
          <p:nvPr/>
        </p:nvSpPr>
        <p:spPr>
          <a:xfrm>
            <a:off x="4187975" y="37311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71"/>
          <p:cNvSpPr/>
          <p:nvPr/>
        </p:nvSpPr>
        <p:spPr>
          <a:xfrm>
            <a:off x="3947125" y="40478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71"/>
          <p:cNvSpPr/>
          <p:nvPr/>
        </p:nvSpPr>
        <p:spPr>
          <a:xfrm>
            <a:off x="5347725" y="2874275"/>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71"/>
          <p:cNvSpPr/>
          <p:nvPr/>
        </p:nvSpPr>
        <p:spPr>
          <a:xfrm>
            <a:off x="5788175" y="28929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71"/>
          <p:cNvSpPr/>
          <p:nvPr/>
        </p:nvSpPr>
        <p:spPr>
          <a:xfrm>
            <a:off x="5547325" y="32096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71"/>
          <p:cNvSpPr/>
          <p:nvPr/>
        </p:nvSpPr>
        <p:spPr>
          <a:xfrm>
            <a:off x="5247100" y="3177650"/>
            <a:ext cx="155400" cy="155400"/>
          </a:xfrm>
          <a:prstGeom prst="ellipse">
            <a:avLst/>
          </a:prstGeom>
          <a:solidFill>
            <a:srgbClr val="6AA84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71"/>
          <p:cNvSpPr/>
          <p:nvPr/>
        </p:nvSpPr>
        <p:spPr>
          <a:xfrm rot="10800000">
            <a:off x="3662950" y="2588150"/>
            <a:ext cx="155400" cy="134400"/>
          </a:xfrm>
          <a:prstGeom prst="triangle">
            <a:avLst>
              <a:gd fmla="val 50000"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71"/>
          <p:cNvSpPr/>
          <p:nvPr/>
        </p:nvSpPr>
        <p:spPr>
          <a:xfrm rot="10800000">
            <a:off x="3947125" y="3596750"/>
            <a:ext cx="155400" cy="134400"/>
          </a:xfrm>
          <a:prstGeom prst="triangle">
            <a:avLst>
              <a:gd fmla="val 50000"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71"/>
          <p:cNvSpPr/>
          <p:nvPr/>
        </p:nvSpPr>
        <p:spPr>
          <a:xfrm rot="10800000">
            <a:off x="5503125" y="3029675"/>
            <a:ext cx="155400" cy="134400"/>
          </a:xfrm>
          <a:prstGeom prst="triangl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6" name="Shape 1266"/>
        <p:cNvGrpSpPr/>
        <p:nvPr/>
      </p:nvGrpSpPr>
      <p:grpSpPr>
        <a:xfrm>
          <a:off x="0" y="0"/>
          <a:ext cx="0" cy="0"/>
          <a:chOff x="0" y="0"/>
          <a:chExt cx="0" cy="0"/>
        </a:xfrm>
      </p:grpSpPr>
      <p:sp>
        <p:nvSpPr>
          <p:cNvPr id="1267" name="Google Shape;1267;p7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268" name="Google Shape;1268;p72"/>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repeat steps 4 and 5 until there are no more cluster reassignments.</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269" name="Google Shape;1269;p7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70" name="Google Shape;1270;p7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271" name="Google Shape;1271;p72"/>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272" name="Google Shape;1272;p72"/>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273" name="Google Shape;1273;p72"/>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72"/>
          <p:cNvSpPr/>
          <p:nvPr/>
        </p:nvSpPr>
        <p:spPr>
          <a:xfrm>
            <a:off x="3442725" y="2569475"/>
            <a:ext cx="155400" cy="155400"/>
          </a:xfrm>
          <a:prstGeom prst="ellipse">
            <a:avLst/>
          </a:prstGeom>
          <a:solidFill>
            <a:srgbClr val="CC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72"/>
          <p:cNvSpPr/>
          <p:nvPr/>
        </p:nvSpPr>
        <p:spPr>
          <a:xfrm>
            <a:off x="3883175" y="2588150"/>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72"/>
          <p:cNvSpPr/>
          <p:nvPr/>
        </p:nvSpPr>
        <p:spPr>
          <a:xfrm>
            <a:off x="4038575" y="31776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72"/>
          <p:cNvSpPr/>
          <p:nvPr/>
        </p:nvSpPr>
        <p:spPr>
          <a:xfrm>
            <a:off x="3642325" y="2904850"/>
            <a:ext cx="155400" cy="155400"/>
          </a:xfrm>
          <a:prstGeom prst="ellipse">
            <a:avLst/>
          </a:prstGeom>
          <a:solidFill>
            <a:srgbClr val="CC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72"/>
          <p:cNvSpPr/>
          <p:nvPr/>
        </p:nvSpPr>
        <p:spPr>
          <a:xfrm>
            <a:off x="3747525" y="3712475"/>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72"/>
          <p:cNvSpPr/>
          <p:nvPr/>
        </p:nvSpPr>
        <p:spPr>
          <a:xfrm>
            <a:off x="4187975" y="37311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72"/>
          <p:cNvSpPr/>
          <p:nvPr/>
        </p:nvSpPr>
        <p:spPr>
          <a:xfrm>
            <a:off x="3947125" y="40478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72"/>
          <p:cNvSpPr/>
          <p:nvPr/>
        </p:nvSpPr>
        <p:spPr>
          <a:xfrm>
            <a:off x="5347725" y="2874275"/>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72"/>
          <p:cNvSpPr/>
          <p:nvPr/>
        </p:nvSpPr>
        <p:spPr>
          <a:xfrm>
            <a:off x="5788175" y="28929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72"/>
          <p:cNvSpPr/>
          <p:nvPr/>
        </p:nvSpPr>
        <p:spPr>
          <a:xfrm>
            <a:off x="5547325" y="32096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72"/>
          <p:cNvSpPr/>
          <p:nvPr/>
        </p:nvSpPr>
        <p:spPr>
          <a:xfrm>
            <a:off x="5247100" y="3177650"/>
            <a:ext cx="155400" cy="155400"/>
          </a:xfrm>
          <a:prstGeom prst="ellipse">
            <a:avLst/>
          </a:prstGeom>
          <a:solidFill>
            <a:srgbClr val="6AA84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72"/>
          <p:cNvSpPr/>
          <p:nvPr/>
        </p:nvSpPr>
        <p:spPr>
          <a:xfrm rot="10800000">
            <a:off x="3662950" y="2588150"/>
            <a:ext cx="155400" cy="134400"/>
          </a:xfrm>
          <a:prstGeom prst="triangle">
            <a:avLst>
              <a:gd fmla="val 50000"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72"/>
          <p:cNvSpPr/>
          <p:nvPr/>
        </p:nvSpPr>
        <p:spPr>
          <a:xfrm rot="10800000">
            <a:off x="3947125" y="3596750"/>
            <a:ext cx="155400" cy="134400"/>
          </a:xfrm>
          <a:prstGeom prst="triangle">
            <a:avLst>
              <a:gd fmla="val 50000"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72"/>
          <p:cNvSpPr/>
          <p:nvPr/>
        </p:nvSpPr>
        <p:spPr>
          <a:xfrm rot="10800000">
            <a:off x="5503125" y="3029675"/>
            <a:ext cx="155400" cy="134400"/>
          </a:xfrm>
          <a:prstGeom prst="triangl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p7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293" name="Google Shape;1293;p73"/>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Step 4b: </a:t>
            </a:r>
            <a:r>
              <a:rPr lang="en" sz="2900">
                <a:solidFill>
                  <a:srgbClr val="434343"/>
                </a:solidFill>
                <a:latin typeface="Montserrat"/>
                <a:ea typeface="Montserrat"/>
                <a:cs typeface="Montserrat"/>
                <a:sym typeface="Montserrat"/>
              </a:rPr>
              <a:t>Recalculate</a:t>
            </a:r>
            <a:r>
              <a:rPr lang="en" sz="2900">
                <a:solidFill>
                  <a:srgbClr val="434343"/>
                </a:solidFill>
                <a:latin typeface="Montserrat"/>
                <a:ea typeface="Montserrat"/>
                <a:cs typeface="Montserrat"/>
                <a:sym typeface="Montserrat"/>
              </a:rPr>
              <a:t> new cluster centers:</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294" name="Google Shape;1294;p7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95" name="Google Shape;1295;p7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296" name="Google Shape;1296;p73"/>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297" name="Google Shape;1297;p73"/>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298" name="Google Shape;1298;p73"/>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73"/>
          <p:cNvSpPr/>
          <p:nvPr/>
        </p:nvSpPr>
        <p:spPr>
          <a:xfrm>
            <a:off x="3442725" y="2569475"/>
            <a:ext cx="155400" cy="155400"/>
          </a:xfrm>
          <a:prstGeom prst="ellipse">
            <a:avLst/>
          </a:prstGeom>
          <a:solidFill>
            <a:srgbClr val="CC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73"/>
          <p:cNvSpPr/>
          <p:nvPr/>
        </p:nvSpPr>
        <p:spPr>
          <a:xfrm>
            <a:off x="3883175" y="2588150"/>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73"/>
          <p:cNvSpPr/>
          <p:nvPr/>
        </p:nvSpPr>
        <p:spPr>
          <a:xfrm>
            <a:off x="4038575" y="31776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73"/>
          <p:cNvSpPr/>
          <p:nvPr/>
        </p:nvSpPr>
        <p:spPr>
          <a:xfrm>
            <a:off x="3642325" y="2904850"/>
            <a:ext cx="155400" cy="155400"/>
          </a:xfrm>
          <a:prstGeom prst="ellipse">
            <a:avLst/>
          </a:prstGeom>
          <a:solidFill>
            <a:srgbClr val="CC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73"/>
          <p:cNvSpPr/>
          <p:nvPr/>
        </p:nvSpPr>
        <p:spPr>
          <a:xfrm>
            <a:off x="3747525" y="3712475"/>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73"/>
          <p:cNvSpPr/>
          <p:nvPr/>
        </p:nvSpPr>
        <p:spPr>
          <a:xfrm>
            <a:off x="4187975" y="37311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73"/>
          <p:cNvSpPr/>
          <p:nvPr/>
        </p:nvSpPr>
        <p:spPr>
          <a:xfrm>
            <a:off x="3947125" y="40478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73"/>
          <p:cNvSpPr/>
          <p:nvPr/>
        </p:nvSpPr>
        <p:spPr>
          <a:xfrm>
            <a:off x="5347725" y="2874275"/>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73"/>
          <p:cNvSpPr/>
          <p:nvPr/>
        </p:nvSpPr>
        <p:spPr>
          <a:xfrm>
            <a:off x="5788175" y="28929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73"/>
          <p:cNvSpPr/>
          <p:nvPr/>
        </p:nvSpPr>
        <p:spPr>
          <a:xfrm>
            <a:off x="5547325" y="32096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73"/>
          <p:cNvSpPr/>
          <p:nvPr/>
        </p:nvSpPr>
        <p:spPr>
          <a:xfrm>
            <a:off x="5247100" y="3177650"/>
            <a:ext cx="155400" cy="155400"/>
          </a:xfrm>
          <a:prstGeom prst="ellipse">
            <a:avLst/>
          </a:prstGeom>
          <a:solidFill>
            <a:srgbClr val="6AA84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73"/>
          <p:cNvSpPr/>
          <p:nvPr/>
        </p:nvSpPr>
        <p:spPr>
          <a:xfrm rot="10800000">
            <a:off x="3662950" y="2588150"/>
            <a:ext cx="155400" cy="134400"/>
          </a:xfrm>
          <a:prstGeom prst="triangle">
            <a:avLst>
              <a:gd fmla="val 50000"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73"/>
          <p:cNvSpPr/>
          <p:nvPr/>
        </p:nvSpPr>
        <p:spPr>
          <a:xfrm rot="10800000">
            <a:off x="3947125" y="3596750"/>
            <a:ext cx="155400" cy="134400"/>
          </a:xfrm>
          <a:prstGeom prst="triangle">
            <a:avLst>
              <a:gd fmla="val 50000"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73"/>
          <p:cNvSpPr/>
          <p:nvPr/>
        </p:nvSpPr>
        <p:spPr>
          <a:xfrm rot="10800000">
            <a:off x="5503125" y="3029675"/>
            <a:ext cx="155400" cy="134400"/>
          </a:xfrm>
          <a:prstGeom prst="triangl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7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318" name="Google Shape;1318;p74"/>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Step 4b: Recalculate new cluster centers:</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319" name="Google Shape;1319;p7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20" name="Google Shape;1320;p7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321" name="Google Shape;1321;p74"/>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322" name="Google Shape;1322;p74"/>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323" name="Google Shape;1323;p74"/>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74"/>
          <p:cNvSpPr/>
          <p:nvPr/>
        </p:nvSpPr>
        <p:spPr>
          <a:xfrm>
            <a:off x="3442725" y="2569475"/>
            <a:ext cx="155400" cy="155400"/>
          </a:xfrm>
          <a:prstGeom prst="ellipse">
            <a:avLst/>
          </a:prstGeom>
          <a:solidFill>
            <a:srgbClr val="CC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74"/>
          <p:cNvSpPr/>
          <p:nvPr/>
        </p:nvSpPr>
        <p:spPr>
          <a:xfrm>
            <a:off x="3883175" y="2588150"/>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74"/>
          <p:cNvSpPr/>
          <p:nvPr/>
        </p:nvSpPr>
        <p:spPr>
          <a:xfrm>
            <a:off x="4038575" y="31776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74"/>
          <p:cNvSpPr/>
          <p:nvPr/>
        </p:nvSpPr>
        <p:spPr>
          <a:xfrm>
            <a:off x="3642325" y="2904850"/>
            <a:ext cx="155400" cy="155400"/>
          </a:xfrm>
          <a:prstGeom prst="ellipse">
            <a:avLst/>
          </a:prstGeom>
          <a:solidFill>
            <a:srgbClr val="CC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74"/>
          <p:cNvSpPr/>
          <p:nvPr/>
        </p:nvSpPr>
        <p:spPr>
          <a:xfrm>
            <a:off x="3747525" y="3712475"/>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74"/>
          <p:cNvSpPr/>
          <p:nvPr/>
        </p:nvSpPr>
        <p:spPr>
          <a:xfrm>
            <a:off x="4187975" y="37311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74"/>
          <p:cNvSpPr/>
          <p:nvPr/>
        </p:nvSpPr>
        <p:spPr>
          <a:xfrm>
            <a:off x="3947125" y="40478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74"/>
          <p:cNvSpPr/>
          <p:nvPr/>
        </p:nvSpPr>
        <p:spPr>
          <a:xfrm>
            <a:off x="5347725" y="2874275"/>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74"/>
          <p:cNvSpPr/>
          <p:nvPr/>
        </p:nvSpPr>
        <p:spPr>
          <a:xfrm>
            <a:off x="5788175" y="28929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74"/>
          <p:cNvSpPr/>
          <p:nvPr/>
        </p:nvSpPr>
        <p:spPr>
          <a:xfrm>
            <a:off x="5547325" y="32096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74"/>
          <p:cNvSpPr/>
          <p:nvPr/>
        </p:nvSpPr>
        <p:spPr>
          <a:xfrm>
            <a:off x="5247100" y="3177650"/>
            <a:ext cx="155400" cy="155400"/>
          </a:xfrm>
          <a:prstGeom prst="ellipse">
            <a:avLst/>
          </a:prstGeom>
          <a:solidFill>
            <a:srgbClr val="6AA84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74"/>
          <p:cNvSpPr/>
          <p:nvPr/>
        </p:nvSpPr>
        <p:spPr>
          <a:xfrm rot="10800000">
            <a:off x="3642325" y="2724875"/>
            <a:ext cx="155400" cy="134400"/>
          </a:xfrm>
          <a:prstGeom prst="triangle">
            <a:avLst>
              <a:gd fmla="val 50000"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74"/>
          <p:cNvSpPr/>
          <p:nvPr/>
        </p:nvSpPr>
        <p:spPr>
          <a:xfrm rot="10800000">
            <a:off x="3947125" y="3596750"/>
            <a:ext cx="155400" cy="134400"/>
          </a:xfrm>
          <a:prstGeom prst="triangle">
            <a:avLst>
              <a:gd fmla="val 50000"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74"/>
          <p:cNvSpPr/>
          <p:nvPr/>
        </p:nvSpPr>
        <p:spPr>
          <a:xfrm rot="10800000">
            <a:off x="5503125" y="3029675"/>
            <a:ext cx="155400" cy="134400"/>
          </a:xfrm>
          <a:prstGeom prst="triangl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1" name="Shape 1341"/>
        <p:cNvGrpSpPr/>
        <p:nvPr/>
      </p:nvGrpSpPr>
      <p:grpSpPr>
        <a:xfrm>
          <a:off x="0" y="0"/>
          <a:ext cx="0" cy="0"/>
          <a:chOff x="0" y="0"/>
          <a:chExt cx="0" cy="0"/>
        </a:xfrm>
      </p:grpSpPr>
      <p:sp>
        <p:nvSpPr>
          <p:cNvPr id="1342" name="Google Shape;1342;p7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343" name="Google Shape;1343;p75"/>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Step 5b: Assign points to nearest cluster center. </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344" name="Google Shape;1344;p7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45" name="Google Shape;1345;p7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346" name="Google Shape;1346;p75"/>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347" name="Google Shape;1347;p75"/>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348" name="Google Shape;1348;p75"/>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75"/>
          <p:cNvSpPr/>
          <p:nvPr/>
        </p:nvSpPr>
        <p:spPr>
          <a:xfrm>
            <a:off x="3442725" y="2569475"/>
            <a:ext cx="155400" cy="155400"/>
          </a:xfrm>
          <a:prstGeom prst="ellipse">
            <a:avLst/>
          </a:prstGeom>
          <a:solidFill>
            <a:srgbClr val="CC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75"/>
          <p:cNvSpPr/>
          <p:nvPr/>
        </p:nvSpPr>
        <p:spPr>
          <a:xfrm>
            <a:off x="3883175" y="2588150"/>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75"/>
          <p:cNvSpPr/>
          <p:nvPr/>
        </p:nvSpPr>
        <p:spPr>
          <a:xfrm>
            <a:off x="4038575" y="31776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75"/>
          <p:cNvSpPr/>
          <p:nvPr/>
        </p:nvSpPr>
        <p:spPr>
          <a:xfrm>
            <a:off x="3642325" y="2904850"/>
            <a:ext cx="155400" cy="155400"/>
          </a:xfrm>
          <a:prstGeom prst="ellipse">
            <a:avLst/>
          </a:prstGeom>
          <a:solidFill>
            <a:srgbClr val="CC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75"/>
          <p:cNvSpPr/>
          <p:nvPr/>
        </p:nvSpPr>
        <p:spPr>
          <a:xfrm>
            <a:off x="3747525" y="3712475"/>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75"/>
          <p:cNvSpPr/>
          <p:nvPr/>
        </p:nvSpPr>
        <p:spPr>
          <a:xfrm>
            <a:off x="4187975" y="37311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75"/>
          <p:cNvSpPr/>
          <p:nvPr/>
        </p:nvSpPr>
        <p:spPr>
          <a:xfrm>
            <a:off x="3947125" y="40478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75"/>
          <p:cNvSpPr/>
          <p:nvPr/>
        </p:nvSpPr>
        <p:spPr>
          <a:xfrm>
            <a:off x="5347725" y="2874275"/>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75"/>
          <p:cNvSpPr/>
          <p:nvPr/>
        </p:nvSpPr>
        <p:spPr>
          <a:xfrm>
            <a:off x="5788175" y="28929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75"/>
          <p:cNvSpPr/>
          <p:nvPr/>
        </p:nvSpPr>
        <p:spPr>
          <a:xfrm>
            <a:off x="5547325" y="32096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75"/>
          <p:cNvSpPr/>
          <p:nvPr/>
        </p:nvSpPr>
        <p:spPr>
          <a:xfrm>
            <a:off x="5247100" y="3177650"/>
            <a:ext cx="155400" cy="155400"/>
          </a:xfrm>
          <a:prstGeom prst="ellipse">
            <a:avLst/>
          </a:prstGeom>
          <a:solidFill>
            <a:srgbClr val="6AA84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75"/>
          <p:cNvSpPr/>
          <p:nvPr/>
        </p:nvSpPr>
        <p:spPr>
          <a:xfrm rot="10800000">
            <a:off x="3642325" y="2724875"/>
            <a:ext cx="155400" cy="134400"/>
          </a:xfrm>
          <a:prstGeom prst="triangle">
            <a:avLst>
              <a:gd fmla="val 50000"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75"/>
          <p:cNvSpPr/>
          <p:nvPr/>
        </p:nvSpPr>
        <p:spPr>
          <a:xfrm rot="10800000">
            <a:off x="3947125" y="3596750"/>
            <a:ext cx="155400" cy="134400"/>
          </a:xfrm>
          <a:prstGeom prst="triangle">
            <a:avLst>
              <a:gd fmla="val 50000"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75"/>
          <p:cNvSpPr/>
          <p:nvPr/>
        </p:nvSpPr>
        <p:spPr>
          <a:xfrm rot="10800000">
            <a:off x="5503125" y="3029675"/>
            <a:ext cx="155400" cy="134400"/>
          </a:xfrm>
          <a:prstGeom prst="triangl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6" name="Shape 1366"/>
        <p:cNvGrpSpPr/>
        <p:nvPr/>
      </p:nvGrpSpPr>
      <p:grpSpPr>
        <a:xfrm>
          <a:off x="0" y="0"/>
          <a:ext cx="0" cy="0"/>
          <a:chOff x="0" y="0"/>
          <a:chExt cx="0" cy="0"/>
        </a:xfrm>
      </p:grpSpPr>
      <p:sp>
        <p:nvSpPr>
          <p:cNvPr id="1367" name="Google Shape;1367;p7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368" name="Google Shape;1368;p76"/>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If there are no more reassignments, we’re done! The clusters have been found.</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369" name="Google Shape;1369;p7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70" name="Google Shape;1370;p7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371" name="Google Shape;1371;p76"/>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372" name="Google Shape;1372;p76"/>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373" name="Google Shape;1373;p76"/>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76"/>
          <p:cNvSpPr/>
          <p:nvPr/>
        </p:nvSpPr>
        <p:spPr>
          <a:xfrm>
            <a:off x="3442725" y="2569475"/>
            <a:ext cx="155400" cy="155400"/>
          </a:xfrm>
          <a:prstGeom prst="ellipse">
            <a:avLst/>
          </a:prstGeom>
          <a:solidFill>
            <a:srgbClr val="CC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76"/>
          <p:cNvSpPr/>
          <p:nvPr/>
        </p:nvSpPr>
        <p:spPr>
          <a:xfrm>
            <a:off x="3883175" y="2588150"/>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76"/>
          <p:cNvSpPr/>
          <p:nvPr/>
        </p:nvSpPr>
        <p:spPr>
          <a:xfrm>
            <a:off x="4038575" y="31776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76"/>
          <p:cNvSpPr/>
          <p:nvPr/>
        </p:nvSpPr>
        <p:spPr>
          <a:xfrm>
            <a:off x="3642325" y="2904850"/>
            <a:ext cx="155400" cy="155400"/>
          </a:xfrm>
          <a:prstGeom prst="ellipse">
            <a:avLst/>
          </a:prstGeom>
          <a:solidFill>
            <a:srgbClr val="CC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76"/>
          <p:cNvSpPr/>
          <p:nvPr/>
        </p:nvSpPr>
        <p:spPr>
          <a:xfrm>
            <a:off x="3747525" y="3712475"/>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76"/>
          <p:cNvSpPr/>
          <p:nvPr/>
        </p:nvSpPr>
        <p:spPr>
          <a:xfrm>
            <a:off x="4187975" y="37311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76"/>
          <p:cNvSpPr/>
          <p:nvPr/>
        </p:nvSpPr>
        <p:spPr>
          <a:xfrm>
            <a:off x="3947125" y="40478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76"/>
          <p:cNvSpPr/>
          <p:nvPr/>
        </p:nvSpPr>
        <p:spPr>
          <a:xfrm>
            <a:off x="5347725" y="2874275"/>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76"/>
          <p:cNvSpPr/>
          <p:nvPr/>
        </p:nvSpPr>
        <p:spPr>
          <a:xfrm>
            <a:off x="5788175" y="28929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76"/>
          <p:cNvSpPr/>
          <p:nvPr/>
        </p:nvSpPr>
        <p:spPr>
          <a:xfrm>
            <a:off x="5547325" y="32096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76"/>
          <p:cNvSpPr/>
          <p:nvPr/>
        </p:nvSpPr>
        <p:spPr>
          <a:xfrm>
            <a:off x="5247100" y="3177650"/>
            <a:ext cx="155400" cy="155400"/>
          </a:xfrm>
          <a:prstGeom prst="ellipse">
            <a:avLst/>
          </a:prstGeom>
          <a:solidFill>
            <a:srgbClr val="6AA84F"/>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76"/>
          <p:cNvSpPr/>
          <p:nvPr/>
        </p:nvSpPr>
        <p:spPr>
          <a:xfrm rot="10800000">
            <a:off x="3642325" y="2724875"/>
            <a:ext cx="155400" cy="134400"/>
          </a:xfrm>
          <a:prstGeom prst="triangle">
            <a:avLst>
              <a:gd fmla="val 50000"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76"/>
          <p:cNvSpPr/>
          <p:nvPr/>
        </p:nvSpPr>
        <p:spPr>
          <a:xfrm rot="10800000">
            <a:off x="3947125" y="3596750"/>
            <a:ext cx="155400" cy="134400"/>
          </a:xfrm>
          <a:prstGeom prst="triangle">
            <a:avLst>
              <a:gd fmla="val 50000"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76"/>
          <p:cNvSpPr/>
          <p:nvPr/>
        </p:nvSpPr>
        <p:spPr>
          <a:xfrm rot="10800000">
            <a:off x="5503125" y="3029675"/>
            <a:ext cx="155400" cy="134400"/>
          </a:xfrm>
          <a:prstGeom prst="triangl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1" name="Shape 1391"/>
        <p:cNvGrpSpPr/>
        <p:nvPr/>
      </p:nvGrpSpPr>
      <p:grpSpPr>
        <a:xfrm>
          <a:off x="0" y="0"/>
          <a:ext cx="0" cy="0"/>
          <a:chOff x="0" y="0"/>
          <a:chExt cx="0" cy="0"/>
        </a:xfrm>
      </p:grpSpPr>
      <p:sp>
        <p:nvSpPr>
          <p:cNvPr id="1392" name="Google Shape;1392;p7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393" name="Google Shape;1393;p7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Upcoming considerations:</a:t>
            </a:r>
            <a:endParaRPr b="1"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How do we choose a reasonable value for K number of clusters?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Is there any way we can evaluate how good our current K value is at determining clusters?</a:t>
            </a:r>
            <a:endParaRPr sz="2900">
              <a:solidFill>
                <a:srgbClr val="434343"/>
              </a:solidFill>
              <a:latin typeface="Montserrat"/>
              <a:ea typeface="Montserrat"/>
              <a:cs typeface="Montserrat"/>
              <a:sym typeface="Montserrat"/>
            </a:endParaRPr>
          </a:p>
        </p:txBody>
      </p:sp>
      <p:pic>
        <p:nvPicPr>
          <p:cNvPr descr="watermark.jpg" id="1394" name="Google Shape;1394;p7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95" name="Google Shape;1395;p7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9" name="Shape 1399"/>
        <p:cNvGrpSpPr/>
        <p:nvPr/>
      </p:nvGrpSpPr>
      <p:grpSpPr>
        <a:xfrm>
          <a:off x="0" y="0"/>
          <a:ext cx="0" cy="0"/>
          <a:chOff x="0" y="0"/>
          <a:chExt cx="0" cy="0"/>
        </a:xfrm>
      </p:grpSpPr>
      <p:sp>
        <p:nvSpPr>
          <p:cNvPr id="1400" name="Google Shape;1400;p7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401" name="Google Shape;1401;p7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continue by coding out an example of K-Means clustering, then we’ll revisit these considerations when they naturally appear after we find the first set of clusters for a given K.</a:t>
            </a:r>
            <a:endParaRPr sz="2900">
              <a:solidFill>
                <a:srgbClr val="434343"/>
              </a:solidFill>
              <a:latin typeface="Montserrat"/>
              <a:ea typeface="Montserrat"/>
              <a:cs typeface="Montserrat"/>
              <a:sym typeface="Montserrat"/>
            </a:endParaRPr>
          </a:p>
        </p:txBody>
      </p:sp>
      <p:pic>
        <p:nvPicPr>
          <p:cNvPr descr="watermark.jpg" id="1402" name="Google Shape;1402;p7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403" name="Google Shape;1403;p7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7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K-Means Clustering</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Example</a:t>
            </a:r>
            <a:endParaRPr b="1">
              <a:latin typeface="Montserrat"/>
              <a:ea typeface="Montserrat"/>
              <a:cs typeface="Montserrat"/>
              <a:sym typeface="Montserrat"/>
            </a:endParaRPr>
          </a:p>
        </p:txBody>
      </p:sp>
      <p:sp>
        <p:nvSpPr>
          <p:cNvPr id="1409" name="Google Shape;1409;p7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Exploratory Data Analysis</a:t>
            </a:r>
            <a:endParaRPr/>
          </a:p>
        </p:txBody>
      </p:sp>
      <p:pic>
        <p:nvPicPr>
          <p:cNvPr descr="watermark.jpg" id="1410" name="Google Shape;1410;p7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411" name="Google Shape;1411;p7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5" name="Shape 1415"/>
        <p:cNvGrpSpPr/>
        <p:nvPr/>
      </p:nvGrpSpPr>
      <p:grpSpPr>
        <a:xfrm>
          <a:off x="0" y="0"/>
          <a:ext cx="0" cy="0"/>
          <a:chOff x="0" y="0"/>
          <a:chExt cx="0" cy="0"/>
        </a:xfrm>
      </p:grpSpPr>
      <p:sp>
        <p:nvSpPr>
          <p:cNvPr id="1416" name="Google Shape;1416;p8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K-Means Clustering</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Example</a:t>
            </a:r>
            <a:endParaRPr b="1">
              <a:latin typeface="Montserrat"/>
              <a:ea typeface="Montserrat"/>
              <a:cs typeface="Montserrat"/>
              <a:sym typeface="Montserrat"/>
            </a:endParaRPr>
          </a:p>
        </p:txBody>
      </p:sp>
      <p:sp>
        <p:nvSpPr>
          <p:cNvPr id="1417" name="Google Shape;1417;p8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 Preparation and Model Fitting</a:t>
            </a:r>
            <a:endParaRPr/>
          </a:p>
        </p:txBody>
      </p:sp>
      <p:pic>
        <p:nvPicPr>
          <p:cNvPr descr="watermark.jpg" id="1418" name="Google Shape;1418;p8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419" name="Google Shape;1419;p8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3" name="Shape 1423"/>
        <p:cNvGrpSpPr/>
        <p:nvPr/>
      </p:nvGrpSpPr>
      <p:grpSpPr>
        <a:xfrm>
          <a:off x="0" y="0"/>
          <a:ext cx="0" cy="0"/>
          <a:chOff x="0" y="0"/>
          <a:chExt cx="0" cy="0"/>
        </a:xfrm>
      </p:grpSpPr>
      <p:sp>
        <p:nvSpPr>
          <p:cNvPr id="1424" name="Google Shape;1424;p8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K-Means Clustering</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Example</a:t>
            </a:r>
            <a:endParaRPr b="1">
              <a:latin typeface="Montserrat"/>
              <a:ea typeface="Montserrat"/>
              <a:cs typeface="Montserrat"/>
              <a:sym typeface="Montserrat"/>
            </a:endParaRPr>
          </a:p>
        </p:txBody>
      </p:sp>
      <p:sp>
        <p:nvSpPr>
          <p:cNvPr id="1425" name="Google Shape;1425;p8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Choosing a K Value</a:t>
            </a:r>
            <a:endParaRPr/>
          </a:p>
        </p:txBody>
      </p:sp>
      <p:pic>
        <p:nvPicPr>
          <p:cNvPr descr="watermark.jpg" id="1426" name="Google Shape;1426;p8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427" name="Google Shape;1427;p8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1" name="Shape 1431"/>
        <p:cNvGrpSpPr/>
        <p:nvPr/>
      </p:nvGrpSpPr>
      <p:grpSpPr>
        <a:xfrm>
          <a:off x="0" y="0"/>
          <a:ext cx="0" cy="0"/>
          <a:chOff x="0" y="0"/>
          <a:chExt cx="0" cy="0"/>
        </a:xfrm>
      </p:grpSpPr>
      <p:sp>
        <p:nvSpPr>
          <p:cNvPr id="1432" name="Google Shape;1432;p8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433" name="Google Shape;1433;p8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Recall our previous</a:t>
            </a:r>
            <a:r>
              <a:rPr b="1" lang="en" sz="2900">
                <a:solidFill>
                  <a:srgbClr val="434343"/>
                </a:solidFill>
                <a:latin typeface="Montserrat"/>
                <a:ea typeface="Montserrat"/>
                <a:cs typeface="Montserrat"/>
                <a:sym typeface="Montserrat"/>
              </a:rPr>
              <a:t> considerations:</a:t>
            </a:r>
            <a:endParaRPr b="1"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How do we choose a reasonable value for K number of clusters?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Is there any way we can evaluate how good our current K value is at determining clusters?</a:t>
            </a:r>
            <a:endParaRPr sz="2900">
              <a:solidFill>
                <a:srgbClr val="434343"/>
              </a:solidFill>
              <a:latin typeface="Montserrat"/>
              <a:ea typeface="Montserrat"/>
              <a:cs typeface="Montserrat"/>
              <a:sym typeface="Montserrat"/>
            </a:endParaRPr>
          </a:p>
        </p:txBody>
      </p:sp>
      <p:pic>
        <p:nvPicPr>
          <p:cNvPr descr="watermark.jpg" id="1434" name="Google Shape;1434;p8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435" name="Google Shape;1435;p8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9" name="Shape 1439"/>
        <p:cNvGrpSpPr/>
        <p:nvPr/>
      </p:nvGrpSpPr>
      <p:grpSpPr>
        <a:xfrm>
          <a:off x="0" y="0"/>
          <a:ext cx="0" cy="0"/>
          <a:chOff x="0" y="0"/>
          <a:chExt cx="0" cy="0"/>
        </a:xfrm>
      </p:grpSpPr>
      <p:sp>
        <p:nvSpPr>
          <p:cNvPr id="1440" name="Google Shape;1440;p8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441" name="Google Shape;1441;p83"/>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Here we have 3 clusters, how can we measure “goodness of fit”?</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442" name="Google Shape;1442;p8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443" name="Google Shape;1443;p8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444" name="Google Shape;1444;p83"/>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445" name="Google Shape;1445;p83"/>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446" name="Google Shape;1446;p83"/>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83"/>
          <p:cNvSpPr/>
          <p:nvPr/>
        </p:nvSpPr>
        <p:spPr>
          <a:xfrm>
            <a:off x="3442725" y="2569475"/>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83"/>
          <p:cNvSpPr/>
          <p:nvPr/>
        </p:nvSpPr>
        <p:spPr>
          <a:xfrm>
            <a:off x="3883175" y="2588150"/>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83"/>
          <p:cNvSpPr/>
          <p:nvPr/>
        </p:nvSpPr>
        <p:spPr>
          <a:xfrm>
            <a:off x="4038575" y="31776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83"/>
          <p:cNvSpPr/>
          <p:nvPr/>
        </p:nvSpPr>
        <p:spPr>
          <a:xfrm>
            <a:off x="3642325" y="2904850"/>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83"/>
          <p:cNvSpPr/>
          <p:nvPr/>
        </p:nvSpPr>
        <p:spPr>
          <a:xfrm>
            <a:off x="3747525" y="3712475"/>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83"/>
          <p:cNvSpPr/>
          <p:nvPr/>
        </p:nvSpPr>
        <p:spPr>
          <a:xfrm>
            <a:off x="4187975" y="37311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83"/>
          <p:cNvSpPr/>
          <p:nvPr/>
        </p:nvSpPr>
        <p:spPr>
          <a:xfrm>
            <a:off x="3947125" y="40478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83"/>
          <p:cNvSpPr/>
          <p:nvPr/>
        </p:nvSpPr>
        <p:spPr>
          <a:xfrm>
            <a:off x="5347725" y="2874275"/>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83"/>
          <p:cNvSpPr/>
          <p:nvPr/>
        </p:nvSpPr>
        <p:spPr>
          <a:xfrm>
            <a:off x="5788175" y="28929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83"/>
          <p:cNvSpPr/>
          <p:nvPr/>
        </p:nvSpPr>
        <p:spPr>
          <a:xfrm>
            <a:off x="5547325" y="32096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83"/>
          <p:cNvSpPr/>
          <p:nvPr/>
        </p:nvSpPr>
        <p:spPr>
          <a:xfrm>
            <a:off x="5247100" y="31776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83"/>
          <p:cNvSpPr/>
          <p:nvPr/>
        </p:nvSpPr>
        <p:spPr>
          <a:xfrm rot="10800000">
            <a:off x="3642325" y="2724875"/>
            <a:ext cx="155400" cy="134400"/>
          </a:xfrm>
          <a:prstGeom prst="triangle">
            <a:avLst>
              <a:gd fmla="val 50000"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83"/>
          <p:cNvSpPr/>
          <p:nvPr/>
        </p:nvSpPr>
        <p:spPr>
          <a:xfrm rot="10800000">
            <a:off x="3947125" y="3596750"/>
            <a:ext cx="155400" cy="134400"/>
          </a:xfrm>
          <a:prstGeom prst="triangle">
            <a:avLst>
              <a:gd fmla="val 50000"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83"/>
          <p:cNvSpPr/>
          <p:nvPr/>
        </p:nvSpPr>
        <p:spPr>
          <a:xfrm rot="10800000">
            <a:off x="5503125" y="3029675"/>
            <a:ext cx="155400" cy="134400"/>
          </a:xfrm>
          <a:prstGeom prst="triangl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4" name="Shape 1464"/>
        <p:cNvGrpSpPr/>
        <p:nvPr/>
      </p:nvGrpSpPr>
      <p:grpSpPr>
        <a:xfrm>
          <a:off x="0" y="0"/>
          <a:ext cx="0" cy="0"/>
          <a:chOff x="0" y="0"/>
          <a:chExt cx="0" cy="0"/>
        </a:xfrm>
      </p:grpSpPr>
      <p:sp>
        <p:nvSpPr>
          <p:cNvPr id="1465" name="Google Shape;1465;p8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466" name="Google Shape;1466;p84"/>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could measure the sum of the distances from points to cluster centers.</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467" name="Google Shape;1467;p8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468" name="Google Shape;1468;p8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469" name="Google Shape;1469;p84"/>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470" name="Google Shape;1470;p84"/>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471" name="Google Shape;1471;p84"/>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84"/>
          <p:cNvSpPr/>
          <p:nvPr/>
        </p:nvSpPr>
        <p:spPr>
          <a:xfrm>
            <a:off x="3442725" y="2569475"/>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84"/>
          <p:cNvSpPr/>
          <p:nvPr/>
        </p:nvSpPr>
        <p:spPr>
          <a:xfrm>
            <a:off x="3883175" y="2588150"/>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84"/>
          <p:cNvSpPr/>
          <p:nvPr/>
        </p:nvSpPr>
        <p:spPr>
          <a:xfrm>
            <a:off x="4038575" y="31776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84"/>
          <p:cNvSpPr/>
          <p:nvPr/>
        </p:nvSpPr>
        <p:spPr>
          <a:xfrm>
            <a:off x="3642325" y="2904850"/>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84"/>
          <p:cNvSpPr/>
          <p:nvPr/>
        </p:nvSpPr>
        <p:spPr>
          <a:xfrm>
            <a:off x="3747525" y="3712475"/>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84"/>
          <p:cNvSpPr/>
          <p:nvPr/>
        </p:nvSpPr>
        <p:spPr>
          <a:xfrm>
            <a:off x="4187975" y="37311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84"/>
          <p:cNvSpPr/>
          <p:nvPr/>
        </p:nvSpPr>
        <p:spPr>
          <a:xfrm>
            <a:off x="3947125" y="4047850"/>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84"/>
          <p:cNvSpPr/>
          <p:nvPr/>
        </p:nvSpPr>
        <p:spPr>
          <a:xfrm>
            <a:off x="5347725" y="2874275"/>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84"/>
          <p:cNvSpPr/>
          <p:nvPr/>
        </p:nvSpPr>
        <p:spPr>
          <a:xfrm>
            <a:off x="5788175" y="28929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84"/>
          <p:cNvSpPr/>
          <p:nvPr/>
        </p:nvSpPr>
        <p:spPr>
          <a:xfrm>
            <a:off x="5547325" y="32096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84"/>
          <p:cNvSpPr/>
          <p:nvPr/>
        </p:nvSpPr>
        <p:spPr>
          <a:xfrm>
            <a:off x="5247100" y="3177650"/>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84"/>
          <p:cNvSpPr/>
          <p:nvPr/>
        </p:nvSpPr>
        <p:spPr>
          <a:xfrm rot="10800000">
            <a:off x="3642325" y="2724875"/>
            <a:ext cx="155400" cy="134400"/>
          </a:xfrm>
          <a:prstGeom prst="triangle">
            <a:avLst>
              <a:gd fmla="val 50000"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84"/>
          <p:cNvSpPr/>
          <p:nvPr/>
        </p:nvSpPr>
        <p:spPr>
          <a:xfrm rot="10800000">
            <a:off x="3947125" y="3596750"/>
            <a:ext cx="155400" cy="134400"/>
          </a:xfrm>
          <a:prstGeom prst="triangle">
            <a:avLst>
              <a:gd fmla="val 50000"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84"/>
          <p:cNvSpPr/>
          <p:nvPr/>
        </p:nvSpPr>
        <p:spPr>
          <a:xfrm rot="10800000">
            <a:off x="5503125" y="3029675"/>
            <a:ext cx="155400" cy="134400"/>
          </a:xfrm>
          <a:prstGeom prst="triangl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sp>
        <p:nvSpPr>
          <p:cNvPr id="1490" name="Google Shape;1490;p85"/>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8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492" name="Google Shape;1492;p85"/>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Imagine a simple example starting with K=2.</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493" name="Google Shape;1493;p8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494" name="Google Shape;1494;p8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495" name="Google Shape;1495;p85"/>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496" name="Google Shape;1496;p85"/>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497" name="Google Shape;1497;p85"/>
          <p:cNvSpPr/>
          <p:nvPr/>
        </p:nvSpPr>
        <p:spPr>
          <a:xfrm>
            <a:off x="3636325" y="3177638"/>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85"/>
          <p:cNvSpPr/>
          <p:nvPr/>
        </p:nvSpPr>
        <p:spPr>
          <a:xfrm>
            <a:off x="4102950" y="3108863"/>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85"/>
          <p:cNvSpPr/>
          <p:nvPr/>
        </p:nvSpPr>
        <p:spPr>
          <a:xfrm>
            <a:off x="3867325" y="3632363"/>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85"/>
          <p:cNvSpPr/>
          <p:nvPr/>
        </p:nvSpPr>
        <p:spPr>
          <a:xfrm>
            <a:off x="5475750" y="2953463"/>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85"/>
          <p:cNvSpPr/>
          <p:nvPr/>
        </p:nvSpPr>
        <p:spPr>
          <a:xfrm>
            <a:off x="6060250" y="3022238"/>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85"/>
          <p:cNvSpPr/>
          <p:nvPr/>
        </p:nvSpPr>
        <p:spPr>
          <a:xfrm>
            <a:off x="5706025" y="3702188"/>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85"/>
          <p:cNvSpPr/>
          <p:nvPr/>
        </p:nvSpPr>
        <p:spPr>
          <a:xfrm>
            <a:off x="5320350" y="3576013"/>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85"/>
          <p:cNvSpPr/>
          <p:nvPr/>
        </p:nvSpPr>
        <p:spPr>
          <a:xfrm rot="10800000">
            <a:off x="3867325" y="3384388"/>
            <a:ext cx="155400" cy="134400"/>
          </a:xfrm>
          <a:prstGeom prst="triangle">
            <a:avLst>
              <a:gd fmla="val 50000"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85"/>
          <p:cNvSpPr/>
          <p:nvPr/>
        </p:nvSpPr>
        <p:spPr>
          <a:xfrm rot="10800000">
            <a:off x="5665325" y="3333038"/>
            <a:ext cx="155400" cy="134400"/>
          </a:xfrm>
          <a:prstGeom prst="triangl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9" name="Shape 1509"/>
        <p:cNvGrpSpPr/>
        <p:nvPr/>
      </p:nvGrpSpPr>
      <p:grpSpPr>
        <a:xfrm>
          <a:off x="0" y="0"/>
          <a:ext cx="0" cy="0"/>
          <a:chOff x="0" y="0"/>
          <a:chExt cx="0" cy="0"/>
        </a:xfrm>
      </p:grpSpPr>
      <p:sp>
        <p:nvSpPr>
          <p:cNvPr id="1510" name="Google Shape;1510;p86"/>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8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512" name="Google Shape;1512;p86"/>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measure the sum of the squared distances from points to the cluster center:</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513" name="Google Shape;1513;p8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514" name="Google Shape;1514;p8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515" name="Google Shape;1515;p86"/>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516" name="Google Shape;1516;p86"/>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517" name="Google Shape;1517;p86"/>
          <p:cNvSpPr/>
          <p:nvPr/>
        </p:nvSpPr>
        <p:spPr>
          <a:xfrm>
            <a:off x="3636325" y="3177638"/>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86"/>
          <p:cNvSpPr/>
          <p:nvPr/>
        </p:nvSpPr>
        <p:spPr>
          <a:xfrm>
            <a:off x="4102950" y="3108863"/>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86"/>
          <p:cNvSpPr/>
          <p:nvPr/>
        </p:nvSpPr>
        <p:spPr>
          <a:xfrm>
            <a:off x="3867325" y="3632363"/>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86"/>
          <p:cNvSpPr/>
          <p:nvPr/>
        </p:nvSpPr>
        <p:spPr>
          <a:xfrm>
            <a:off x="5475750" y="2953463"/>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86"/>
          <p:cNvSpPr/>
          <p:nvPr/>
        </p:nvSpPr>
        <p:spPr>
          <a:xfrm>
            <a:off x="6060250" y="3022238"/>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86"/>
          <p:cNvSpPr/>
          <p:nvPr/>
        </p:nvSpPr>
        <p:spPr>
          <a:xfrm>
            <a:off x="5706025" y="3702188"/>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86"/>
          <p:cNvSpPr/>
          <p:nvPr/>
        </p:nvSpPr>
        <p:spPr>
          <a:xfrm>
            <a:off x="5320350" y="3576013"/>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86"/>
          <p:cNvSpPr/>
          <p:nvPr/>
        </p:nvSpPr>
        <p:spPr>
          <a:xfrm rot="10800000">
            <a:off x="3867325" y="3384388"/>
            <a:ext cx="155400" cy="134400"/>
          </a:xfrm>
          <a:prstGeom prst="triangle">
            <a:avLst>
              <a:gd fmla="val 50000"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86"/>
          <p:cNvSpPr/>
          <p:nvPr/>
        </p:nvSpPr>
        <p:spPr>
          <a:xfrm rot="10800000">
            <a:off x="5665325" y="3333038"/>
            <a:ext cx="155400" cy="134400"/>
          </a:xfrm>
          <a:prstGeom prst="triangl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87"/>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8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532" name="Google Shape;1532;p87"/>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Then we fit an entirely new KMeans model with K+1:</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533" name="Google Shape;1533;p8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534" name="Google Shape;1534;p8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535" name="Google Shape;1535;p87"/>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536" name="Google Shape;1536;p87"/>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537" name="Google Shape;1537;p87"/>
          <p:cNvSpPr/>
          <p:nvPr/>
        </p:nvSpPr>
        <p:spPr>
          <a:xfrm>
            <a:off x="3636325" y="3177638"/>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87"/>
          <p:cNvSpPr/>
          <p:nvPr/>
        </p:nvSpPr>
        <p:spPr>
          <a:xfrm>
            <a:off x="4102950" y="3108863"/>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87"/>
          <p:cNvSpPr/>
          <p:nvPr/>
        </p:nvSpPr>
        <p:spPr>
          <a:xfrm>
            <a:off x="3867325" y="3632363"/>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87"/>
          <p:cNvSpPr/>
          <p:nvPr/>
        </p:nvSpPr>
        <p:spPr>
          <a:xfrm>
            <a:off x="5475750" y="2953463"/>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87"/>
          <p:cNvSpPr/>
          <p:nvPr/>
        </p:nvSpPr>
        <p:spPr>
          <a:xfrm>
            <a:off x="6060250" y="3022238"/>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87"/>
          <p:cNvSpPr/>
          <p:nvPr/>
        </p:nvSpPr>
        <p:spPr>
          <a:xfrm>
            <a:off x="5706025" y="3702188"/>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87"/>
          <p:cNvSpPr/>
          <p:nvPr/>
        </p:nvSpPr>
        <p:spPr>
          <a:xfrm>
            <a:off x="5320350" y="3576013"/>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87"/>
          <p:cNvSpPr/>
          <p:nvPr/>
        </p:nvSpPr>
        <p:spPr>
          <a:xfrm rot="10800000">
            <a:off x="3867325" y="3384388"/>
            <a:ext cx="155400" cy="134400"/>
          </a:xfrm>
          <a:prstGeom prst="triangle">
            <a:avLst>
              <a:gd fmla="val 50000"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87"/>
          <p:cNvSpPr/>
          <p:nvPr/>
        </p:nvSpPr>
        <p:spPr>
          <a:xfrm rot="10800000">
            <a:off x="5665325" y="3333038"/>
            <a:ext cx="155400" cy="134400"/>
          </a:xfrm>
          <a:prstGeom prst="triangl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9" name="Shape 1549"/>
        <p:cNvGrpSpPr/>
        <p:nvPr/>
      </p:nvGrpSpPr>
      <p:grpSpPr>
        <a:xfrm>
          <a:off x="0" y="0"/>
          <a:ext cx="0" cy="0"/>
          <a:chOff x="0" y="0"/>
          <a:chExt cx="0" cy="0"/>
        </a:xfrm>
      </p:grpSpPr>
      <p:sp>
        <p:nvSpPr>
          <p:cNvPr id="1550" name="Google Shape;1550;p88"/>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8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552" name="Google Shape;1552;p88"/>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Then we fit an entirely new KMeans model with K+1:</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553" name="Google Shape;1553;p8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554" name="Google Shape;1554;p8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555" name="Google Shape;1555;p88"/>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556" name="Google Shape;1556;p88"/>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557" name="Google Shape;1557;p88"/>
          <p:cNvSpPr/>
          <p:nvPr/>
        </p:nvSpPr>
        <p:spPr>
          <a:xfrm>
            <a:off x="3636325" y="3177638"/>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88"/>
          <p:cNvSpPr/>
          <p:nvPr/>
        </p:nvSpPr>
        <p:spPr>
          <a:xfrm>
            <a:off x="4102950" y="3108863"/>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88"/>
          <p:cNvSpPr/>
          <p:nvPr/>
        </p:nvSpPr>
        <p:spPr>
          <a:xfrm>
            <a:off x="3867325" y="3632363"/>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88"/>
          <p:cNvSpPr/>
          <p:nvPr/>
        </p:nvSpPr>
        <p:spPr>
          <a:xfrm>
            <a:off x="5475750" y="2953463"/>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88"/>
          <p:cNvSpPr/>
          <p:nvPr/>
        </p:nvSpPr>
        <p:spPr>
          <a:xfrm>
            <a:off x="6060250" y="3022238"/>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88"/>
          <p:cNvSpPr/>
          <p:nvPr/>
        </p:nvSpPr>
        <p:spPr>
          <a:xfrm>
            <a:off x="5706025" y="3702188"/>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88"/>
          <p:cNvSpPr/>
          <p:nvPr/>
        </p:nvSpPr>
        <p:spPr>
          <a:xfrm>
            <a:off x="5320350" y="3576013"/>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88"/>
          <p:cNvSpPr/>
          <p:nvPr/>
        </p:nvSpPr>
        <p:spPr>
          <a:xfrm rot="10800000">
            <a:off x="3867325" y="3384388"/>
            <a:ext cx="155400" cy="134400"/>
          </a:xfrm>
          <a:prstGeom prst="triangle">
            <a:avLst>
              <a:gd fmla="val 50000"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88"/>
          <p:cNvSpPr/>
          <p:nvPr/>
        </p:nvSpPr>
        <p:spPr>
          <a:xfrm rot="10800000">
            <a:off x="5513188" y="3712688"/>
            <a:ext cx="155400" cy="134400"/>
          </a:xfrm>
          <a:prstGeom prst="triangl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88"/>
          <p:cNvSpPr/>
          <p:nvPr/>
        </p:nvSpPr>
        <p:spPr>
          <a:xfrm rot="10800000">
            <a:off x="5706013" y="3085463"/>
            <a:ext cx="155400" cy="134400"/>
          </a:xfrm>
          <a:prstGeom prst="triangle">
            <a:avLst>
              <a:gd fmla="val 50000" name="adj"/>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0" name="Shape 1570"/>
        <p:cNvGrpSpPr/>
        <p:nvPr/>
      </p:nvGrpSpPr>
      <p:grpSpPr>
        <a:xfrm>
          <a:off x="0" y="0"/>
          <a:ext cx="0" cy="0"/>
          <a:chOff x="0" y="0"/>
          <a:chExt cx="0" cy="0"/>
        </a:xfrm>
      </p:grpSpPr>
      <p:sp>
        <p:nvSpPr>
          <p:cNvPr id="1571" name="Google Shape;1571;p89"/>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8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573" name="Google Shape;1573;p89"/>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Then measure again the sum of the squared distance (SSD) to center.</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574" name="Google Shape;1574;p8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575" name="Google Shape;1575;p8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576" name="Google Shape;1576;p89"/>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577" name="Google Shape;1577;p89"/>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578" name="Google Shape;1578;p89"/>
          <p:cNvSpPr/>
          <p:nvPr/>
        </p:nvSpPr>
        <p:spPr>
          <a:xfrm>
            <a:off x="3636325" y="3177638"/>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89"/>
          <p:cNvSpPr/>
          <p:nvPr/>
        </p:nvSpPr>
        <p:spPr>
          <a:xfrm>
            <a:off x="4102950" y="3108863"/>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89"/>
          <p:cNvSpPr/>
          <p:nvPr/>
        </p:nvSpPr>
        <p:spPr>
          <a:xfrm>
            <a:off x="3867325" y="3632363"/>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89"/>
          <p:cNvSpPr/>
          <p:nvPr/>
        </p:nvSpPr>
        <p:spPr>
          <a:xfrm>
            <a:off x="5475750" y="2953463"/>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89"/>
          <p:cNvSpPr/>
          <p:nvPr/>
        </p:nvSpPr>
        <p:spPr>
          <a:xfrm>
            <a:off x="6060250" y="3022238"/>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89"/>
          <p:cNvSpPr/>
          <p:nvPr/>
        </p:nvSpPr>
        <p:spPr>
          <a:xfrm>
            <a:off x="5706025" y="3702188"/>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89"/>
          <p:cNvSpPr/>
          <p:nvPr/>
        </p:nvSpPr>
        <p:spPr>
          <a:xfrm>
            <a:off x="5320350" y="3576013"/>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89"/>
          <p:cNvSpPr/>
          <p:nvPr/>
        </p:nvSpPr>
        <p:spPr>
          <a:xfrm rot="10800000">
            <a:off x="3867325" y="3384388"/>
            <a:ext cx="155400" cy="134400"/>
          </a:xfrm>
          <a:prstGeom prst="triangle">
            <a:avLst>
              <a:gd fmla="val 50000"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89"/>
          <p:cNvSpPr/>
          <p:nvPr/>
        </p:nvSpPr>
        <p:spPr>
          <a:xfrm rot="10800000">
            <a:off x="5513188" y="3712688"/>
            <a:ext cx="155400" cy="134400"/>
          </a:xfrm>
          <a:prstGeom prst="triangl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89"/>
          <p:cNvSpPr/>
          <p:nvPr/>
        </p:nvSpPr>
        <p:spPr>
          <a:xfrm rot="10800000">
            <a:off x="5706013" y="3085463"/>
            <a:ext cx="155400" cy="134400"/>
          </a:xfrm>
          <a:prstGeom prst="triangle">
            <a:avLst>
              <a:gd fmla="val 50000" name="adj"/>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1" name="Shape 1591"/>
        <p:cNvGrpSpPr/>
        <p:nvPr/>
      </p:nvGrpSpPr>
      <p:grpSpPr>
        <a:xfrm>
          <a:off x="0" y="0"/>
          <a:ext cx="0" cy="0"/>
          <a:chOff x="0" y="0"/>
          <a:chExt cx="0" cy="0"/>
        </a:xfrm>
      </p:grpSpPr>
      <p:sp>
        <p:nvSpPr>
          <p:cNvPr id="1592" name="Google Shape;1592;p90"/>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9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594" name="Google Shape;1594;p90"/>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 theory this SSD would go to zero once K is equal to the number of points.</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595" name="Google Shape;1595;p9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596" name="Google Shape;1596;p9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597" name="Google Shape;1597;p90"/>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598" name="Google Shape;1598;p90"/>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599" name="Google Shape;1599;p90"/>
          <p:cNvSpPr/>
          <p:nvPr/>
        </p:nvSpPr>
        <p:spPr>
          <a:xfrm>
            <a:off x="3636325" y="3177638"/>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90"/>
          <p:cNvSpPr/>
          <p:nvPr/>
        </p:nvSpPr>
        <p:spPr>
          <a:xfrm>
            <a:off x="4102950" y="3108863"/>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90"/>
          <p:cNvSpPr/>
          <p:nvPr/>
        </p:nvSpPr>
        <p:spPr>
          <a:xfrm>
            <a:off x="3867325" y="3632363"/>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90"/>
          <p:cNvSpPr/>
          <p:nvPr/>
        </p:nvSpPr>
        <p:spPr>
          <a:xfrm>
            <a:off x="5475750" y="2953463"/>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90"/>
          <p:cNvSpPr/>
          <p:nvPr/>
        </p:nvSpPr>
        <p:spPr>
          <a:xfrm>
            <a:off x="6060250" y="3022238"/>
            <a:ext cx="155400" cy="155400"/>
          </a:xfrm>
          <a:prstGeom prst="ellipse">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90"/>
          <p:cNvSpPr/>
          <p:nvPr/>
        </p:nvSpPr>
        <p:spPr>
          <a:xfrm>
            <a:off x="5706025" y="3702188"/>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90"/>
          <p:cNvSpPr/>
          <p:nvPr/>
        </p:nvSpPr>
        <p:spPr>
          <a:xfrm>
            <a:off x="5320350" y="3576013"/>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90"/>
          <p:cNvSpPr/>
          <p:nvPr/>
        </p:nvSpPr>
        <p:spPr>
          <a:xfrm rot="10800000">
            <a:off x="3867325" y="3384388"/>
            <a:ext cx="155400" cy="134400"/>
          </a:xfrm>
          <a:prstGeom prst="triangle">
            <a:avLst>
              <a:gd fmla="val 50000"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90"/>
          <p:cNvSpPr/>
          <p:nvPr/>
        </p:nvSpPr>
        <p:spPr>
          <a:xfrm rot="10800000">
            <a:off x="5513188" y="3712688"/>
            <a:ext cx="155400" cy="134400"/>
          </a:xfrm>
          <a:prstGeom prst="triangl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90"/>
          <p:cNvSpPr/>
          <p:nvPr/>
        </p:nvSpPr>
        <p:spPr>
          <a:xfrm rot="10800000">
            <a:off x="5706013" y="3085463"/>
            <a:ext cx="155400" cy="134400"/>
          </a:xfrm>
          <a:prstGeom prst="triangle">
            <a:avLst>
              <a:gd fmla="val 50000" name="adj"/>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2" name="Shape 1612"/>
        <p:cNvGrpSpPr/>
        <p:nvPr/>
      </p:nvGrpSpPr>
      <p:grpSpPr>
        <a:xfrm>
          <a:off x="0" y="0"/>
          <a:ext cx="0" cy="0"/>
          <a:chOff x="0" y="0"/>
          <a:chExt cx="0" cy="0"/>
        </a:xfrm>
      </p:grpSpPr>
      <p:sp>
        <p:nvSpPr>
          <p:cNvPr id="1613" name="Google Shape;1613;p91"/>
          <p:cNvSpPr/>
          <p:nvPr/>
        </p:nvSpPr>
        <p:spPr>
          <a:xfrm>
            <a:off x="2838411" y="2216925"/>
            <a:ext cx="4407600" cy="25149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9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615" name="Google Shape;1615;p91"/>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You would have a cluster for each point! SSD would be perfect at 0!</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616" name="Google Shape;1616;p9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17" name="Google Shape;1617;p9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618" name="Google Shape;1618;p91"/>
          <p:cNvSpPr txBox="1"/>
          <p:nvPr/>
        </p:nvSpPr>
        <p:spPr>
          <a:xfrm>
            <a:off x="4455610" y="4731868"/>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619" name="Google Shape;1619;p91"/>
          <p:cNvSpPr txBox="1"/>
          <p:nvPr/>
        </p:nvSpPr>
        <p:spPr>
          <a:xfrm>
            <a:off x="1627625" y="31548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620" name="Google Shape;1620;p91"/>
          <p:cNvSpPr/>
          <p:nvPr/>
        </p:nvSpPr>
        <p:spPr>
          <a:xfrm>
            <a:off x="3636325" y="3177638"/>
            <a:ext cx="155400" cy="155400"/>
          </a:xfrm>
          <a:prstGeom prst="ellipse">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91"/>
          <p:cNvSpPr/>
          <p:nvPr/>
        </p:nvSpPr>
        <p:spPr>
          <a:xfrm>
            <a:off x="4102950" y="3108863"/>
            <a:ext cx="155400" cy="155400"/>
          </a:xfrm>
          <a:prstGeom prst="ellipse">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91"/>
          <p:cNvSpPr/>
          <p:nvPr/>
        </p:nvSpPr>
        <p:spPr>
          <a:xfrm>
            <a:off x="3867325" y="3632363"/>
            <a:ext cx="155400" cy="155400"/>
          </a:xfrm>
          <a:prstGeom prst="ellipse">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91"/>
          <p:cNvSpPr/>
          <p:nvPr/>
        </p:nvSpPr>
        <p:spPr>
          <a:xfrm>
            <a:off x="5475750" y="2953463"/>
            <a:ext cx="155400" cy="155400"/>
          </a:xfrm>
          <a:prstGeom prst="ellipse">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91"/>
          <p:cNvSpPr/>
          <p:nvPr/>
        </p:nvSpPr>
        <p:spPr>
          <a:xfrm>
            <a:off x="6060250" y="3022238"/>
            <a:ext cx="155400" cy="155400"/>
          </a:xfrm>
          <a:prstGeom prst="ellipse">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91"/>
          <p:cNvSpPr/>
          <p:nvPr/>
        </p:nvSpPr>
        <p:spPr>
          <a:xfrm>
            <a:off x="5706025" y="3702188"/>
            <a:ext cx="155400" cy="155400"/>
          </a:xfrm>
          <a:prstGeom prst="ellipse">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91"/>
          <p:cNvSpPr/>
          <p:nvPr/>
        </p:nvSpPr>
        <p:spPr>
          <a:xfrm>
            <a:off x="5320350" y="3576013"/>
            <a:ext cx="155400" cy="155400"/>
          </a:xfrm>
          <a:prstGeom prst="ellipse">
            <a:avLst/>
          </a:prstGeom>
          <a:solidFill>
            <a:srgbClr val="B7B7B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91"/>
          <p:cNvSpPr/>
          <p:nvPr/>
        </p:nvSpPr>
        <p:spPr>
          <a:xfrm rot="10800000">
            <a:off x="3636325" y="3188138"/>
            <a:ext cx="155400" cy="134400"/>
          </a:xfrm>
          <a:prstGeom prst="triangle">
            <a:avLst>
              <a:gd fmla="val 50000"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91"/>
          <p:cNvSpPr/>
          <p:nvPr/>
        </p:nvSpPr>
        <p:spPr>
          <a:xfrm rot="10800000">
            <a:off x="5320338" y="3597013"/>
            <a:ext cx="155400" cy="134400"/>
          </a:xfrm>
          <a:prstGeom prst="triangle">
            <a:avLst>
              <a:gd fmla="val 50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91"/>
          <p:cNvSpPr/>
          <p:nvPr/>
        </p:nvSpPr>
        <p:spPr>
          <a:xfrm rot="10800000">
            <a:off x="5475738" y="2996513"/>
            <a:ext cx="155400" cy="134400"/>
          </a:xfrm>
          <a:prstGeom prst="triangle">
            <a:avLst>
              <a:gd fmla="val 50000" name="adj"/>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91"/>
          <p:cNvSpPr/>
          <p:nvPr/>
        </p:nvSpPr>
        <p:spPr>
          <a:xfrm rot="10800000">
            <a:off x="4102950" y="3154838"/>
            <a:ext cx="155400" cy="134400"/>
          </a:xfrm>
          <a:prstGeom prst="triangle">
            <a:avLst>
              <a:gd fmla="val 50000" name="adj"/>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91"/>
          <p:cNvSpPr/>
          <p:nvPr/>
        </p:nvSpPr>
        <p:spPr>
          <a:xfrm rot="10800000">
            <a:off x="3867325" y="3642863"/>
            <a:ext cx="155400" cy="134400"/>
          </a:xfrm>
          <a:prstGeom prst="triangl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91"/>
          <p:cNvSpPr/>
          <p:nvPr/>
        </p:nvSpPr>
        <p:spPr>
          <a:xfrm rot="10800000">
            <a:off x="5706013" y="3712688"/>
            <a:ext cx="155400" cy="134400"/>
          </a:xfrm>
          <a:prstGeom prst="triangle">
            <a:avLst>
              <a:gd fmla="val 50000"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91"/>
          <p:cNvSpPr/>
          <p:nvPr/>
        </p:nvSpPr>
        <p:spPr>
          <a:xfrm rot="10800000">
            <a:off x="6060238" y="3053738"/>
            <a:ext cx="155400" cy="134400"/>
          </a:xfrm>
          <a:prstGeom prst="triangle">
            <a:avLst>
              <a:gd fmla="val 50000"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7" name="Shape 1637"/>
        <p:cNvGrpSpPr/>
        <p:nvPr/>
      </p:nvGrpSpPr>
      <p:grpSpPr>
        <a:xfrm>
          <a:off x="0" y="0"/>
          <a:ext cx="0" cy="0"/>
          <a:chOff x="0" y="0"/>
          <a:chExt cx="0" cy="0"/>
        </a:xfrm>
      </p:grpSpPr>
      <p:sp>
        <p:nvSpPr>
          <p:cNvPr id="1638" name="Google Shape;1638;p9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639" name="Google Shape;1639;p9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keep track of this SSD value for a range of different K values.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then look for a K value where </a:t>
            </a:r>
            <a:r>
              <a:rPr b="1" lang="en" sz="2900">
                <a:solidFill>
                  <a:srgbClr val="434343"/>
                </a:solidFill>
                <a:latin typeface="Montserrat"/>
                <a:ea typeface="Montserrat"/>
                <a:cs typeface="Montserrat"/>
                <a:sym typeface="Montserrat"/>
              </a:rPr>
              <a:t>rate of reduction in SSD</a:t>
            </a:r>
            <a:r>
              <a:rPr lang="en" sz="2900">
                <a:solidFill>
                  <a:srgbClr val="434343"/>
                </a:solidFill>
                <a:latin typeface="Montserrat"/>
                <a:ea typeface="Montserrat"/>
                <a:cs typeface="Montserrat"/>
                <a:sym typeface="Montserrat"/>
              </a:rPr>
              <a:t> begins to decline.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signifies that adding an extra cluster is </a:t>
            </a:r>
            <a:r>
              <a:rPr b="1" lang="en" sz="2900">
                <a:solidFill>
                  <a:srgbClr val="434343"/>
                </a:solidFill>
                <a:latin typeface="Montserrat"/>
                <a:ea typeface="Montserrat"/>
                <a:cs typeface="Montserrat"/>
                <a:sym typeface="Montserrat"/>
              </a:rPr>
              <a:t>not</a:t>
            </a:r>
            <a:r>
              <a:rPr lang="en" sz="2900">
                <a:solidFill>
                  <a:srgbClr val="434343"/>
                </a:solidFill>
                <a:latin typeface="Montserrat"/>
                <a:ea typeface="Montserrat"/>
                <a:cs typeface="Montserrat"/>
                <a:sym typeface="Montserrat"/>
              </a:rPr>
              <a:t> obtaining enough clarity of cluster separation to justify increasing K.</a:t>
            </a:r>
            <a:endParaRPr sz="2900">
              <a:solidFill>
                <a:srgbClr val="434343"/>
              </a:solidFill>
              <a:latin typeface="Montserrat"/>
              <a:ea typeface="Montserrat"/>
              <a:cs typeface="Montserrat"/>
              <a:sym typeface="Montserrat"/>
            </a:endParaRPr>
          </a:p>
        </p:txBody>
      </p:sp>
      <p:pic>
        <p:nvPicPr>
          <p:cNvPr descr="watermark.jpg" id="1640" name="Google Shape;1640;p9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41" name="Google Shape;1641;p9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5" name="Shape 1645"/>
        <p:cNvGrpSpPr/>
        <p:nvPr/>
      </p:nvGrpSpPr>
      <p:grpSpPr>
        <a:xfrm>
          <a:off x="0" y="0"/>
          <a:ext cx="0" cy="0"/>
          <a:chOff x="0" y="0"/>
          <a:chExt cx="0" cy="0"/>
        </a:xfrm>
      </p:grpSpPr>
      <p:sp>
        <p:nvSpPr>
          <p:cNvPr id="1646" name="Google Shape;1646;p9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647" name="Google Shape;1647;p9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is known as the “elbow” method since we will track where decrease in SSD begins to flatten out compared to increasing K values.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walk through what this chart would look like...</a:t>
            </a:r>
            <a:endParaRPr sz="2900">
              <a:solidFill>
                <a:srgbClr val="434343"/>
              </a:solidFill>
              <a:latin typeface="Montserrat"/>
              <a:ea typeface="Montserrat"/>
              <a:cs typeface="Montserrat"/>
              <a:sym typeface="Montserrat"/>
            </a:endParaRPr>
          </a:p>
        </p:txBody>
      </p:sp>
      <p:pic>
        <p:nvPicPr>
          <p:cNvPr descr="watermark.jpg" id="1648" name="Google Shape;1648;p9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49" name="Google Shape;1649;p9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3" name="Shape 1653"/>
        <p:cNvGrpSpPr/>
        <p:nvPr/>
      </p:nvGrpSpPr>
      <p:grpSpPr>
        <a:xfrm>
          <a:off x="0" y="0"/>
          <a:ext cx="0" cy="0"/>
          <a:chOff x="0" y="0"/>
          <a:chExt cx="0" cy="0"/>
        </a:xfrm>
      </p:grpSpPr>
      <p:sp>
        <p:nvSpPr>
          <p:cNvPr id="1654" name="Google Shape;1654;p94"/>
          <p:cNvSpPr/>
          <p:nvPr/>
        </p:nvSpPr>
        <p:spPr>
          <a:xfrm>
            <a:off x="605703" y="2284300"/>
            <a:ext cx="3142200" cy="18750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9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656" name="Google Shape;1656;p94"/>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Start with K=2</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657" name="Google Shape;1657;p9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58" name="Google Shape;1658;p9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659" name="Google Shape;1659;p94"/>
          <p:cNvSpPr txBox="1"/>
          <p:nvPr/>
        </p:nvSpPr>
        <p:spPr>
          <a:xfrm>
            <a:off x="1715360" y="4159293"/>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660" name="Google Shape;1660;p94"/>
          <p:cNvSpPr txBox="1"/>
          <p:nvPr/>
        </p:nvSpPr>
        <p:spPr>
          <a:xfrm>
            <a:off x="-270400" y="29460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661" name="Google Shape;1661;p94"/>
          <p:cNvSpPr/>
          <p:nvPr/>
        </p:nvSpPr>
        <p:spPr>
          <a:xfrm>
            <a:off x="969325" y="3025238"/>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94"/>
          <p:cNvSpPr/>
          <p:nvPr/>
        </p:nvSpPr>
        <p:spPr>
          <a:xfrm>
            <a:off x="1435950" y="2956463"/>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94"/>
          <p:cNvSpPr/>
          <p:nvPr/>
        </p:nvSpPr>
        <p:spPr>
          <a:xfrm>
            <a:off x="1200325" y="3479963"/>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94"/>
          <p:cNvSpPr/>
          <p:nvPr/>
        </p:nvSpPr>
        <p:spPr>
          <a:xfrm>
            <a:off x="2808750" y="2801063"/>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94"/>
          <p:cNvSpPr/>
          <p:nvPr/>
        </p:nvSpPr>
        <p:spPr>
          <a:xfrm>
            <a:off x="3393250" y="2869838"/>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94"/>
          <p:cNvSpPr/>
          <p:nvPr/>
        </p:nvSpPr>
        <p:spPr>
          <a:xfrm>
            <a:off x="3039025" y="3549788"/>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94"/>
          <p:cNvSpPr/>
          <p:nvPr/>
        </p:nvSpPr>
        <p:spPr>
          <a:xfrm>
            <a:off x="2653350" y="3423613"/>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94"/>
          <p:cNvSpPr/>
          <p:nvPr/>
        </p:nvSpPr>
        <p:spPr>
          <a:xfrm rot="10800000">
            <a:off x="1200325" y="3231988"/>
            <a:ext cx="155400" cy="134400"/>
          </a:xfrm>
          <a:prstGeom prst="triangle">
            <a:avLst>
              <a:gd fmla="val 50000"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94"/>
          <p:cNvSpPr/>
          <p:nvPr/>
        </p:nvSpPr>
        <p:spPr>
          <a:xfrm rot="10800000">
            <a:off x="2998325" y="3180638"/>
            <a:ext cx="155400" cy="134400"/>
          </a:xfrm>
          <a:prstGeom prst="triangl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94"/>
          <p:cNvSpPr/>
          <p:nvPr/>
        </p:nvSpPr>
        <p:spPr>
          <a:xfrm>
            <a:off x="5482503" y="2284300"/>
            <a:ext cx="3142200" cy="18750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94"/>
          <p:cNvSpPr txBox="1"/>
          <p:nvPr/>
        </p:nvSpPr>
        <p:spPr>
          <a:xfrm>
            <a:off x="6733935" y="4159293"/>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K</a:t>
            </a:r>
            <a:endParaRPr>
              <a:latin typeface="Montserrat"/>
              <a:ea typeface="Montserrat"/>
              <a:cs typeface="Montserrat"/>
              <a:sym typeface="Montserrat"/>
            </a:endParaRPr>
          </a:p>
        </p:txBody>
      </p:sp>
      <p:sp>
        <p:nvSpPr>
          <p:cNvPr id="1672" name="Google Shape;1672;p94"/>
          <p:cNvSpPr txBox="1"/>
          <p:nvPr/>
        </p:nvSpPr>
        <p:spPr>
          <a:xfrm>
            <a:off x="4600335" y="2940093"/>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SSD</a:t>
            </a:r>
            <a:endParaRPr>
              <a:latin typeface="Montserrat"/>
              <a:ea typeface="Montserrat"/>
              <a:cs typeface="Montserrat"/>
              <a:sym typeface="Montserrat"/>
            </a:endParaRPr>
          </a:p>
        </p:txBody>
      </p:sp>
      <p:sp>
        <p:nvSpPr>
          <p:cNvPr id="1673" name="Google Shape;1673;p94"/>
          <p:cNvSpPr/>
          <p:nvPr/>
        </p:nvSpPr>
        <p:spPr>
          <a:xfrm>
            <a:off x="5682025" y="2466847"/>
            <a:ext cx="112800" cy="112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7" name="Shape 1677"/>
        <p:cNvGrpSpPr/>
        <p:nvPr/>
      </p:nvGrpSpPr>
      <p:grpSpPr>
        <a:xfrm>
          <a:off x="0" y="0"/>
          <a:ext cx="0" cy="0"/>
          <a:chOff x="0" y="0"/>
          <a:chExt cx="0" cy="0"/>
        </a:xfrm>
      </p:grpSpPr>
      <p:sp>
        <p:nvSpPr>
          <p:cNvPr id="1678" name="Google Shape;1678;p95"/>
          <p:cNvSpPr/>
          <p:nvPr/>
        </p:nvSpPr>
        <p:spPr>
          <a:xfrm>
            <a:off x="605703" y="2284300"/>
            <a:ext cx="3142200" cy="18750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9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680" name="Google Shape;1680;p95"/>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Increase K and measure SSD</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681" name="Google Shape;1681;p9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82" name="Google Shape;1682;p9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683" name="Google Shape;1683;p95"/>
          <p:cNvSpPr txBox="1"/>
          <p:nvPr/>
        </p:nvSpPr>
        <p:spPr>
          <a:xfrm>
            <a:off x="1715360" y="4159293"/>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684" name="Google Shape;1684;p95"/>
          <p:cNvSpPr txBox="1"/>
          <p:nvPr/>
        </p:nvSpPr>
        <p:spPr>
          <a:xfrm>
            <a:off x="-270400" y="29460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685" name="Google Shape;1685;p95"/>
          <p:cNvSpPr/>
          <p:nvPr/>
        </p:nvSpPr>
        <p:spPr>
          <a:xfrm>
            <a:off x="969325" y="3025238"/>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95"/>
          <p:cNvSpPr/>
          <p:nvPr/>
        </p:nvSpPr>
        <p:spPr>
          <a:xfrm>
            <a:off x="1435950" y="2956463"/>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95"/>
          <p:cNvSpPr/>
          <p:nvPr/>
        </p:nvSpPr>
        <p:spPr>
          <a:xfrm>
            <a:off x="1200325" y="3479963"/>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95"/>
          <p:cNvSpPr/>
          <p:nvPr/>
        </p:nvSpPr>
        <p:spPr>
          <a:xfrm>
            <a:off x="2808750" y="2801063"/>
            <a:ext cx="155400" cy="155400"/>
          </a:xfrm>
          <a:prstGeom prst="ellipse">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95"/>
          <p:cNvSpPr/>
          <p:nvPr/>
        </p:nvSpPr>
        <p:spPr>
          <a:xfrm>
            <a:off x="3393250" y="2869838"/>
            <a:ext cx="155400" cy="155400"/>
          </a:xfrm>
          <a:prstGeom prst="ellipse">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95"/>
          <p:cNvSpPr/>
          <p:nvPr/>
        </p:nvSpPr>
        <p:spPr>
          <a:xfrm>
            <a:off x="3039025" y="3549788"/>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95"/>
          <p:cNvSpPr/>
          <p:nvPr/>
        </p:nvSpPr>
        <p:spPr>
          <a:xfrm>
            <a:off x="2653350" y="3423613"/>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95"/>
          <p:cNvSpPr/>
          <p:nvPr/>
        </p:nvSpPr>
        <p:spPr>
          <a:xfrm rot="10800000">
            <a:off x="1200325" y="3231988"/>
            <a:ext cx="155400" cy="134400"/>
          </a:xfrm>
          <a:prstGeom prst="triangle">
            <a:avLst>
              <a:gd fmla="val 50000"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95"/>
          <p:cNvSpPr/>
          <p:nvPr/>
        </p:nvSpPr>
        <p:spPr>
          <a:xfrm rot="10800000">
            <a:off x="2846188" y="3525988"/>
            <a:ext cx="155400" cy="134400"/>
          </a:xfrm>
          <a:prstGeom prst="triangl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95"/>
          <p:cNvSpPr/>
          <p:nvPr/>
        </p:nvSpPr>
        <p:spPr>
          <a:xfrm>
            <a:off x="5482503" y="2284300"/>
            <a:ext cx="3142200" cy="18750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95"/>
          <p:cNvSpPr txBox="1"/>
          <p:nvPr/>
        </p:nvSpPr>
        <p:spPr>
          <a:xfrm>
            <a:off x="6733935" y="4159293"/>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K</a:t>
            </a:r>
            <a:endParaRPr>
              <a:latin typeface="Montserrat"/>
              <a:ea typeface="Montserrat"/>
              <a:cs typeface="Montserrat"/>
              <a:sym typeface="Montserrat"/>
            </a:endParaRPr>
          </a:p>
        </p:txBody>
      </p:sp>
      <p:sp>
        <p:nvSpPr>
          <p:cNvPr id="1696" name="Google Shape;1696;p95"/>
          <p:cNvSpPr txBox="1"/>
          <p:nvPr/>
        </p:nvSpPr>
        <p:spPr>
          <a:xfrm>
            <a:off x="4600335" y="2940093"/>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SSD</a:t>
            </a:r>
            <a:endParaRPr>
              <a:latin typeface="Montserrat"/>
              <a:ea typeface="Montserrat"/>
              <a:cs typeface="Montserrat"/>
              <a:sym typeface="Montserrat"/>
            </a:endParaRPr>
          </a:p>
        </p:txBody>
      </p:sp>
      <p:sp>
        <p:nvSpPr>
          <p:cNvPr id="1697" name="Google Shape;1697;p95"/>
          <p:cNvSpPr/>
          <p:nvPr/>
        </p:nvSpPr>
        <p:spPr>
          <a:xfrm>
            <a:off x="5682025" y="2466847"/>
            <a:ext cx="112800" cy="112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95"/>
          <p:cNvSpPr/>
          <p:nvPr/>
        </p:nvSpPr>
        <p:spPr>
          <a:xfrm rot="10800000">
            <a:off x="3077088" y="2880338"/>
            <a:ext cx="155400" cy="134400"/>
          </a:xfrm>
          <a:prstGeom prst="triangle">
            <a:avLst>
              <a:gd fmla="val 50000" name="adj"/>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95"/>
          <p:cNvSpPr/>
          <p:nvPr/>
        </p:nvSpPr>
        <p:spPr>
          <a:xfrm>
            <a:off x="6148375" y="2912447"/>
            <a:ext cx="112800" cy="112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3" name="Shape 1703"/>
        <p:cNvGrpSpPr/>
        <p:nvPr/>
      </p:nvGrpSpPr>
      <p:grpSpPr>
        <a:xfrm>
          <a:off x="0" y="0"/>
          <a:ext cx="0" cy="0"/>
          <a:chOff x="0" y="0"/>
          <a:chExt cx="0" cy="0"/>
        </a:xfrm>
      </p:grpSpPr>
      <p:sp>
        <p:nvSpPr>
          <p:cNvPr id="1704" name="Google Shape;1704;p96"/>
          <p:cNvSpPr/>
          <p:nvPr/>
        </p:nvSpPr>
        <p:spPr>
          <a:xfrm>
            <a:off x="605703" y="2284300"/>
            <a:ext cx="3142200" cy="18750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9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706" name="Google Shape;1706;p96"/>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Increase K and measure SSD:</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707" name="Google Shape;1707;p9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08" name="Google Shape;1708;p9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709" name="Google Shape;1709;p96"/>
          <p:cNvSpPr txBox="1"/>
          <p:nvPr/>
        </p:nvSpPr>
        <p:spPr>
          <a:xfrm>
            <a:off x="1715360" y="4159293"/>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710" name="Google Shape;1710;p96"/>
          <p:cNvSpPr txBox="1"/>
          <p:nvPr/>
        </p:nvSpPr>
        <p:spPr>
          <a:xfrm>
            <a:off x="-270400" y="29460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711" name="Google Shape;1711;p96"/>
          <p:cNvSpPr/>
          <p:nvPr/>
        </p:nvSpPr>
        <p:spPr>
          <a:xfrm>
            <a:off x="969325" y="3025238"/>
            <a:ext cx="155400" cy="1554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96"/>
          <p:cNvSpPr/>
          <p:nvPr/>
        </p:nvSpPr>
        <p:spPr>
          <a:xfrm>
            <a:off x="1435950" y="2956463"/>
            <a:ext cx="155400" cy="1554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96"/>
          <p:cNvSpPr/>
          <p:nvPr/>
        </p:nvSpPr>
        <p:spPr>
          <a:xfrm>
            <a:off x="1200325" y="3479963"/>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96"/>
          <p:cNvSpPr/>
          <p:nvPr/>
        </p:nvSpPr>
        <p:spPr>
          <a:xfrm>
            <a:off x="2808750" y="2801063"/>
            <a:ext cx="155400" cy="155400"/>
          </a:xfrm>
          <a:prstGeom prst="ellipse">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96"/>
          <p:cNvSpPr/>
          <p:nvPr/>
        </p:nvSpPr>
        <p:spPr>
          <a:xfrm>
            <a:off x="3393250" y="2869838"/>
            <a:ext cx="155400" cy="155400"/>
          </a:xfrm>
          <a:prstGeom prst="ellipse">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96"/>
          <p:cNvSpPr/>
          <p:nvPr/>
        </p:nvSpPr>
        <p:spPr>
          <a:xfrm>
            <a:off x="3039025" y="3549788"/>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96"/>
          <p:cNvSpPr/>
          <p:nvPr/>
        </p:nvSpPr>
        <p:spPr>
          <a:xfrm>
            <a:off x="2653350" y="3423613"/>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96"/>
          <p:cNvSpPr/>
          <p:nvPr/>
        </p:nvSpPr>
        <p:spPr>
          <a:xfrm rot="10800000">
            <a:off x="1202638" y="3014738"/>
            <a:ext cx="155400" cy="134400"/>
          </a:xfrm>
          <a:prstGeom prst="triangle">
            <a:avLst>
              <a:gd fmla="val 50000" name="adj"/>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96"/>
          <p:cNvSpPr/>
          <p:nvPr/>
        </p:nvSpPr>
        <p:spPr>
          <a:xfrm rot="10800000">
            <a:off x="2846188" y="3525988"/>
            <a:ext cx="155400" cy="134400"/>
          </a:xfrm>
          <a:prstGeom prst="triangl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96"/>
          <p:cNvSpPr/>
          <p:nvPr/>
        </p:nvSpPr>
        <p:spPr>
          <a:xfrm>
            <a:off x="5482503" y="2284300"/>
            <a:ext cx="3142200" cy="18750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96"/>
          <p:cNvSpPr txBox="1"/>
          <p:nvPr/>
        </p:nvSpPr>
        <p:spPr>
          <a:xfrm>
            <a:off x="6733935" y="4159293"/>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K</a:t>
            </a:r>
            <a:endParaRPr>
              <a:latin typeface="Montserrat"/>
              <a:ea typeface="Montserrat"/>
              <a:cs typeface="Montserrat"/>
              <a:sym typeface="Montserrat"/>
            </a:endParaRPr>
          </a:p>
        </p:txBody>
      </p:sp>
      <p:sp>
        <p:nvSpPr>
          <p:cNvPr id="1722" name="Google Shape;1722;p96"/>
          <p:cNvSpPr txBox="1"/>
          <p:nvPr/>
        </p:nvSpPr>
        <p:spPr>
          <a:xfrm>
            <a:off x="4600335" y="2940093"/>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SSD</a:t>
            </a:r>
            <a:endParaRPr>
              <a:latin typeface="Montserrat"/>
              <a:ea typeface="Montserrat"/>
              <a:cs typeface="Montserrat"/>
              <a:sym typeface="Montserrat"/>
            </a:endParaRPr>
          </a:p>
        </p:txBody>
      </p:sp>
      <p:sp>
        <p:nvSpPr>
          <p:cNvPr id="1723" name="Google Shape;1723;p96"/>
          <p:cNvSpPr/>
          <p:nvPr/>
        </p:nvSpPr>
        <p:spPr>
          <a:xfrm>
            <a:off x="5682025" y="2466847"/>
            <a:ext cx="112800" cy="112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96"/>
          <p:cNvSpPr/>
          <p:nvPr/>
        </p:nvSpPr>
        <p:spPr>
          <a:xfrm rot="10800000">
            <a:off x="3077088" y="2880338"/>
            <a:ext cx="155400" cy="134400"/>
          </a:xfrm>
          <a:prstGeom prst="triangle">
            <a:avLst>
              <a:gd fmla="val 50000" name="adj"/>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96"/>
          <p:cNvSpPr/>
          <p:nvPr/>
        </p:nvSpPr>
        <p:spPr>
          <a:xfrm>
            <a:off x="6148375" y="2912447"/>
            <a:ext cx="112800" cy="112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96"/>
          <p:cNvSpPr/>
          <p:nvPr/>
        </p:nvSpPr>
        <p:spPr>
          <a:xfrm rot="10800000">
            <a:off x="1202638" y="3485563"/>
            <a:ext cx="155400" cy="134400"/>
          </a:xfrm>
          <a:prstGeom prst="triangle">
            <a:avLst>
              <a:gd fmla="val 50000"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96"/>
          <p:cNvSpPr/>
          <p:nvPr/>
        </p:nvSpPr>
        <p:spPr>
          <a:xfrm>
            <a:off x="6703675" y="3206122"/>
            <a:ext cx="112800" cy="112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1" name="Shape 1731"/>
        <p:cNvGrpSpPr/>
        <p:nvPr/>
      </p:nvGrpSpPr>
      <p:grpSpPr>
        <a:xfrm>
          <a:off x="0" y="0"/>
          <a:ext cx="0" cy="0"/>
          <a:chOff x="0" y="0"/>
          <a:chExt cx="0" cy="0"/>
        </a:xfrm>
      </p:grpSpPr>
      <p:sp>
        <p:nvSpPr>
          <p:cNvPr id="1732" name="Google Shape;1732;p97"/>
          <p:cNvSpPr/>
          <p:nvPr/>
        </p:nvSpPr>
        <p:spPr>
          <a:xfrm>
            <a:off x="605703" y="2284300"/>
            <a:ext cx="3142200" cy="18750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9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734" name="Google Shape;1734;p97"/>
          <p:cNvSpPr txBox="1"/>
          <p:nvPr>
            <p:ph idx="1" type="body"/>
          </p:nvPr>
        </p:nvSpPr>
        <p:spPr>
          <a:xfrm>
            <a:off x="311700" y="1152475"/>
            <a:ext cx="8684100" cy="115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Repeat this process for some set number of K values</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a:p>
            <a:pPr indent="0" lvl="0" marL="13716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735" name="Google Shape;1735;p9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36" name="Google Shape;1736;p9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737" name="Google Shape;1737;p97"/>
          <p:cNvSpPr txBox="1"/>
          <p:nvPr/>
        </p:nvSpPr>
        <p:spPr>
          <a:xfrm>
            <a:off x="1715360" y="4159293"/>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X1</a:t>
            </a:r>
            <a:endParaRPr>
              <a:latin typeface="Montserrat"/>
              <a:ea typeface="Montserrat"/>
              <a:cs typeface="Montserrat"/>
              <a:sym typeface="Montserrat"/>
            </a:endParaRPr>
          </a:p>
        </p:txBody>
      </p:sp>
      <p:sp>
        <p:nvSpPr>
          <p:cNvPr id="1738" name="Google Shape;1738;p97"/>
          <p:cNvSpPr txBox="1"/>
          <p:nvPr/>
        </p:nvSpPr>
        <p:spPr>
          <a:xfrm>
            <a:off x="-270400" y="2946056"/>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X2</a:t>
            </a:r>
            <a:endParaRPr>
              <a:latin typeface="Montserrat"/>
              <a:ea typeface="Montserrat"/>
              <a:cs typeface="Montserrat"/>
              <a:sym typeface="Montserrat"/>
            </a:endParaRPr>
          </a:p>
        </p:txBody>
      </p:sp>
      <p:sp>
        <p:nvSpPr>
          <p:cNvPr id="1739" name="Google Shape;1739;p97"/>
          <p:cNvSpPr/>
          <p:nvPr/>
        </p:nvSpPr>
        <p:spPr>
          <a:xfrm>
            <a:off x="969325" y="3025238"/>
            <a:ext cx="155400" cy="1554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97"/>
          <p:cNvSpPr/>
          <p:nvPr/>
        </p:nvSpPr>
        <p:spPr>
          <a:xfrm>
            <a:off x="1435950" y="2956463"/>
            <a:ext cx="155400" cy="155400"/>
          </a:xfrm>
          <a:prstGeom prst="ellipse">
            <a:avLst/>
          </a:prstGeom>
          <a:solidFill>
            <a:srgbClr val="674EA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97"/>
          <p:cNvSpPr/>
          <p:nvPr/>
        </p:nvSpPr>
        <p:spPr>
          <a:xfrm>
            <a:off x="1200325" y="3479963"/>
            <a:ext cx="155400" cy="1554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97"/>
          <p:cNvSpPr/>
          <p:nvPr/>
        </p:nvSpPr>
        <p:spPr>
          <a:xfrm>
            <a:off x="2808750" y="2801063"/>
            <a:ext cx="155400" cy="155400"/>
          </a:xfrm>
          <a:prstGeom prst="ellipse">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97"/>
          <p:cNvSpPr/>
          <p:nvPr/>
        </p:nvSpPr>
        <p:spPr>
          <a:xfrm>
            <a:off x="3393250" y="2869838"/>
            <a:ext cx="155400" cy="155400"/>
          </a:xfrm>
          <a:prstGeom prst="ellipse">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97"/>
          <p:cNvSpPr/>
          <p:nvPr/>
        </p:nvSpPr>
        <p:spPr>
          <a:xfrm>
            <a:off x="3039025" y="3549788"/>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97"/>
          <p:cNvSpPr/>
          <p:nvPr/>
        </p:nvSpPr>
        <p:spPr>
          <a:xfrm>
            <a:off x="2653350" y="3423613"/>
            <a:ext cx="155400" cy="155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97"/>
          <p:cNvSpPr/>
          <p:nvPr/>
        </p:nvSpPr>
        <p:spPr>
          <a:xfrm rot="10800000">
            <a:off x="1202638" y="3014738"/>
            <a:ext cx="155400" cy="134400"/>
          </a:xfrm>
          <a:prstGeom prst="triangle">
            <a:avLst>
              <a:gd fmla="val 50000" name="adj"/>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97"/>
          <p:cNvSpPr/>
          <p:nvPr/>
        </p:nvSpPr>
        <p:spPr>
          <a:xfrm rot="10800000">
            <a:off x="2846188" y="3525988"/>
            <a:ext cx="155400" cy="134400"/>
          </a:xfrm>
          <a:prstGeom prst="triangle">
            <a:avLst>
              <a:gd fmla="val 50000"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97"/>
          <p:cNvSpPr/>
          <p:nvPr/>
        </p:nvSpPr>
        <p:spPr>
          <a:xfrm>
            <a:off x="5482503" y="2284300"/>
            <a:ext cx="3142200" cy="1875000"/>
          </a:xfrm>
          <a:prstGeom prst="rect">
            <a:avLst/>
          </a:prstGeom>
          <a:noFill/>
          <a:ln cap="flat" cmpd="sng" w="19050">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97"/>
          <p:cNvSpPr txBox="1"/>
          <p:nvPr/>
        </p:nvSpPr>
        <p:spPr>
          <a:xfrm>
            <a:off x="6733935" y="4159293"/>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K</a:t>
            </a:r>
            <a:endParaRPr>
              <a:latin typeface="Montserrat"/>
              <a:ea typeface="Montserrat"/>
              <a:cs typeface="Montserrat"/>
              <a:sym typeface="Montserrat"/>
            </a:endParaRPr>
          </a:p>
        </p:txBody>
      </p:sp>
      <p:sp>
        <p:nvSpPr>
          <p:cNvPr id="1750" name="Google Shape;1750;p97"/>
          <p:cNvSpPr txBox="1"/>
          <p:nvPr/>
        </p:nvSpPr>
        <p:spPr>
          <a:xfrm>
            <a:off x="4600335" y="2940093"/>
            <a:ext cx="1173300" cy="20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Montserrat"/>
                <a:ea typeface="Montserrat"/>
                <a:cs typeface="Montserrat"/>
                <a:sym typeface="Montserrat"/>
              </a:rPr>
              <a:t>SSD</a:t>
            </a:r>
            <a:endParaRPr>
              <a:latin typeface="Montserrat"/>
              <a:ea typeface="Montserrat"/>
              <a:cs typeface="Montserrat"/>
              <a:sym typeface="Montserrat"/>
            </a:endParaRPr>
          </a:p>
        </p:txBody>
      </p:sp>
      <p:sp>
        <p:nvSpPr>
          <p:cNvPr id="1751" name="Google Shape;1751;p97"/>
          <p:cNvSpPr/>
          <p:nvPr/>
        </p:nvSpPr>
        <p:spPr>
          <a:xfrm>
            <a:off x="5682025" y="2466847"/>
            <a:ext cx="112800" cy="112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97"/>
          <p:cNvSpPr/>
          <p:nvPr/>
        </p:nvSpPr>
        <p:spPr>
          <a:xfrm rot="10800000">
            <a:off x="3077088" y="2880338"/>
            <a:ext cx="155400" cy="134400"/>
          </a:xfrm>
          <a:prstGeom prst="triangle">
            <a:avLst>
              <a:gd fmla="val 50000" name="adj"/>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97"/>
          <p:cNvSpPr/>
          <p:nvPr/>
        </p:nvSpPr>
        <p:spPr>
          <a:xfrm>
            <a:off x="6148375" y="2912447"/>
            <a:ext cx="112800" cy="112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97"/>
          <p:cNvSpPr/>
          <p:nvPr/>
        </p:nvSpPr>
        <p:spPr>
          <a:xfrm rot="10800000">
            <a:off x="1202638" y="3485563"/>
            <a:ext cx="155400" cy="134400"/>
          </a:xfrm>
          <a:prstGeom prst="triangle">
            <a:avLst>
              <a:gd fmla="val 50000"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97"/>
          <p:cNvSpPr/>
          <p:nvPr/>
        </p:nvSpPr>
        <p:spPr>
          <a:xfrm>
            <a:off x="6703675" y="3206122"/>
            <a:ext cx="112800" cy="112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9" name="Shape 1759"/>
        <p:cNvGrpSpPr/>
        <p:nvPr/>
      </p:nvGrpSpPr>
      <p:grpSpPr>
        <a:xfrm>
          <a:off x="0" y="0"/>
          <a:ext cx="0" cy="0"/>
          <a:chOff x="0" y="0"/>
          <a:chExt cx="0" cy="0"/>
        </a:xfrm>
      </p:grpSpPr>
      <p:sp>
        <p:nvSpPr>
          <p:cNvPr id="1760" name="Google Shape;1760;p9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1761" name="Google Shape;1761;p9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You will see a continuous decline.</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1762" name="Google Shape;1762;p9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63" name="Google Shape;1763;p9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764" name="Google Shape;1764;p98"/>
          <p:cNvPicPr preferRelativeResize="0"/>
          <p:nvPr/>
        </p:nvPicPr>
        <p:blipFill>
          <a:blip r:embed="rId4">
            <a:alphaModFix/>
          </a:blip>
          <a:stretch>
            <a:fillRect/>
          </a:stretch>
        </p:blipFill>
        <p:spPr>
          <a:xfrm>
            <a:off x="2364097" y="1856100"/>
            <a:ext cx="4579300" cy="3119949"/>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8" name="Shape 1768"/>
        <p:cNvGrpSpPr/>
        <p:nvPr/>
      </p:nvGrpSpPr>
      <p:grpSpPr>
        <a:xfrm>
          <a:off x="0" y="0"/>
          <a:ext cx="0" cy="0"/>
          <a:chOff x="0" y="0"/>
          <a:chExt cx="0" cy="0"/>
        </a:xfrm>
      </p:grpSpPr>
      <p:sp>
        <p:nvSpPr>
          <p:cNvPr id="1769" name="Google Shape;1769;p9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770" name="Google Shape;1770;p9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Eventually you will see “elbow” points:</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1771" name="Google Shape;1771;p9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72" name="Google Shape;1772;p9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773" name="Google Shape;1773;p99"/>
          <p:cNvPicPr preferRelativeResize="0"/>
          <p:nvPr/>
        </p:nvPicPr>
        <p:blipFill>
          <a:blip r:embed="rId4">
            <a:alphaModFix/>
          </a:blip>
          <a:stretch>
            <a:fillRect/>
          </a:stretch>
        </p:blipFill>
        <p:spPr>
          <a:xfrm>
            <a:off x="2204497" y="1722350"/>
            <a:ext cx="4898499" cy="3337425"/>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7" name="Shape 1777"/>
        <p:cNvGrpSpPr/>
        <p:nvPr/>
      </p:nvGrpSpPr>
      <p:grpSpPr>
        <a:xfrm>
          <a:off x="0" y="0"/>
          <a:ext cx="0" cy="0"/>
          <a:chOff x="0" y="0"/>
          <a:chExt cx="0" cy="0"/>
        </a:xfrm>
      </p:grpSpPr>
      <p:sp>
        <p:nvSpPr>
          <p:cNvPr id="1778" name="Google Shape;1778;p10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779" name="Google Shape;1779;p10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Eventually you will see “elbow” points: </a:t>
            </a:r>
            <a:endParaRPr sz="2900">
              <a:solidFill>
                <a:srgbClr val="434343"/>
              </a:solidFill>
              <a:latin typeface="Montserrat"/>
              <a:ea typeface="Montserrat"/>
              <a:cs typeface="Montserrat"/>
              <a:sym typeface="Montserrat"/>
            </a:endParaRPr>
          </a:p>
        </p:txBody>
      </p:sp>
      <p:pic>
        <p:nvPicPr>
          <p:cNvPr descr="watermark.jpg" id="1780" name="Google Shape;1780;p10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81" name="Google Shape;1781;p10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782" name="Google Shape;1782;p100"/>
          <p:cNvPicPr preferRelativeResize="0"/>
          <p:nvPr/>
        </p:nvPicPr>
        <p:blipFill>
          <a:blip r:embed="rId4">
            <a:alphaModFix/>
          </a:blip>
          <a:stretch>
            <a:fillRect/>
          </a:stretch>
        </p:blipFill>
        <p:spPr>
          <a:xfrm>
            <a:off x="2204497" y="1722350"/>
            <a:ext cx="4898499" cy="3337425"/>
          </a:xfrm>
          <a:prstGeom prst="rect">
            <a:avLst/>
          </a:prstGeom>
          <a:noFill/>
          <a:ln>
            <a:noFill/>
          </a:ln>
        </p:spPr>
      </p:pic>
      <p:sp>
        <p:nvSpPr>
          <p:cNvPr id="1783" name="Google Shape;1783;p100"/>
          <p:cNvSpPr/>
          <p:nvPr/>
        </p:nvSpPr>
        <p:spPr>
          <a:xfrm>
            <a:off x="3312150" y="2961575"/>
            <a:ext cx="308700" cy="225000"/>
          </a:xfrm>
          <a:prstGeom prst="roundRect">
            <a:avLst>
              <a:gd fmla="val 16667" name="adj"/>
            </a:avLst>
          </a:prstGeom>
          <a:noFill/>
          <a:ln cap="flat" cmpd="sng" w="19050">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7" name="Shape 1787"/>
        <p:cNvGrpSpPr/>
        <p:nvPr/>
      </p:nvGrpSpPr>
      <p:grpSpPr>
        <a:xfrm>
          <a:off x="0" y="0"/>
          <a:ext cx="0" cy="0"/>
          <a:chOff x="0" y="0"/>
          <a:chExt cx="0" cy="0"/>
        </a:xfrm>
      </p:grpSpPr>
      <p:sp>
        <p:nvSpPr>
          <p:cNvPr id="1788" name="Google Shape;1788;p10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789" name="Google Shape;1789;p10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Eventually you will see “elbow” points: </a:t>
            </a:r>
            <a:endParaRPr sz="2900">
              <a:solidFill>
                <a:srgbClr val="434343"/>
              </a:solidFill>
              <a:latin typeface="Montserrat"/>
              <a:ea typeface="Montserrat"/>
              <a:cs typeface="Montserrat"/>
              <a:sym typeface="Montserrat"/>
            </a:endParaRPr>
          </a:p>
        </p:txBody>
      </p:sp>
      <p:pic>
        <p:nvPicPr>
          <p:cNvPr descr="watermark.jpg" id="1790" name="Google Shape;1790;p10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91" name="Google Shape;1791;p10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792" name="Google Shape;1792;p101"/>
          <p:cNvPicPr preferRelativeResize="0"/>
          <p:nvPr/>
        </p:nvPicPr>
        <p:blipFill>
          <a:blip r:embed="rId4">
            <a:alphaModFix/>
          </a:blip>
          <a:stretch>
            <a:fillRect/>
          </a:stretch>
        </p:blipFill>
        <p:spPr>
          <a:xfrm>
            <a:off x="2204497" y="1722350"/>
            <a:ext cx="4898499" cy="3337425"/>
          </a:xfrm>
          <a:prstGeom prst="rect">
            <a:avLst/>
          </a:prstGeom>
          <a:noFill/>
          <a:ln>
            <a:noFill/>
          </a:ln>
        </p:spPr>
      </p:pic>
      <p:sp>
        <p:nvSpPr>
          <p:cNvPr id="1793" name="Google Shape;1793;p101"/>
          <p:cNvSpPr/>
          <p:nvPr/>
        </p:nvSpPr>
        <p:spPr>
          <a:xfrm>
            <a:off x="4170275" y="3589475"/>
            <a:ext cx="308700" cy="225000"/>
          </a:xfrm>
          <a:prstGeom prst="roundRect">
            <a:avLst>
              <a:gd fmla="val 16667" name="adj"/>
            </a:avLst>
          </a:prstGeom>
          <a:noFill/>
          <a:ln cap="flat" cmpd="sng" w="19050">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7" name="Shape 1797"/>
        <p:cNvGrpSpPr/>
        <p:nvPr/>
      </p:nvGrpSpPr>
      <p:grpSpPr>
        <a:xfrm>
          <a:off x="0" y="0"/>
          <a:ext cx="0" cy="0"/>
          <a:chOff x="0" y="0"/>
          <a:chExt cx="0" cy="0"/>
        </a:xfrm>
      </p:grpSpPr>
      <p:sp>
        <p:nvSpPr>
          <p:cNvPr id="1798" name="Google Shape;1798;p10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799" name="Google Shape;1799;p10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Eventually you will see “elbow” points: </a:t>
            </a:r>
            <a:endParaRPr sz="2900">
              <a:solidFill>
                <a:srgbClr val="434343"/>
              </a:solidFill>
              <a:latin typeface="Montserrat"/>
              <a:ea typeface="Montserrat"/>
              <a:cs typeface="Montserrat"/>
              <a:sym typeface="Montserrat"/>
            </a:endParaRPr>
          </a:p>
        </p:txBody>
      </p:sp>
      <p:pic>
        <p:nvPicPr>
          <p:cNvPr descr="watermark.jpg" id="1800" name="Google Shape;1800;p10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01" name="Google Shape;1801;p10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802" name="Google Shape;1802;p102"/>
          <p:cNvPicPr preferRelativeResize="0"/>
          <p:nvPr/>
        </p:nvPicPr>
        <p:blipFill>
          <a:blip r:embed="rId4">
            <a:alphaModFix/>
          </a:blip>
          <a:stretch>
            <a:fillRect/>
          </a:stretch>
        </p:blipFill>
        <p:spPr>
          <a:xfrm>
            <a:off x="2204497" y="1722350"/>
            <a:ext cx="4898499" cy="3337425"/>
          </a:xfrm>
          <a:prstGeom prst="rect">
            <a:avLst/>
          </a:prstGeom>
          <a:noFill/>
          <a:ln>
            <a:noFill/>
          </a:ln>
        </p:spPr>
      </p:pic>
      <p:sp>
        <p:nvSpPr>
          <p:cNvPr id="1803" name="Google Shape;1803;p102"/>
          <p:cNvSpPr/>
          <p:nvPr/>
        </p:nvSpPr>
        <p:spPr>
          <a:xfrm>
            <a:off x="4834800" y="3913900"/>
            <a:ext cx="308700" cy="225000"/>
          </a:xfrm>
          <a:prstGeom prst="roundRect">
            <a:avLst>
              <a:gd fmla="val 16667" name="adj"/>
            </a:avLst>
          </a:prstGeom>
          <a:noFill/>
          <a:ln cap="flat" cmpd="sng" w="19050">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7" name="Shape 1807"/>
        <p:cNvGrpSpPr/>
        <p:nvPr/>
      </p:nvGrpSpPr>
      <p:grpSpPr>
        <a:xfrm>
          <a:off x="0" y="0"/>
          <a:ext cx="0" cy="0"/>
          <a:chOff x="0" y="0"/>
          <a:chExt cx="0" cy="0"/>
        </a:xfrm>
      </p:grpSpPr>
      <p:sp>
        <p:nvSpPr>
          <p:cNvPr id="1808" name="Google Shape;1808;p10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809" name="Google Shape;1809;p10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These points are strong indicators that increasing K further is no longer justified as it is not revealing more “signal”.</a:t>
            </a:r>
            <a:endParaRPr sz="2900">
              <a:solidFill>
                <a:srgbClr val="434343"/>
              </a:solidFill>
              <a:latin typeface="Montserrat"/>
              <a:ea typeface="Montserrat"/>
              <a:cs typeface="Montserrat"/>
              <a:sym typeface="Montserrat"/>
            </a:endParaRPr>
          </a:p>
          <a:p>
            <a:pPr indent="-412750" lvl="0" marL="45720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You can also measure out this SSD in a barplot.</a:t>
            </a:r>
            <a:endParaRPr sz="2900">
              <a:solidFill>
                <a:srgbClr val="434343"/>
              </a:solidFill>
              <a:latin typeface="Montserrat"/>
              <a:ea typeface="Montserrat"/>
              <a:cs typeface="Montserrat"/>
              <a:sym typeface="Montserrat"/>
            </a:endParaRPr>
          </a:p>
          <a:p>
            <a:pPr indent="-412750" lvl="0" marL="45720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explore this further with code!</a:t>
            </a:r>
            <a:endParaRPr sz="2900">
              <a:solidFill>
                <a:srgbClr val="434343"/>
              </a:solidFill>
              <a:latin typeface="Montserrat"/>
              <a:ea typeface="Montserrat"/>
              <a:cs typeface="Montserrat"/>
              <a:sym typeface="Montserrat"/>
            </a:endParaRPr>
          </a:p>
        </p:txBody>
      </p:sp>
      <p:pic>
        <p:nvPicPr>
          <p:cNvPr descr="watermark.jpg" id="1810" name="Google Shape;1810;p10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11" name="Google Shape;1811;p10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5" name="Shape 1815"/>
        <p:cNvGrpSpPr/>
        <p:nvPr/>
      </p:nvGrpSpPr>
      <p:grpSpPr>
        <a:xfrm>
          <a:off x="0" y="0"/>
          <a:ext cx="0" cy="0"/>
          <a:chOff x="0" y="0"/>
          <a:chExt cx="0" cy="0"/>
        </a:xfrm>
      </p:grpSpPr>
      <p:sp>
        <p:nvSpPr>
          <p:cNvPr id="1816" name="Google Shape;1816;p10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K-Means Clustering</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Color Quantization</a:t>
            </a:r>
            <a:endParaRPr b="1">
              <a:latin typeface="Montserrat"/>
              <a:ea typeface="Montserrat"/>
              <a:cs typeface="Montserrat"/>
              <a:sym typeface="Montserrat"/>
            </a:endParaRPr>
          </a:p>
        </p:txBody>
      </p:sp>
      <p:sp>
        <p:nvSpPr>
          <p:cNvPr id="1817" name="Google Shape;1817;p10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Part One: General Concepts</a:t>
            </a:r>
            <a:endParaRPr/>
          </a:p>
        </p:txBody>
      </p:sp>
      <p:pic>
        <p:nvPicPr>
          <p:cNvPr descr="watermark.jpg" id="1818" name="Google Shape;1818;p10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19" name="Google Shape;1819;p10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3" name="Shape 1823"/>
        <p:cNvGrpSpPr/>
        <p:nvPr/>
      </p:nvGrpSpPr>
      <p:grpSpPr>
        <a:xfrm>
          <a:off x="0" y="0"/>
          <a:ext cx="0" cy="0"/>
          <a:chOff x="0" y="0"/>
          <a:chExt cx="0" cy="0"/>
        </a:xfrm>
      </p:grpSpPr>
      <p:sp>
        <p:nvSpPr>
          <p:cNvPr id="1824" name="Google Shape;1824;p10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a:t>
            </a:r>
            <a:r>
              <a:rPr lang="en">
                <a:latin typeface="Montserrat"/>
                <a:ea typeface="Montserrat"/>
                <a:cs typeface="Montserrat"/>
                <a:sym typeface="Montserrat"/>
              </a:rPr>
              <a:t>Clustering</a:t>
            </a:r>
            <a:endParaRPr>
              <a:latin typeface="Montserrat"/>
              <a:ea typeface="Montserrat"/>
              <a:cs typeface="Montserrat"/>
              <a:sym typeface="Montserrat"/>
            </a:endParaRPr>
          </a:p>
        </p:txBody>
      </p:sp>
      <p:sp>
        <p:nvSpPr>
          <p:cNvPr id="1825" name="Google Shape;1825;p10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Unsupervised Learning provides opportunities for very creative use cases on algorithm applications.</a:t>
            </a:r>
            <a:endParaRPr sz="2900">
              <a:solidFill>
                <a:srgbClr val="434343"/>
              </a:solidFill>
              <a:latin typeface="Montserrat"/>
              <a:ea typeface="Montserrat"/>
              <a:cs typeface="Montserrat"/>
              <a:sym typeface="Montserrat"/>
            </a:endParaRPr>
          </a:p>
          <a:p>
            <a:pPr indent="-412750" lvl="0" marL="45720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Searching for insights, patterns, and general understanding of our data allows us to apply methods to a variety of tasks.</a:t>
            </a:r>
            <a:endParaRPr sz="2900">
              <a:solidFill>
                <a:srgbClr val="434343"/>
              </a:solidFill>
              <a:latin typeface="Montserrat"/>
              <a:ea typeface="Montserrat"/>
              <a:cs typeface="Montserrat"/>
              <a:sym typeface="Montserrat"/>
            </a:endParaRPr>
          </a:p>
        </p:txBody>
      </p:sp>
      <p:pic>
        <p:nvPicPr>
          <p:cNvPr descr="watermark.jpg" id="1826" name="Google Shape;1826;p10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27" name="Google Shape;1827;p10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1" name="Shape 1831"/>
        <p:cNvGrpSpPr/>
        <p:nvPr/>
      </p:nvGrpSpPr>
      <p:grpSpPr>
        <a:xfrm>
          <a:off x="0" y="0"/>
          <a:ext cx="0" cy="0"/>
          <a:chOff x="0" y="0"/>
          <a:chExt cx="0" cy="0"/>
        </a:xfrm>
      </p:grpSpPr>
      <p:sp>
        <p:nvSpPr>
          <p:cNvPr id="1832" name="Google Shape;1832;p10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1833" name="Google Shape;1833;p10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One interesting application of clustering is on image quantization.</a:t>
            </a:r>
            <a:endParaRPr sz="2900">
              <a:solidFill>
                <a:srgbClr val="434343"/>
              </a:solidFill>
              <a:latin typeface="Montserrat"/>
              <a:ea typeface="Montserrat"/>
              <a:cs typeface="Montserrat"/>
              <a:sym typeface="Montserrat"/>
            </a:endParaRPr>
          </a:p>
          <a:p>
            <a:pPr indent="-412750" lvl="0" marL="45720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discuss images, </a:t>
            </a:r>
            <a:r>
              <a:rPr lang="en" sz="2900">
                <a:solidFill>
                  <a:srgbClr val="434343"/>
                </a:solidFill>
                <a:latin typeface="Montserrat"/>
                <a:ea typeface="Montserrat"/>
                <a:cs typeface="Montserrat"/>
                <a:sym typeface="Montserrat"/>
              </a:rPr>
              <a:t>computers</a:t>
            </a:r>
            <a:r>
              <a:rPr lang="en" sz="2900">
                <a:solidFill>
                  <a:srgbClr val="434343"/>
                </a:solidFill>
                <a:latin typeface="Montserrat"/>
                <a:ea typeface="Montserrat"/>
                <a:cs typeface="Montserrat"/>
                <a:sym typeface="Montserrat"/>
              </a:rPr>
              <a:t>, colors, and quantization to get an idea of how K Means clustering can be applied to different fields.</a:t>
            </a:r>
            <a:endParaRPr sz="2900">
              <a:solidFill>
                <a:srgbClr val="434343"/>
              </a:solidFill>
              <a:latin typeface="Montserrat"/>
              <a:ea typeface="Montserrat"/>
              <a:cs typeface="Montserrat"/>
              <a:sym typeface="Montserrat"/>
            </a:endParaRPr>
          </a:p>
        </p:txBody>
      </p:sp>
      <p:pic>
        <p:nvPicPr>
          <p:cNvPr descr="watermark.jpg" id="1834" name="Google Shape;1834;p10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35" name="Google Shape;1835;p10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9" name="Shape 1839"/>
        <p:cNvGrpSpPr/>
        <p:nvPr/>
      </p:nvGrpSpPr>
      <p:grpSpPr>
        <a:xfrm>
          <a:off x="0" y="0"/>
          <a:ext cx="0" cy="0"/>
          <a:chOff x="0" y="0"/>
          <a:chExt cx="0" cy="0"/>
        </a:xfrm>
      </p:grpSpPr>
      <p:pic>
        <p:nvPicPr>
          <p:cNvPr id="1840" name="Google Shape;1840;p107"/>
          <p:cNvPicPr preferRelativeResize="0"/>
          <p:nvPr/>
        </p:nvPicPr>
        <p:blipFill rotWithShape="1">
          <a:blip r:embed="rId3">
            <a:alphaModFix/>
          </a:blip>
          <a:srcRect b="0" l="0" r="60661" t="0"/>
          <a:stretch/>
        </p:blipFill>
        <p:spPr>
          <a:xfrm>
            <a:off x="1248583" y="2286400"/>
            <a:ext cx="2614774" cy="2619475"/>
          </a:xfrm>
          <a:prstGeom prst="rect">
            <a:avLst/>
          </a:prstGeom>
          <a:noFill/>
          <a:ln>
            <a:noFill/>
          </a:ln>
        </p:spPr>
      </p:pic>
      <p:sp>
        <p:nvSpPr>
          <p:cNvPr id="1841" name="Google Shape;1841;p10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842" name="Google Shape;1842;p10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Imagine an image of a single pen stroke:</a:t>
            </a:r>
            <a:endParaRPr sz="3000">
              <a:solidFill>
                <a:srgbClr val="434343"/>
              </a:solidFill>
              <a:latin typeface="Montserrat"/>
              <a:ea typeface="Montserrat"/>
              <a:cs typeface="Montserrat"/>
              <a:sym typeface="Montserrat"/>
            </a:endParaRPr>
          </a:p>
        </p:txBody>
      </p:sp>
      <p:pic>
        <p:nvPicPr>
          <p:cNvPr descr="watermark.jpg" id="1843" name="Google Shape;1843;p107"/>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844" name="Google Shape;1844;p107"/>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8" name="Shape 1848"/>
        <p:cNvGrpSpPr/>
        <p:nvPr/>
      </p:nvGrpSpPr>
      <p:grpSpPr>
        <a:xfrm>
          <a:off x="0" y="0"/>
          <a:ext cx="0" cy="0"/>
          <a:chOff x="0" y="0"/>
          <a:chExt cx="0" cy="0"/>
        </a:xfrm>
      </p:grpSpPr>
      <p:pic>
        <p:nvPicPr>
          <p:cNvPr id="1849" name="Google Shape;1849;p108"/>
          <p:cNvPicPr preferRelativeResize="0"/>
          <p:nvPr/>
        </p:nvPicPr>
        <p:blipFill rotWithShape="1">
          <a:blip r:embed="rId3">
            <a:alphaModFix/>
          </a:blip>
          <a:srcRect b="0" l="0" r="60661" t="0"/>
          <a:stretch/>
        </p:blipFill>
        <p:spPr>
          <a:xfrm>
            <a:off x="1248583" y="2286400"/>
            <a:ext cx="2614774" cy="2619475"/>
          </a:xfrm>
          <a:prstGeom prst="rect">
            <a:avLst/>
          </a:prstGeom>
          <a:noFill/>
          <a:ln>
            <a:noFill/>
          </a:ln>
        </p:spPr>
      </p:pic>
      <p:sp>
        <p:nvSpPr>
          <p:cNvPr id="1850" name="Google Shape;1850;p10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851" name="Google Shape;1851;p10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image is in </a:t>
            </a:r>
            <a:r>
              <a:rPr b="1" lang="en" sz="3000">
                <a:solidFill>
                  <a:srgbClr val="434343"/>
                </a:solidFill>
                <a:latin typeface="Montserrat"/>
                <a:ea typeface="Montserrat"/>
                <a:cs typeface="Montserrat"/>
                <a:sym typeface="Montserrat"/>
              </a:rPr>
              <a:t>grayscale</a:t>
            </a:r>
            <a:r>
              <a:rPr lang="en" sz="3000">
                <a:solidFill>
                  <a:srgbClr val="434343"/>
                </a:solidFill>
                <a:latin typeface="Montserrat"/>
                <a:ea typeface="Montserrat"/>
                <a:cs typeface="Montserrat"/>
                <a:sym typeface="Montserrat"/>
              </a:rPr>
              <a:t>, meaning the color range goes from black to white.</a:t>
            </a:r>
            <a:endParaRPr sz="3000">
              <a:solidFill>
                <a:srgbClr val="434343"/>
              </a:solidFill>
              <a:latin typeface="Montserrat"/>
              <a:ea typeface="Montserrat"/>
              <a:cs typeface="Montserrat"/>
              <a:sym typeface="Montserrat"/>
            </a:endParaRPr>
          </a:p>
        </p:txBody>
      </p:sp>
      <p:pic>
        <p:nvPicPr>
          <p:cNvPr descr="watermark.jpg" id="1852" name="Google Shape;1852;p108"/>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853" name="Google Shape;1853;p108"/>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7" name="Shape 1857"/>
        <p:cNvGrpSpPr/>
        <p:nvPr/>
      </p:nvGrpSpPr>
      <p:grpSpPr>
        <a:xfrm>
          <a:off x="0" y="0"/>
          <a:ext cx="0" cy="0"/>
          <a:chOff x="0" y="0"/>
          <a:chExt cx="0" cy="0"/>
        </a:xfrm>
      </p:grpSpPr>
      <p:pic>
        <p:nvPicPr>
          <p:cNvPr id="1858" name="Google Shape;1858;p109"/>
          <p:cNvPicPr preferRelativeResize="0"/>
          <p:nvPr/>
        </p:nvPicPr>
        <p:blipFill rotWithShape="1">
          <a:blip r:embed="rId3">
            <a:alphaModFix/>
          </a:blip>
          <a:srcRect b="0" l="0" r="60661" t="0"/>
          <a:stretch/>
        </p:blipFill>
        <p:spPr>
          <a:xfrm>
            <a:off x="1248583" y="2286400"/>
            <a:ext cx="2614774" cy="2619475"/>
          </a:xfrm>
          <a:prstGeom prst="rect">
            <a:avLst/>
          </a:prstGeom>
          <a:noFill/>
          <a:ln>
            <a:noFill/>
          </a:ln>
        </p:spPr>
      </p:pic>
      <p:sp>
        <p:nvSpPr>
          <p:cNvPr id="1859" name="Google Shape;1859;p10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860" name="Google Shape;1860;p10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You will notice on the edges there are gray colors between black and white.</a:t>
            </a:r>
            <a:endParaRPr sz="3000">
              <a:solidFill>
                <a:srgbClr val="434343"/>
              </a:solidFill>
              <a:latin typeface="Montserrat"/>
              <a:ea typeface="Montserrat"/>
              <a:cs typeface="Montserrat"/>
              <a:sym typeface="Montserrat"/>
            </a:endParaRPr>
          </a:p>
        </p:txBody>
      </p:sp>
      <p:pic>
        <p:nvPicPr>
          <p:cNvPr descr="watermark.jpg" id="1861" name="Google Shape;1861;p109"/>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862" name="Google Shape;1862;p109"/>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6" name="Shape 1866"/>
        <p:cNvGrpSpPr/>
        <p:nvPr/>
      </p:nvGrpSpPr>
      <p:grpSpPr>
        <a:xfrm>
          <a:off x="0" y="0"/>
          <a:ext cx="0" cy="0"/>
          <a:chOff x="0" y="0"/>
          <a:chExt cx="0" cy="0"/>
        </a:xfrm>
      </p:grpSpPr>
      <p:pic>
        <p:nvPicPr>
          <p:cNvPr id="1867" name="Google Shape;1867;p110"/>
          <p:cNvPicPr preferRelativeResize="0"/>
          <p:nvPr/>
        </p:nvPicPr>
        <p:blipFill rotWithShape="1">
          <a:blip r:embed="rId3">
            <a:alphaModFix/>
          </a:blip>
          <a:srcRect b="0" l="0" r="60661" t="0"/>
          <a:stretch/>
        </p:blipFill>
        <p:spPr>
          <a:xfrm>
            <a:off x="1248583" y="2286400"/>
            <a:ext cx="2614774" cy="2619475"/>
          </a:xfrm>
          <a:prstGeom prst="rect">
            <a:avLst/>
          </a:prstGeom>
          <a:noFill/>
          <a:ln>
            <a:noFill/>
          </a:ln>
        </p:spPr>
      </p:pic>
      <p:sp>
        <p:nvSpPr>
          <p:cNvPr id="1868" name="Google Shape;1868;p11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869" name="Google Shape;1869;p11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 computer will store this information as an array with values between a range.</a:t>
            </a:r>
            <a:endParaRPr sz="3000">
              <a:solidFill>
                <a:srgbClr val="434343"/>
              </a:solidFill>
              <a:latin typeface="Montserrat"/>
              <a:ea typeface="Montserrat"/>
              <a:cs typeface="Montserrat"/>
              <a:sym typeface="Montserrat"/>
            </a:endParaRPr>
          </a:p>
        </p:txBody>
      </p:sp>
      <p:pic>
        <p:nvPicPr>
          <p:cNvPr descr="watermark.jpg" id="1870" name="Google Shape;1870;p110"/>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871" name="Google Shape;1871;p110"/>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5" name="Shape 1875"/>
        <p:cNvGrpSpPr/>
        <p:nvPr/>
      </p:nvGrpSpPr>
      <p:grpSpPr>
        <a:xfrm>
          <a:off x="0" y="0"/>
          <a:ext cx="0" cy="0"/>
          <a:chOff x="0" y="0"/>
          <a:chExt cx="0" cy="0"/>
        </a:xfrm>
      </p:grpSpPr>
      <p:sp>
        <p:nvSpPr>
          <p:cNvPr id="1876" name="Google Shape;1876;p11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877" name="Google Shape;1877;p11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 computer will store this information as an array with values between a range.</a:t>
            </a:r>
            <a:endParaRPr sz="3000">
              <a:solidFill>
                <a:srgbClr val="434343"/>
              </a:solidFill>
              <a:latin typeface="Montserrat"/>
              <a:ea typeface="Montserrat"/>
              <a:cs typeface="Montserrat"/>
              <a:sym typeface="Montserrat"/>
            </a:endParaRPr>
          </a:p>
        </p:txBody>
      </p:sp>
      <p:pic>
        <p:nvPicPr>
          <p:cNvPr descr="watermark.jpg" id="1878" name="Google Shape;1878;p11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79" name="Google Shape;1879;p11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880" name="Google Shape;1880;p111"/>
          <p:cNvPicPr preferRelativeResize="0"/>
          <p:nvPr/>
        </p:nvPicPr>
        <p:blipFill>
          <a:blip r:embed="rId4">
            <a:alphaModFix/>
          </a:blip>
          <a:stretch>
            <a:fillRect/>
          </a:stretch>
        </p:blipFill>
        <p:spPr>
          <a:xfrm>
            <a:off x="1248587" y="2286400"/>
            <a:ext cx="6646824" cy="2619475"/>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4" name="Shape 1884"/>
        <p:cNvGrpSpPr/>
        <p:nvPr/>
      </p:nvGrpSpPr>
      <p:grpSpPr>
        <a:xfrm>
          <a:off x="0" y="0"/>
          <a:ext cx="0" cy="0"/>
          <a:chOff x="0" y="0"/>
          <a:chExt cx="0" cy="0"/>
        </a:xfrm>
      </p:grpSpPr>
      <p:sp>
        <p:nvSpPr>
          <p:cNvPr id="1885" name="Google Shape;1885;p11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886" name="Google Shape;1886;p11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Notice 0 is white and 1 is black, with values in between representing gray.</a:t>
            </a:r>
            <a:endParaRPr sz="3000">
              <a:solidFill>
                <a:srgbClr val="434343"/>
              </a:solidFill>
              <a:latin typeface="Montserrat"/>
              <a:ea typeface="Montserrat"/>
              <a:cs typeface="Montserrat"/>
              <a:sym typeface="Montserrat"/>
            </a:endParaRPr>
          </a:p>
        </p:txBody>
      </p:sp>
      <p:pic>
        <p:nvPicPr>
          <p:cNvPr descr="watermark.jpg" id="1887" name="Google Shape;1887;p11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88" name="Google Shape;1888;p11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889" name="Google Shape;1889;p112"/>
          <p:cNvPicPr preferRelativeResize="0"/>
          <p:nvPr/>
        </p:nvPicPr>
        <p:blipFill>
          <a:blip r:embed="rId4">
            <a:alphaModFix/>
          </a:blip>
          <a:stretch>
            <a:fillRect/>
          </a:stretch>
        </p:blipFill>
        <p:spPr>
          <a:xfrm>
            <a:off x="1248587" y="2286400"/>
            <a:ext cx="6646824" cy="2619475"/>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3" name="Shape 1893"/>
        <p:cNvGrpSpPr/>
        <p:nvPr/>
      </p:nvGrpSpPr>
      <p:grpSpPr>
        <a:xfrm>
          <a:off x="0" y="0"/>
          <a:ext cx="0" cy="0"/>
          <a:chOff x="0" y="0"/>
          <a:chExt cx="0" cy="0"/>
        </a:xfrm>
      </p:grpSpPr>
      <p:sp>
        <p:nvSpPr>
          <p:cNvPr id="1894" name="Google Shape;1894;p11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895" name="Google Shape;1895;p1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It is also very common for computers to store values from 0-255 for scales.</a:t>
            </a:r>
            <a:endParaRPr sz="3000">
              <a:solidFill>
                <a:srgbClr val="434343"/>
              </a:solidFill>
              <a:latin typeface="Montserrat"/>
              <a:ea typeface="Montserrat"/>
              <a:cs typeface="Montserrat"/>
              <a:sym typeface="Montserrat"/>
            </a:endParaRPr>
          </a:p>
        </p:txBody>
      </p:sp>
      <p:pic>
        <p:nvPicPr>
          <p:cNvPr descr="watermark.jpg" id="1896" name="Google Shape;1896;p11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97" name="Google Shape;1897;p11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898" name="Google Shape;1898;p113"/>
          <p:cNvPicPr preferRelativeResize="0"/>
          <p:nvPr/>
        </p:nvPicPr>
        <p:blipFill>
          <a:blip r:embed="rId4">
            <a:alphaModFix/>
          </a:blip>
          <a:stretch>
            <a:fillRect/>
          </a:stretch>
        </p:blipFill>
        <p:spPr>
          <a:xfrm>
            <a:off x="1248587" y="2286400"/>
            <a:ext cx="6646824" cy="2619475"/>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2" name="Shape 1902"/>
        <p:cNvGrpSpPr/>
        <p:nvPr/>
      </p:nvGrpSpPr>
      <p:grpSpPr>
        <a:xfrm>
          <a:off x="0" y="0"/>
          <a:ext cx="0" cy="0"/>
          <a:chOff x="0" y="0"/>
          <a:chExt cx="0" cy="0"/>
        </a:xfrm>
      </p:grpSpPr>
      <p:pic>
        <p:nvPicPr>
          <p:cNvPr id="1903" name="Google Shape;1903;p114"/>
          <p:cNvPicPr preferRelativeResize="0"/>
          <p:nvPr/>
        </p:nvPicPr>
        <p:blipFill>
          <a:blip r:embed="rId3">
            <a:alphaModFix/>
          </a:blip>
          <a:stretch>
            <a:fillRect/>
          </a:stretch>
        </p:blipFill>
        <p:spPr>
          <a:xfrm>
            <a:off x="1248587" y="2286400"/>
            <a:ext cx="6646824" cy="2619475"/>
          </a:xfrm>
          <a:prstGeom prst="rect">
            <a:avLst/>
          </a:prstGeom>
          <a:noFill/>
          <a:ln>
            <a:noFill/>
          </a:ln>
        </p:spPr>
      </p:pic>
      <p:sp>
        <p:nvSpPr>
          <p:cNvPr id="1904" name="Google Shape;1904;p11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905" name="Google Shape;1905;p1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range 0 to 255 has to do with how computers store 8-bit numbers.</a:t>
            </a:r>
            <a:endParaRPr sz="3000">
              <a:solidFill>
                <a:srgbClr val="434343"/>
              </a:solidFill>
              <a:latin typeface="Montserrat"/>
              <a:ea typeface="Montserrat"/>
              <a:cs typeface="Montserrat"/>
              <a:sym typeface="Montserrat"/>
            </a:endParaRPr>
          </a:p>
        </p:txBody>
      </p:sp>
      <p:pic>
        <p:nvPicPr>
          <p:cNvPr descr="watermark.jpg" id="1906" name="Google Shape;1906;p114"/>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907" name="Google Shape;1907;p114"/>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1" name="Shape 1911"/>
        <p:cNvGrpSpPr/>
        <p:nvPr/>
      </p:nvGrpSpPr>
      <p:grpSpPr>
        <a:xfrm>
          <a:off x="0" y="0"/>
          <a:ext cx="0" cy="0"/>
          <a:chOff x="0" y="0"/>
          <a:chExt cx="0" cy="0"/>
        </a:xfrm>
      </p:grpSpPr>
      <p:pic>
        <p:nvPicPr>
          <p:cNvPr id="1912" name="Google Shape;1912;p115"/>
          <p:cNvPicPr preferRelativeResize="0"/>
          <p:nvPr/>
        </p:nvPicPr>
        <p:blipFill>
          <a:blip r:embed="rId3">
            <a:alphaModFix/>
          </a:blip>
          <a:stretch>
            <a:fillRect/>
          </a:stretch>
        </p:blipFill>
        <p:spPr>
          <a:xfrm>
            <a:off x="1248587" y="2286400"/>
            <a:ext cx="6646824" cy="2619475"/>
          </a:xfrm>
          <a:prstGeom prst="rect">
            <a:avLst/>
          </a:prstGeom>
          <a:noFill/>
          <a:ln>
            <a:noFill/>
          </a:ln>
        </p:spPr>
      </p:pic>
      <p:sp>
        <p:nvSpPr>
          <p:cNvPr id="1913" name="Google Shape;1913;p11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1914" name="Google Shape;1914;p1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But you can always divide all the values by 255 to normalize to between 0 and 1</a:t>
            </a:r>
            <a:endParaRPr sz="3000">
              <a:solidFill>
                <a:srgbClr val="434343"/>
              </a:solidFill>
              <a:latin typeface="Montserrat"/>
              <a:ea typeface="Montserrat"/>
              <a:cs typeface="Montserrat"/>
              <a:sym typeface="Montserrat"/>
            </a:endParaRPr>
          </a:p>
        </p:txBody>
      </p:sp>
      <p:pic>
        <p:nvPicPr>
          <p:cNvPr descr="watermark.jpg" id="1915" name="Google Shape;1915;p115"/>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916" name="Google Shape;1916;p115"/>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0" name="Shape 1920"/>
        <p:cNvGrpSpPr/>
        <p:nvPr/>
      </p:nvGrpSpPr>
      <p:grpSpPr>
        <a:xfrm>
          <a:off x="0" y="0"/>
          <a:ext cx="0" cy="0"/>
          <a:chOff x="0" y="0"/>
          <a:chExt cx="0" cy="0"/>
        </a:xfrm>
      </p:grpSpPr>
      <p:sp>
        <p:nvSpPr>
          <p:cNvPr id="1921" name="Google Shape;1921;p11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1922" name="Google Shape;1922;p11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Now that we’ve understood how grayscale images  can be represented as arrays, what about color images?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Color images can be represented as a combination of Red, Green, and Blue.</a:t>
            </a:r>
            <a:endParaRPr sz="2900">
              <a:solidFill>
                <a:srgbClr val="434343"/>
              </a:solidFill>
              <a:latin typeface="Montserrat"/>
              <a:ea typeface="Montserrat"/>
              <a:cs typeface="Montserrat"/>
              <a:sym typeface="Montserrat"/>
            </a:endParaRPr>
          </a:p>
        </p:txBody>
      </p:sp>
      <p:pic>
        <p:nvPicPr>
          <p:cNvPr descr="watermark.jpg" id="1923" name="Google Shape;1923;p11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24" name="Google Shape;1924;p11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8" name="Shape 1928"/>
        <p:cNvGrpSpPr/>
        <p:nvPr/>
      </p:nvGrpSpPr>
      <p:grpSpPr>
        <a:xfrm>
          <a:off x="0" y="0"/>
          <a:ext cx="0" cy="0"/>
          <a:chOff x="0" y="0"/>
          <a:chExt cx="0" cy="0"/>
        </a:xfrm>
      </p:grpSpPr>
      <p:sp>
        <p:nvSpPr>
          <p:cNvPr id="1929" name="Google Shape;1929;p11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1930" name="Google Shape;1930;p11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Additive color mixing allows a wide variety of colors by simply combining different amounts of Red, Green, and Blue.</a:t>
            </a:r>
            <a:endParaRPr sz="2900">
              <a:solidFill>
                <a:srgbClr val="434343"/>
              </a:solidFill>
              <a:latin typeface="Montserrat"/>
              <a:ea typeface="Montserrat"/>
              <a:cs typeface="Montserrat"/>
              <a:sym typeface="Montserrat"/>
            </a:endParaRPr>
          </a:p>
          <a:p>
            <a:pPr indent="0" lvl="0" marL="4572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931" name="Google Shape;1931;p11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32" name="Google Shape;1932;p11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933" name="Google Shape;1933;p117"/>
          <p:cNvPicPr preferRelativeResize="0"/>
          <p:nvPr/>
        </p:nvPicPr>
        <p:blipFill>
          <a:blip r:embed="rId4">
            <a:alphaModFix/>
          </a:blip>
          <a:stretch>
            <a:fillRect/>
          </a:stretch>
        </p:blipFill>
        <p:spPr>
          <a:xfrm>
            <a:off x="3331512" y="2662550"/>
            <a:ext cx="2480975" cy="2480950"/>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7" name="Shape 1937"/>
        <p:cNvGrpSpPr/>
        <p:nvPr/>
      </p:nvGrpSpPr>
      <p:grpSpPr>
        <a:xfrm>
          <a:off x="0" y="0"/>
          <a:ext cx="0" cy="0"/>
          <a:chOff x="0" y="0"/>
          <a:chExt cx="0" cy="0"/>
        </a:xfrm>
      </p:grpSpPr>
      <p:sp>
        <p:nvSpPr>
          <p:cNvPr id="1938" name="Google Shape;1938;p11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1939" name="Google Shape;1939;p11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RGB can produce a range of colors</a:t>
            </a:r>
            <a:endParaRPr sz="2900">
              <a:solidFill>
                <a:srgbClr val="434343"/>
              </a:solidFill>
              <a:latin typeface="Montserrat"/>
              <a:ea typeface="Montserrat"/>
              <a:cs typeface="Montserrat"/>
              <a:sym typeface="Montserrat"/>
            </a:endParaRPr>
          </a:p>
        </p:txBody>
      </p:sp>
      <p:pic>
        <p:nvPicPr>
          <p:cNvPr descr="watermark.jpg" id="1940" name="Google Shape;1940;p11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41" name="Google Shape;1941;p11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942" name="Google Shape;1942;p118"/>
          <p:cNvPicPr preferRelativeResize="0"/>
          <p:nvPr/>
        </p:nvPicPr>
        <p:blipFill>
          <a:blip r:embed="rId4">
            <a:alphaModFix/>
          </a:blip>
          <a:stretch>
            <a:fillRect/>
          </a:stretch>
        </p:blipFill>
        <p:spPr>
          <a:xfrm>
            <a:off x="3115637" y="1720650"/>
            <a:ext cx="2912726" cy="3219325"/>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6" name="Shape 1946"/>
        <p:cNvGrpSpPr/>
        <p:nvPr/>
      </p:nvGrpSpPr>
      <p:grpSpPr>
        <a:xfrm>
          <a:off x="0" y="0"/>
          <a:ext cx="0" cy="0"/>
          <a:chOff x="0" y="0"/>
          <a:chExt cx="0" cy="0"/>
        </a:xfrm>
      </p:grpSpPr>
      <p:sp>
        <p:nvSpPr>
          <p:cNvPr id="1947" name="Google Shape;1947;p11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1948" name="Google Shape;1948;p11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Each color channel will have intensity values.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You may have already seen this sort of representation in other software with RGB sliders.</a:t>
            </a:r>
            <a:endParaRPr sz="2900">
              <a:solidFill>
                <a:srgbClr val="434343"/>
              </a:solidFill>
              <a:latin typeface="Montserrat"/>
              <a:ea typeface="Montserrat"/>
              <a:cs typeface="Montserrat"/>
              <a:sym typeface="Montserrat"/>
            </a:endParaRPr>
          </a:p>
        </p:txBody>
      </p:sp>
      <p:pic>
        <p:nvPicPr>
          <p:cNvPr descr="watermark.jpg" id="1949" name="Google Shape;1949;p11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50" name="Google Shape;1950;p11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951" name="Google Shape;1951;p119"/>
          <p:cNvPicPr preferRelativeResize="0"/>
          <p:nvPr/>
        </p:nvPicPr>
        <p:blipFill>
          <a:blip r:embed="rId4">
            <a:alphaModFix/>
          </a:blip>
          <a:stretch>
            <a:fillRect/>
          </a:stretch>
        </p:blipFill>
        <p:spPr>
          <a:xfrm>
            <a:off x="2469650" y="3587625"/>
            <a:ext cx="4204688" cy="112125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5" name="Shape 1955"/>
        <p:cNvGrpSpPr/>
        <p:nvPr/>
      </p:nvGrpSpPr>
      <p:grpSpPr>
        <a:xfrm>
          <a:off x="0" y="0"/>
          <a:ext cx="0" cy="0"/>
          <a:chOff x="0" y="0"/>
          <a:chExt cx="0" cy="0"/>
        </a:xfrm>
      </p:grpSpPr>
      <p:sp>
        <p:nvSpPr>
          <p:cNvPr id="1956" name="Google Shape;1956;p12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1957" name="Google Shape;1957;p12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Notice we now have 3 distinct </a:t>
            </a:r>
            <a:r>
              <a:rPr lang="en" sz="2900">
                <a:solidFill>
                  <a:srgbClr val="434343"/>
                </a:solidFill>
                <a:latin typeface="Montserrat"/>
                <a:ea typeface="Montserrat"/>
                <a:cs typeface="Montserrat"/>
                <a:sym typeface="Montserrat"/>
              </a:rPr>
              <a:t>values to track, with each value in a range (shown here from 0-255).</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Combining RGB to produce a distinct color.</a:t>
            </a:r>
            <a:endParaRPr sz="2900">
              <a:solidFill>
                <a:srgbClr val="434343"/>
              </a:solidFill>
              <a:latin typeface="Montserrat"/>
              <a:ea typeface="Montserrat"/>
              <a:cs typeface="Montserrat"/>
              <a:sym typeface="Montserrat"/>
            </a:endParaRPr>
          </a:p>
        </p:txBody>
      </p:sp>
      <p:pic>
        <p:nvPicPr>
          <p:cNvPr descr="watermark.jpg" id="1958" name="Google Shape;1958;p12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59" name="Google Shape;1959;p12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960" name="Google Shape;1960;p120"/>
          <p:cNvPicPr preferRelativeResize="0"/>
          <p:nvPr/>
        </p:nvPicPr>
        <p:blipFill>
          <a:blip r:embed="rId4">
            <a:alphaModFix/>
          </a:blip>
          <a:stretch>
            <a:fillRect/>
          </a:stretch>
        </p:blipFill>
        <p:spPr>
          <a:xfrm>
            <a:off x="2469650" y="3587625"/>
            <a:ext cx="4204688" cy="1121250"/>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4" name="Shape 1964"/>
        <p:cNvGrpSpPr/>
        <p:nvPr/>
      </p:nvGrpSpPr>
      <p:grpSpPr>
        <a:xfrm>
          <a:off x="0" y="0"/>
          <a:ext cx="0" cy="0"/>
          <a:chOff x="0" y="0"/>
          <a:chExt cx="0" cy="0"/>
        </a:xfrm>
      </p:grpSpPr>
      <p:sp>
        <p:nvSpPr>
          <p:cNvPr id="1965" name="Google Shape;1965;p12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1966" name="Google Shape;1966;p12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From a computer perspective, this looks like 3 arrays, each array representing a color channel.</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For example, a single pixel (1 by 1 image) here is (213,111,56) for (R,G,B).</a:t>
            </a:r>
            <a:endParaRPr sz="2900">
              <a:solidFill>
                <a:srgbClr val="434343"/>
              </a:solidFill>
              <a:latin typeface="Montserrat"/>
              <a:ea typeface="Montserrat"/>
              <a:cs typeface="Montserrat"/>
              <a:sym typeface="Montserrat"/>
            </a:endParaRPr>
          </a:p>
        </p:txBody>
      </p:sp>
      <p:pic>
        <p:nvPicPr>
          <p:cNvPr descr="watermark.jpg" id="1967" name="Google Shape;1967;p12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68" name="Google Shape;1968;p12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969" name="Google Shape;1969;p121"/>
          <p:cNvPicPr preferRelativeResize="0"/>
          <p:nvPr/>
        </p:nvPicPr>
        <p:blipFill>
          <a:blip r:embed="rId4">
            <a:alphaModFix/>
          </a:blip>
          <a:stretch>
            <a:fillRect/>
          </a:stretch>
        </p:blipFill>
        <p:spPr>
          <a:xfrm>
            <a:off x="2469650" y="3587625"/>
            <a:ext cx="4204688" cy="112125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3" name="Shape 1973"/>
        <p:cNvGrpSpPr/>
        <p:nvPr/>
      </p:nvGrpSpPr>
      <p:grpSpPr>
        <a:xfrm>
          <a:off x="0" y="0"/>
          <a:ext cx="0" cy="0"/>
          <a:chOff x="0" y="0"/>
          <a:chExt cx="0" cy="0"/>
        </a:xfrm>
      </p:grpSpPr>
      <p:sp>
        <p:nvSpPr>
          <p:cNvPr id="1974" name="Google Shape;1974;p12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1975" name="Google Shape;1975;p12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How is this stored for a larger color image?</a:t>
            </a:r>
            <a:endParaRPr sz="2900">
              <a:solidFill>
                <a:srgbClr val="434343"/>
              </a:solidFill>
              <a:latin typeface="Montserrat"/>
              <a:ea typeface="Montserrat"/>
              <a:cs typeface="Montserrat"/>
              <a:sym typeface="Montserrat"/>
            </a:endParaRPr>
          </a:p>
        </p:txBody>
      </p:sp>
      <p:pic>
        <p:nvPicPr>
          <p:cNvPr descr="watermark.jpg" id="1976" name="Google Shape;1976;p12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77" name="Google Shape;1977;p12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978" name="Google Shape;1978;p122"/>
          <p:cNvPicPr preferRelativeResize="0"/>
          <p:nvPr/>
        </p:nvPicPr>
        <p:blipFill>
          <a:blip r:embed="rId4">
            <a:alphaModFix/>
          </a:blip>
          <a:stretch>
            <a:fillRect/>
          </a:stretch>
        </p:blipFill>
        <p:spPr>
          <a:xfrm>
            <a:off x="2469650" y="3587625"/>
            <a:ext cx="4204688" cy="112125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2" name="Shape 1982"/>
        <p:cNvGrpSpPr/>
        <p:nvPr/>
      </p:nvGrpSpPr>
      <p:grpSpPr>
        <a:xfrm>
          <a:off x="0" y="0"/>
          <a:ext cx="0" cy="0"/>
          <a:chOff x="0" y="0"/>
          <a:chExt cx="0" cy="0"/>
        </a:xfrm>
      </p:grpSpPr>
      <p:sp>
        <p:nvSpPr>
          <p:cNvPr id="1983" name="Google Shape;1983;p12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pic>
        <p:nvPicPr>
          <p:cNvPr descr="watermark.jpg" id="1984" name="Google Shape;1984;p12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85" name="Google Shape;1985;p12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986" name="Google Shape;1986;p123"/>
          <p:cNvPicPr preferRelativeResize="0"/>
          <p:nvPr/>
        </p:nvPicPr>
        <p:blipFill>
          <a:blip r:embed="rId4">
            <a:alphaModFix/>
          </a:blip>
          <a:stretch>
            <a:fillRect/>
          </a:stretch>
        </p:blipFill>
        <p:spPr>
          <a:xfrm>
            <a:off x="741400" y="1301238"/>
            <a:ext cx="4013450" cy="3210775"/>
          </a:xfrm>
          <a:prstGeom prst="rect">
            <a:avLst/>
          </a:prstGeom>
          <a:noFill/>
          <a:ln>
            <a:noFill/>
          </a:ln>
        </p:spPr>
      </p:pic>
      <p:sp>
        <p:nvSpPr>
          <p:cNvPr id="1987" name="Google Shape;1987;p123"/>
          <p:cNvSpPr txBox="1"/>
          <p:nvPr>
            <p:ph idx="1" type="body"/>
          </p:nvPr>
        </p:nvSpPr>
        <p:spPr>
          <a:xfrm>
            <a:off x="5051000" y="1152475"/>
            <a:ext cx="39447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shape of the color array then has 3 dimensions.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Height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Width</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Color Channels</a:t>
            </a:r>
            <a:endParaRPr sz="2900">
              <a:solidFill>
                <a:srgbClr val="434343"/>
              </a:solidFill>
              <a:latin typeface="Montserrat"/>
              <a:ea typeface="Montserrat"/>
              <a:cs typeface="Montserrat"/>
              <a:sym typeface="Montserrat"/>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1" name="Shape 1991"/>
        <p:cNvGrpSpPr/>
        <p:nvPr/>
      </p:nvGrpSpPr>
      <p:grpSpPr>
        <a:xfrm>
          <a:off x="0" y="0"/>
          <a:ext cx="0" cy="0"/>
          <a:chOff x="0" y="0"/>
          <a:chExt cx="0" cy="0"/>
        </a:xfrm>
      </p:grpSpPr>
      <p:sp>
        <p:nvSpPr>
          <p:cNvPr id="1992" name="Google Shape;1992;p12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1993" name="Google Shape;1993;p12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means when you read in an image and check its shape, it will look something like: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(1280,720,3)</a:t>
            </a:r>
            <a:endParaRPr b="1"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1280 </a:t>
            </a:r>
            <a:r>
              <a:rPr lang="en" sz="2900">
                <a:solidFill>
                  <a:srgbClr val="434343"/>
                </a:solidFill>
                <a:latin typeface="Montserrat"/>
                <a:ea typeface="Montserrat"/>
                <a:cs typeface="Montserrat"/>
                <a:sym typeface="Montserrat"/>
              </a:rPr>
              <a:t>pixel width</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720 </a:t>
            </a:r>
            <a:r>
              <a:rPr lang="en" sz="2900">
                <a:solidFill>
                  <a:srgbClr val="434343"/>
                </a:solidFill>
                <a:latin typeface="Montserrat"/>
                <a:ea typeface="Montserrat"/>
                <a:cs typeface="Montserrat"/>
                <a:sym typeface="Montserrat"/>
              </a:rPr>
              <a:t>pixel height</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3 </a:t>
            </a:r>
            <a:r>
              <a:rPr lang="en" sz="2900">
                <a:solidFill>
                  <a:srgbClr val="434343"/>
                </a:solidFill>
                <a:latin typeface="Montserrat"/>
                <a:ea typeface="Montserrat"/>
                <a:cs typeface="Montserrat"/>
                <a:sym typeface="Montserrat"/>
              </a:rPr>
              <a:t>color channels</a:t>
            </a:r>
            <a:endParaRPr sz="2900">
              <a:solidFill>
                <a:srgbClr val="434343"/>
              </a:solidFill>
              <a:latin typeface="Montserrat"/>
              <a:ea typeface="Montserrat"/>
              <a:cs typeface="Montserrat"/>
              <a:sym typeface="Montserrat"/>
            </a:endParaRPr>
          </a:p>
        </p:txBody>
      </p:sp>
      <p:pic>
        <p:nvPicPr>
          <p:cNvPr descr="watermark.jpg" id="1994" name="Google Shape;1994;p12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95" name="Google Shape;1995;p12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9" name="Shape 1999"/>
        <p:cNvGrpSpPr/>
        <p:nvPr/>
      </p:nvGrpSpPr>
      <p:grpSpPr>
        <a:xfrm>
          <a:off x="0" y="0"/>
          <a:ext cx="0" cy="0"/>
          <a:chOff x="0" y="0"/>
          <a:chExt cx="0" cy="0"/>
        </a:xfrm>
      </p:grpSpPr>
      <p:sp>
        <p:nvSpPr>
          <p:cNvPr id="2000" name="Google Shape;2000;p12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001" name="Google Shape;2001;p12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means when you read in an image and check its shape, it will look something like: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(720,1280,3)</a:t>
            </a:r>
            <a:endParaRPr b="1" sz="2900">
              <a:solidFill>
                <a:srgbClr val="434343"/>
              </a:solidFill>
              <a:latin typeface="Montserrat"/>
              <a:ea typeface="Montserrat"/>
              <a:cs typeface="Montserrat"/>
              <a:sym typeface="Montserrat"/>
            </a:endParaRPr>
          </a:p>
          <a:p>
            <a:pPr indent="-412750" lvl="2" marL="137160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720 </a:t>
            </a:r>
            <a:r>
              <a:rPr lang="en" sz="2900">
                <a:solidFill>
                  <a:srgbClr val="434343"/>
                </a:solidFill>
                <a:latin typeface="Montserrat"/>
                <a:ea typeface="Montserrat"/>
                <a:cs typeface="Montserrat"/>
                <a:sym typeface="Montserrat"/>
              </a:rPr>
              <a:t>pixel height</a:t>
            </a:r>
            <a:endParaRPr b="1" sz="2900">
              <a:solidFill>
                <a:srgbClr val="434343"/>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1280 </a:t>
            </a:r>
            <a:r>
              <a:rPr lang="en" sz="2900">
                <a:solidFill>
                  <a:srgbClr val="434343"/>
                </a:solidFill>
                <a:latin typeface="Montserrat"/>
                <a:ea typeface="Montserrat"/>
                <a:cs typeface="Montserrat"/>
                <a:sym typeface="Montserrat"/>
              </a:rPr>
              <a:t>pixel width</a:t>
            </a:r>
            <a:endParaRPr sz="2900">
              <a:solidFill>
                <a:srgbClr val="434343"/>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3 </a:t>
            </a:r>
            <a:r>
              <a:rPr lang="en" sz="2900">
                <a:solidFill>
                  <a:srgbClr val="434343"/>
                </a:solidFill>
                <a:latin typeface="Montserrat"/>
                <a:ea typeface="Montserrat"/>
                <a:cs typeface="Montserrat"/>
                <a:sym typeface="Montserrat"/>
              </a:rPr>
              <a:t>color channels</a:t>
            </a:r>
            <a:endParaRPr sz="2900">
              <a:solidFill>
                <a:srgbClr val="434343"/>
              </a:solidFill>
              <a:latin typeface="Montserrat"/>
              <a:ea typeface="Montserrat"/>
              <a:cs typeface="Montserrat"/>
              <a:sym typeface="Montserrat"/>
            </a:endParaRPr>
          </a:p>
        </p:txBody>
      </p:sp>
      <p:pic>
        <p:nvPicPr>
          <p:cNvPr descr="watermark.jpg" id="2002" name="Google Shape;2002;p12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03" name="Google Shape;2003;p12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004" name="Google Shape;2004;p125"/>
          <p:cNvPicPr preferRelativeResize="0"/>
          <p:nvPr/>
        </p:nvPicPr>
        <p:blipFill rotWithShape="1">
          <a:blip r:embed="rId4">
            <a:alphaModFix/>
          </a:blip>
          <a:srcRect b="0" l="39563" r="38261" t="67229"/>
          <a:stretch/>
        </p:blipFill>
        <p:spPr>
          <a:xfrm>
            <a:off x="6677225" y="2756750"/>
            <a:ext cx="890025" cy="1052200"/>
          </a:xfrm>
          <a:prstGeom prst="rect">
            <a:avLst/>
          </a:prstGeom>
          <a:noFill/>
          <a:ln>
            <a:noFill/>
          </a:ln>
        </p:spPr>
      </p:pic>
      <p:pic>
        <p:nvPicPr>
          <p:cNvPr id="2005" name="Google Shape;2005;p125"/>
          <p:cNvPicPr preferRelativeResize="0"/>
          <p:nvPr/>
        </p:nvPicPr>
        <p:blipFill rotWithShape="1">
          <a:blip r:embed="rId4">
            <a:alphaModFix/>
          </a:blip>
          <a:srcRect b="34132" l="41346" r="39753" t="35116"/>
          <a:stretch/>
        </p:blipFill>
        <p:spPr>
          <a:xfrm>
            <a:off x="6429375" y="3099050"/>
            <a:ext cx="758575" cy="987425"/>
          </a:xfrm>
          <a:prstGeom prst="rect">
            <a:avLst/>
          </a:prstGeom>
          <a:noFill/>
          <a:ln>
            <a:noFill/>
          </a:ln>
        </p:spPr>
      </p:pic>
      <p:pic>
        <p:nvPicPr>
          <p:cNvPr id="2006" name="Google Shape;2006;p125"/>
          <p:cNvPicPr preferRelativeResize="0"/>
          <p:nvPr/>
        </p:nvPicPr>
        <p:blipFill rotWithShape="1">
          <a:blip r:embed="rId4">
            <a:alphaModFix/>
          </a:blip>
          <a:srcRect b="69247" l="41240" r="39860" t="0"/>
          <a:stretch/>
        </p:blipFill>
        <p:spPr>
          <a:xfrm>
            <a:off x="6077850" y="3345225"/>
            <a:ext cx="758575" cy="987425"/>
          </a:xfrm>
          <a:prstGeom prst="rect">
            <a:avLst/>
          </a:prstGeom>
          <a:noFill/>
          <a:ln>
            <a:noFill/>
          </a:ln>
        </p:spPr>
      </p:pic>
      <p:cxnSp>
        <p:nvCxnSpPr>
          <p:cNvPr id="2007" name="Google Shape;2007;p125"/>
          <p:cNvCxnSpPr/>
          <p:nvPr/>
        </p:nvCxnSpPr>
        <p:spPr>
          <a:xfrm>
            <a:off x="5703075" y="2964675"/>
            <a:ext cx="0" cy="1517100"/>
          </a:xfrm>
          <a:prstGeom prst="straightConnector1">
            <a:avLst/>
          </a:prstGeom>
          <a:noFill/>
          <a:ln cap="flat" cmpd="sng" w="9525">
            <a:solidFill>
              <a:schemeClr val="dk2"/>
            </a:solidFill>
            <a:prstDash val="solid"/>
            <a:round/>
            <a:headEnd len="med" w="med" type="triangle"/>
            <a:tailEnd len="med" w="med" type="none"/>
          </a:ln>
        </p:spPr>
      </p:cxnSp>
      <p:cxnSp>
        <p:nvCxnSpPr>
          <p:cNvPr id="2008" name="Google Shape;2008;p125"/>
          <p:cNvCxnSpPr/>
          <p:nvPr/>
        </p:nvCxnSpPr>
        <p:spPr>
          <a:xfrm rot="10800000">
            <a:off x="5703075" y="4481775"/>
            <a:ext cx="1743900" cy="0"/>
          </a:xfrm>
          <a:prstGeom prst="straightConnector1">
            <a:avLst/>
          </a:prstGeom>
          <a:noFill/>
          <a:ln cap="flat" cmpd="sng" w="9525">
            <a:solidFill>
              <a:schemeClr val="dk2"/>
            </a:solidFill>
            <a:prstDash val="solid"/>
            <a:round/>
            <a:headEnd len="med" w="med" type="triangle"/>
            <a:tailEnd len="med" w="med" type="none"/>
          </a:ln>
        </p:spPr>
      </p:cxnSp>
      <p:cxnSp>
        <p:nvCxnSpPr>
          <p:cNvPr id="2009" name="Google Shape;2009;p125"/>
          <p:cNvCxnSpPr/>
          <p:nvPr/>
        </p:nvCxnSpPr>
        <p:spPr>
          <a:xfrm flipH="1">
            <a:off x="7446925" y="3876125"/>
            <a:ext cx="462600" cy="563700"/>
          </a:xfrm>
          <a:prstGeom prst="straightConnector1">
            <a:avLst/>
          </a:prstGeom>
          <a:noFill/>
          <a:ln cap="flat" cmpd="sng" w="9525">
            <a:solidFill>
              <a:schemeClr val="dk2"/>
            </a:solidFill>
            <a:prstDash val="solid"/>
            <a:round/>
            <a:headEnd len="med" w="med" type="triangle"/>
            <a:tailEnd len="med" w="med" type="none"/>
          </a:ln>
        </p:spPr>
      </p:cxnSp>
      <p:sp>
        <p:nvSpPr>
          <p:cNvPr id="2010" name="Google Shape;2010;p125"/>
          <p:cNvSpPr txBox="1"/>
          <p:nvPr/>
        </p:nvSpPr>
        <p:spPr>
          <a:xfrm>
            <a:off x="5328525" y="3345225"/>
            <a:ext cx="508800" cy="39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1st</a:t>
            </a:r>
            <a:endParaRPr/>
          </a:p>
        </p:txBody>
      </p:sp>
      <p:sp>
        <p:nvSpPr>
          <p:cNvPr id="2011" name="Google Shape;2011;p125"/>
          <p:cNvSpPr txBox="1"/>
          <p:nvPr/>
        </p:nvSpPr>
        <p:spPr>
          <a:xfrm>
            <a:off x="6320625" y="4481775"/>
            <a:ext cx="508800" cy="39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2nd</a:t>
            </a:r>
            <a:endParaRPr/>
          </a:p>
        </p:txBody>
      </p:sp>
      <p:sp>
        <p:nvSpPr>
          <p:cNvPr id="2012" name="Google Shape;2012;p125"/>
          <p:cNvSpPr txBox="1"/>
          <p:nvPr/>
        </p:nvSpPr>
        <p:spPr>
          <a:xfrm>
            <a:off x="7675625" y="4048025"/>
            <a:ext cx="508800" cy="39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3rd</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6" name="Shape 2016"/>
        <p:cNvGrpSpPr/>
        <p:nvPr/>
      </p:nvGrpSpPr>
      <p:grpSpPr>
        <a:xfrm>
          <a:off x="0" y="0"/>
          <a:ext cx="0" cy="0"/>
          <a:chOff x="0" y="0"/>
          <a:chExt cx="0" cy="0"/>
        </a:xfrm>
      </p:grpSpPr>
      <p:sp>
        <p:nvSpPr>
          <p:cNvPr id="2017" name="Google Shape;2017;p12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pic>
        <p:nvPicPr>
          <p:cNvPr descr="watermark.jpg" id="2018" name="Google Shape;2018;p12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19" name="Google Shape;2019;p12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020" name="Google Shape;2020;p126"/>
          <p:cNvPicPr preferRelativeResize="0"/>
          <p:nvPr/>
        </p:nvPicPr>
        <p:blipFill>
          <a:blip r:embed="rId4">
            <a:alphaModFix/>
          </a:blip>
          <a:stretch>
            <a:fillRect/>
          </a:stretch>
        </p:blipFill>
        <p:spPr>
          <a:xfrm>
            <a:off x="741400" y="1301238"/>
            <a:ext cx="4013450" cy="3210775"/>
          </a:xfrm>
          <a:prstGeom prst="rect">
            <a:avLst/>
          </a:prstGeom>
          <a:noFill/>
          <a:ln>
            <a:noFill/>
          </a:ln>
        </p:spPr>
      </p:pic>
      <p:sp>
        <p:nvSpPr>
          <p:cNvPr id="2021" name="Google Shape;2021;p126"/>
          <p:cNvSpPr txBox="1"/>
          <p:nvPr>
            <p:ph idx="1" type="body"/>
          </p:nvPr>
        </p:nvSpPr>
        <p:spPr>
          <a:xfrm>
            <a:off x="5051000" y="1152475"/>
            <a:ext cx="39447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Keep in mind the computer won’t “know” a channel is Red, it just knows that there are now 3 intensity channels.</a:t>
            </a:r>
            <a:endParaRPr sz="2900">
              <a:solidFill>
                <a:srgbClr val="434343"/>
              </a:solidFill>
              <a:latin typeface="Montserrat"/>
              <a:ea typeface="Montserrat"/>
              <a:cs typeface="Montserrat"/>
              <a:sym typeface="Montserrat"/>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5" name="Shape 2025"/>
        <p:cNvGrpSpPr/>
        <p:nvPr/>
      </p:nvGrpSpPr>
      <p:grpSpPr>
        <a:xfrm>
          <a:off x="0" y="0"/>
          <a:ext cx="0" cy="0"/>
          <a:chOff x="0" y="0"/>
          <a:chExt cx="0" cy="0"/>
        </a:xfrm>
      </p:grpSpPr>
      <p:sp>
        <p:nvSpPr>
          <p:cNvPr id="2026" name="Google Shape;2026;p12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pic>
        <p:nvPicPr>
          <p:cNvPr descr="watermark.jpg" id="2027" name="Google Shape;2027;p12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28" name="Google Shape;2028;p12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029" name="Google Shape;2029;p127"/>
          <p:cNvPicPr preferRelativeResize="0"/>
          <p:nvPr/>
        </p:nvPicPr>
        <p:blipFill>
          <a:blip r:embed="rId4">
            <a:alphaModFix/>
          </a:blip>
          <a:stretch>
            <a:fillRect/>
          </a:stretch>
        </p:blipFill>
        <p:spPr>
          <a:xfrm>
            <a:off x="741400" y="1301238"/>
            <a:ext cx="4013450" cy="3210775"/>
          </a:xfrm>
          <a:prstGeom prst="rect">
            <a:avLst/>
          </a:prstGeom>
          <a:noFill/>
          <a:ln>
            <a:noFill/>
          </a:ln>
        </p:spPr>
      </p:pic>
      <p:sp>
        <p:nvSpPr>
          <p:cNvPr id="2030" name="Google Shape;2030;p127"/>
          <p:cNvSpPr txBox="1"/>
          <p:nvPr>
            <p:ph idx="1" type="body"/>
          </p:nvPr>
        </p:nvSpPr>
        <p:spPr>
          <a:xfrm>
            <a:off x="5051000" y="1011875"/>
            <a:ext cx="39447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user needs to dictate which channel is for which color.</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Each channel alone is essentially the same as a grayscale image.</a:t>
            </a:r>
            <a:endParaRPr sz="2900">
              <a:solidFill>
                <a:srgbClr val="434343"/>
              </a:solidFill>
              <a:latin typeface="Montserrat"/>
              <a:ea typeface="Montserrat"/>
              <a:cs typeface="Montserrat"/>
              <a:sym typeface="Montserrat"/>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4" name="Shape 2034"/>
        <p:cNvGrpSpPr/>
        <p:nvPr/>
      </p:nvGrpSpPr>
      <p:grpSpPr>
        <a:xfrm>
          <a:off x="0" y="0"/>
          <a:ext cx="0" cy="0"/>
          <a:chOff x="0" y="0"/>
          <a:chExt cx="0" cy="0"/>
        </a:xfrm>
      </p:grpSpPr>
      <p:sp>
        <p:nvSpPr>
          <p:cNvPr id="2035" name="Google Shape;2035;p12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036" name="Google Shape;2036;p12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From the computer’s perspective you simply have an array with 3 dimensions, where a user or display function can attribute each dimension to a color channel (e.g. red intensity).</a:t>
            </a:r>
            <a:endParaRPr sz="2900">
              <a:solidFill>
                <a:srgbClr val="434343"/>
              </a:solidFill>
              <a:latin typeface="Montserrat"/>
              <a:ea typeface="Montserrat"/>
              <a:cs typeface="Montserrat"/>
              <a:sym typeface="Montserrat"/>
            </a:endParaRPr>
          </a:p>
        </p:txBody>
      </p:sp>
      <p:pic>
        <p:nvPicPr>
          <p:cNvPr descr="watermark.jpg" id="2037" name="Google Shape;2037;p12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38" name="Google Shape;2038;p12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2" name="Shape 2042"/>
        <p:cNvGrpSpPr/>
        <p:nvPr/>
      </p:nvGrpSpPr>
      <p:grpSpPr>
        <a:xfrm>
          <a:off x="0" y="0"/>
          <a:ext cx="0" cy="0"/>
          <a:chOff x="0" y="0"/>
          <a:chExt cx="0" cy="0"/>
        </a:xfrm>
      </p:grpSpPr>
      <p:sp>
        <p:nvSpPr>
          <p:cNvPr id="2043" name="Google Shape;2043;p12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044" name="Google Shape;2044;p12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Swapping these arrays across channels would allow for effects such as color inversion.</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Now how can we apply clustering to RGB color channels and images?</a:t>
            </a:r>
            <a:endParaRPr sz="2900">
              <a:solidFill>
                <a:srgbClr val="434343"/>
              </a:solidFill>
              <a:latin typeface="Montserrat"/>
              <a:ea typeface="Montserrat"/>
              <a:cs typeface="Montserrat"/>
              <a:sym typeface="Montserrat"/>
            </a:endParaRPr>
          </a:p>
        </p:txBody>
      </p:sp>
      <p:pic>
        <p:nvPicPr>
          <p:cNvPr descr="watermark.jpg" id="2045" name="Google Shape;2045;p12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46" name="Google Shape;2046;p12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0" name="Shape 2050"/>
        <p:cNvGrpSpPr/>
        <p:nvPr/>
      </p:nvGrpSpPr>
      <p:grpSpPr>
        <a:xfrm>
          <a:off x="0" y="0"/>
          <a:ext cx="0" cy="0"/>
          <a:chOff x="0" y="0"/>
          <a:chExt cx="0" cy="0"/>
        </a:xfrm>
      </p:grpSpPr>
      <p:sp>
        <p:nvSpPr>
          <p:cNvPr id="2051" name="Google Shape;2051;p13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052" name="Google Shape;2052;p13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Imagine the following image:</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2053" name="Google Shape;2053;p13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54" name="Google Shape;2054;p13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055" name="Google Shape;2055;p130"/>
          <p:cNvPicPr preferRelativeResize="0"/>
          <p:nvPr/>
        </p:nvPicPr>
        <p:blipFill>
          <a:blip r:embed="rId4">
            <a:alphaModFix/>
          </a:blip>
          <a:stretch>
            <a:fillRect/>
          </a:stretch>
        </p:blipFill>
        <p:spPr>
          <a:xfrm>
            <a:off x="2372225" y="2340875"/>
            <a:ext cx="2008826" cy="2747750"/>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9" name="Shape 2059"/>
        <p:cNvGrpSpPr/>
        <p:nvPr/>
      </p:nvGrpSpPr>
      <p:grpSpPr>
        <a:xfrm>
          <a:off x="0" y="0"/>
          <a:ext cx="0" cy="0"/>
          <a:chOff x="0" y="0"/>
          <a:chExt cx="0" cy="0"/>
        </a:xfrm>
      </p:grpSpPr>
      <p:sp>
        <p:nvSpPr>
          <p:cNvPr id="2060" name="Google Shape;2060;p13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061" name="Google Shape;2061;p13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There are many shades of colors in this image, with many (R,G,B) combinations.</a:t>
            </a:r>
            <a:endParaRPr sz="2900">
              <a:solidFill>
                <a:srgbClr val="434343"/>
              </a:solidFill>
              <a:latin typeface="Montserrat"/>
              <a:ea typeface="Montserrat"/>
              <a:cs typeface="Montserrat"/>
              <a:sym typeface="Montserrat"/>
            </a:endParaRPr>
          </a:p>
        </p:txBody>
      </p:sp>
      <p:pic>
        <p:nvPicPr>
          <p:cNvPr descr="watermark.jpg" id="2062" name="Google Shape;2062;p13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63" name="Google Shape;2063;p13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064" name="Google Shape;2064;p131"/>
          <p:cNvPicPr preferRelativeResize="0"/>
          <p:nvPr/>
        </p:nvPicPr>
        <p:blipFill>
          <a:blip r:embed="rId4">
            <a:alphaModFix/>
          </a:blip>
          <a:stretch>
            <a:fillRect/>
          </a:stretch>
        </p:blipFill>
        <p:spPr>
          <a:xfrm>
            <a:off x="2372225" y="2340875"/>
            <a:ext cx="2008826" cy="2747750"/>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8" name="Shape 2068"/>
        <p:cNvGrpSpPr/>
        <p:nvPr/>
      </p:nvGrpSpPr>
      <p:grpSpPr>
        <a:xfrm>
          <a:off x="0" y="0"/>
          <a:ext cx="0" cy="0"/>
          <a:chOff x="0" y="0"/>
          <a:chExt cx="0" cy="0"/>
        </a:xfrm>
      </p:grpSpPr>
      <p:sp>
        <p:nvSpPr>
          <p:cNvPr id="2069" name="Google Shape;2069;p13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070" name="Google Shape;2070;p13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if we wanted to reduce this to 6 colors for simplified display purposes?</a:t>
            </a:r>
            <a:endParaRPr sz="2900">
              <a:solidFill>
                <a:srgbClr val="434343"/>
              </a:solidFill>
              <a:latin typeface="Montserrat"/>
              <a:ea typeface="Montserrat"/>
              <a:cs typeface="Montserrat"/>
              <a:sym typeface="Montserrat"/>
            </a:endParaRPr>
          </a:p>
        </p:txBody>
      </p:sp>
      <p:pic>
        <p:nvPicPr>
          <p:cNvPr descr="watermark.jpg" id="2071" name="Google Shape;2071;p13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72" name="Google Shape;2072;p13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073" name="Google Shape;2073;p132"/>
          <p:cNvPicPr preferRelativeResize="0"/>
          <p:nvPr/>
        </p:nvPicPr>
        <p:blipFill>
          <a:blip r:embed="rId4">
            <a:alphaModFix/>
          </a:blip>
          <a:stretch>
            <a:fillRect/>
          </a:stretch>
        </p:blipFill>
        <p:spPr>
          <a:xfrm>
            <a:off x="2372225" y="2340875"/>
            <a:ext cx="2008826" cy="2747750"/>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7" name="Shape 2077"/>
        <p:cNvGrpSpPr/>
        <p:nvPr/>
      </p:nvGrpSpPr>
      <p:grpSpPr>
        <a:xfrm>
          <a:off x="0" y="0"/>
          <a:ext cx="0" cy="0"/>
          <a:chOff x="0" y="0"/>
          <a:chExt cx="0" cy="0"/>
        </a:xfrm>
      </p:grpSpPr>
      <p:sp>
        <p:nvSpPr>
          <p:cNvPr id="2078" name="Google Shape;2078;p13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079" name="Google Shape;2079;p13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if we wanted to compress the image for a smaller </a:t>
            </a:r>
            <a:r>
              <a:rPr lang="en" sz="2900">
                <a:solidFill>
                  <a:srgbClr val="434343"/>
                </a:solidFill>
                <a:latin typeface="Montserrat"/>
                <a:ea typeface="Montserrat"/>
                <a:cs typeface="Montserrat"/>
                <a:sym typeface="Montserrat"/>
              </a:rPr>
              <a:t>screen</a:t>
            </a:r>
            <a:r>
              <a:rPr lang="en" sz="2900">
                <a:solidFill>
                  <a:srgbClr val="434343"/>
                </a:solidFill>
                <a:latin typeface="Montserrat"/>
                <a:ea typeface="Montserrat"/>
                <a:cs typeface="Montserrat"/>
                <a:sym typeface="Montserrat"/>
              </a:rPr>
              <a:t> with less colors?</a:t>
            </a:r>
            <a:endParaRPr sz="2900">
              <a:solidFill>
                <a:srgbClr val="434343"/>
              </a:solidFill>
              <a:latin typeface="Montserrat"/>
              <a:ea typeface="Montserrat"/>
              <a:cs typeface="Montserrat"/>
              <a:sym typeface="Montserrat"/>
            </a:endParaRPr>
          </a:p>
        </p:txBody>
      </p:sp>
      <p:pic>
        <p:nvPicPr>
          <p:cNvPr descr="watermark.jpg" id="2080" name="Google Shape;2080;p13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81" name="Google Shape;2081;p13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082" name="Google Shape;2082;p133"/>
          <p:cNvPicPr preferRelativeResize="0"/>
          <p:nvPr/>
        </p:nvPicPr>
        <p:blipFill>
          <a:blip r:embed="rId4">
            <a:alphaModFix/>
          </a:blip>
          <a:stretch>
            <a:fillRect/>
          </a:stretch>
        </p:blipFill>
        <p:spPr>
          <a:xfrm>
            <a:off x="2372225" y="2340875"/>
            <a:ext cx="2008826" cy="2747750"/>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6" name="Shape 2086"/>
        <p:cNvGrpSpPr/>
        <p:nvPr/>
      </p:nvGrpSpPr>
      <p:grpSpPr>
        <a:xfrm>
          <a:off x="0" y="0"/>
          <a:ext cx="0" cy="0"/>
          <a:chOff x="0" y="0"/>
          <a:chExt cx="0" cy="0"/>
        </a:xfrm>
      </p:grpSpPr>
      <p:graphicFrame>
        <p:nvGraphicFramePr>
          <p:cNvPr id="2087" name="Google Shape;2087;p134"/>
          <p:cNvGraphicFramePr/>
          <p:nvPr/>
        </p:nvGraphicFramePr>
        <p:xfrm>
          <a:off x="6426600" y="2183125"/>
          <a:ext cx="3000000" cy="3000000"/>
        </p:xfrm>
        <a:graphic>
          <a:graphicData uri="http://schemas.openxmlformats.org/drawingml/2006/table">
            <a:tbl>
              <a:tblPr>
                <a:noFill/>
                <a:tableStyleId>{0F9D7BD3-A36F-4843-BB6D-49014A3B323A}</a:tableStyleId>
              </a:tblPr>
              <a:tblGrid>
                <a:gridCol w="578950"/>
                <a:gridCol w="578950"/>
                <a:gridCol w="578950"/>
                <a:gridCol w="578950"/>
              </a:tblGrid>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r>
            </a:tbl>
          </a:graphicData>
        </a:graphic>
      </p:graphicFrame>
      <p:sp>
        <p:nvSpPr>
          <p:cNvPr id="2088" name="Google Shape;2088;p13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089" name="Google Shape;2089;p13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Recall the image is a 3D array (H,W,C)</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p:txBody>
      </p:sp>
      <p:pic>
        <p:nvPicPr>
          <p:cNvPr descr="watermark.jpg" id="2090" name="Google Shape;2090;p13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91" name="Google Shape;2091;p13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092" name="Google Shape;2092;p134"/>
          <p:cNvPicPr preferRelativeResize="0"/>
          <p:nvPr/>
        </p:nvPicPr>
        <p:blipFill>
          <a:blip r:embed="rId4">
            <a:alphaModFix/>
          </a:blip>
          <a:stretch>
            <a:fillRect/>
          </a:stretch>
        </p:blipFill>
        <p:spPr>
          <a:xfrm>
            <a:off x="2372225" y="2340875"/>
            <a:ext cx="2008826" cy="2747750"/>
          </a:xfrm>
          <a:prstGeom prst="rect">
            <a:avLst/>
          </a:prstGeom>
          <a:noFill/>
          <a:ln>
            <a:noFill/>
          </a:ln>
        </p:spPr>
      </p:pic>
      <p:graphicFrame>
        <p:nvGraphicFramePr>
          <p:cNvPr id="2093" name="Google Shape;2093;p134"/>
          <p:cNvGraphicFramePr/>
          <p:nvPr/>
        </p:nvGraphicFramePr>
        <p:xfrm>
          <a:off x="5767050" y="2783575"/>
          <a:ext cx="3000000" cy="3000000"/>
        </p:xfrm>
        <a:graphic>
          <a:graphicData uri="http://schemas.openxmlformats.org/drawingml/2006/table">
            <a:tbl>
              <a:tblPr>
                <a:noFill/>
                <a:tableStyleId>{0F9D7BD3-A36F-4843-BB6D-49014A3B323A}</a:tableStyleId>
              </a:tblPr>
              <a:tblGrid>
                <a:gridCol w="578950"/>
                <a:gridCol w="578950"/>
                <a:gridCol w="578950"/>
                <a:gridCol w="578950"/>
              </a:tblGrid>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r>
            </a:tbl>
          </a:graphicData>
        </a:graphic>
      </p:graphicFrame>
      <p:graphicFrame>
        <p:nvGraphicFramePr>
          <p:cNvPr id="2094" name="Google Shape;2094;p134"/>
          <p:cNvGraphicFramePr/>
          <p:nvPr/>
        </p:nvGraphicFramePr>
        <p:xfrm>
          <a:off x="4902950" y="3420625"/>
          <a:ext cx="3000000" cy="3000000"/>
        </p:xfrm>
        <a:graphic>
          <a:graphicData uri="http://schemas.openxmlformats.org/drawingml/2006/table">
            <a:tbl>
              <a:tblPr>
                <a:noFill/>
                <a:tableStyleId>{0F9D7BD3-A36F-4843-BB6D-49014A3B323A}</a:tableStyleId>
              </a:tblPr>
              <a:tblGrid>
                <a:gridCol w="578950"/>
                <a:gridCol w="578950"/>
                <a:gridCol w="578950"/>
                <a:gridCol w="578950"/>
              </a:tblGrid>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r>
            </a:tbl>
          </a:graphicData>
        </a:graphic>
      </p:graphicFrame>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8" name="Shape 2098"/>
        <p:cNvGrpSpPr/>
        <p:nvPr/>
      </p:nvGrpSpPr>
      <p:grpSpPr>
        <a:xfrm>
          <a:off x="0" y="0"/>
          <a:ext cx="0" cy="0"/>
          <a:chOff x="0" y="0"/>
          <a:chExt cx="0" cy="0"/>
        </a:xfrm>
      </p:grpSpPr>
      <p:graphicFrame>
        <p:nvGraphicFramePr>
          <p:cNvPr id="2099" name="Google Shape;2099;p135"/>
          <p:cNvGraphicFramePr/>
          <p:nvPr/>
        </p:nvGraphicFramePr>
        <p:xfrm>
          <a:off x="6426600" y="2183125"/>
          <a:ext cx="3000000" cy="3000000"/>
        </p:xfrm>
        <a:graphic>
          <a:graphicData uri="http://schemas.openxmlformats.org/drawingml/2006/table">
            <a:tbl>
              <a:tblPr>
                <a:noFill/>
                <a:tableStyleId>{0F9D7BD3-A36F-4843-BB6D-49014A3B323A}</a:tableStyleId>
              </a:tblPr>
              <a:tblGrid>
                <a:gridCol w="578950"/>
                <a:gridCol w="578950"/>
                <a:gridCol w="578950"/>
                <a:gridCol w="578950"/>
              </a:tblGrid>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r>
            </a:tbl>
          </a:graphicData>
        </a:graphic>
      </p:graphicFrame>
      <p:sp>
        <p:nvSpPr>
          <p:cNvPr id="2100" name="Google Shape;2100;p13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101" name="Google Shape;2101;p13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Recall the image is a 3D array (H,W,C):</a:t>
            </a:r>
            <a:endParaRPr sz="2900">
              <a:solidFill>
                <a:srgbClr val="434343"/>
              </a:solidFill>
              <a:latin typeface="Montserrat"/>
              <a:ea typeface="Montserrat"/>
              <a:cs typeface="Montserrat"/>
              <a:sym typeface="Montserrat"/>
            </a:endParaRPr>
          </a:p>
        </p:txBody>
      </p:sp>
      <p:pic>
        <p:nvPicPr>
          <p:cNvPr descr="watermark.jpg" id="2102" name="Google Shape;2102;p13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103" name="Google Shape;2103;p13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104" name="Google Shape;2104;p135"/>
          <p:cNvPicPr preferRelativeResize="0"/>
          <p:nvPr/>
        </p:nvPicPr>
        <p:blipFill>
          <a:blip r:embed="rId4">
            <a:alphaModFix/>
          </a:blip>
          <a:stretch>
            <a:fillRect/>
          </a:stretch>
        </p:blipFill>
        <p:spPr>
          <a:xfrm>
            <a:off x="2372225" y="2340875"/>
            <a:ext cx="2008826" cy="2747750"/>
          </a:xfrm>
          <a:prstGeom prst="rect">
            <a:avLst/>
          </a:prstGeom>
          <a:noFill/>
          <a:ln>
            <a:noFill/>
          </a:ln>
        </p:spPr>
      </p:pic>
      <p:graphicFrame>
        <p:nvGraphicFramePr>
          <p:cNvPr id="2105" name="Google Shape;2105;p135"/>
          <p:cNvGraphicFramePr/>
          <p:nvPr/>
        </p:nvGraphicFramePr>
        <p:xfrm>
          <a:off x="5767050" y="2783575"/>
          <a:ext cx="3000000" cy="3000000"/>
        </p:xfrm>
        <a:graphic>
          <a:graphicData uri="http://schemas.openxmlformats.org/drawingml/2006/table">
            <a:tbl>
              <a:tblPr>
                <a:noFill/>
                <a:tableStyleId>{0F9D7BD3-A36F-4843-BB6D-49014A3B323A}</a:tableStyleId>
              </a:tblPr>
              <a:tblGrid>
                <a:gridCol w="578950"/>
                <a:gridCol w="578950"/>
                <a:gridCol w="578950"/>
                <a:gridCol w="578950"/>
              </a:tblGrid>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r>
            </a:tbl>
          </a:graphicData>
        </a:graphic>
      </p:graphicFrame>
      <p:graphicFrame>
        <p:nvGraphicFramePr>
          <p:cNvPr id="2106" name="Google Shape;2106;p135"/>
          <p:cNvGraphicFramePr/>
          <p:nvPr/>
        </p:nvGraphicFramePr>
        <p:xfrm>
          <a:off x="4902950" y="3420625"/>
          <a:ext cx="3000000" cy="3000000"/>
        </p:xfrm>
        <a:graphic>
          <a:graphicData uri="http://schemas.openxmlformats.org/drawingml/2006/table">
            <a:tbl>
              <a:tblPr>
                <a:noFill/>
                <a:tableStyleId>{0F9D7BD3-A36F-4843-BB6D-49014A3B323A}</a:tableStyleId>
              </a:tblPr>
              <a:tblGrid>
                <a:gridCol w="578950"/>
                <a:gridCol w="578950"/>
                <a:gridCol w="578950"/>
                <a:gridCol w="578950"/>
              </a:tblGrid>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r>
            </a:tbl>
          </a:graphicData>
        </a:graphic>
      </p:graphicFrame>
      <p:sp>
        <p:nvSpPr>
          <p:cNvPr id="2107" name="Google Shape;2107;p135"/>
          <p:cNvSpPr txBox="1"/>
          <p:nvPr/>
        </p:nvSpPr>
        <p:spPr>
          <a:xfrm>
            <a:off x="1952250" y="3186447"/>
            <a:ext cx="33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Montserrat"/>
                <a:ea typeface="Montserrat"/>
                <a:cs typeface="Montserrat"/>
                <a:sym typeface="Montserrat"/>
              </a:rPr>
              <a:t>H</a:t>
            </a:r>
            <a:endParaRPr>
              <a:latin typeface="Montserrat"/>
              <a:ea typeface="Montserrat"/>
              <a:cs typeface="Montserrat"/>
              <a:sym typeface="Montserrat"/>
            </a:endParaRPr>
          </a:p>
        </p:txBody>
      </p:sp>
      <p:cxnSp>
        <p:nvCxnSpPr>
          <p:cNvPr id="2108" name="Google Shape;2108;p135"/>
          <p:cNvCxnSpPr>
            <a:stCxn id="2107" idx="0"/>
          </p:cNvCxnSpPr>
          <p:nvPr/>
        </p:nvCxnSpPr>
        <p:spPr>
          <a:xfrm rot="10800000">
            <a:off x="2121450" y="2382147"/>
            <a:ext cx="0" cy="804300"/>
          </a:xfrm>
          <a:prstGeom prst="straightConnector1">
            <a:avLst/>
          </a:prstGeom>
          <a:noFill/>
          <a:ln cap="flat" cmpd="sng" w="19050">
            <a:solidFill>
              <a:schemeClr val="dk2"/>
            </a:solidFill>
            <a:prstDash val="solid"/>
            <a:round/>
            <a:headEnd len="med" w="med" type="none"/>
            <a:tailEnd len="med" w="med" type="diamond"/>
          </a:ln>
        </p:spPr>
      </p:cxnSp>
      <p:cxnSp>
        <p:nvCxnSpPr>
          <p:cNvPr id="2109" name="Google Shape;2109;p135"/>
          <p:cNvCxnSpPr/>
          <p:nvPr/>
        </p:nvCxnSpPr>
        <p:spPr>
          <a:xfrm>
            <a:off x="2121450" y="3706892"/>
            <a:ext cx="0" cy="1162200"/>
          </a:xfrm>
          <a:prstGeom prst="straightConnector1">
            <a:avLst/>
          </a:prstGeom>
          <a:noFill/>
          <a:ln cap="flat" cmpd="sng" w="19050">
            <a:solidFill>
              <a:schemeClr val="dk2"/>
            </a:solidFill>
            <a:prstDash val="solid"/>
            <a:round/>
            <a:headEnd len="med" w="med" type="none"/>
            <a:tailEnd len="med" w="med" type="diamond"/>
          </a:ln>
        </p:spPr>
      </p:cxnSp>
      <p:sp>
        <p:nvSpPr>
          <p:cNvPr id="2110" name="Google Shape;2110;p135"/>
          <p:cNvSpPr txBox="1"/>
          <p:nvPr/>
        </p:nvSpPr>
        <p:spPr>
          <a:xfrm>
            <a:off x="3347587" y="1896525"/>
            <a:ext cx="250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Montserrat"/>
                <a:ea typeface="Montserrat"/>
                <a:cs typeface="Montserrat"/>
                <a:sym typeface="Montserrat"/>
              </a:rPr>
              <a:t>W</a:t>
            </a:r>
            <a:endParaRPr>
              <a:latin typeface="Montserrat"/>
              <a:ea typeface="Montserrat"/>
              <a:cs typeface="Montserrat"/>
              <a:sym typeface="Montserrat"/>
            </a:endParaRPr>
          </a:p>
        </p:txBody>
      </p:sp>
      <p:cxnSp>
        <p:nvCxnSpPr>
          <p:cNvPr id="2111" name="Google Shape;2111;p135"/>
          <p:cNvCxnSpPr/>
          <p:nvPr/>
        </p:nvCxnSpPr>
        <p:spPr>
          <a:xfrm rot="10800000">
            <a:off x="2665692" y="2096625"/>
            <a:ext cx="645600" cy="0"/>
          </a:xfrm>
          <a:prstGeom prst="straightConnector1">
            <a:avLst/>
          </a:prstGeom>
          <a:noFill/>
          <a:ln cap="flat" cmpd="sng" w="19050">
            <a:solidFill>
              <a:schemeClr val="dk2"/>
            </a:solidFill>
            <a:prstDash val="solid"/>
            <a:round/>
            <a:headEnd len="med" w="med" type="none"/>
            <a:tailEnd len="med" w="med" type="diamond"/>
          </a:ln>
        </p:spPr>
      </p:cxnSp>
      <p:cxnSp>
        <p:nvCxnSpPr>
          <p:cNvPr id="2112" name="Google Shape;2112;p135"/>
          <p:cNvCxnSpPr/>
          <p:nvPr/>
        </p:nvCxnSpPr>
        <p:spPr>
          <a:xfrm>
            <a:off x="3692263" y="2096625"/>
            <a:ext cx="688800" cy="0"/>
          </a:xfrm>
          <a:prstGeom prst="straightConnector1">
            <a:avLst/>
          </a:prstGeom>
          <a:noFill/>
          <a:ln cap="flat" cmpd="sng" w="19050">
            <a:solidFill>
              <a:schemeClr val="dk2"/>
            </a:solidFill>
            <a:prstDash val="solid"/>
            <a:round/>
            <a:headEnd len="med" w="med" type="none"/>
            <a:tailEnd len="med" w="med" type="diamond"/>
          </a:ln>
        </p:spPr>
      </p:cxn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6" name="Shape 2116"/>
        <p:cNvGrpSpPr/>
        <p:nvPr/>
      </p:nvGrpSpPr>
      <p:grpSpPr>
        <a:xfrm>
          <a:off x="0" y="0"/>
          <a:ext cx="0" cy="0"/>
          <a:chOff x="0" y="0"/>
          <a:chExt cx="0" cy="0"/>
        </a:xfrm>
      </p:grpSpPr>
      <p:graphicFrame>
        <p:nvGraphicFramePr>
          <p:cNvPr id="2117" name="Google Shape;2117;p136"/>
          <p:cNvGraphicFramePr/>
          <p:nvPr/>
        </p:nvGraphicFramePr>
        <p:xfrm>
          <a:off x="6426600" y="2183125"/>
          <a:ext cx="3000000" cy="3000000"/>
        </p:xfrm>
        <a:graphic>
          <a:graphicData uri="http://schemas.openxmlformats.org/drawingml/2006/table">
            <a:tbl>
              <a:tblPr>
                <a:noFill/>
                <a:tableStyleId>{0F9D7BD3-A36F-4843-BB6D-49014A3B323A}</a:tableStyleId>
              </a:tblPr>
              <a:tblGrid>
                <a:gridCol w="578950"/>
                <a:gridCol w="578950"/>
                <a:gridCol w="578950"/>
                <a:gridCol w="578950"/>
              </a:tblGrid>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r>
            </a:tbl>
          </a:graphicData>
        </a:graphic>
      </p:graphicFrame>
      <p:sp>
        <p:nvSpPr>
          <p:cNvPr id="2118" name="Google Shape;2118;p13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119" name="Google Shape;2119;p13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Recall the image is a 3D array (H,W,C):</a:t>
            </a:r>
            <a:endParaRPr sz="2900">
              <a:solidFill>
                <a:srgbClr val="434343"/>
              </a:solidFill>
              <a:latin typeface="Montserrat"/>
              <a:ea typeface="Montserrat"/>
              <a:cs typeface="Montserrat"/>
              <a:sym typeface="Montserrat"/>
            </a:endParaRPr>
          </a:p>
        </p:txBody>
      </p:sp>
      <p:pic>
        <p:nvPicPr>
          <p:cNvPr descr="watermark.jpg" id="2120" name="Google Shape;2120;p13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121" name="Google Shape;2121;p13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122" name="Google Shape;2122;p136"/>
          <p:cNvPicPr preferRelativeResize="0"/>
          <p:nvPr/>
        </p:nvPicPr>
        <p:blipFill>
          <a:blip r:embed="rId4">
            <a:alphaModFix/>
          </a:blip>
          <a:stretch>
            <a:fillRect/>
          </a:stretch>
        </p:blipFill>
        <p:spPr>
          <a:xfrm>
            <a:off x="2372225" y="2340875"/>
            <a:ext cx="2008826" cy="2747750"/>
          </a:xfrm>
          <a:prstGeom prst="rect">
            <a:avLst/>
          </a:prstGeom>
          <a:noFill/>
          <a:ln>
            <a:noFill/>
          </a:ln>
        </p:spPr>
      </p:pic>
      <p:graphicFrame>
        <p:nvGraphicFramePr>
          <p:cNvPr id="2123" name="Google Shape;2123;p136"/>
          <p:cNvGraphicFramePr/>
          <p:nvPr/>
        </p:nvGraphicFramePr>
        <p:xfrm>
          <a:off x="5767050" y="2783575"/>
          <a:ext cx="3000000" cy="3000000"/>
        </p:xfrm>
        <a:graphic>
          <a:graphicData uri="http://schemas.openxmlformats.org/drawingml/2006/table">
            <a:tbl>
              <a:tblPr>
                <a:noFill/>
                <a:tableStyleId>{0F9D7BD3-A36F-4843-BB6D-49014A3B323A}</a:tableStyleId>
              </a:tblPr>
              <a:tblGrid>
                <a:gridCol w="578950"/>
                <a:gridCol w="578950"/>
                <a:gridCol w="578950"/>
                <a:gridCol w="578950"/>
              </a:tblGrid>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r>
            </a:tbl>
          </a:graphicData>
        </a:graphic>
      </p:graphicFrame>
      <p:graphicFrame>
        <p:nvGraphicFramePr>
          <p:cNvPr id="2124" name="Google Shape;2124;p136"/>
          <p:cNvGraphicFramePr/>
          <p:nvPr/>
        </p:nvGraphicFramePr>
        <p:xfrm>
          <a:off x="4902950" y="3420625"/>
          <a:ext cx="3000000" cy="3000000"/>
        </p:xfrm>
        <a:graphic>
          <a:graphicData uri="http://schemas.openxmlformats.org/drawingml/2006/table">
            <a:tbl>
              <a:tblPr>
                <a:noFill/>
                <a:tableStyleId>{0F9D7BD3-A36F-4843-BB6D-49014A3B323A}</a:tableStyleId>
              </a:tblPr>
              <a:tblGrid>
                <a:gridCol w="578950"/>
                <a:gridCol w="578950"/>
                <a:gridCol w="578950"/>
                <a:gridCol w="578950"/>
              </a:tblGrid>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r>
            </a:tbl>
          </a:graphicData>
        </a:graphic>
      </p:graphicFrame>
      <p:sp>
        <p:nvSpPr>
          <p:cNvPr id="2125" name="Google Shape;2125;p136"/>
          <p:cNvSpPr txBox="1"/>
          <p:nvPr/>
        </p:nvSpPr>
        <p:spPr>
          <a:xfrm>
            <a:off x="4489700" y="3922775"/>
            <a:ext cx="33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Montserrat"/>
                <a:ea typeface="Montserrat"/>
                <a:cs typeface="Montserrat"/>
                <a:sym typeface="Montserrat"/>
              </a:rPr>
              <a:t>H</a:t>
            </a:r>
            <a:endParaRPr>
              <a:latin typeface="Montserrat"/>
              <a:ea typeface="Montserrat"/>
              <a:cs typeface="Montserrat"/>
              <a:sym typeface="Montserrat"/>
            </a:endParaRPr>
          </a:p>
        </p:txBody>
      </p:sp>
      <p:sp>
        <p:nvSpPr>
          <p:cNvPr id="2126" name="Google Shape;2126;p136"/>
          <p:cNvSpPr txBox="1"/>
          <p:nvPr/>
        </p:nvSpPr>
        <p:spPr>
          <a:xfrm>
            <a:off x="7415300" y="1754800"/>
            <a:ext cx="33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Montserrat"/>
                <a:ea typeface="Montserrat"/>
                <a:cs typeface="Montserrat"/>
                <a:sym typeface="Montserrat"/>
              </a:rPr>
              <a:t>W</a:t>
            </a:r>
            <a:endParaRPr>
              <a:latin typeface="Montserrat"/>
              <a:ea typeface="Montserrat"/>
              <a:cs typeface="Montserrat"/>
              <a:sym typeface="Montserrat"/>
            </a:endParaRPr>
          </a:p>
        </p:txBody>
      </p:sp>
      <p:cxnSp>
        <p:nvCxnSpPr>
          <p:cNvPr id="2127" name="Google Shape;2127;p136"/>
          <p:cNvCxnSpPr>
            <a:stCxn id="2125" idx="0"/>
          </p:cNvCxnSpPr>
          <p:nvPr/>
        </p:nvCxnSpPr>
        <p:spPr>
          <a:xfrm rot="10800000">
            <a:off x="4658900" y="3424475"/>
            <a:ext cx="0" cy="498300"/>
          </a:xfrm>
          <a:prstGeom prst="straightConnector1">
            <a:avLst/>
          </a:prstGeom>
          <a:noFill/>
          <a:ln cap="flat" cmpd="sng" w="19050">
            <a:solidFill>
              <a:schemeClr val="dk2"/>
            </a:solidFill>
            <a:prstDash val="solid"/>
            <a:round/>
            <a:headEnd len="med" w="med" type="none"/>
            <a:tailEnd len="med" w="med" type="diamond"/>
          </a:ln>
        </p:spPr>
      </p:cxnSp>
      <p:cxnSp>
        <p:nvCxnSpPr>
          <p:cNvPr id="2128" name="Google Shape;2128;p136"/>
          <p:cNvCxnSpPr/>
          <p:nvPr/>
        </p:nvCxnSpPr>
        <p:spPr>
          <a:xfrm>
            <a:off x="4658900" y="4245175"/>
            <a:ext cx="0" cy="720000"/>
          </a:xfrm>
          <a:prstGeom prst="straightConnector1">
            <a:avLst/>
          </a:prstGeom>
          <a:noFill/>
          <a:ln cap="flat" cmpd="sng" w="19050">
            <a:solidFill>
              <a:schemeClr val="dk2"/>
            </a:solidFill>
            <a:prstDash val="solid"/>
            <a:round/>
            <a:headEnd len="med" w="med" type="none"/>
            <a:tailEnd len="med" w="med" type="diamond"/>
          </a:ln>
        </p:spPr>
      </p:cxnSp>
      <p:cxnSp>
        <p:nvCxnSpPr>
          <p:cNvPr id="2129" name="Google Shape;2129;p136"/>
          <p:cNvCxnSpPr/>
          <p:nvPr/>
        </p:nvCxnSpPr>
        <p:spPr>
          <a:xfrm rot="10800000">
            <a:off x="6426600" y="1954900"/>
            <a:ext cx="871800" cy="0"/>
          </a:xfrm>
          <a:prstGeom prst="straightConnector1">
            <a:avLst/>
          </a:prstGeom>
          <a:noFill/>
          <a:ln cap="flat" cmpd="sng" w="19050">
            <a:solidFill>
              <a:schemeClr val="dk2"/>
            </a:solidFill>
            <a:prstDash val="solid"/>
            <a:round/>
            <a:headEnd len="med" w="med" type="none"/>
            <a:tailEnd len="med" w="med" type="diamond"/>
          </a:ln>
        </p:spPr>
      </p:cxnSp>
      <p:cxnSp>
        <p:nvCxnSpPr>
          <p:cNvPr id="2130" name="Google Shape;2130;p136"/>
          <p:cNvCxnSpPr/>
          <p:nvPr/>
        </p:nvCxnSpPr>
        <p:spPr>
          <a:xfrm>
            <a:off x="7812700" y="1954900"/>
            <a:ext cx="929700" cy="0"/>
          </a:xfrm>
          <a:prstGeom prst="straightConnector1">
            <a:avLst/>
          </a:prstGeom>
          <a:noFill/>
          <a:ln cap="flat" cmpd="sng" w="19050">
            <a:solidFill>
              <a:schemeClr val="dk2"/>
            </a:solidFill>
            <a:prstDash val="solid"/>
            <a:round/>
            <a:headEnd len="med" w="med" type="none"/>
            <a:tailEnd len="med" w="med" type="diamond"/>
          </a:ln>
        </p:spPr>
      </p:cxn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4" name="Shape 2134"/>
        <p:cNvGrpSpPr/>
        <p:nvPr/>
      </p:nvGrpSpPr>
      <p:grpSpPr>
        <a:xfrm>
          <a:off x="0" y="0"/>
          <a:ext cx="0" cy="0"/>
          <a:chOff x="0" y="0"/>
          <a:chExt cx="0" cy="0"/>
        </a:xfrm>
      </p:grpSpPr>
      <p:graphicFrame>
        <p:nvGraphicFramePr>
          <p:cNvPr id="2135" name="Google Shape;2135;p137"/>
          <p:cNvGraphicFramePr/>
          <p:nvPr/>
        </p:nvGraphicFramePr>
        <p:xfrm>
          <a:off x="6426600" y="2183125"/>
          <a:ext cx="3000000" cy="3000000"/>
        </p:xfrm>
        <a:graphic>
          <a:graphicData uri="http://schemas.openxmlformats.org/drawingml/2006/table">
            <a:tbl>
              <a:tblPr>
                <a:noFill/>
                <a:tableStyleId>{0F9D7BD3-A36F-4843-BB6D-49014A3B323A}</a:tableStyleId>
              </a:tblPr>
              <a:tblGrid>
                <a:gridCol w="578950"/>
                <a:gridCol w="578950"/>
                <a:gridCol w="578950"/>
                <a:gridCol w="578950"/>
              </a:tblGrid>
              <a:tr h="381000">
                <a:tc>
                  <a:txBody>
                    <a:bodyPr/>
                    <a:lstStyle/>
                    <a:p>
                      <a:pPr indent="0" lvl="0" marL="0" rtl="0" algn="ctr">
                        <a:spcBef>
                          <a:spcPts val="0"/>
                        </a:spcBef>
                        <a:spcAft>
                          <a:spcPts val="0"/>
                        </a:spcAft>
                        <a:buNone/>
                      </a:pPr>
                      <a:r>
                        <a:rPr lang="en">
                          <a:latin typeface="Montserrat"/>
                          <a:ea typeface="Montserrat"/>
                          <a:cs typeface="Montserrat"/>
                          <a:sym typeface="Montserrat"/>
                        </a:rPr>
                        <a:t>212</a:t>
                      </a:r>
                      <a:endParaRPr>
                        <a:latin typeface="Montserrat"/>
                        <a:ea typeface="Montserrat"/>
                        <a:cs typeface="Montserrat"/>
                        <a:sym typeface="Montserrat"/>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132</a:t>
                      </a:r>
                      <a:endParaRPr>
                        <a:latin typeface="Montserrat"/>
                        <a:ea typeface="Montserrat"/>
                        <a:cs typeface="Montserrat"/>
                        <a:sym typeface="Montserrat"/>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35</a:t>
                      </a:r>
                      <a:endParaRPr>
                        <a:latin typeface="Montserrat"/>
                        <a:ea typeface="Montserrat"/>
                        <a:cs typeface="Montserrat"/>
                        <a:sym typeface="Montserrat"/>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67</a:t>
                      </a:r>
                      <a:endParaRPr>
                        <a:latin typeface="Montserrat"/>
                        <a:ea typeface="Montserrat"/>
                        <a:cs typeface="Montserrat"/>
                        <a:sym typeface="Montserrat"/>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r>
              <a:tr h="381000">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r>
            </a:tbl>
          </a:graphicData>
        </a:graphic>
      </p:graphicFrame>
      <p:sp>
        <p:nvSpPr>
          <p:cNvPr id="2136" name="Google Shape;2136;p13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137" name="Google Shape;2137;p137"/>
          <p:cNvSpPr txBox="1"/>
          <p:nvPr>
            <p:ph idx="1" type="body"/>
          </p:nvPr>
        </p:nvSpPr>
        <p:spPr>
          <a:xfrm>
            <a:off x="311700" y="1152475"/>
            <a:ext cx="8684100" cy="8952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Each pixel has an RGB value to create a color</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p:txBody>
      </p:sp>
      <p:pic>
        <p:nvPicPr>
          <p:cNvPr descr="watermark.jpg" id="2138" name="Google Shape;2138;p13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139" name="Google Shape;2139;p13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140" name="Google Shape;2140;p137"/>
          <p:cNvPicPr preferRelativeResize="0"/>
          <p:nvPr/>
        </p:nvPicPr>
        <p:blipFill>
          <a:blip r:embed="rId4">
            <a:alphaModFix/>
          </a:blip>
          <a:stretch>
            <a:fillRect/>
          </a:stretch>
        </p:blipFill>
        <p:spPr>
          <a:xfrm>
            <a:off x="2372225" y="2340875"/>
            <a:ext cx="2008826" cy="2747750"/>
          </a:xfrm>
          <a:prstGeom prst="rect">
            <a:avLst/>
          </a:prstGeom>
          <a:noFill/>
          <a:ln>
            <a:noFill/>
          </a:ln>
        </p:spPr>
      </p:pic>
      <p:graphicFrame>
        <p:nvGraphicFramePr>
          <p:cNvPr id="2141" name="Google Shape;2141;p137"/>
          <p:cNvGraphicFramePr/>
          <p:nvPr/>
        </p:nvGraphicFramePr>
        <p:xfrm>
          <a:off x="5767050" y="2783575"/>
          <a:ext cx="3000000" cy="3000000"/>
        </p:xfrm>
        <a:graphic>
          <a:graphicData uri="http://schemas.openxmlformats.org/drawingml/2006/table">
            <a:tbl>
              <a:tblPr>
                <a:noFill/>
                <a:tableStyleId>{0F9D7BD3-A36F-4843-BB6D-49014A3B323A}</a:tableStyleId>
              </a:tblPr>
              <a:tblGrid>
                <a:gridCol w="578950"/>
                <a:gridCol w="578950"/>
                <a:gridCol w="578950"/>
                <a:gridCol w="578950"/>
              </a:tblGrid>
              <a:tr h="381000">
                <a:tc>
                  <a:txBody>
                    <a:bodyPr/>
                    <a:lstStyle/>
                    <a:p>
                      <a:pPr indent="0" lvl="0" marL="0" rtl="0" algn="ctr">
                        <a:spcBef>
                          <a:spcPts val="0"/>
                        </a:spcBef>
                        <a:spcAft>
                          <a:spcPts val="0"/>
                        </a:spcAft>
                        <a:buNone/>
                      </a:pPr>
                      <a:r>
                        <a:rPr lang="en">
                          <a:latin typeface="Montserrat"/>
                          <a:ea typeface="Montserrat"/>
                          <a:cs typeface="Montserrat"/>
                          <a:sym typeface="Montserrat"/>
                        </a:rPr>
                        <a:t>45</a:t>
                      </a:r>
                      <a:endParaRPr>
                        <a:latin typeface="Montserrat"/>
                        <a:ea typeface="Montserrat"/>
                        <a:cs typeface="Montserrat"/>
                        <a:sym typeface="Montserrat"/>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89</a:t>
                      </a:r>
                      <a:endParaRPr>
                        <a:latin typeface="Montserrat"/>
                        <a:ea typeface="Montserrat"/>
                        <a:cs typeface="Montserrat"/>
                        <a:sym typeface="Montserrat"/>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231</a:t>
                      </a:r>
                      <a:endParaRPr>
                        <a:latin typeface="Montserrat"/>
                        <a:ea typeface="Montserrat"/>
                        <a:cs typeface="Montserrat"/>
                        <a:sym typeface="Montserrat"/>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14</a:t>
                      </a:r>
                      <a:endParaRPr>
                        <a:latin typeface="Montserrat"/>
                        <a:ea typeface="Montserrat"/>
                        <a:cs typeface="Montserrat"/>
                        <a:sym typeface="Montserrat"/>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r>
              <a:tr h="381000">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r>
            </a:tbl>
          </a:graphicData>
        </a:graphic>
      </p:graphicFrame>
      <p:graphicFrame>
        <p:nvGraphicFramePr>
          <p:cNvPr id="2142" name="Google Shape;2142;p137"/>
          <p:cNvGraphicFramePr/>
          <p:nvPr/>
        </p:nvGraphicFramePr>
        <p:xfrm>
          <a:off x="4902950" y="3420625"/>
          <a:ext cx="3000000" cy="3000000"/>
        </p:xfrm>
        <a:graphic>
          <a:graphicData uri="http://schemas.openxmlformats.org/drawingml/2006/table">
            <a:tbl>
              <a:tblPr>
                <a:noFill/>
                <a:tableStyleId>{0F9D7BD3-A36F-4843-BB6D-49014A3B323A}</a:tableStyleId>
              </a:tblPr>
              <a:tblGrid>
                <a:gridCol w="578950"/>
                <a:gridCol w="578950"/>
                <a:gridCol w="578950"/>
                <a:gridCol w="578950"/>
              </a:tblGrid>
              <a:tr h="381000">
                <a:tc>
                  <a:txBody>
                    <a:bodyPr/>
                    <a:lstStyle/>
                    <a:p>
                      <a:pPr indent="0" lvl="0" marL="0" rtl="0" algn="ctr">
                        <a:spcBef>
                          <a:spcPts val="0"/>
                        </a:spcBef>
                        <a:spcAft>
                          <a:spcPts val="0"/>
                        </a:spcAft>
                        <a:buNone/>
                      </a:pPr>
                      <a:r>
                        <a:rPr lang="en">
                          <a:latin typeface="Montserrat"/>
                          <a:ea typeface="Montserrat"/>
                          <a:cs typeface="Montserrat"/>
                          <a:sym typeface="Montserrat"/>
                        </a:rPr>
                        <a:t>100</a:t>
                      </a:r>
                      <a:endParaRPr>
                        <a:latin typeface="Montserrat"/>
                        <a:ea typeface="Montserrat"/>
                        <a:cs typeface="Montserrat"/>
                        <a:sym typeface="Montserrat"/>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231</a:t>
                      </a:r>
                      <a:endParaRPr>
                        <a:latin typeface="Montserrat"/>
                        <a:ea typeface="Montserrat"/>
                        <a:cs typeface="Montserrat"/>
                        <a:sym typeface="Montserrat"/>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46</a:t>
                      </a:r>
                      <a:endParaRPr>
                        <a:latin typeface="Montserrat"/>
                        <a:ea typeface="Montserrat"/>
                        <a:cs typeface="Montserrat"/>
                        <a:sym typeface="Montserrat"/>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34</a:t>
                      </a:r>
                      <a:endParaRPr>
                        <a:latin typeface="Montserrat"/>
                        <a:ea typeface="Montserrat"/>
                        <a:cs typeface="Montserrat"/>
                        <a:sym typeface="Montserrat"/>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r>
              <a:tr h="381000">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r>
              <a:tr h="381000">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r>
            </a:tbl>
          </a:graphicData>
        </a:graphic>
      </p:graphicFrame>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6" name="Shape 2146"/>
        <p:cNvGrpSpPr/>
        <p:nvPr/>
      </p:nvGrpSpPr>
      <p:grpSpPr>
        <a:xfrm>
          <a:off x="0" y="0"/>
          <a:ext cx="0" cy="0"/>
          <a:chOff x="0" y="0"/>
          <a:chExt cx="0" cy="0"/>
        </a:xfrm>
      </p:grpSpPr>
      <p:sp>
        <p:nvSpPr>
          <p:cNvPr id="2147" name="Google Shape;2147;p13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148" name="Google Shape;2148;p138"/>
          <p:cNvSpPr txBox="1"/>
          <p:nvPr>
            <p:ph idx="1" type="body"/>
          </p:nvPr>
        </p:nvSpPr>
        <p:spPr>
          <a:xfrm>
            <a:off x="311700" y="1152475"/>
            <a:ext cx="8684100" cy="8952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reshape the image to an X array feature set, with features R,G,B:</a:t>
            </a:r>
            <a:endParaRPr sz="2900">
              <a:solidFill>
                <a:srgbClr val="434343"/>
              </a:solidFill>
              <a:latin typeface="Montserrat"/>
              <a:ea typeface="Montserrat"/>
              <a:cs typeface="Montserrat"/>
              <a:sym typeface="Montserrat"/>
            </a:endParaRPr>
          </a:p>
        </p:txBody>
      </p:sp>
      <p:pic>
        <p:nvPicPr>
          <p:cNvPr descr="watermark.jpg" id="2149" name="Google Shape;2149;p13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150" name="Google Shape;2150;p13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151" name="Google Shape;2151;p138"/>
          <p:cNvPicPr preferRelativeResize="0"/>
          <p:nvPr/>
        </p:nvPicPr>
        <p:blipFill>
          <a:blip r:embed="rId4">
            <a:alphaModFix/>
          </a:blip>
          <a:stretch>
            <a:fillRect/>
          </a:stretch>
        </p:blipFill>
        <p:spPr>
          <a:xfrm>
            <a:off x="2372225" y="2340875"/>
            <a:ext cx="2008826" cy="2747750"/>
          </a:xfrm>
          <a:prstGeom prst="rect">
            <a:avLst/>
          </a:prstGeom>
          <a:noFill/>
          <a:ln>
            <a:noFill/>
          </a:ln>
        </p:spPr>
      </p:pic>
      <p:graphicFrame>
        <p:nvGraphicFramePr>
          <p:cNvPr id="2152" name="Google Shape;2152;p138"/>
          <p:cNvGraphicFramePr/>
          <p:nvPr/>
        </p:nvGraphicFramePr>
        <p:xfrm>
          <a:off x="6426600" y="2183125"/>
          <a:ext cx="3000000" cy="3000000"/>
        </p:xfrm>
        <a:graphic>
          <a:graphicData uri="http://schemas.openxmlformats.org/drawingml/2006/table">
            <a:tbl>
              <a:tblPr>
                <a:noFill/>
                <a:tableStyleId>{0F9D7BD3-A36F-4843-BB6D-49014A3B323A}</a:tableStyleId>
              </a:tblPr>
              <a:tblGrid>
                <a:gridCol w="578950"/>
                <a:gridCol w="578950"/>
                <a:gridCol w="578950"/>
                <a:gridCol w="578950"/>
              </a:tblGrid>
              <a:tr h="381000">
                <a:tc>
                  <a:txBody>
                    <a:bodyPr/>
                    <a:lstStyle/>
                    <a:p>
                      <a:pPr indent="0" lvl="0" marL="0" rtl="0" algn="ctr">
                        <a:spcBef>
                          <a:spcPts val="0"/>
                        </a:spcBef>
                        <a:spcAft>
                          <a:spcPts val="0"/>
                        </a:spcAft>
                        <a:buNone/>
                      </a:pPr>
                      <a:r>
                        <a:rPr lang="en">
                          <a:latin typeface="Montserrat"/>
                          <a:ea typeface="Montserrat"/>
                          <a:cs typeface="Montserrat"/>
                          <a:sym typeface="Montserrat"/>
                        </a:rPr>
                        <a:t>212</a:t>
                      </a:r>
                      <a:endParaRPr>
                        <a:latin typeface="Montserrat"/>
                        <a:ea typeface="Montserrat"/>
                        <a:cs typeface="Montserrat"/>
                        <a:sym typeface="Montserrat"/>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132</a:t>
                      </a:r>
                      <a:endParaRPr>
                        <a:latin typeface="Montserrat"/>
                        <a:ea typeface="Montserrat"/>
                        <a:cs typeface="Montserrat"/>
                        <a:sym typeface="Montserrat"/>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35</a:t>
                      </a:r>
                      <a:endParaRPr>
                        <a:latin typeface="Montserrat"/>
                        <a:ea typeface="Montserrat"/>
                        <a:cs typeface="Montserrat"/>
                        <a:sym typeface="Montserrat"/>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67</a:t>
                      </a:r>
                      <a:endParaRPr>
                        <a:latin typeface="Montserrat"/>
                        <a:ea typeface="Montserrat"/>
                        <a:cs typeface="Montserrat"/>
                        <a:sym typeface="Montserrat"/>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r>
              <a:tr h="381000">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0B5394"/>
                      </a:solidFill>
                      <a:prstDash val="solid"/>
                      <a:round/>
                      <a:headEnd len="sm" w="sm" type="none"/>
                      <a:tailEnd len="sm" w="sm" type="none"/>
                    </a:lnL>
                    <a:lnR cap="flat" cmpd="sng" w="19050">
                      <a:solidFill>
                        <a:srgbClr val="0B5394"/>
                      </a:solidFill>
                      <a:prstDash val="solid"/>
                      <a:round/>
                      <a:headEnd len="sm" w="sm" type="none"/>
                      <a:tailEnd len="sm" w="sm" type="none"/>
                    </a:lnR>
                    <a:lnT cap="flat" cmpd="sng" w="19050">
                      <a:solidFill>
                        <a:srgbClr val="0B5394"/>
                      </a:solidFill>
                      <a:prstDash val="solid"/>
                      <a:round/>
                      <a:headEnd len="sm" w="sm" type="none"/>
                      <a:tailEnd len="sm" w="sm" type="none"/>
                    </a:lnT>
                    <a:lnB cap="flat" cmpd="sng" w="19050">
                      <a:solidFill>
                        <a:srgbClr val="0B5394"/>
                      </a:solidFill>
                      <a:prstDash val="solid"/>
                      <a:round/>
                      <a:headEnd len="sm" w="sm" type="none"/>
                      <a:tailEnd len="sm" w="sm" type="none"/>
                    </a:lnB>
                    <a:solidFill>
                      <a:srgbClr val="C9DAF8"/>
                    </a:solidFill>
                  </a:tcPr>
                </a:tc>
              </a:tr>
            </a:tbl>
          </a:graphicData>
        </a:graphic>
      </p:graphicFrame>
      <p:graphicFrame>
        <p:nvGraphicFramePr>
          <p:cNvPr id="2153" name="Google Shape;2153;p138"/>
          <p:cNvGraphicFramePr/>
          <p:nvPr/>
        </p:nvGraphicFramePr>
        <p:xfrm>
          <a:off x="5767050" y="2783575"/>
          <a:ext cx="3000000" cy="3000000"/>
        </p:xfrm>
        <a:graphic>
          <a:graphicData uri="http://schemas.openxmlformats.org/drawingml/2006/table">
            <a:tbl>
              <a:tblPr>
                <a:noFill/>
                <a:tableStyleId>{0F9D7BD3-A36F-4843-BB6D-49014A3B323A}</a:tableStyleId>
              </a:tblPr>
              <a:tblGrid>
                <a:gridCol w="578950"/>
                <a:gridCol w="578950"/>
                <a:gridCol w="578950"/>
                <a:gridCol w="578950"/>
              </a:tblGrid>
              <a:tr h="381000">
                <a:tc>
                  <a:txBody>
                    <a:bodyPr/>
                    <a:lstStyle/>
                    <a:p>
                      <a:pPr indent="0" lvl="0" marL="0" rtl="0" algn="ctr">
                        <a:spcBef>
                          <a:spcPts val="0"/>
                        </a:spcBef>
                        <a:spcAft>
                          <a:spcPts val="0"/>
                        </a:spcAft>
                        <a:buNone/>
                      </a:pPr>
                      <a:r>
                        <a:rPr lang="en">
                          <a:latin typeface="Montserrat"/>
                          <a:ea typeface="Montserrat"/>
                          <a:cs typeface="Montserrat"/>
                          <a:sym typeface="Montserrat"/>
                        </a:rPr>
                        <a:t>45</a:t>
                      </a:r>
                      <a:endParaRPr>
                        <a:latin typeface="Montserrat"/>
                        <a:ea typeface="Montserrat"/>
                        <a:cs typeface="Montserrat"/>
                        <a:sym typeface="Montserrat"/>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89</a:t>
                      </a:r>
                      <a:endParaRPr>
                        <a:latin typeface="Montserrat"/>
                        <a:ea typeface="Montserrat"/>
                        <a:cs typeface="Montserrat"/>
                        <a:sym typeface="Montserrat"/>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231</a:t>
                      </a:r>
                      <a:endParaRPr>
                        <a:latin typeface="Montserrat"/>
                        <a:ea typeface="Montserrat"/>
                        <a:cs typeface="Montserrat"/>
                        <a:sym typeface="Montserrat"/>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14</a:t>
                      </a:r>
                      <a:endParaRPr>
                        <a:latin typeface="Montserrat"/>
                        <a:ea typeface="Montserrat"/>
                        <a:cs typeface="Montserrat"/>
                        <a:sym typeface="Montserrat"/>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r>
              <a:tr h="381000">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r>
              <a:tr h="381000">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38761D"/>
                      </a:solidFill>
                      <a:prstDash val="solid"/>
                      <a:round/>
                      <a:headEnd len="sm" w="sm" type="none"/>
                      <a:tailEnd len="sm" w="sm" type="none"/>
                    </a:lnL>
                    <a:lnR cap="flat" cmpd="sng" w="19050">
                      <a:solidFill>
                        <a:srgbClr val="38761D"/>
                      </a:solidFill>
                      <a:prstDash val="solid"/>
                      <a:round/>
                      <a:headEnd len="sm" w="sm" type="none"/>
                      <a:tailEnd len="sm" w="sm" type="none"/>
                    </a:lnR>
                    <a:lnT cap="flat" cmpd="sng" w="19050">
                      <a:solidFill>
                        <a:srgbClr val="38761D"/>
                      </a:solidFill>
                      <a:prstDash val="solid"/>
                      <a:round/>
                      <a:headEnd len="sm" w="sm" type="none"/>
                      <a:tailEnd len="sm" w="sm" type="none"/>
                    </a:lnT>
                    <a:lnB cap="flat" cmpd="sng" w="19050">
                      <a:solidFill>
                        <a:srgbClr val="38761D"/>
                      </a:solidFill>
                      <a:prstDash val="solid"/>
                      <a:round/>
                      <a:headEnd len="sm" w="sm" type="none"/>
                      <a:tailEnd len="sm" w="sm" type="none"/>
                    </a:lnB>
                    <a:solidFill>
                      <a:srgbClr val="B6D7A8"/>
                    </a:solidFill>
                  </a:tcPr>
                </a:tc>
              </a:tr>
            </a:tbl>
          </a:graphicData>
        </a:graphic>
      </p:graphicFrame>
      <p:graphicFrame>
        <p:nvGraphicFramePr>
          <p:cNvPr id="2154" name="Google Shape;2154;p138"/>
          <p:cNvGraphicFramePr/>
          <p:nvPr/>
        </p:nvGraphicFramePr>
        <p:xfrm>
          <a:off x="4902950" y="3420625"/>
          <a:ext cx="3000000" cy="3000000"/>
        </p:xfrm>
        <a:graphic>
          <a:graphicData uri="http://schemas.openxmlformats.org/drawingml/2006/table">
            <a:tbl>
              <a:tblPr>
                <a:noFill/>
                <a:tableStyleId>{0F9D7BD3-A36F-4843-BB6D-49014A3B323A}</a:tableStyleId>
              </a:tblPr>
              <a:tblGrid>
                <a:gridCol w="578950"/>
                <a:gridCol w="578950"/>
                <a:gridCol w="578950"/>
                <a:gridCol w="578950"/>
              </a:tblGrid>
              <a:tr h="381000">
                <a:tc>
                  <a:txBody>
                    <a:bodyPr/>
                    <a:lstStyle/>
                    <a:p>
                      <a:pPr indent="0" lvl="0" marL="0" rtl="0" algn="ctr">
                        <a:spcBef>
                          <a:spcPts val="0"/>
                        </a:spcBef>
                        <a:spcAft>
                          <a:spcPts val="0"/>
                        </a:spcAft>
                        <a:buNone/>
                      </a:pPr>
                      <a:r>
                        <a:rPr lang="en">
                          <a:latin typeface="Montserrat"/>
                          <a:ea typeface="Montserrat"/>
                          <a:cs typeface="Montserrat"/>
                          <a:sym typeface="Montserrat"/>
                        </a:rPr>
                        <a:t>100</a:t>
                      </a:r>
                      <a:endParaRPr>
                        <a:latin typeface="Montserrat"/>
                        <a:ea typeface="Montserrat"/>
                        <a:cs typeface="Montserrat"/>
                        <a:sym typeface="Montserrat"/>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231</a:t>
                      </a:r>
                      <a:endParaRPr>
                        <a:latin typeface="Montserrat"/>
                        <a:ea typeface="Montserrat"/>
                        <a:cs typeface="Montserrat"/>
                        <a:sym typeface="Montserrat"/>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46</a:t>
                      </a:r>
                      <a:endParaRPr>
                        <a:latin typeface="Montserrat"/>
                        <a:ea typeface="Montserrat"/>
                        <a:cs typeface="Montserrat"/>
                        <a:sym typeface="Montserrat"/>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34</a:t>
                      </a:r>
                      <a:endParaRPr>
                        <a:latin typeface="Montserrat"/>
                        <a:ea typeface="Montserrat"/>
                        <a:cs typeface="Montserrat"/>
                        <a:sym typeface="Montserrat"/>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r>
              <a:tr h="381000">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r>
              <a:tr h="381000">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a:t>
                      </a:r>
                      <a:endParaRPr/>
                    </a:p>
                  </a:txBody>
                  <a:tcPr marT="91425" marB="91425" marR="91425" marL="91425">
                    <a:lnL cap="flat" cmpd="sng" w="19050">
                      <a:solidFill>
                        <a:srgbClr val="E06666"/>
                      </a:solidFill>
                      <a:prstDash val="solid"/>
                      <a:round/>
                      <a:headEnd len="sm" w="sm" type="none"/>
                      <a:tailEnd len="sm" w="sm" type="none"/>
                    </a:lnL>
                    <a:lnR cap="flat" cmpd="sng" w="19050">
                      <a:solidFill>
                        <a:srgbClr val="E06666"/>
                      </a:solidFill>
                      <a:prstDash val="solid"/>
                      <a:round/>
                      <a:headEnd len="sm" w="sm" type="none"/>
                      <a:tailEnd len="sm" w="sm" type="none"/>
                    </a:lnR>
                    <a:lnT cap="flat" cmpd="sng" w="19050">
                      <a:solidFill>
                        <a:srgbClr val="E06666"/>
                      </a:solidFill>
                      <a:prstDash val="solid"/>
                      <a:round/>
                      <a:headEnd len="sm" w="sm" type="none"/>
                      <a:tailEnd len="sm" w="sm" type="none"/>
                    </a:lnT>
                    <a:lnB cap="flat" cmpd="sng" w="19050">
                      <a:solidFill>
                        <a:srgbClr val="E06666"/>
                      </a:solidFill>
                      <a:prstDash val="solid"/>
                      <a:round/>
                      <a:headEnd len="sm" w="sm" type="none"/>
                      <a:tailEnd len="sm" w="sm" type="none"/>
                    </a:lnB>
                    <a:solidFill>
                      <a:srgbClr val="F4CCCC"/>
                    </a:solidFill>
                  </a:tcPr>
                </a:tc>
              </a:tr>
            </a:tbl>
          </a:graphicData>
        </a:graphic>
      </p:graphicFrame>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8" name="Shape 2158"/>
        <p:cNvGrpSpPr/>
        <p:nvPr/>
      </p:nvGrpSpPr>
      <p:grpSpPr>
        <a:xfrm>
          <a:off x="0" y="0"/>
          <a:ext cx="0" cy="0"/>
          <a:chOff x="0" y="0"/>
          <a:chExt cx="0" cy="0"/>
        </a:xfrm>
      </p:grpSpPr>
      <p:sp>
        <p:nvSpPr>
          <p:cNvPr id="2159" name="Google Shape;2159;p13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160" name="Google Shape;2160;p13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reshape the image to an X array feature set, with features R,G,B:</a:t>
            </a:r>
            <a:endParaRPr sz="2900">
              <a:solidFill>
                <a:srgbClr val="434343"/>
              </a:solidFill>
              <a:latin typeface="Montserrat"/>
              <a:ea typeface="Montserrat"/>
              <a:cs typeface="Montserrat"/>
              <a:sym typeface="Montserrat"/>
            </a:endParaRPr>
          </a:p>
        </p:txBody>
      </p:sp>
      <p:pic>
        <p:nvPicPr>
          <p:cNvPr descr="watermark.jpg" id="2161" name="Google Shape;2161;p13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162" name="Google Shape;2162;p13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163" name="Google Shape;2163;p139"/>
          <p:cNvPicPr preferRelativeResize="0"/>
          <p:nvPr/>
        </p:nvPicPr>
        <p:blipFill>
          <a:blip r:embed="rId4">
            <a:alphaModFix/>
          </a:blip>
          <a:stretch>
            <a:fillRect/>
          </a:stretch>
        </p:blipFill>
        <p:spPr>
          <a:xfrm>
            <a:off x="2372225" y="2340875"/>
            <a:ext cx="2008826" cy="2747750"/>
          </a:xfrm>
          <a:prstGeom prst="rect">
            <a:avLst/>
          </a:prstGeom>
          <a:noFill/>
          <a:ln>
            <a:noFill/>
          </a:ln>
        </p:spPr>
      </p:pic>
      <p:graphicFrame>
        <p:nvGraphicFramePr>
          <p:cNvPr id="2164" name="Google Shape;2164;p139"/>
          <p:cNvGraphicFramePr/>
          <p:nvPr/>
        </p:nvGraphicFramePr>
        <p:xfrm>
          <a:off x="5835225" y="2407175"/>
          <a:ext cx="3000000" cy="3000000"/>
        </p:xfrm>
        <a:graphic>
          <a:graphicData uri="http://schemas.openxmlformats.org/drawingml/2006/table">
            <a:tbl>
              <a:tblPr>
                <a:noFill/>
                <a:tableStyleId>{0F9D7BD3-A36F-4843-BB6D-49014A3B323A}</a:tableStyleId>
              </a:tblPr>
              <a:tblGrid>
                <a:gridCol w="669600"/>
                <a:gridCol w="669600"/>
                <a:gridCol w="669600"/>
              </a:tblGrid>
              <a:tr h="277325">
                <a:tc>
                  <a:txBody>
                    <a:bodyPr/>
                    <a:lstStyle/>
                    <a:p>
                      <a:pPr indent="0" lvl="0" marL="0" rtl="0" algn="ctr">
                        <a:spcBef>
                          <a:spcPts val="0"/>
                        </a:spcBef>
                        <a:spcAft>
                          <a:spcPts val="0"/>
                        </a:spcAft>
                        <a:buNone/>
                      </a:pPr>
                      <a:r>
                        <a:rPr b="1" lang="en">
                          <a:latin typeface="Montserrat"/>
                          <a:ea typeface="Montserrat"/>
                          <a:cs typeface="Montserrat"/>
                          <a:sym typeface="Montserrat"/>
                        </a:rPr>
                        <a:t>R</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G</a:t>
                      </a:r>
                      <a:endParaRPr b="1">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b="1" lang="en">
                          <a:latin typeface="Montserrat"/>
                          <a:ea typeface="Montserrat"/>
                          <a:cs typeface="Montserrat"/>
                          <a:sym typeface="Montserrat"/>
                        </a:rPr>
                        <a:t>B</a:t>
                      </a:r>
                      <a:endParaRPr b="1">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100</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15</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132</a:t>
                      </a:r>
                      <a:endParaRPr>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231</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23</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78</a:t>
                      </a:r>
                      <a:endParaRPr>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46</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243</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164</a:t>
                      </a:r>
                      <a:endParaRPr>
                        <a:latin typeface="Montserrat"/>
                        <a:ea typeface="Montserrat"/>
                        <a:cs typeface="Montserrat"/>
                        <a:sym typeface="Montserrat"/>
                      </a:endParaRPr>
                    </a:p>
                  </a:txBody>
                  <a:tcPr marT="91425" marB="91425" marR="91425" marL="91425"/>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34</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
                          <a:solidFill>
                            <a:schemeClr val="dk1"/>
                          </a:solidFill>
                          <a:latin typeface="Montserrat"/>
                          <a:ea typeface="Montserrat"/>
                          <a:cs typeface="Montserrat"/>
                          <a:sym typeface="Montserrat"/>
                        </a:rPr>
                        <a:t>145</a:t>
                      </a:r>
                      <a:endParaRPr>
                        <a:latin typeface="Montserrat"/>
                        <a:ea typeface="Montserrat"/>
                        <a:cs typeface="Montserrat"/>
                        <a:sym typeface="Montserrat"/>
                      </a:endParaRPr>
                    </a:p>
                  </a:txBody>
                  <a:tcPr marT="91425" marB="91425" marR="91425" marL="91425"/>
                </a:tc>
                <a:tc>
                  <a:txBody>
                    <a:bodyPr/>
                    <a:lstStyle/>
                    <a:p>
                      <a:pPr indent="0" lvl="0" marL="0" rtl="0" algn="ctr">
                        <a:spcBef>
                          <a:spcPts val="0"/>
                        </a:spcBef>
                        <a:spcAft>
                          <a:spcPts val="0"/>
                        </a:spcAft>
                        <a:buNone/>
                      </a:pPr>
                      <a:r>
                        <a:rPr lang="en">
                          <a:latin typeface="Montserrat"/>
                          <a:ea typeface="Montserrat"/>
                          <a:cs typeface="Montserrat"/>
                          <a:sym typeface="Montserrat"/>
                        </a:rPr>
                        <a:t>67</a:t>
                      </a:r>
                      <a:endParaRPr>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8" name="Shape 2168"/>
        <p:cNvGrpSpPr/>
        <p:nvPr/>
      </p:nvGrpSpPr>
      <p:grpSpPr>
        <a:xfrm>
          <a:off x="0" y="0"/>
          <a:ext cx="0" cy="0"/>
          <a:chOff x="0" y="0"/>
          <a:chExt cx="0" cy="0"/>
        </a:xfrm>
      </p:grpSpPr>
      <p:sp>
        <p:nvSpPr>
          <p:cNvPr id="2169" name="Google Shape;2169;p14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170" name="Google Shape;2170;p14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reshape the image to an X array feature set, with features R,G,B:</a:t>
            </a:r>
            <a:endParaRPr sz="2900">
              <a:solidFill>
                <a:srgbClr val="434343"/>
              </a:solidFill>
              <a:latin typeface="Montserrat"/>
              <a:ea typeface="Montserrat"/>
              <a:cs typeface="Montserrat"/>
              <a:sym typeface="Montserrat"/>
            </a:endParaRPr>
          </a:p>
        </p:txBody>
      </p:sp>
      <p:pic>
        <p:nvPicPr>
          <p:cNvPr descr="watermark.jpg" id="2171" name="Google Shape;2171;p14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172" name="Google Shape;2172;p14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173" name="Google Shape;2173;p140"/>
          <p:cNvPicPr preferRelativeResize="0"/>
          <p:nvPr/>
        </p:nvPicPr>
        <p:blipFill>
          <a:blip r:embed="rId4">
            <a:alphaModFix/>
          </a:blip>
          <a:stretch>
            <a:fillRect/>
          </a:stretch>
        </p:blipFill>
        <p:spPr>
          <a:xfrm>
            <a:off x="2372225" y="2340875"/>
            <a:ext cx="2008826" cy="2747750"/>
          </a:xfrm>
          <a:prstGeom prst="rect">
            <a:avLst/>
          </a:prstGeom>
          <a:noFill/>
          <a:ln>
            <a:noFill/>
          </a:ln>
        </p:spPr>
      </p:pic>
      <p:graphicFrame>
        <p:nvGraphicFramePr>
          <p:cNvPr id="2174" name="Google Shape;2174;p140"/>
          <p:cNvGraphicFramePr/>
          <p:nvPr/>
        </p:nvGraphicFramePr>
        <p:xfrm>
          <a:off x="5835225" y="2407175"/>
          <a:ext cx="3000000" cy="3000000"/>
        </p:xfrm>
        <a:graphic>
          <a:graphicData uri="http://schemas.openxmlformats.org/drawingml/2006/table">
            <a:tbl>
              <a:tblPr>
                <a:noFill/>
                <a:tableStyleId>{0F9D7BD3-A36F-4843-BB6D-49014A3B323A}</a:tableStyleId>
              </a:tblPr>
              <a:tblGrid>
                <a:gridCol w="669600"/>
                <a:gridCol w="669600"/>
                <a:gridCol w="669600"/>
              </a:tblGrid>
              <a:tr h="277325">
                <a:tc>
                  <a:txBody>
                    <a:bodyPr/>
                    <a:lstStyle/>
                    <a:p>
                      <a:pPr indent="0" lvl="0" marL="0" rtl="0" algn="ctr">
                        <a:spcBef>
                          <a:spcPts val="0"/>
                        </a:spcBef>
                        <a:spcAft>
                          <a:spcPts val="0"/>
                        </a:spcAft>
                        <a:buNone/>
                      </a:pPr>
                      <a:r>
                        <a:rPr b="1" lang="en">
                          <a:latin typeface="Montserrat"/>
                          <a:ea typeface="Montserrat"/>
                          <a:cs typeface="Montserrat"/>
                          <a:sym typeface="Montserrat"/>
                        </a:rPr>
                        <a:t>R</a:t>
                      </a:r>
                      <a:endParaRPr b="1">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G</a:t>
                      </a:r>
                      <a:endParaRPr b="1">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B</a:t>
                      </a:r>
                      <a:endParaRPr b="1">
                        <a:latin typeface="Montserrat"/>
                        <a:ea typeface="Montserrat"/>
                        <a:cs typeface="Montserrat"/>
                        <a:sym typeface="Montserrat"/>
                      </a:endParaRPr>
                    </a:p>
                  </a:txBody>
                  <a:tcPr marT="91425" marB="91425" marR="91425" marL="91425">
                    <a:solidFill>
                      <a:srgbClr val="A4C2F4"/>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100</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15</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132</a:t>
                      </a:r>
                      <a:endParaRPr>
                        <a:latin typeface="Montserrat"/>
                        <a:ea typeface="Montserrat"/>
                        <a:cs typeface="Montserrat"/>
                        <a:sym typeface="Montserrat"/>
                      </a:endParaRPr>
                    </a:p>
                  </a:txBody>
                  <a:tcPr marT="91425" marB="91425" marR="91425" marL="91425">
                    <a:solidFill>
                      <a:srgbClr val="A4C2F4"/>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231</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23</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78</a:t>
                      </a:r>
                      <a:endParaRPr>
                        <a:latin typeface="Montserrat"/>
                        <a:ea typeface="Montserrat"/>
                        <a:cs typeface="Montserrat"/>
                        <a:sym typeface="Montserrat"/>
                      </a:endParaRPr>
                    </a:p>
                  </a:txBody>
                  <a:tcPr marT="91425" marB="91425" marR="91425" marL="91425">
                    <a:solidFill>
                      <a:srgbClr val="A4C2F4"/>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solidFill>
                      <a:srgbClr val="A4C2F4"/>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46</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243</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164</a:t>
                      </a:r>
                      <a:endParaRPr>
                        <a:latin typeface="Montserrat"/>
                        <a:ea typeface="Montserrat"/>
                        <a:cs typeface="Montserrat"/>
                        <a:sym typeface="Montserrat"/>
                      </a:endParaRPr>
                    </a:p>
                  </a:txBody>
                  <a:tcPr marT="91425" marB="91425" marR="91425" marL="91425">
                    <a:solidFill>
                      <a:srgbClr val="A4C2F4"/>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34</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145</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67</a:t>
                      </a:r>
                      <a:endParaRPr>
                        <a:latin typeface="Montserrat"/>
                        <a:ea typeface="Montserrat"/>
                        <a:cs typeface="Montserrat"/>
                        <a:sym typeface="Montserrat"/>
                      </a:endParaRPr>
                    </a:p>
                  </a:txBody>
                  <a:tcPr marT="91425" marB="91425" marR="91425" marL="91425">
                    <a:solidFill>
                      <a:srgbClr val="A4C2F4"/>
                    </a:solidFill>
                  </a:tcPr>
                </a:tc>
              </a:tr>
            </a:tbl>
          </a:graphicData>
        </a:graphic>
      </p:graphicFrame>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8" name="Shape 2178"/>
        <p:cNvGrpSpPr/>
        <p:nvPr/>
      </p:nvGrpSpPr>
      <p:grpSpPr>
        <a:xfrm>
          <a:off x="0" y="0"/>
          <a:ext cx="0" cy="0"/>
          <a:chOff x="0" y="0"/>
          <a:chExt cx="0" cy="0"/>
        </a:xfrm>
      </p:grpSpPr>
      <p:sp>
        <p:nvSpPr>
          <p:cNvPr id="2179" name="Google Shape;2179;p14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180" name="Google Shape;2180;p14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reshape the image to an X array feature set, with features R,G,B:</a:t>
            </a:r>
            <a:endParaRPr sz="2900">
              <a:solidFill>
                <a:srgbClr val="434343"/>
              </a:solidFill>
              <a:latin typeface="Montserrat"/>
              <a:ea typeface="Montserrat"/>
              <a:cs typeface="Montserrat"/>
              <a:sym typeface="Montserrat"/>
            </a:endParaRPr>
          </a:p>
        </p:txBody>
      </p:sp>
      <p:pic>
        <p:nvPicPr>
          <p:cNvPr descr="watermark.jpg" id="2181" name="Google Shape;2181;p14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182" name="Google Shape;2182;p14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183" name="Google Shape;2183;p141"/>
          <p:cNvPicPr preferRelativeResize="0"/>
          <p:nvPr/>
        </p:nvPicPr>
        <p:blipFill>
          <a:blip r:embed="rId4">
            <a:alphaModFix/>
          </a:blip>
          <a:stretch>
            <a:fillRect/>
          </a:stretch>
        </p:blipFill>
        <p:spPr>
          <a:xfrm>
            <a:off x="2372225" y="2340875"/>
            <a:ext cx="2008826" cy="2747750"/>
          </a:xfrm>
          <a:prstGeom prst="rect">
            <a:avLst/>
          </a:prstGeom>
          <a:noFill/>
          <a:ln>
            <a:noFill/>
          </a:ln>
        </p:spPr>
      </p:pic>
      <p:graphicFrame>
        <p:nvGraphicFramePr>
          <p:cNvPr id="2184" name="Google Shape;2184;p141"/>
          <p:cNvGraphicFramePr/>
          <p:nvPr/>
        </p:nvGraphicFramePr>
        <p:xfrm>
          <a:off x="5835225" y="2407175"/>
          <a:ext cx="3000000" cy="3000000"/>
        </p:xfrm>
        <a:graphic>
          <a:graphicData uri="http://schemas.openxmlformats.org/drawingml/2006/table">
            <a:tbl>
              <a:tblPr>
                <a:noFill/>
                <a:tableStyleId>{0F9D7BD3-A36F-4843-BB6D-49014A3B323A}</a:tableStyleId>
              </a:tblPr>
              <a:tblGrid>
                <a:gridCol w="669600"/>
                <a:gridCol w="669600"/>
                <a:gridCol w="669600"/>
              </a:tblGrid>
              <a:tr h="277325">
                <a:tc>
                  <a:txBody>
                    <a:bodyPr/>
                    <a:lstStyle/>
                    <a:p>
                      <a:pPr indent="0" lvl="0" marL="0" rtl="0" algn="ctr">
                        <a:spcBef>
                          <a:spcPts val="0"/>
                        </a:spcBef>
                        <a:spcAft>
                          <a:spcPts val="0"/>
                        </a:spcAft>
                        <a:buNone/>
                      </a:pPr>
                      <a:r>
                        <a:rPr b="1" lang="en">
                          <a:latin typeface="Montserrat"/>
                          <a:ea typeface="Montserrat"/>
                          <a:cs typeface="Montserrat"/>
                          <a:sym typeface="Montserrat"/>
                        </a:rPr>
                        <a:t>R</a:t>
                      </a:r>
                      <a:endParaRPr b="1">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G</a:t>
                      </a:r>
                      <a:endParaRPr b="1">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B</a:t>
                      </a:r>
                      <a:endParaRPr b="1">
                        <a:latin typeface="Montserrat"/>
                        <a:ea typeface="Montserrat"/>
                        <a:cs typeface="Montserrat"/>
                        <a:sym typeface="Montserrat"/>
                      </a:endParaRPr>
                    </a:p>
                  </a:txBody>
                  <a:tcPr marT="91425" marB="91425" marR="91425" marL="91425">
                    <a:solidFill>
                      <a:srgbClr val="A4C2F4"/>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100</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15</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132</a:t>
                      </a:r>
                      <a:endParaRPr>
                        <a:latin typeface="Montserrat"/>
                        <a:ea typeface="Montserrat"/>
                        <a:cs typeface="Montserrat"/>
                        <a:sym typeface="Montserrat"/>
                      </a:endParaRPr>
                    </a:p>
                  </a:txBody>
                  <a:tcPr marT="91425" marB="91425" marR="91425" marL="91425">
                    <a:solidFill>
                      <a:srgbClr val="A4C2F4"/>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231</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23</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78</a:t>
                      </a:r>
                      <a:endParaRPr>
                        <a:latin typeface="Montserrat"/>
                        <a:ea typeface="Montserrat"/>
                        <a:cs typeface="Montserrat"/>
                        <a:sym typeface="Montserrat"/>
                      </a:endParaRPr>
                    </a:p>
                  </a:txBody>
                  <a:tcPr marT="91425" marB="91425" marR="91425" marL="91425">
                    <a:solidFill>
                      <a:srgbClr val="A4C2F4"/>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solidFill>
                      <a:srgbClr val="A4C2F4"/>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46</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243</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164</a:t>
                      </a:r>
                      <a:endParaRPr>
                        <a:latin typeface="Montserrat"/>
                        <a:ea typeface="Montserrat"/>
                        <a:cs typeface="Montserrat"/>
                        <a:sym typeface="Montserrat"/>
                      </a:endParaRPr>
                    </a:p>
                  </a:txBody>
                  <a:tcPr marT="91425" marB="91425" marR="91425" marL="91425">
                    <a:solidFill>
                      <a:srgbClr val="A4C2F4"/>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34</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145</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67</a:t>
                      </a:r>
                      <a:endParaRPr>
                        <a:latin typeface="Montserrat"/>
                        <a:ea typeface="Montserrat"/>
                        <a:cs typeface="Montserrat"/>
                        <a:sym typeface="Montserrat"/>
                      </a:endParaRPr>
                    </a:p>
                  </a:txBody>
                  <a:tcPr marT="91425" marB="91425" marR="91425" marL="91425">
                    <a:solidFill>
                      <a:srgbClr val="A4C2F4"/>
                    </a:solidFill>
                  </a:tcPr>
                </a:tc>
              </a:tr>
            </a:tbl>
          </a:graphicData>
        </a:graphic>
      </p:graphicFrame>
      <p:sp>
        <p:nvSpPr>
          <p:cNvPr id="2185" name="Google Shape;2185;p141"/>
          <p:cNvSpPr txBox="1"/>
          <p:nvPr/>
        </p:nvSpPr>
        <p:spPr>
          <a:xfrm>
            <a:off x="5102425" y="3251150"/>
            <a:ext cx="749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Montserrat"/>
                <a:ea typeface="Montserrat"/>
                <a:cs typeface="Montserrat"/>
                <a:sym typeface="Montserrat"/>
              </a:rPr>
              <a:t>H x W</a:t>
            </a:r>
            <a:endParaRPr>
              <a:latin typeface="Montserrat"/>
              <a:ea typeface="Montserrat"/>
              <a:cs typeface="Montserrat"/>
              <a:sym typeface="Montserrat"/>
            </a:endParaRPr>
          </a:p>
        </p:txBody>
      </p:sp>
      <p:cxnSp>
        <p:nvCxnSpPr>
          <p:cNvPr id="2186" name="Google Shape;2186;p141"/>
          <p:cNvCxnSpPr>
            <a:stCxn id="2185" idx="0"/>
          </p:cNvCxnSpPr>
          <p:nvPr/>
        </p:nvCxnSpPr>
        <p:spPr>
          <a:xfrm rot="10800000">
            <a:off x="5477275" y="2446850"/>
            <a:ext cx="0" cy="804300"/>
          </a:xfrm>
          <a:prstGeom prst="straightConnector1">
            <a:avLst/>
          </a:prstGeom>
          <a:noFill/>
          <a:ln cap="flat" cmpd="sng" w="19050">
            <a:solidFill>
              <a:schemeClr val="dk2"/>
            </a:solidFill>
            <a:prstDash val="solid"/>
            <a:round/>
            <a:headEnd len="med" w="med" type="none"/>
            <a:tailEnd len="med" w="med" type="diamond"/>
          </a:ln>
        </p:spPr>
      </p:cxnSp>
      <p:cxnSp>
        <p:nvCxnSpPr>
          <p:cNvPr id="2187" name="Google Shape;2187;p141"/>
          <p:cNvCxnSpPr/>
          <p:nvPr/>
        </p:nvCxnSpPr>
        <p:spPr>
          <a:xfrm>
            <a:off x="5477275" y="3711467"/>
            <a:ext cx="0" cy="1162200"/>
          </a:xfrm>
          <a:prstGeom prst="straightConnector1">
            <a:avLst/>
          </a:prstGeom>
          <a:noFill/>
          <a:ln cap="flat" cmpd="sng" w="19050">
            <a:solidFill>
              <a:schemeClr val="dk2"/>
            </a:solidFill>
            <a:prstDash val="solid"/>
            <a:round/>
            <a:headEnd len="med" w="med" type="none"/>
            <a:tailEnd len="med" w="med" type="diamond"/>
          </a:ln>
        </p:spPr>
      </p:cxnSp>
      <p:sp>
        <p:nvSpPr>
          <p:cNvPr id="2188" name="Google Shape;2188;p141"/>
          <p:cNvSpPr txBox="1"/>
          <p:nvPr/>
        </p:nvSpPr>
        <p:spPr>
          <a:xfrm>
            <a:off x="2104650" y="3262647"/>
            <a:ext cx="338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Montserrat"/>
                <a:ea typeface="Montserrat"/>
                <a:cs typeface="Montserrat"/>
                <a:sym typeface="Montserrat"/>
              </a:rPr>
              <a:t>H</a:t>
            </a:r>
            <a:endParaRPr>
              <a:latin typeface="Montserrat"/>
              <a:ea typeface="Montserrat"/>
              <a:cs typeface="Montserrat"/>
              <a:sym typeface="Montserrat"/>
            </a:endParaRPr>
          </a:p>
        </p:txBody>
      </p:sp>
      <p:cxnSp>
        <p:nvCxnSpPr>
          <p:cNvPr id="2189" name="Google Shape;2189;p141"/>
          <p:cNvCxnSpPr>
            <a:stCxn id="2188" idx="0"/>
          </p:cNvCxnSpPr>
          <p:nvPr/>
        </p:nvCxnSpPr>
        <p:spPr>
          <a:xfrm rot="10800000">
            <a:off x="2273850" y="2458347"/>
            <a:ext cx="0" cy="804300"/>
          </a:xfrm>
          <a:prstGeom prst="straightConnector1">
            <a:avLst/>
          </a:prstGeom>
          <a:noFill/>
          <a:ln cap="flat" cmpd="sng" w="19050">
            <a:solidFill>
              <a:schemeClr val="dk2"/>
            </a:solidFill>
            <a:prstDash val="solid"/>
            <a:round/>
            <a:headEnd len="med" w="med" type="none"/>
            <a:tailEnd len="med" w="med" type="diamond"/>
          </a:ln>
        </p:spPr>
      </p:cxnSp>
      <p:cxnSp>
        <p:nvCxnSpPr>
          <p:cNvPr id="2190" name="Google Shape;2190;p141"/>
          <p:cNvCxnSpPr/>
          <p:nvPr/>
        </p:nvCxnSpPr>
        <p:spPr>
          <a:xfrm>
            <a:off x="2273850" y="3783092"/>
            <a:ext cx="0" cy="1162200"/>
          </a:xfrm>
          <a:prstGeom prst="straightConnector1">
            <a:avLst/>
          </a:prstGeom>
          <a:noFill/>
          <a:ln cap="flat" cmpd="sng" w="19050">
            <a:solidFill>
              <a:schemeClr val="dk2"/>
            </a:solidFill>
            <a:prstDash val="solid"/>
            <a:round/>
            <a:headEnd len="med" w="med" type="none"/>
            <a:tailEnd len="med" w="med" type="diamond"/>
          </a:ln>
        </p:spPr>
      </p:cxnSp>
      <p:sp>
        <p:nvSpPr>
          <p:cNvPr id="2191" name="Google Shape;2191;p141"/>
          <p:cNvSpPr txBox="1"/>
          <p:nvPr/>
        </p:nvSpPr>
        <p:spPr>
          <a:xfrm>
            <a:off x="3347587" y="2048925"/>
            <a:ext cx="250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Montserrat"/>
                <a:ea typeface="Montserrat"/>
                <a:cs typeface="Montserrat"/>
                <a:sym typeface="Montserrat"/>
              </a:rPr>
              <a:t>W</a:t>
            </a:r>
            <a:endParaRPr>
              <a:latin typeface="Montserrat"/>
              <a:ea typeface="Montserrat"/>
              <a:cs typeface="Montserrat"/>
              <a:sym typeface="Montserrat"/>
            </a:endParaRPr>
          </a:p>
        </p:txBody>
      </p:sp>
      <p:cxnSp>
        <p:nvCxnSpPr>
          <p:cNvPr id="2192" name="Google Shape;2192;p141"/>
          <p:cNvCxnSpPr/>
          <p:nvPr/>
        </p:nvCxnSpPr>
        <p:spPr>
          <a:xfrm rot="10800000">
            <a:off x="2665692" y="2249025"/>
            <a:ext cx="645600" cy="0"/>
          </a:xfrm>
          <a:prstGeom prst="straightConnector1">
            <a:avLst/>
          </a:prstGeom>
          <a:noFill/>
          <a:ln cap="flat" cmpd="sng" w="19050">
            <a:solidFill>
              <a:schemeClr val="dk2"/>
            </a:solidFill>
            <a:prstDash val="solid"/>
            <a:round/>
            <a:headEnd len="med" w="med" type="none"/>
            <a:tailEnd len="med" w="med" type="diamond"/>
          </a:ln>
        </p:spPr>
      </p:cxnSp>
      <p:cxnSp>
        <p:nvCxnSpPr>
          <p:cNvPr id="2193" name="Google Shape;2193;p141"/>
          <p:cNvCxnSpPr/>
          <p:nvPr/>
        </p:nvCxnSpPr>
        <p:spPr>
          <a:xfrm>
            <a:off x="3692263" y="2249025"/>
            <a:ext cx="688800" cy="0"/>
          </a:xfrm>
          <a:prstGeom prst="straightConnector1">
            <a:avLst/>
          </a:prstGeom>
          <a:noFill/>
          <a:ln cap="flat" cmpd="sng" w="19050">
            <a:solidFill>
              <a:schemeClr val="dk2"/>
            </a:solidFill>
            <a:prstDash val="solid"/>
            <a:round/>
            <a:headEnd len="med" w="med" type="none"/>
            <a:tailEnd len="med" w="med" type="diamond"/>
          </a:ln>
        </p:spPr>
      </p:cxn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7" name="Shape 2197"/>
        <p:cNvGrpSpPr/>
        <p:nvPr/>
      </p:nvGrpSpPr>
      <p:grpSpPr>
        <a:xfrm>
          <a:off x="0" y="0"/>
          <a:ext cx="0" cy="0"/>
          <a:chOff x="0" y="0"/>
          <a:chExt cx="0" cy="0"/>
        </a:xfrm>
      </p:grpSpPr>
      <p:sp>
        <p:nvSpPr>
          <p:cNvPr id="2198" name="Google Shape;2198;p14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199" name="Google Shape;2199;p14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then choose a K value of colors and use K Means clustering to create labels:</a:t>
            </a:r>
            <a:endParaRPr sz="2900">
              <a:solidFill>
                <a:srgbClr val="434343"/>
              </a:solidFill>
              <a:latin typeface="Montserrat"/>
              <a:ea typeface="Montserrat"/>
              <a:cs typeface="Montserrat"/>
              <a:sym typeface="Montserrat"/>
            </a:endParaRPr>
          </a:p>
        </p:txBody>
      </p:sp>
      <p:pic>
        <p:nvPicPr>
          <p:cNvPr descr="watermark.jpg" id="2200" name="Google Shape;2200;p14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01" name="Google Shape;2201;p14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202" name="Google Shape;2202;p142"/>
          <p:cNvPicPr preferRelativeResize="0"/>
          <p:nvPr/>
        </p:nvPicPr>
        <p:blipFill>
          <a:blip r:embed="rId4">
            <a:alphaModFix/>
          </a:blip>
          <a:stretch>
            <a:fillRect/>
          </a:stretch>
        </p:blipFill>
        <p:spPr>
          <a:xfrm>
            <a:off x="2372225" y="2340875"/>
            <a:ext cx="2008826" cy="2747750"/>
          </a:xfrm>
          <a:prstGeom prst="rect">
            <a:avLst/>
          </a:prstGeom>
          <a:noFill/>
          <a:ln>
            <a:noFill/>
          </a:ln>
        </p:spPr>
      </p:pic>
      <p:graphicFrame>
        <p:nvGraphicFramePr>
          <p:cNvPr id="2203" name="Google Shape;2203;p142"/>
          <p:cNvGraphicFramePr/>
          <p:nvPr/>
        </p:nvGraphicFramePr>
        <p:xfrm>
          <a:off x="5835225" y="2407175"/>
          <a:ext cx="3000000" cy="3000000"/>
        </p:xfrm>
        <a:graphic>
          <a:graphicData uri="http://schemas.openxmlformats.org/drawingml/2006/table">
            <a:tbl>
              <a:tblPr>
                <a:noFill/>
                <a:tableStyleId>{0F9D7BD3-A36F-4843-BB6D-49014A3B323A}</a:tableStyleId>
              </a:tblPr>
              <a:tblGrid>
                <a:gridCol w="669600"/>
                <a:gridCol w="669600"/>
                <a:gridCol w="669600"/>
              </a:tblGrid>
              <a:tr h="277325">
                <a:tc>
                  <a:txBody>
                    <a:bodyPr/>
                    <a:lstStyle/>
                    <a:p>
                      <a:pPr indent="0" lvl="0" marL="0" rtl="0" algn="ctr">
                        <a:spcBef>
                          <a:spcPts val="0"/>
                        </a:spcBef>
                        <a:spcAft>
                          <a:spcPts val="0"/>
                        </a:spcAft>
                        <a:buNone/>
                      </a:pPr>
                      <a:r>
                        <a:rPr b="1" lang="en">
                          <a:latin typeface="Montserrat"/>
                          <a:ea typeface="Montserrat"/>
                          <a:cs typeface="Montserrat"/>
                          <a:sym typeface="Montserrat"/>
                        </a:rPr>
                        <a:t>R</a:t>
                      </a:r>
                      <a:endParaRPr b="1">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G</a:t>
                      </a:r>
                      <a:endParaRPr b="1">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B</a:t>
                      </a:r>
                      <a:endParaRPr b="1">
                        <a:latin typeface="Montserrat"/>
                        <a:ea typeface="Montserrat"/>
                        <a:cs typeface="Montserrat"/>
                        <a:sym typeface="Montserrat"/>
                      </a:endParaRPr>
                    </a:p>
                  </a:txBody>
                  <a:tcPr marT="91425" marB="91425" marR="91425" marL="91425">
                    <a:solidFill>
                      <a:srgbClr val="A4C2F4"/>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100</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15</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132</a:t>
                      </a:r>
                      <a:endParaRPr>
                        <a:latin typeface="Montserrat"/>
                        <a:ea typeface="Montserrat"/>
                        <a:cs typeface="Montserrat"/>
                        <a:sym typeface="Montserrat"/>
                      </a:endParaRPr>
                    </a:p>
                  </a:txBody>
                  <a:tcPr marT="91425" marB="91425" marR="91425" marL="91425">
                    <a:solidFill>
                      <a:srgbClr val="A4C2F4"/>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231</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23</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78</a:t>
                      </a:r>
                      <a:endParaRPr>
                        <a:latin typeface="Montserrat"/>
                        <a:ea typeface="Montserrat"/>
                        <a:cs typeface="Montserrat"/>
                        <a:sym typeface="Montserrat"/>
                      </a:endParaRPr>
                    </a:p>
                  </a:txBody>
                  <a:tcPr marT="91425" marB="91425" marR="91425" marL="91425">
                    <a:solidFill>
                      <a:srgbClr val="A4C2F4"/>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solidFill>
                      <a:srgbClr val="A4C2F4"/>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46</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243</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164</a:t>
                      </a:r>
                      <a:endParaRPr>
                        <a:latin typeface="Montserrat"/>
                        <a:ea typeface="Montserrat"/>
                        <a:cs typeface="Montserrat"/>
                        <a:sym typeface="Montserrat"/>
                      </a:endParaRPr>
                    </a:p>
                  </a:txBody>
                  <a:tcPr marT="91425" marB="91425" marR="91425" marL="91425">
                    <a:solidFill>
                      <a:srgbClr val="A4C2F4"/>
                    </a:solidFill>
                  </a:tcPr>
                </a:tc>
              </a:tr>
              <a:tr h="381000">
                <a:tc>
                  <a:txBody>
                    <a:bodyPr/>
                    <a:lstStyle/>
                    <a:p>
                      <a:pPr indent="0" lvl="0" marL="0" rtl="0" algn="ctr">
                        <a:spcBef>
                          <a:spcPts val="0"/>
                        </a:spcBef>
                        <a:spcAft>
                          <a:spcPts val="0"/>
                        </a:spcAft>
                        <a:buNone/>
                      </a:pPr>
                      <a:r>
                        <a:rPr lang="en">
                          <a:latin typeface="Montserrat"/>
                          <a:ea typeface="Montserrat"/>
                          <a:cs typeface="Montserrat"/>
                          <a:sym typeface="Montserrat"/>
                        </a:rPr>
                        <a:t>34</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145</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67</a:t>
                      </a:r>
                      <a:endParaRPr>
                        <a:latin typeface="Montserrat"/>
                        <a:ea typeface="Montserrat"/>
                        <a:cs typeface="Montserrat"/>
                        <a:sym typeface="Montserrat"/>
                      </a:endParaRPr>
                    </a:p>
                  </a:txBody>
                  <a:tcPr marT="91425" marB="91425" marR="91425" marL="91425">
                    <a:solidFill>
                      <a:srgbClr val="A4C2F4"/>
                    </a:solidFill>
                  </a:tcPr>
                </a:tc>
              </a:tr>
            </a:tbl>
          </a:graphicData>
        </a:graphic>
      </p:graphicFrame>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7" name="Shape 2207"/>
        <p:cNvGrpSpPr/>
        <p:nvPr/>
      </p:nvGrpSpPr>
      <p:grpSpPr>
        <a:xfrm>
          <a:off x="0" y="0"/>
          <a:ext cx="0" cy="0"/>
          <a:chOff x="0" y="0"/>
          <a:chExt cx="0" cy="0"/>
        </a:xfrm>
      </p:grpSpPr>
      <p:sp>
        <p:nvSpPr>
          <p:cNvPr id="2208" name="Google Shape;2208;p14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209" name="Google Shape;2209;p14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then choose a K value of colors and use K Means clustering to create labels:</a:t>
            </a:r>
            <a:endParaRPr sz="2900">
              <a:solidFill>
                <a:srgbClr val="434343"/>
              </a:solidFill>
              <a:latin typeface="Montserrat"/>
              <a:ea typeface="Montserrat"/>
              <a:cs typeface="Montserrat"/>
              <a:sym typeface="Montserrat"/>
            </a:endParaRPr>
          </a:p>
        </p:txBody>
      </p:sp>
      <p:pic>
        <p:nvPicPr>
          <p:cNvPr descr="watermark.jpg" id="2210" name="Google Shape;2210;p14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11" name="Google Shape;2211;p14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212" name="Google Shape;2212;p143"/>
          <p:cNvPicPr preferRelativeResize="0"/>
          <p:nvPr/>
        </p:nvPicPr>
        <p:blipFill>
          <a:blip r:embed="rId4">
            <a:alphaModFix/>
          </a:blip>
          <a:stretch>
            <a:fillRect/>
          </a:stretch>
        </p:blipFill>
        <p:spPr>
          <a:xfrm>
            <a:off x="2372225" y="2340875"/>
            <a:ext cx="2008826" cy="2747750"/>
          </a:xfrm>
          <a:prstGeom prst="rect">
            <a:avLst/>
          </a:prstGeom>
          <a:noFill/>
          <a:ln>
            <a:noFill/>
          </a:ln>
        </p:spPr>
      </p:pic>
      <p:graphicFrame>
        <p:nvGraphicFramePr>
          <p:cNvPr id="2213" name="Google Shape;2213;p143"/>
          <p:cNvGraphicFramePr/>
          <p:nvPr/>
        </p:nvGraphicFramePr>
        <p:xfrm>
          <a:off x="5835225" y="2407175"/>
          <a:ext cx="3000000" cy="3000000"/>
        </p:xfrm>
        <a:graphic>
          <a:graphicData uri="http://schemas.openxmlformats.org/drawingml/2006/table">
            <a:tbl>
              <a:tblPr>
                <a:noFill/>
                <a:tableStyleId>{0F9D7BD3-A36F-4843-BB6D-49014A3B323A}</a:tableStyleId>
              </a:tblPr>
              <a:tblGrid>
                <a:gridCol w="561650"/>
                <a:gridCol w="730825"/>
                <a:gridCol w="707950"/>
                <a:gridCol w="1025625"/>
              </a:tblGrid>
              <a:tr h="412975">
                <a:tc>
                  <a:txBody>
                    <a:bodyPr/>
                    <a:lstStyle/>
                    <a:p>
                      <a:pPr indent="0" lvl="0" marL="0" rtl="0" algn="ctr">
                        <a:spcBef>
                          <a:spcPts val="0"/>
                        </a:spcBef>
                        <a:spcAft>
                          <a:spcPts val="0"/>
                        </a:spcAft>
                        <a:buNone/>
                      </a:pPr>
                      <a:r>
                        <a:rPr b="1" lang="en">
                          <a:latin typeface="Montserrat"/>
                          <a:ea typeface="Montserrat"/>
                          <a:cs typeface="Montserrat"/>
                          <a:sym typeface="Montserrat"/>
                        </a:rPr>
                        <a:t>R</a:t>
                      </a:r>
                      <a:endParaRPr b="1">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G</a:t>
                      </a:r>
                      <a:endParaRPr b="1">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B</a:t>
                      </a:r>
                      <a:endParaRPr b="1">
                        <a:latin typeface="Montserrat"/>
                        <a:ea typeface="Montserrat"/>
                        <a:cs typeface="Montserrat"/>
                        <a:sym typeface="Montserrat"/>
                      </a:endParaRPr>
                    </a:p>
                  </a:txBody>
                  <a:tcPr marT="91425" marB="91425" marR="91425" marL="91425">
                    <a:solidFill>
                      <a:srgbClr val="A4C2F4"/>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Cluster</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100</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15</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132</a:t>
                      </a:r>
                      <a:endParaRPr>
                        <a:latin typeface="Montserrat"/>
                        <a:ea typeface="Montserrat"/>
                        <a:cs typeface="Montserrat"/>
                        <a:sym typeface="Montserrat"/>
                      </a:endParaRPr>
                    </a:p>
                  </a:txBody>
                  <a:tcPr marT="91425" marB="91425" marR="91425" marL="91425">
                    <a:solidFill>
                      <a:srgbClr val="A4C2F4"/>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231</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23</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78</a:t>
                      </a:r>
                      <a:endParaRPr>
                        <a:latin typeface="Montserrat"/>
                        <a:ea typeface="Montserrat"/>
                        <a:cs typeface="Montserrat"/>
                        <a:sym typeface="Montserrat"/>
                      </a:endParaRPr>
                    </a:p>
                  </a:txBody>
                  <a:tcPr marT="91425" marB="91425" marR="91425" marL="91425">
                    <a:solidFill>
                      <a:srgbClr val="A4C2F4"/>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solidFill>
                      <a:srgbClr val="A4C2F4"/>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46</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243</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164</a:t>
                      </a:r>
                      <a:endParaRPr>
                        <a:latin typeface="Montserrat"/>
                        <a:ea typeface="Montserrat"/>
                        <a:cs typeface="Montserrat"/>
                        <a:sym typeface="Montserrat"/>
                      </a:endParaRPr>
                    </a:p>
                  </a:txBody>
                  <a:tcPr marT="91425" marB="91425" marR="91425" marL="91425">
                    <a:solidFill>
                      <a:srgbClr val="A4C2F4"/>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34</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145</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67</a:t>
                      </a:r>
                      <a:endParaRPr>
                        <a:latin typeface="Montserrat"/>
                        <a:ea typeface="Montserrat"/>
                        <a:cs typeface="Montserrat"/>
                        <a:sym typeface="Montserrat"/>
                      </a:endParaRPr>
                    </a:p>
                  </a:txBody>
                  <a:tcPr marT="91425" marB="91425" marR="91425" marL="91425">
                    <a:solidFill>
                      <a:srgbClr val="A4C2F4"/>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7" name="Shape 2217"/>
        <p:cNvGrpSpPr/>
        <p:nvPr/>
      </p:nvGrpSpPr>
      <p:grpSpPr>
        <a:xfrm>
          <a:off x="0" y="0"/>
          <a:ext cx="0" cy="0"/>
          <a:chOff x="0" y="0"/>
          <a:chExt cx="0" cy="0"/>
        </a:xfrm>
      </p:grpSpPr>
      <p:sp>
        <p:nvSpPr>
          <p:cNvPr id="2218" name="Google Shape;2218;p14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219" name="Google Shape;2219;p14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Recall each cluster also has a </a:t>
            </a:r>
            <a:r>
              <a:rPr b="1" lang="en" sz="2900">
                <a:solidFill>
                  <a:srgbClr val="434343"/>
                </a:solidFill>
                <a:latin typeface="Montserrat"/>
                <a:ea typeface="Montserrat"/>
                <a:cs typeface="Montserrat"/>
                <a:sym typeface="Montserrat"/>
              </a:rPr>
              <a:t>center</a:t>
            </a:r>
            <a:r>
              <a:rPr lang="en" sz="2900">
                <a:solidFill>
                  <a:srgbClr val="434343"/>
                </a:solidFill>
                <a:latin typeface="Montserrat"/>
                <a:ea typeface="Montserrat"/>
                <a:cs typeface="Montserrat"/>
                <a:sym typeface="Montserrat"/>
              </a:rPr>
              <a:t> in the N </a:t>
            </a:r>
            <a:r>
              <a:rPr lang="en" sz="2900">
                <a:solidFill>
                  <a:srgbClr val="434343"/>
                </a:solidFill>
                <a:latin typeface="Montserrat"/>
                <a:ea typeface="Montserrat"/>
                <a:cs typeface="Montserrat"/>
                <a:sym typeface="Montserrat"/>
              </a:rPr>
              <a:t>dimensional feature</a:t>
            </a:r>
            <a:r>
              <a:rPr lang="en" sz="2900">
                <a:solidFill>
                  <a:srgbClr val="434343"/>
                </a:solidFill>
                <a:latin typeface="Montserrat"/>
                <a:ea typeface="Montserrat"/>
                <a:cs typeface="Montserrat"/>
                <a:sym typeface="Montserrat"/>
              </a:rPr>
              <a:t> space</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p:txBody>
      </p:sp>
      <p:pic>
        <p:nvPicPr>
          <p:cNvPr descr="watermark.jpg" id="2220" name="Google Shape;2220;p14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21" name="Google Shape;2221;p14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222" name="Google Shape;2222;p144"/>
          <p:cNvPicPr preferRelativeResize="0"/>
          <p:nvPr/>
        </p:nvPicPr>
        <p:blipFill>
          <a:blip r:embed="rId4">
            <a:alphaModFix/>
          </a:blip>
          <a:stretch>
            <a:fillRect/>
          </a:stretch>
        </p:blipFill>
        <p:spPr>
          <a:xfrm>
            <a:off x="2372225" y="2340875"/>
            <a:ext cx="2008826" cy="2747750"/>
          </a:xfrm>
          <a:prstGeom prst="rect">
            <a:avLst/>
          </a:prstGeom>
          <a:noFill/>
          <a:ln>
            <a:noFill/>
          </a:ln>
        </p:spPr>
      </p:pic>
      <p:graphicFrame>
        <p:nvGraphicFramePr>
          <p:cNvPr id="2223" name="Google Shape;2223;p144"/>
          <p:cNvGraphicFramePr/>
          <p:nvPr/>
        </p:nvGraphicFramePr>
        <p:xfrm>
          <a:off x="5835225" y="2407175"/>
          <a:ext cx="3000000" cy="3000000"/>
        </p:xfrm>
        <a:graphic>
          <a:graphicData uri="http://schemas.openxmlformats.org/drawingml/2006/table">
            <a:tbl>
              <a:tblPr>
                <a:noFill/>
                <a:tableStyleId>{0F9D7BD3-A36F-4843-BB6D-49014A3B323A}</a:tableStyleId>
              </a:tblPr>
              <a:tblGrid>
                <a:gridCol w="561650"/>
                <a:gridCol w="730825"/>
                <a:gridCol w="707950"/>
                <a:gridCol w="1025625"/>
              </a:tblGrid>
              <a:tr h="412975">
                <a:tc>
                  <a:txBody>
                    <a:bodyPr/>
                    <a:lstStyle/>
                    <a:p>
                      <a:pPr indent="0" lvl="0" marL="0" rtl="0" algn="ctr">
                        <a:spcBef>
                          <a:spcPts val="0"/>
                        </a:spcBef>
                        <a:spcAft>
                          <a:spcPts val="0"/>
                        </a:spcAft>
                        <a:buNone/>
                      </a:pPr>
                      <a:r>
                        <a:rPr b="1" lang="en">
                          <a:latin typeface="Montserrat"/>
                          <a:ea typeface="Montserrat"/>
                          <a:cs typeface="Montserrat"/>
                          <a:sym typeface="Montserrat"/>
                        </a:rPr>
                        <a:t>R</a:t>
                      </a:r>
                      <a:endParaRPr b="1">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G</a:t>
                      </a:r>
                      <a:endParaRPr b="1">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B</a:t>
                      </a:r>
                      <a:endParaRPr b="1">
                        <a:latin typeface="Montserrat"/>
                        <a:ea typeface="Montserrat"/>
                        <a:cs typeface="Montserrat"/>
                        <a:sym typeface="Montserrat"/>
                      </a:endParaRPr>
                    </a:p>
                  </a:txBody>
                  <a:tcPr marT="91425" marB="91425" marR="91425" marL="91425">
                    <a:solidFill>
                      <a:srgbClr val="A4C2F4"/>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Cluster</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100</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15</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132</a:t>
                      </a:r>
                      <a:endParaRPr>
                        <a:latin typeface="Montserrat"/>
                        <a:ea typeface="Montserrat"/>
                        <a:cs typeface="Montserrat"/>
                        <a:sym typeface="Montserrat"/>
                      </a:endParaRPr>
                    </a:p>
                  </a:txBody>
                  <a:tcPr marT="91425" marB="91425" marR="91425" marL="91425">
                    <a:solidFill>
                      <a:srgbClr val="A4C2F4"/>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231</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23</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78</a:t>
                      </a:r>
                      <a:endParaRPr>
                        <a:latin typeface="Montserrat"/>
                        <a:ea typeface="Montserrat"/>
                        <a:cs typeface="Montserrat"/>
                        <a:sym typeface="Montserrat"/>
                      </a:endParaRPr>
                    </a:p>
                  </a:txBody>
                  <a:tcPr marT="91425" marB="91425" marR="91425" marL="91425">
                    <a:solidFill>
                      <a:srgbClr val="A4C2F4"/>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solidFill>
                      <a:srgbClr val="A4C2F4"/>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46</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243</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164</a:t>
                      </a:r>
                      <a:endParaRPr>
                        <a:latin typeface="Montserrat"/>
                        <a:ea typeface="Montserrat"/>
                        <a:cs typeface="Montserrat"/>
                        <a:sym typeface="Montserrat"/>
                      </a:endParaRPr>
                    </a:p>
                  </a:txBody>
                  <a:tcPr marT="91425" marB="91425" marR="91425" marL="91425">
                    <a:solidFill>
                      <a:srgbClr val="A4C2F4"/>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34</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145</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67</a:t>
                      </a:r>
                      <a:endParaRPr>
                        <a:latin typeface="Montserrat"/>
                        <a:ea typeface="Montserrat"/>
                        <a:cs typeface="Montserrat"/>
                        <a:sym typeface="Montserrat"/>
                      </a:endParaRPr>
                    </a:p>
                  </a:txBody>
                  <a:tcPr marT="91425" marB="91425" marR="91425" marL="91425">
                    <a:solidFill>
                      <a:srgbClr val="A4C2F4"/>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7" name="Shape 2227"/>
        <p:cNvGrpSpPr/>
        <p:nvPr/>
      </p:nvGrpSpPr>
      <p:grpSpPr>
        <a:xfrm>
          <a:off x="0" y="0"/>
          <a:ext cx="0" cy="0"/>
          <a:chOff x="0" y="0"/>
          <a:chExt cx="0" cy="0"/>
        </a:xfrm>
      </p:grpSpPr>
      <p:sp>
        <p:nvSpPr>
          <p:cNvPr id="2228" name="Google Shape;2228;p14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229" name="Google Shape;2229;p14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Meaning each cluster center is an average (R,G,B) value we can use for reassignment!</a:t>
            </a:r>
            <a:endParaRPr sz="2900">
              <a:solidFill>
                <a:srgbClr val="434343"/>
              </a:solidFill>
              <a:latin typeface="Montserrat"/>
              <a:ea typeface="Montserrat"/>
              <a:cs typeface="Montserrat"/>
              <a:sym typeface="Montserrat"/>
            </a:endParaRPr>
          </a:p>
        </p:txBody>
      </p:sp>
      <p:pic>
        <p:nvPicPr>
          <p:cNvPr descr="watermark.jpg" id="2230" name="Google Shape;2230;p14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31" name="Google Shape;2231;p14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232" name="Google Shape;2232;p145"/>
          <p:cNvPicPr preferRelativeResize="0"/>
          <p:nvPr/>
        </p:nvPicPr>
        <p:blipFill>
          <a:blip r:embed="rId4">
            <a:alphaModFix/>
          </a:blip>
          <a:stretch>
            <a:fillRect/>
          </a:stretch>
        </p:blipFill>
        <p:spPr>
          <a:xfrm>
            <a:off x="2372225" y="2340875"/>
            <a:ext cx="2008826" cy="2747750"/>
          </a:xfrm>
          <a:prstGeom prst="rect">
            <a:avLst/>
          </a:prstGeom>
          <a:noFill/>
          <a:ln>
            <a:noFill/>
          </a:ln>
        </p:spPr>
      </p:pic>
      <p:graphicFrame>
        <p:nvGraphicFramePr>
          <p:cNvPr id="2233" name="Google Shape;2233;p145"/>
          <p:cNvGraphicFramePr/>
          <p:nvPr/>
        </p:nvGraphicFramePr>
        <p:xfrm>
          <a:off x="5835225" y="2407175"/>
          <a:ext cx="3000000" cy="3000000"/>
        </p:xfrm>
        <a:graphic>
          <a:graphicData uri="http://schemas.openxmlformats.org/drawingml/2006/table">
            <a:tbl>
              <a:tblPr>
                <a:noFill/>
                <a:tableStyleId>{0F9D7BD3-A36F-4843-BB6D-49014A3B323A}</a:tableStyleId>
              </a:tblPr>
              <a:tblGrid>
                <a:gridCol w="561650"/>
                <a:gridCol w="730825"/>
                <a:gridCol w="707950"/>
                <a:gridCol w="1025625"/>
              </a:tblGrid>
              <a:tr h="412975">
                <a:tc>
                  <a:txBody>
                    <a:bodyPr/>
                    <a:lstStyle/>
                    <a:p>
                      <a:pPr indent="0" lvl="0" marL="0" rtl="0" algn="ctr">
                        <a:spcBef>
                          <a:spcPts val="0"/>
                        </a:spcBef>
                        <a:spcAft>
                          <a:spcPts val="0"/>
                        </a:spcAft>
                        <a:buNone/>
                      </a:pPr>
                      <a:r>
                        <a:rPr b="1" lang="en">
                          <a:latin typeface="Montserrat"/>
                          <a:ea typeface="Montserrat"/>
                          <a:cs typeface="Montserrat"/>
                          <a:sym typeface="Montserrat"/>
                        </a:rPr>
                        <a:t>R</a:t>
                      </a:r>
                      <a:endParaRPr b="1">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G</a:t>
                      </a:r>
                      <a:endParaRPr b="1">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B</a:t>
                      </a:r>
                      <a:endParaRPr b="1">
                        <a:latin typeface="Montserrat"/>
                        <a:ea typeface="Montserrat"/>
                        <a:cs typeface="Montserrat"/>
                        <a:sym typeface="Montserrat"/>
                      </a:endParaRPr>
                    </a:p>
                  </a:txBody>
                  <a:tcPr marT="91425" marB="91425" marR="91425" marL="91425">
                    <a:solidFill>
                      <a:srgbClr val="A4C2F4"/>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Cluster</a:t>
                      </a:r>
                      <a:endParaRPr b="1">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100</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15</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132</a:t>
                      </a:r>
                      <a:endParaRPr>
                        <a:latin typeface="Montserrat"/>
                        <a:ea typeface="Montserrat"/>
                        <a:cs typeface="Montserrat"/>
                        <a:sym typeface="Montserrat"/>
                      </a:endParaRPr>
                    </a:p>
                  </a:txBody>
                  <a:tcPr marT="91425" marB="91425" marR="91425" marL="91425">
                    <a:solidFill>
                      <a:srgbClr val="A4C2F4"/>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231</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23</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78</a:t>
                      </a:r>
                      <a:endParaRPr>
                        <a:latin typeface="Montserrat"/>
                        <a:ea typeface="Montserrat"/>
                        <a:cs typeface="Montserrat"/>
                        <a:sym typeface="Montserrat"/>
                      </a:endParaRPr>
                    </a:p>
                  </a:txBody>
                  <a:tcPr marT="91425" marB="91425" marR="91425" marL="91425">
                    <a:solidFill>
                      <a:srgbClr val="A4C2F4"/>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solidFill>
                      <a:srgbClr val="A4C2F4"/>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46</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243</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164</a:t>
                      </a:r>
                      <a:endParaRPr>
                        <a:latin typeface="Montserrat"/>
                        <a:ea typeface="Montserrat"/>
                        <a:cs typeface="Montserrat"/>
                        <a:sym typeface="Montserrat"/>
                      </a:endParaRPr>
                    </a:p>
                  </a:txBody>
                  <a:tcPr marT="91425" marB="91425" marR="91425" marL="91425">
                    <a:solidFill>
                      <a:srgbClr val="A4C2F4"/>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2</a:t>
                      </a:r>
                      <a:endParaRPr>
                        <a:latin typeface="Montserrat"/>
                        <a:ea typeface="Montserrat"/>
                        <a:cs typeface="Montserrat"/>
                        <a:sym typeface="Montserrat"/>
                      </a:endParaRPr>
                    </a:p>
                  </a:txBody>
                  <a:tcPr marT="91425" marB="91425" marR="91425" marL="91425"/>
                </a:tc>
              </a:tr>
              <a:tr h="396200">
                <a:tc>
                  <a:txBody>
                    <a:bodyPr/>
                    <a:lstStyle/>
                    <a:p>
                      <a:pPr indent="0" lvl="0" marL="0" rtl="0" algn="ctr">
                        <a:spcBef>
                          <a:spcPts val="0"/>
                        </a:spcBef>
                        <a:spcAft>
                          <a:spcPts val="0"/>
                        </a:spcAft>
                        <a:buNone/>
                      </a:pPr>
                      <a:r>
                        <a:rPr lang="en">
                          <a:latin typeface="Montserrat"/>
                          <a:ea typeface="Montserrat"/>
                          <a:cs typeface="Montserrat"/>
                          <a:sym typeface="Montserrat"/>
                        </a:rPr>
                        <a:t>34</a:t>
                      </a:r>
                      <a:endParaRPr>
                        <a:latin typeface="Montserrat"/>
                        <a:ea typeface="Montserrat"/>
                        <a:cs typeface="Montserrat"/>
                        <a:sym typeface="Montserrat"/>
                      </a:endParaRPr>
                    </a:p>
                  </a:txBody>
                  <a:tcPr marT="91425" marB="91425" marR="91425" marL="91425">
                    <a:solidFill>
                      <a:srgbClr val="F4CCCC"/>
                    </a:solidFill>
                  </a:tcPr>
                </a:tc>
                <a:tc>
                  <a:txBody>
                    <a:bodyPr/>
                    <a:lstStyle/>
                    <a:p>
                      <a:pPr indent="0" lvl="0" marL="0" rtl="0" algn="ctr">
                        <a:spcBef>
                          <a:spcPts val="0"/>
                        </a:spcBef>
                        <a:spcAft>
                          <a:spcPts val="0"/>
                        </a:spcAft>
                        <a:buNone/>
                      </a:pPr>
                      <a:r>
                        <a:rPr lang="en">
                          <a:solidFill>
                            <a:schemeClr val="dk1"/>
                          </a:solidFill>
                          <a:latin typeface="Montserrat"/>
                          <a:ea typeface="Montserrat"/>
                          <a:cs typeface="Montserrat"/>
                          <a:sym typeface="Montserrat"/>
                        </a:rPr>
                        <a:t>145</a:t>
                      </a:r>
                      <a:endParaRPr>
                        <a:latin typeface="Montserrat"/>
                        <a:ea typeface="Montserrat"/>
                        <a:cs typeface="Montserrat"/>
                        <a:sym typeface="Montserrat"/>
                      </a:endParaRPr>
                    </a:p>
                  </a:txBody>
                  <a:tcPr marT="91425" marB="91425" marR="91425" marL="91425">
                    <a:solidFill>
                      <a:srgbClr val="B6D7A8"/>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67</a:t>
                      </a:r>
                      <a:endParaRPr>
                        <a:latin typeface="Montserrat"/>
                        <a:ea typeface="Montserrat"/>
                        <a:cs typeface="Montserrat"/>
                        <a:sym typeface="Montserrat"/>
                      </a:endParaRPr>
                    </a:p>
                  </a:txBody>
                  <a:tcPr marT="91425" marB="91425" marR="91425" marL="91425">
                    <a:solidFill>
                      <a:srgbClr val="A4C2F4"/>
                    </a:solidFill>
                  </a:tcPr>
                </a:tc>
                <a:tc>
                  <a:txBody>
                    <a:bodyPr/>
                    <a:lstStyle/>
                    <a:p>
                      <a:pPr indent="0" lvl="0" marL="0" rtl="0" algn="ctr">
                        <a:spcBef>
                          <a:spcPts val="0"/>
                        </a:spcBef>
                        <a:spcAft>
                          <a:spcPts val="0"/>
                        </a:spcAft>
                        <a:buNone/>
                      </a:pPr>
                      <a:r>
                        <a:rPr lang="en">
                          <a:latin typeface="Montserrat"/>
                          <a:ea typeface="Montserrat"/>
                          <a:cs typeface="Montserrat"/>
                          <a:sym typeface="Montserrat"/>
                        </a:rPr>
                        <a:t>0</a:t>
                      </a:r>
                      <a:endParaRPr>
                        <a:latin typeface="Montserrat"/>
                        <a:ea typeface="Montserrat"/>
                        <a:cs typeface="Montserrat"/>
                        <a:sym typeface="Montserrat"/>
                      </a:endParaRPr>
                    </a:p>
                  </a:txBody>
                  <a:tcPr marT="91425" marB="91425" marR="91425" marL="91425"/>
                </a:tc>
              </a:tr>
            </a:tbl>
          </a:graphicData>
        </a:graphic>
      </p:graphicFrame>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7" name="Shape 2237"/>
        <p:cNvGrpSpPr/>
        <p:nvPr/>
      </p:nvGrpSpPr>
      <p:grpSpPr>
        <a:xfrm>
          <a:off x="0" y="0"/>
          <a:ext cx="0" cy="0"/>
          <a:chOff x="0" y="0"/>
          <a:chExt cx="0" cy="0"/>
        </a:xfrm>
      </p:grpSpPr>
      <p:sp>
        <p:nvSpPr>
          <p:cNvPr id="2238" name="Google Shape;2238;p14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239" name="Google Shape;2239;p14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then grab each data point and convert it to the same value as the center.</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2240" name="Google Shape;2240;p14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41" name="Google Shape;2241;p14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242" name="Google Shape;2242;p146"/>
          <p:cNvPicPr preferRelativeResize="0"/>
          <p:nvPr/>
        </p:nvPicPr>
        <p:blipFill>
          <a:blip r:embed="rId4">
            <a:alphaModFix/>
          </a:blip>
          <a:stretch>
            <a:fillRect/>
          </a:stretch>
        </p:blipFill>
        <p:spPr>
          <a:xfrm>
            <a:off x="2207625" y="2340875"/>
            <a:ext cx="2008826" cy="2747750"/>
          </a:xfrm>
          <a:prstGeom prst="rect">
            <a:avLst/>
          </a:prstGeom>
          <a:noFill/>
          <a:ln>
            <a:noFill/>
          </a:ln>
        </p:spPr>
      </p:pic>
      <p:pic>
        <p:nvPicPr>
          <p:cNvPr id="2243" name="Google Shape;2243;p146"/>
          <p:cNvPicPr preferRelativeResize="0"/>
          <p:nvPr/>
        </p:nvPicPr>
        <p:blipFill>
          <a:blip r:embed="rId5">
            <a:alphaModFix/>
          </a:blip>
          <a:stretch>
            <a:fillRect/>
          </a:stretch>
        </p:blipFill>
        <p:spPr>
          <a:xfrm>
            <a:off x="5118243" y="2327150"/>
            <a:ext cx="2028857" cy="2775199"/>
          </a:xfrm>
          <a:prstGeom prst="rect">
            <a:avLst/>
          </a:prstGeom>
          <a:noFill/>
          <a:ln>
            <a:noFill/>
          </a:ln>
        </p:spPr>
      </p:pic>
      <p:sp>
        <p:nvSpPr>
          <p:cNvPr id="2244" name="Google Shape;2244;p146"/>
          <p:cNvSpPr/>
          <p:nvPr/>
        </p:nvSpPr>
        <p:spPr>
          <a:xfrm>
            <a:off x="4462300" y="3520450"/>
            <a:ext cx="530400" cy="342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8" name="Shape 2248"/>
        <p:cNvGrpSpPr/>
        <p:nvPr/>
      </p:nvGrpSpPr>
      <p:grpSpPr>
        <a:xfrm>
          <a:off x="0" y="0"/>
          <a:ext cx="0" cy="0"/>
          <a:chOff x="0" y="0"/>
          <a:chExt cx="0" cy="0"/>
        </a:xfrm>
      </p:grpSpPr>
      <p:sp>
        <p:nvSpPr>
          <p:cNvPr id="2249" name="Google Shape;2249;p14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250" name="Google Shape;2250;p14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directly reduces to K color values (known as quantization)</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2251" name="Google Shape;2251;p14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52" name="Google Shape;2252;p14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253" name="Google Shape;2253;p147"/>
          <p:cNvPicPr preferRelativeResize="0"/>
          <p:nvPr/>
        </p:nvPicPr>
        <p:blipFill>
          <a:blip r:embed="rId4">
            <a:alphaModFix/>
          </a:blip>
          <a:stretch>
            <a:fillRect/>
          </a:stretch>
        </p:blipFill>
        <p:spPr>
          <a:xfrm>
            <a:off x="2207625" y="2340875"/>
            <a:ext cx="2008826" cy="2747750"/>
          </a:xfrm>
          <a:prstGeom prst="rect">
            <a:avLst/>
          </a:prstGeom>
          <a:noFill/>
          <a:ln>
            <a:noFill/>
          </a:ln>
        </p:spPr>
      </p:pic>
      <p:pic>
        <p:nvPicPr>
          <p:cNvPr id="2254" name="Google Shape;2254;p147"/>
          <p:cNvPicPr preferRelativeResize="0"/>
          <p:nvPr/>
        </p:nvPicPr>
        <p:blipFill>
          <a:blip r:embed="rId5">
            <a:alphaModFix/>
          </a:blip>
          <a:stretch>
            <a:fillRect/>
          </a:stretch>
        </p:blipFill>
        <p:spPr>
          <a:xfrm>
            <a:off x="5118243" y="2327150"/>
            <a:ext cx="2028857" cy="2775199"/>
          </a:xfrm>
          <a:prstGeom prst="rect">
            <a:avLst/>
          </a:prstGeom>
          <a:noFill/>
          <a:ln>
            <a:noFill/>
          </a:ln>
        </p:spPr>
      </p:pic>
      <p:sp>
        <p:nvSpPr>
          <p:cNvPr id="2255" name="Google Shape;2255;p147"/>
          <p:cNvSpPr/>
          <p:nvPr/>
        </p:nvSpPr>
        <p:spPr>
          <a:xfrm>
            <a:off x="4462300" y="3520450"/>
            <a:ext cx="530400" cy="342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9" name="Shape 2259"/>
        <p:cNvGrpSpPr/>
        <p:nvPr/>
      </p:nvGrpSpPr>
      <p:grpSpPr>
        <a:xfrm>
          <a:off x="0" y="0"/>
          <a:ext cx="0" cy="0"/>
          <a:chOff x="0" y="0"/>
          <a:chExt cx="0" cy="0"/>
        </a:xfrm>
      </p:grpSpPr>
      <p:sp>
        <p:nvSpPr>
          <p:cNvPr id="2260" name="Google Shape;2260;p14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K Means Clustering</a:t>
            </a:r>
            <a:endParaRPr>
              <a:latin typeface="Montserrat"/>
              <a:ea typeface="Montserrat"/>
              <a:cs typeface="Montserrat"/>
              <a:sym typeface="Montserrat"/>
            </a:endParaRPr>
          </a:p>
        </p:txBody>
      </p:sp>
      <p:sp>
        <p:nvSpPr>
          <p:cNvPr id="2261" name="Google Shape;2261;p14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explore this in practice in the next lecture!</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2262" name="Google Shape;2262;p14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63" name="Google Shape;2263;p14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264" name="Google Shape;2264;p148"/>
          <p:cNvPicPr preferRelativeResize="0"/>
          <p:nvPr/>
        </p:nvPicPr>
        <p:blipFill>
          <a:blip r:embed="rId4">
            <a:alphaModFix/>
          </a:blip>
          <a:stretch>
            <a:fillRect/>
          </a:stretch>
        </p:blipFill>
        <p:spPr>
          <a:xfrm>
            <a:off x="2207625" y="2340875"/>
            <a:ext cx="2008826" cy="2747750"/>
          </a:xfrm>
          <a:prstGeom prst="rect">
            <a:avLst/>
          </a:prstGeom>
          <a:noFill/>
          <a:ln>
            <a:noFill/>
          </a:ln>
        </p:spPr>
      </p:pic>
      <p:pic>
        <p:nvPicPr>
          <p:cNvPr id="2265" name="Google Shape;2265;p148"/>
          <p:cNvPicPr preferRelativeResize="0"/>
          <p:nvPr/>
        </p:nvPicPr>
        <p:blipFill>
          <a:blip r:embed="rId5">
            <a:alphaModFix/>
          </a:blip>
          <a:stretch>
            <a:fillRect/>
          </a:stretch>
        </p:blipFill>
        <p:spPr>
          <a:xfrm>
            <a:off x="5118243" y="2327150"/>
            <a:ext cx="2028857" cy="2775199"/>
          </a:xfrm>
          <a:prstGeom prst="rect">
            <a:avLst/>
          </a:prstGeom>
          <a:noFill/>
          <a:ln>
            <a:noFill/>
          </a:ln>
        </p:spPr>
      </p:pic>
      <p:sp>
        <p:nvSpPr>
          <p:cNvPr id="2266" name="Google Shape;2266;p148"/>
          <p:cNvSpPr/>
          <p:nvPr/>
        </p:nvSpPr>
        <p:spPr>
          <a:xfrm>
            <a:off x="4462300" y="3520450"/>
            <a:ext cx="530400" cy="342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0" name="Shape 2270"/>
        <p:cNvGrpSpPr/>
        <p:nvPr/>
      </p:nvGrpSpPr>
      <p:grpSpPr>
        <a:xfrm>
          <a:off x="0" y="0"/>
          <a:ext cx="0" cy="0"/>
          <a:chOff x="0" y="0"/>
          <a:chExt cx="0" cy="0"/>
        </a:xfrm>
      </p:grpSpPr>
      <p:sp>
        <p:nvSpPr>
          <p:cNvPr id="2271" name="Google Shape;2271;p14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K-Means Clustering</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Color Quantization</a:t>
            </a:r>
            <a:endParaRPr b="1">
              <a:latin typeface="Montserrat"/>
              <a:ea typeface="Montserrat"/>
              <a:cs typeface="Montserrat"/>
              <a:sym typeface="Montserrat"/>
            </a:endParaRPr>
          </a:p>
        </p:txBody>
      </p:sp>
      <p:sp>
        <p:nvSpPr>
          <p:cNvPr id="2272" name="Google Shape;2272;p14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Part Two: Coding</a:t>
            </a:r>
            <a:endParaRPr/>
          </a:p>
        </p:txBody>
      </p:sp>
      <p:pic>
        <p:nvPicPr>
          <p:cNvPr descr="watermark.jpg" id="2273" name="Google Shape;2273;p14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74" name="Google Shape;2274;p14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8" name="Shape 2278"/>
        <p:cNvGrpSpPr/>
        <p:nvPr/>
      </p:nvGrpSpPr>
      <p:grpSpPr>
        <a:xfrm>
          <a:off x="0" y="0"/>
          <a:ext cx="0" cy="0"/>
          <a:chOff x="0" y="0"/>
          <a:chExt cx="0" cy="0"/>
        </a:xfrm>
      </p:grpSpPr>
      <p:sp>
        <p:nvSpPr>
          <p:cNvPr id="2279" name="Google Shape;2279;p150"/>
          <p:cNvSpPr txBox="1"/>
          <p:nvPr>
            <p:ph type="ctrTitle"/>
          </p:nvPr>
        </p:nvSpPr>
        <p:spPr>
          <a:xfrm>
            <a:off x="311708" y="1506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K-Means Clustering</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Exercise Overview</a:t>
            </a:r>
            <a:endParaRPr b="1">
              <a:latin typeface="Montserrat"/>
              <a:ea typeface="Montserrat"/>
              <a:cs typeface="Montserrat"/>
              <a:sym typeface="Montserrat"/>
            </a:endParaRPr>
          </a:p>
        </p:txBody>
      </p:sp>
      <p:pic>
        <p:nvPicPr>
          <p:cNvPr descr="watermark.jpg" id="2280" name="Google Shape;2280;p15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81" name="Google Shape;2281;p15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5" name="Shape 2285"/>
        <p:cNvGrpSpPr/>
        <p:nvPr/>
      </p:nvGrpSpPr>
      <p:grpSpPr>
        <a:xfrm>
          <a:off x="0" y="0"/>
          <a:ext cx="0" cy="0"/>
          <a:chOff x="0" y="0"/>
          <a:chExt cx="0" cy="0"/>
        </a:xfrm>
      </p:grpSpPr>
      <p:sp>
        <p:nvSpPr>
          <p:cNvPr id="2286" name="Google Shape;2286;p151"/>
          <p:cNvSpPr txBox="1"/>
          <p:nvPr>
            <p:ph type="ctrTitle"/>
          </p:nvPr>
        </p:nvSpPr>
        <p:spPr>
          <a:xfrm>
            <a:off x="311708" y="93100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K-Means Clustering</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Exercise Solutions</a:t>
            </a:r>
            <a:endParaRPr b="1">
              <a:latin typeface="Montserrat"/>
              <a:ea typeface="Montserrat"/>
              <a:cs typeface="Montserrat"/>
              <a:sym typeface="Montserrat"/>
            </a:endParaRPr>
          </a:p>
        </p:txBody>
      </p:sp>
      <p:pic>
        <p:nvPicPr>
          <p:cNvPr descr="watermark.jpg" id="2287" name="Google Shape;2287;p15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88" name="Google Shape;2288;p15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289" name="Google Shape;2289;p15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Part Three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