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47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</p:sldIdLst>
  <p:sldSz cy="5143500" cx="9144000"/>
  <p:notesSz cx="6858000" cy="9144000"/>
  <p:embeddedFontLst>
    <p:embeddedFont>
      <p:font typeface="Montserrat"/>
      <p:regular r:id="rId52"/>
      <p:bold r:id="rId53"/>
      <p:italic r:id="rId54"/>
      <p:boldItalic r:id="rId5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font" Target="fonts/Montserrat-bold.fntdata"/><Relationship Id="rId52" Type="http://schemas.openxmlformats.org/officeDocument/2006/relationships/font" Target="fonts/Montserrat-regular.fntdata"/><Relationship Id="rId11" Type="http://schemas.openxmlformats.org/officeDocument/2006/relationships/slide" Target="slides/slide7.xml"/><Relationship Id="rId55" Type="http://schemas.openxmlformats.org/officeDocument/2006/relationships/font" Target="fonts/Montserrat-boldItalic.fntdata"/><Relationship Id="rId10" Type="http://schemas.openxmlformats.org/officeDocument/2006/relationships/slide" Target="slides/slide6.xml"/><Relationship Id="rId54" Type="http://schemas.openxmlformats.org/officeDocument/2006/relationships/font" Target="fonts/Montserrat-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404b920135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404b920135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ac711b4153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ac711b4153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ac711b4153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ac711b4153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ac711b4153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ac711b4153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ac711b415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ac711b415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ac711b4153_0_4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ac711b4153_0_4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ac711b4153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ac711b4153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ac711b4153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ac711b4153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ac711b4153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ac711b4153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ac711b4153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ac711b4153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ac711b4153_0_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ac711b4153_0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ac711b4153_0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ac711b4153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ac711b4153_0_3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ac711b4153_0_3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ac711b4153_0_4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ac711b4153_0_4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ac711b4153_0_3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ac711b4153_0_3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a2d2e01670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ga2d2e01670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a2d2e01670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8" name="Google Shape;518;ga2d2e01670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a2d2e01670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3" name="Google Shape;543;ga2d2e01670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a2d2e01670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9" name="Google Shape;569;ga2d2e01670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a2d2e01670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6" name="Google Shape;596;ga2d2e01670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gac711b4153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4" name="Google Shape;624;gac711b4153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a2d2e01670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2" name="Google Shape;632;ga2d2e01670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ga2d2e01670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0" name="Google Shape;640;ga2d2e01670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ga2d2e01670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8" name="Google Shape;648;ga2d2e01670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ga2d2e01670_0_3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6" name="Google Shape;676;ga2d2e01670_0_3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ga2d2e01670_0_4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5" name="Google Shape;705;ga2d2e01670_0_4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ga2d2e01670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4" name="Google Shape;734;ga2d2e01670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ga2d2e01670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3" name="Google Shape;763;ga2d2e01670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ga2d2e01670_0_2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2" name="Google Shape;792;ga2d2e01670_0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ga2d2e01670_0_2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0" name="Google Shape;800;ga2d2e01670_0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ga2d2e01670_0_2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9" name="Google Shape;809;ga2d2e01670_0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ga2d2e01670_0_2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9" name="Google Shape;819;ga2d2e01670_0_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ga2d2e01670_0_2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2" name="Google Shape;832;ga2d2e01670_0_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ga2d2e01670_0_2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0" name="Google Shape;840;ga2d2e01670_0_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ga2d2e01670_0_2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8" name="Google Shape;848;ga2d2e01670_0_2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ga2d2e01670_0_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6" name="Google Shape;856;ga2d2e01670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ga2d2e01670_0_3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3" name="Google Shape;873;ga2d2e01670_0_3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ga2d2e01670_0_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2" name="Google Shape;892;ga2d2e01670_0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ga2d2e01670_0_3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1" name="Google Shape;911;ga2d2e01670_0_3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ga2d2e01670_0_3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8" name="Google Shape;928;ga2d2e01670_0_3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gac711b4153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6" name="Google Shape;936;gac711b4153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gac711b4153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4" name="Google Shape;944;gac711b4153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gac711b4153_0_4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2" name="Google Shape;952;gac711b4153_0_4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gac711b4153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0" name="Google Shape;960;gac711b4153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5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gac711b4153_0_4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7" name="Google Shape;967;gac711b4153_0_4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gac711b4153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6" name="Google Shape;976;gac711b4153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en.wikipedia.org/wiki/Chick_sexing" TargetMode="External"/><Relationship Id="rId4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.jp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.jp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.jp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.jp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.jp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.jp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.jp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.jpg"/><Relationship Id="rId4" Type="http://schemas.openxmlformats.org/officeDocument/2006/relationships/image" Target="../media/image4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K Nearest Neighbors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56" name="Google Shape;56;p1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7" name="Google Shape;57;p1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KNN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KNN (K nearest neighbors) is one of the simplest algorithms we will learn about!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Section Overview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KNN Theory and Intuition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KNN Classification Coding Example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KNN Exercise Overview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KNN Exercise Solution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i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4" name="Google Shape;64;p1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5" name="Google Shape;65;p1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KNN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While KNN can be used for regression tasks, its performance can be quite poor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and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less efficient than other algorithms, so we’ve decided not to exhibit its use for regression.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However if you do want to use it for regression it is very easy to swap in the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KNNRegressor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model with scikit-learn.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i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2" name="Google Shape;72;p1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3" name="Google Shape;73;p1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KNN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You may have also heard of K means algorithm.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K means is unrelated to KNN, be careful not to confuse the two due to their similar sounding names!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i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0" name="Google Shape;80;p1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1" name="Google Shape;81;p1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KNN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ISLR Relevant Reading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Chapter 2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Formula 2.12 starts discussion on KNN for classification.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8" name="Google Shape;88;p1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9" name="Google Shape;89;p1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30502" y="3242402"/>
            <a:ext cx="5294826" cy="126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KNN Classification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6" name="Google Shape;96;p1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Theory and Intuition </a:t>
            </a:r>
            <a:endParaRPr/>
          </a:p>
        </p:txBody>
      </p:sp>
      <p:pic>
        <p:nvPicPr>
          <p:cNvPr descr="watermark.jpg" id="97" name="Google Shape;97;p1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8" name="Google Shape;98;p1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KNN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4" name="Google Shape;104;p1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K nearest neighbors is one of the simplest machine learning algorithms.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It simply assigns a label to new data based on the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distance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between the old data and new data.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go through the intuition with an example use case...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5" name="Google Shape;105;p1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6" name="Google Shape;106;p1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KNN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2" name="Google Shape;112;p2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Sexing chicks is still a very manual process: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en.wikipedia.org/wiki/Chick_sexing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imagine we gathered a dataset of baby chick heights and weights.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How could we train an algorithm to identify the sex of a new baby chick based on historical features?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3" name="Google Shape;113;p20"/>
          <p:cNvPicPr preferRelativeResize="0"/>
          <p:nvPr/>
        </p:nvPicPr>
        <p:blipFill rotWithShape="1">
          <a:blip r:embed="rId4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4" name="Google Shape;114;p20"/>
          <p:cNvPicPr preferRelativeResize="0"/>
          <p:nvPr/>
        </p:nvPicPr>
        <p:blipFill rotWithShape="1">
          <a:blip r:embed="rId4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KNN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0" name="Google Shape;120;p21"/>
          <p:cNvSpPr txBox="1"/>
          <p:nvPr>
            <p:ph idx="1" type="body"/>
          </p:nvPr>
        </p:nvSpPr>
        <p:spPr>
          <a:xfrm>
            <a:off x="311700" y="1152475"/>
            <a:ext cx="8684100" cy="9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Imagine a height and weight data set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1" name="Google Shape;121;p2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2" name="Google Shape;122;p2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1"/>
          <p:cNvSpPr/>
          <p:nvPr/>
        </p:nvSpPr>
        <p:spPr>
          <a:xfrm>
            <a:off x="2239625" y="1847950"/>
            <a:ext cx="5006400" cy="2856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1"/>
          <p:cNvSpPr txBox="1"/>
          <p:nvPr/>
        </p:nvSpPr>
        <p:spPr>
          <a:xfrm>
            <a:off x="4076525" y="4704550"/>
            <a:ext cx="13326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WEIGHT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5" name="Google Shape;125;p21"/>
          <p:cNvSpPr txBox="1"/>
          <p:nvPr/>
        </p:nvSpPr>
        <p:spPr>
          <a:xfrm>
            <a:off x="864350" y="2913300"/>
            <a:ext cx="13326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HEIGH</a:t>
            </a: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6" name="Google Shape;126;p21"/>
          <p:cNvSpPr/>
          <p:nvPr/>
        </p:nvSpPr>
        <p:spPr>
          <a:xfrm>
            <a:off x="3224700" y="4096375"/>
            <a:ext cx="147300" cy="14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1"/>
          <p:cNvSpPr/>
          <p:nvPr/>
        </p:nvSpPr>
        <p:spPr>
          <a:xfrm>
            <a:off x="3583200" y="3686300"/>
            <a:ext cx="147300" cy="14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1"/>
          <p:cNvSpPr/>
          <p:nvPr/>
        </p:nvSpPr>
        <p:spPr>
          <a:xfrm>
            <a:off x="3669350" y="3345425"/>
            <a:ext cx="147300" cy="14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1"/>
          <p:cNvSpPr/>
          <p:nvPr/>
        </p:nvSpPr>
        <p:spPr>
          <a:xfrm>
            <a:off x="3777575" y="3949075"/>
            <a:ext cx="147300" cy="14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21"/>
          <p:cNvSpPr/>
          <p:nvPr/>
        </p:nvSpPr>
        <p:spPr>
          <a:xfrm>
            <a:off x="3282075" y="3345425"/>
            <a:ext cx="147300" cy="14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1"/>
          <p:cNvSpPr/>
          <p:nvPr/>
        </p:nvSpPr>
        <p:spPr>
          <a:xfrm>
            <a:off x="3372000" y="3754725"/>
            <a:ext cx="147300" cy="14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1"/>
          <p:cNvSpPr/>
          <p:nvPr/>
        </p:nvSpPr>
        <p:spPr>
          <a:xfrm>
            <a:off x="3924875" y="3607425"/>
            <a:ext cx="147300" cy="14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1"/>
          <p:cNvSpPr/>
          <p:nvPr/>
        </p:nvSpPr>
        <p:spPr>
          <a:xfrm>
            <a:off x="4217150" y="3251825"/>
            <a:ext cx="147300" cy="14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1"/>
          <p:cNvSpPr/>
          <p:nvPr/>
        </p:nvSpPr>
        <p:spPr>
          <a:xfrm>
            <a:off x="4156050" y="3492725"/>
            <a:ext cx="147300" cy="14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1"/>
          <p:cNvSpPr/>
          <p:nvPr/>
        </p:nvSpPr>
        <p:spPr>
          <a:xfrm>
            <a:off x="4089000" y="3801775"/>
            <a:ext cx="147300" cy="14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1"/>
          <p:cNvSpPr/>
          <p:nvPr/>
        </p:nvSpPr>
        <p:spPr>
          <a:xfrm>
            <a:off x="3943250" y="3251825"/>
            <a:ext cx="147300" cy="14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21"/>
          <p:cNvSpPr/>
          <p:nvPr/>
        </p:nvSpPr>
        <p:spPr>
          <a:xfrm>
            <a:off x="3730500" y="3104525"/>
            <a:ext cx="147300" cy="14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1"/>
          <p:cNvSpPr/>
          <p:nvPr/>
        </p:nvSpPr>
        <p:spPr>
          <a:xfrm>
            <a:off x="4987250" y="2712875"/>
            <a:ext cx="147300" cy="14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1"/>
          <p:cNvSpPr/>
          <p:nvPr/>
        </p:nvSpPr>
        <p:spPr>
          <a:xfrm>
            <a:off x="5261825" y="3027250"/>
            <a:ext cx="147300" cy="14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21"/>
          <p:cNvSpPr/>
          <p:nvPr/>
        </p:nvSpPr>
        <p:spPr>
          <a:xfrm>
            <a:off x="5261825" y="2818900"/>
            <a:ext cx="147300" cy="14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1"/>
          <p:cNvSpPr/>
          <p:nvPr/>
        </p:nvSpPr>
        <p:spPr>
          <a:xfrm rot="6226896">
            <a:off x="5789533" y="2222242"/>
            <a:ext cx="147342" cy="147342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1"/>
          <p:cNvSpPr/>
          <p:nvPr/>
        </p:nvSpPr>
        <p:spPr>
          <a:xfrm rot="6226896">
            <a:off x="5474169" y="2407936"/>
            <a:ext cx="147342" cy="147342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1"/>
          <p:cNvSpPr/>
          <p:nvPr/>
        </p:nvSpPr>
        <p:spPr>
          <a:xfrm rot="6226896">
            <a:off x="5749834" y="2776562"/>
            <a:ext cx="147342" cy="147342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1"/>
          <p:cNvSpPr/>
          <p:nvPr/>
        </p:nvSpPr>
        <p:spPr>
          <a:xfrm rot="6226896">
            <a:off x="5530447" y="2659790"/>
            <a:ext cx="147342" cy="147342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1"/>
          <p:cNvSpPr/>
          <p:nvPr/>
        </p:nvSpPr>
        <p:spPr>
          <a:xfrm rot="6226896">
            <a:off x="5246294" y="2520993"/>
            <a:ext cx="147342" cy="147342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1"/>
          <p:cNvSpPr/>
          <p:nvPr/>
        </p:nvSpPr>
        <p:spPr>
          <a:xfrm rot="6226896">
            <a:off x="5815134" y="2510560"/>
            <a:ext cx="147342" cy="147342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1"/>
          <p:cNvSpPr/>
          <p:nvPr/>
        </p:nvSpPr>
        <p:spPr>
          <a:xfrm rot="6226896">
            <a:off x="6008908" y="2339062"/>
            <a:ext cx="147342" cy="147342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1"/>
          <p:cNvSpPr/>
          <p:nvPr/>
        </p:nvSpPr>
        <p:spPr>
          <a:xfrm rot="7203796">
            <a:off x="6165647" y="2888466"/>
            <a:ext cx="147318" cy="147318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1"/>
          <p:cNvSpPr/>
          <p:nvPr/>
        </p:nvSpPr>
        <p:spPr>
          <a:xfrm rot="7203796">
            <a:off x="5810841" y="2978189"/>
            <a:ext cx="147318" cy="147318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1"/>
          <p:cNvSpPr/>
          <p:nvPr/>
        </p:nvSpPr>
        <p:spPr>
          <a:xfrm rot="7203796">
            <a:off x="5971972" y="3409365"/>
            <a:ext cx="147318" cy="147318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1"/>
          <p:cNvSpPr/>
          <p:nvPr/>
        </p:nvSpPr>
        <p:spPr>
          <a:xfrm rot="7203796">
            <a:off x="5794174" y="3235716"/>
            <a:ext cx="147318" cy="147318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1"/>
          <p:cNvSpPr/>
          <p:nvPr/>
        </p:nvSpPr>
        <p:spPr>
          <a:xfrm rot="7203796">
            <a:off x="5560395" y="3022749"/>
            <a:ext cx="147318" cy="147318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1"/>
          <p:cNvSpPr/>
          <p:nvPr/>
        </p:nvSpPr>
        <p:spPr>
          <a:xfrm rot="7203796">
            <a:off x="6109302" y="3172381"/>
            <a:ext cx="147318" cy="147318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21"/>
          <p:cNvSpPr/>
          <p:nvPr/>
        </p:nvSpPr>
        <p:spPr>
          <a:xfrm rot="7203796">
            <a:off x="6343419" y="3062159"/>
            <a:ext cx="147318" cy="147318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1"/>
          <p:cNvSpPr/>
          <p:nvPr/>
        </p:nvSpPr>
        <p:spPr>
          <a:xfrm rot="7203796">
            <a:off x="3193847" y="3650466"/>
            <a:ext cx="147318" cy="147318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1"/>
          <p:cNvSpPr/>
          <p:nvPr/>
        </p:nvSpPr>
        <p:spPr>
          <a:xfrm rot="7203796">
            <a:off x="2839041" y="3740189"/>
            <a:ext cx="147318" cy="147318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1"/>
          <p:cNvSpPr/>
          <p:nvPr/>
        </p:nvSpPr>
        <p:spPr>
          <a:xfrm rot="7203796">
            <a:off x="3000172" y="4171365"/>
            <a:ext cx="147318" cy="147318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1"/>
          <p:cNvSpPr/>
          <p:nvPr/>
        </p:nvSpPr>
        <p:spPr>
          <a:xfrm rot="7203796">
            <a:off x="2822374" y="3997716"/>
            <a:ext cx="147318" cy="147318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1"/>
          <p:cNvSpPr/>
          <p:nvPr/>
        </p:nvSpPr>
        <p:spPr>
          <a:xfrm rot="7203796">
            <a:off x="2588595" y="3784749"/>
            <a:ext cx="147318" cy="147318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1"/>
          <p:cNvSpPr/>
          <p:nvPr/>
        </p:nvSpPr>
        <p:spPr>
          <a:xfrm rot="7203796">
            <a:off x="3137502" y="3934381"/>
            <a:ext cx="147318" cy="147318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2"/>
          <p:cNvSpPr/>
          <p:nvPr/>
        </p:nvSpPr>
        <p:spPr>
          <a:xfrm>
            <a:off x="2239625" y="1847950"/>
            <a:ext cx="5006400" cy="2856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KNN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7" name="Google Shape;167;p22"/>
          <p:cNvSpPr txBox="1"/>
          <p:nvPr>
            <p:ph idx="1" type="body"/>
          </p:nvPr>
        </p:nvSpPr>
        <p:spPr>
          <a:xfrm>
            <a:off x="311700" y="1152475"/>
            <a:ext cx="8684100" cy="9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historically know the sex of the chicks: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68" name="Google Shape;168;p2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69" name="Google Shape;169;p2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2"/>
          <p:cNvSpPr txBox="1"/>
          <p:nvPr/>
        </p:nvSpPr>
        <p:spPr>
          <a:xfrm>
            <a:off x="4076525" y="4704550"/>
            <a:ext cx="13326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WEIGHT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1" name="Google Shape;171;p22"/>
          <p:cNvSpPr txBox="1"/>
          <p:nvPr/>
        </p:nvSpPr>
        <p:spPr>
          <a:xfrm>
            <a:off x="864350" y="2913300"/>
            <a:ext cx="13326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HEIGHT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2" name="Google Shape;172;p22"/>
          <p:cNvSpPr/>
          <p:nvPr/>
        </p:nvSpPr>
        <p:spPr>
          <a:xfrm>
            <a:off x="3224700" y="409637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2"/>
          <p:cNvSpPr/>
          <p:nvPr/>
        </p:nvSpPr>
        <p:spPr>
          <a:xfrm>
            <a:off x="3583200" y="3686300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22"/>
          <p:cNvSpPr/>
          <p:nvPr/>
        </p:nvSpPr>
        <p:spPr>
          <a:xfrm>
            <a:off x="3669350" y="334542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22"/>
          <p:cNvSpPr/>
          <p:nvPr/>
        </p:nvSpPr>
        <p:spPr>
          <a:xfrm>
            <a:off x="3777575" y="394907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2"/>
          <p:cNvSpPr/>
          <p:nvPr/>
        </p:nvSpPr>
        <p:spPr>
          <a:xfrm>
            <a:off x="3282075" y="334542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22"/>
          <p:cNvSpPr/>
          <p:nvPr/>
        </p:nvSpPr>
        <p:spPr>
          <a:xfrm>
            <a:off x="3372000" y="375472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2"/>
          <p:cNvSpPr/>
          <p:nvPr/>
        </p:nvSpPr>
        <p:spPr>
          <a:xfrm>
            <a:off x="3924875" y="360742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2"/>
          <p:cNvSpPr/>
          <p:nvPr/>
        </p:nvSpPr>
        <p:spPr>
          <a:xfrm>
            <a:off x="4217150" y="325182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2"/>
          <p:cNvSpPr/>
          <p:nvPr/>
        </p:nvSpPr>
        <p:spPr>
          <a:xfrm>
            <a:off x="4156050" y="349272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2"/>
          <p:cNvSpPr/>
          <p:nvPr/>
        </p:nvSpPr>
        <p:spPr>
          <a:xfrm>
            <a:off x="4089000" y="380177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2"/>
          <p:cNvSpPr/>
          <p:nvPr/>
        </p:nvSpPr>
        <p:spPr>
          <a:xfrm>
            <a:off x="3943250" y="325182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2"/>
          <p:cNvSpPr/>
          <p:nvPr/>
        </p:nvSpPr>
        <p:spPr>
          <a:xfrm>
            <a:off x="3730500" y="310452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2"/>
          <p:cNvSpPr/>
          <p:nvPr/>
        </p:nvSpPr>
        <p:spPr>
          <a:xfrm>
            <a:off x="4987250" y="2712875"/>
            <a:ext cx="147300" cy="1473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2"/>
          <p:cNvSpPr/>
          <p:nvPr/>
        </p:nvSpPr>
        <p:spPr>
          <a:xfrm>
            <a:off x="5261825" y="3027250"/>
            <a:ext cx="147300" cy="1473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2"/>
          <p:cNvSpPr/>
          <p:nvPr/>
        </p:nvSpPr>
        <p:spPr>
          <a:xfrm>
            <a:off x="5261825" y="2818900"/>
            <a:ext cx="147300" cy="1473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2"/>
          <p:cNvSpPr/>
          <p:nvPr/>
        </p:nvSpPr>
        <p:spPr>
          <a:xfrm rot="6226896">
            <a:off x="5789533" y="2222242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2"/>
          <p:cNvSpPr/>
          <p:nvPr/>
        </p:nvSpPr>
        <p:spPr>
          <a:xfrm rot="6226896">
            <a:off x="5474169" y="2407936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2"/>
          <p:cNvSpPr/>
          <p:nvPr/>
        </p:nvSpPr>
        <p:spPr>
          <a:xfrm rot="6226896">
            <a:off x="5749834" y="2776562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2"/>
          <p:cNvSpPr/>
          <p:nvPr/>
        </p:nvSpPr>
        <p:spPr>
          <a:xfrm rot="6226896">
            <a:off x="5530447" y="2659790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2"/>
          <p:cNvSpPr/>
          <p:nvPr/>
        </p:nvSpPr>
        <p:spPr>
          <a:xfrm rot="6226896">
            <a:off x="5246294" y="2520993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22"/>
          <p:cNvSpPr/>
          <p:nvPr/>
        </p:nvSpPr>
        <p:spPr>
          <a:xfrm rot="6226896">
            <a:off x="5815134" y="2510560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2"/>
          <p:cNvSpPr/>
          <p:nvPr/>
        </p:nvSpPr>
        <p:spPr>
          <a:xfrm rot="6226896">
            <a:off x="6008908" y="2339062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2"/>
          <p:cNvSpPr/>
          <p:nvPr/>
        </p:nvSpPr>
        <p:spPr>
          <a:xfrm rot="7203796">
            <a:off x="6165647" y="2888466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2"/>
          <p:cNvSpPr/>
          <p:nvPr/>
        </p:nvSpPr>
        <p:spPr>
          <a:xfrm rot="7203796">
            <a:off x="5810841" y="2978189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2"/>
          <p:cNvSpPr/>
          <p:nvPr/>
        </p:nvSpPr>
        <p:spPr>
          <a:xfrm rot="7203796">
            <a:off x="5971972" y="3409365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22"/>
          <p:cNvSpPr/>
          <p:nvPr/>
        </p:nvSpPr>
        <p:spPr>
          <a:xfrm rot="7203796">
            <a:off x="5794174" y="3235716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2"/>
          <p:cNvSpPr/>
          <p:nvPr/>
        </p:nvSpPr>
        <p:spPr>
          <a:xfrm rot="7203796">
            <a:off x="5560395" y="3022749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2"/>
          <p:cNvSpPr/>
          <p:nvPr/>
        </p:nvSpPr>
        <p:spPr>
          <a:xfrm rot="7203796">
            <a:off x="6109302" y="3172381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2"/>
          <p:cNvSpPr/>
          <p:nvPr/>
        </p:nvSpPr>
        <p:spPr>
          <a:xfrm rot="7203796">
            <a:off x="6343419" y="3062159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2"/>
          <p:cNvSpPr/>
          <p:nvPr/>
        </p:nvSpPr>
        <p:spPr>
          <a:xfrm rot="7203796">
            <a:off x="3193847" y="3650466"/>
            <a:ext cx="147318" cy="147318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2"/>
          <p:cNvSpPr/>
          <p:nvPr/>
        </p:nvSpPr>
        <p:spPr>
          <a:xfrm rot="7203796">
            <a:off x="2839041" y="3740189"/>
            <a:ext cx="147318" cy="147318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2"/>
          <p:cNvSpPr/>
          <p:nvPr/>
        </p:nvSpPr>
        <p:spPr>
          <a:xfrm rot="7203796">
            <a:off x="3000172" y="4171365"/>
            <a:ext cx="147318" cy="147318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2"/>
          <p:cNvSpPr/>
          <p:nvPr/>
        </p:nvSpPr>
        <p:spPr>
          <a:xfrm rot="7203796">
            <a:off x="2822374" y="3997716"/>
            <a:ext cx="147318" cy="147318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2"/>
          <p:cNvSpPr/>
          <p:nvPr/>
        </p:nvSpPr>
        <p:spPr>
          <a:xfrm rot="7203796">
            <a:off x="2588595" y="3784749"/>
            <a:ext cx="147318" cy="147318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22"/>
          <p:cNvSpPr/>
          <p:nvPr/>
        </p:nvSpPr>
        <p:spPr>
          <a:xfrm rot="7203796">
            <a:off x="3137502" y="3934381"/>
            <a:ext cx="147318" cy="147318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2"/>
          <p:cNvSpPr txBox="1"/>
          <p:nvPr/>
        </p:nvSpPr>
        <p:spPr>
          <a:xfrm>
            <a:off x="7808475" y="1877400"/>
            <a:ext cx="1178100" cy="572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</a:t>
            </a: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FEMALE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8" name="Google Shape;208;p22"/>
          <p:cNvSpPr/>
          <p:nvPr/>
        </p:nvSpPr>
        <p:spPr>
          <a:xfrm rot="7203796">
            <a:off x="7946194" y="1975359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2"/>
          <p:cNvSpPr/>
          <p:nvPr/>
        </p:nvSpPr>
        <p:spPr>
          <a:xfrm>
            <a:off x="7946200" y="2245200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3"/>
          <p:cNvSpPr/>
          <p:nvPr/>
        </p:nvSpPr>
        <p:spPr>
          <a:xfrm>
            <a:off x="2239625" y="1847950"/>
            <a:ext cx="5006400" cy="2856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KNN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6" name="Google Shape;216;p23"/>
          <p:cNvSpPr txBox="1"/>
          <p:nvPr>
            <p:ph idx="1" type="body"/>
          </p:nvPr>
        </p:nvSpPr>
        <p:spPr>
          <a:xfrm>
            <a:off x="311700" y="1152475"/>
            <a:ext cx="8684100" cy="9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How would we assign sex to a new point?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17" name="Google Shape;217;p2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18" name="Google Shape;218;p2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3"/>
          <p:cNvSpPr txBox="1"/>
          <p:nvPr/>
        </p:nvSpPr>
        <p:spPr>
          <a:xfrm>
            <a:off x="4076525" y="4704550"/>
            <a:ext cx="13326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WEIGHT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0" name="Google Shape;220;p23"/>
          <p:cNvSpPr txBox="1"/>
          <p:nvPr/>
        </p:nvSpPr>
        <p:spPr>
          <a:xfrm>
            <a:off x="864350" y="2913300"/>
            <a:ext cx="13326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HEIGHT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1" name="Google Shape;221;p23"/>
          <p:cNvSpPr/>
          <p:nvPr/>
        </p:nvSpPr>
        <p:spPr>
          <a:xfrm>
            <a:off x="3224700" y="409637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3"/>
          <p:cNvSpPr/>
          <p:nvPr/>
        </p:nvSpPr>
        <p:spPr>
          <a:xfrm>
            <a:off x="3583200" y="3686300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3"/>
          <p:cNvSpPr/>
          <p:nvPr/>
        </p:nvSpPr>
        <p:spPr>
          <a:xfrm>
            <a:off x="3669350" y="334542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3"/>
          <p:cNvSpPr/>
          <p:nvPr/>
        </p:nvSpPr>
        <p:spPr>
          <a:xfrm>
            <a:off x="3777575" y="394907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3"/>
          <p:cNvSpPr/>
          <p:nvPr/>
        </p:nvSpPr>
        <p:spPr>
          <a:xfrm>
            <a:off x="3282075" y="334542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3"/>
          <p:cNvSpPr/>
          <p:nvPr/>
        </p:nvSpPr>
        <p:spPr>
          <a:xfrm>
            <a:off x="3372000" y="375472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3"/>
          <p:cNvSpPr/>
          <p:nvPr/>
        </p:nvSpPr>
        <p:spPr>
          <a:xfrm>
            <a:off x="3924875" y="360742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3"/>
          <p:cNvSpPr/>
          <p:nvPr/>
        </p:nvSpPr>
        <p:spPr>
          <a:xfrm>
            <a:off x="4217150" y="325182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3"/>
          <p:cNvSpPr/>
          <p:nvPr/>
        </p:nvSpPr>
        <p:spPr>
          <a:xfrm>
            <a:off x="4156050" y="349272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3"/>
          <p:cNvSpPr/>
          <p:nvPr/>
        </p:nvSpPr>
        <p:spPr>
          <a:xfrm>
            <a:off x="4089000" y="380177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3"/>
          <p:cNvSpPr/>
          <p:nvPr/>
        </p:nvSpPr>
        <p:spPr>
          <a:xfrm>
            <a:off x="3943250" y="325182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3"/>
          <p:cNvSpPr/>
          <p:nvPr/>
        </p:nvSpPr>
        <p:spPr>
          <a:xfrm>
            <a:off x="3730500" y="310452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3"/>
          <p:cNvSpPr/>
          <p:nvPr/>
        </p:nvSpPr>
        <p:spPr>
          <a:xfrm>
            <a:off x="4987250" y="2712875"/>
            <a:ext cx="147300" cy="1473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3"/>
          <p:cNvSpPr/>
          <p:nvPr/>
        </p:nvSpPr>
        <p:spPr>
          <a:xfrm>
            <a:off x="5261825" y="3027250"/>
            <a:ext cx="147300" cy="1473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23"/>
          <p:cNvSpPr/>
          <p:nvPr/>
        </p:nvSpPr>
        <p:spPr>
          <a:xfrm>
            <a:off x="5261825" y="2818900"/>
            <a:ext cx="147300" cy="1473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3"/>
          <p:cNvSpPr/>
          <p:nvPr/>
        </p:nvSpPr>
        <p:spPr>
          <a:xfrm rot="6226896">
            <a:off x="5789533" y="2222242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3"/>
          <p:cNvSpPr/>
          <p:nvPr/>
        </p:nvSpPr>
        <p:spPr>
          <a:xfrm rot="6226896">
            <a:off x="5474169" y="2407936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3"/>
          <p:cNvSpPr/>
          <p:nvPr/>
        </p:nvSpPr>
        <p:spPr>
          <a:xfrm rot="6226896">
            <a:off x="5749834" y="2776562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3"/>
          <p:cNvSpPr/>
          <p:nvPr/>
        </p:nvSpPr>
        <p:spPr>
          <a:xfrm rot="6226896">
            <a:off x="5530447" y="2659790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3"/>
          <p:cNvSpPr/>
          <p:nvPr/>
        </p:nvSpPr>
        <p:spPr>
          <a:xfrm rot="6226896">
            <a:off x="5246294" y="2520993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3"/>
          <p:cNvSpPr/>
          <p:nvPr/>
        </p:nvSpPr>
        <p:spPr>
          <a:xfrm rot="6226896">
            <a:off x="5815134" y="2510560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3"/>
          <p:cNvSpPr/>
          <p:nvPr/>
        </p:nvSpPr>
        <p:spPr>
          <a:xfrm rot="6226896">
            <a:off x="6008908" y="2339062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23"/>
          <p:cNvSpPr/>
          <p:nvPr/>
        </p:nvSpPr>
        <p:spPr>
          <a:xfrm rot="7203796">
            <a:off x="6165647" y="2888466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3"/>
          <p:cNvSpPr/>
          <p:nvPr/>
        </p:nvSpPr>
        <p:spPr>
          <a:xfrm rot="7203796">
            <a:off x="5810841" y="2978189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23"/>
          <p:cNvSpPr/>
          <p:nvPr/>
        </p:nvSpPr>
        <p:spPr>
          <a:xfrm rot="7203796">
            <a:off x="5971972" y="3409365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3"/>
          <p:cNvSpPr/>
          <p:nvPr/>
        </p:nvSpPr>
        <p:spPr>
          <a:xfrm rot="7203796">
            <a:off x="5794174" y="3235716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23"/>
          <p:cNvSpPr/>
          <p:nvPr/>
        </p:nvSpPr>
        <p:spPr>
          <a:xfrm rot="7203796">
            <a:off x="5560395" y="3022749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3"/>
          <p:cNvSpPr/>
          <p:nvPr/>
        </p:nvSpPr>
        <p:spPr>
          <a:xfrm rot="7203796">
            <a:off x="6109302" y="3172381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3"/>
          <p:cNvSpPr/>
          <p:nvPr/>
        </p:nvSpPr>
        <p:spPr>
          <a:xfrm rot="7203796">
            <a:off x="6343419" y="3062159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3"/>
          <p:cNvSpPr/>
          <p:nvPr/>
        </p:nvSpPr>
        <p:spPr>
          <a:xfrm rot="7203796">
            <a:off x="3193847" y="3650466"/>
            <a:ext cx="147318" cy="147318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23"/>
          <p:cNvSpPr/>
          <p:nvPr/>
        </p:nvSpPr>
        <p:spPr>
          <a:xfrm rot="7203796">
            <a:off x="2839041" y="3740189"/>
            <a:ext cx="147318" cy="147318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3"/>
          <p:cNvSpPr/>
          <p:nvPr/>
        </p:nvSpPr>
        <p:spPr>
          <a:xfrm rot="7203796">
            <a:off x="3000172" y="4171365"/>
            <a:ext cx="147318" cy="147318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3"/>
          <p:cNvSpPr/>
          <p:nvPr/>
        </p:nvSpPr>
        <p:spPr>
          <a:xfrm rot="7203796">
            <a:off x="2822374" y="3997716"/>
            <a:ext cx="147318" cy="147318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23"/>
          <p:cNvSpPr/>
          <p:nvPr/>
        </p:nvSpPr>
        <p:spPr>
          <a:xfrm rot="7203796">
            <a:off x="2588595" y="3784749"/>
            <a:ext cx="147318" cy="147318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3"/>
          <p:cNvSpPr/>
          <p:nvPr/>
        </p:nvSpPr>
        <p:spPr>
          <a:xfrm rot="7203796">
            <a:off x="3137502" y="3934381"/>
            <a:ext cx="147318" cy="147318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23"/>
          <p:cNvSpPr txBox="1"/>
          <p:nvPr/>
        </p:nvSpPr>
        <p:spPr>
          <a:xfrm>
            <a:off x="7808475" y="1877400"/>
            <a:ext cx="1178100" cy="572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MALE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FEMALE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7" name="Google Shape;257;p23"/>
          <p:cNvSpPr/>
          <p:nvPr/>
        </p:nvSpPr>
        <p:spPr>
          <a:xfrm rot="7203796">
            <a:off x="7946194" y="1975359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23"/>
          <p:cNvSpPr/>
          <p:nvPr/>
        </p:nvSpPr>
        <p:spPr>
          <a:xfrm>
            <a:off x="7946200" y="2245200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23"/>
          <p:cNvSpPr/>
          <p:nvPr/>
        </p:nvSpPr>
        <p:spPr>
          <a:xfrm>
            <a:off x="4477750" y="3686300"/>
            <a:ext cx="147300" cy="147300"/>
          </a:xfrm>
          <a:prstGeom prst="ellipse">
            <a:avLst/>
          </a:prstGeom>
          <a:solidFill>
            <a:srgbClr val="E6913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3"/>
          <p:cNvSpPr/>
          <p:nvPr/>
        </p:nvSpPr>
        <p:spPr>
          <a:xfrm rot="8706975">
            <a:off x="4666056" y="3477233"/>
            <a:ext cx="507245" cy="14738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4"/>
          <p:cNvSpPr/>
          <p:nvPr/>
        </p:nvSpPr>
        <p:spPr>
          <a:xfrm>
            <a:off x="2239625" y="1847950"/>
            <a:ext cx="5006400" cy="2856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KNN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7" name="Google Shape;267;p24"/>
          <p:cNvSpPr txBox="1"/>
          <p:nvPr>
            <p:ph idx="1" type="body"/>
          </p:nvPr>
        </p:nvSpPr>
        <p:spPr>
          <a:xfrm>
            <a:off x="311700" y="1152475"/>
            <a:ext cx="8684100" cy="9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intuitively “know” this is likely female.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68" name="Google Shape;268;p2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69" name="Google Shape;269;p2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4"/>
          <p:cNvSpPr txBox="1"/>
          <p:nvPr/>
        </p:nvSpPr>
        <p:spPr>
          <a:xfrm>
            <a:off x="4076525" y="4704550"/>
            <a:ext cx="13326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WEIGHT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1" name="Google Shape;271;p24"/>
          <p:cNvSpPr txBox="1"/>
          <p:nvPr/>
        </p:nvSpPr>
        <p:spPr>
          <a:xfrm>
            <a:off x="864350" y="2913300"/>
            <a:ext cx="13326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HEIGHT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2" name="Google Shape;272;p24"/>
          <p:cNvSpPr/>
          <p:nvPr/>
        </p:nvSpPr>
        <p:spPr>
          <a:xfrm>
            <a:off x="3224700" y="409637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4"/>
          <p:cNvSpPr/>
          <p:nvPr/>
        </p:nvSpPr>
        <p:spPr>
          <a:xfrm>
            <a:off x="3583200" y="3686300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24"/>
          <p:cNvSpPr/>
          <p:nvPr/>
        </p:nvSpPr>
        <p:spPr>
          <a:xfrm>
            <a:off x="3669350" y="334542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4"/>
          <p:cNvSpPr/>
          <p:nvPr/>
        </p:nvSpPr>
        <p:spPr>
          <a:xfrm>
            <a:off x="3777575" y="394907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4"/>
          <p:cNvSpPr/>
          <p:nvPr/>
        </p:nvSpPr>
        <p:spPr>
          <a:xfrm>
            <a:off x="3282075" y="334542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4"/>
          <p:cNvSpPr/>
          <p:nvPr/>
        </p:nvSpPr>
        <p:spPr>
          <a:xfrm>
            <a:off x="3372000" y="375472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4"/>
          <p:cNvSpPr/>
          <p:nvPr/>
        </p:nvSpPr>
        <p:spPr>
          <a:xfrm>
            <a:off x="3924875" y="360742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4"/>
          <p:cNvSpPr/>
          <p:nvPr/>
        </p:nvSpPr>
        <p:spPr>
          <a:xfrm>
            <a:off x="4217150" y="325182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24"/>
          <p:cNvSpPr/>
          <p:nvPr/>
        </p:nvSpPr>
        <p:spPr>
          <a:xfrm>
            <a:off x="4156050" y="349272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24"/>
          <p:cNvSpPr/>
          <p:nvPr/>
        </p:nvSpPr>
        <p:spPr>
          <a:xfrm>
            <a:off x="4089000" y="380177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24"/>
          <p:cNvSpPr/>
          <p:nvPr/>
        </p:nvSpPr>
        <p:spPr>
          <a:xfrm>
            <a:off x="3943250" y="325182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24"/>
          <p:cNvSpPr/>
          <p:nvPr/>
        </p:nvSpPr>
        <p:spPr>
          <a:xfrm>
            <a:off x="3730500" y="310452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24"/>
          <p:cNvSpPr/>
          <p:nvPr/>
        </p:nvSpPr>
        <p:spPr>
          <a:xfrm>
            <a:off x="4987250" y="2712875"/>
            <a:ext cx="147300" cy="1473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24"/>
          <p:cNvSpPr/>
          <p:nvPr/>
        </p:nvSpPr>
        <p:spPr>
          <a:xfrm>
            <a:off x="5261825" y="3027250"/>
            <a:ext cx="147300" cy="1473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24"/>
          <p:cNvSpPr/>
          <p:nvPr/>
        </p:nvSpPr>
        <p:spPr>
          <a:xfrm>
            <a:off x="5261825" y="2818900"/>
            <a:ext cx="147300" cy="1473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24"/>
          <p:cNvSpPr/>
          <p:nvPr/>
        </p:nvSpPr>
        <p:spPr>
          <a:xfrm rot="6226896">
            <a:off x="5789533" y="2222242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24"/>
          <p:cNvSpPr/>
          <p:nvPr/>
        </p:nvSpPr>
        <p:spPr>
          <a:xfrm rot="6226896">
            <a:off x="5474169" y="2407936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4"/>
          <p:cNvSpPr/>
          <p:nvPr/>
        </p:nvSpPr>
        <p:spPr>
          <a:xfrm rot="6226896">
            <a:off x="5749834" y="2776562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4"/>
          <p:cNvSpPr/>
          <p:nvPr/>
        </p:nvSpPr>
        <p:spPr>
          <a:xfrm rot="6226896">
            <a:off x="5530447" y="2659790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24"/>
          <p:cNvSpPr/>
          <p:nvPr/>
        </p:nvSpPr>
        <p:spPr>
          <a:xfrm rot="6226896">
            <a:off x="5246294" y="2520993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24"/>
          <p:cNvSpPr/>
          <p:nvPr/>
        </p:nvSpPr>
        <p:spPr>
          <a:xfrm rot="6226896">
            <a:off x="5815134" y="2510560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24"/>
          <p:cNvSpPr/>
          <p:nvPr/>
        </p:nvSpPr>
        <p:spPr>
          <a:xfrm rot="6226896">
            <a:off x="6008908" y="2339062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24"/>
          <p:cNvSpPr/>
          <p:nvPr/>
        </p:nvSpPr>
        <p:spPr>
          <a:xfrm rot="7203796">
            <a:off x="6165647" y="2888466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4"/>
          <p:cNvSpPr/>
          <p:nvPr/>
        </p:nvSpPr>
        <p:spPr>
          <a:xfrm rot="7203796">
            <a:off x="5810841" y="2978189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24"/>
          <p:cNvSpPr/>
          <p:nvPr/>
        </p:nvSpPr>
        <p:spPr>
          <a:xfrm rot="7203796">
            <a:off x="5971972" y="3409365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24"/>
          <p:cNvSpPr/>
          <p:nvPr/>
        </p:nvSpPr>
        <p:spPr>
          <a:xfrm rot="7203796">
            <a:off x="5794174" y="3235716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24"/>
          <p:cNvSpPr/>
          <p:nvPr/>
        </p:nvSpPr>
        <p:spPr>
          <a:xfrm rot="7203796">
            <a:off x="5560395" y="3022749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24"/>
          <p:cNvSpPr/>
          <p:nvPr/>
        </p:nvSpPr>
        <p:spPr>
          <a:xfrm rot="7203796">
            <a:off x="6109302" y="3172381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24"/>
          <p:cNvSpPr/>
          <p:nvPr/>
        </p:nvSpPr>
        <p:spPr>
          <a:xfrm rot="7203796">
            <a:off x="6343419" y="3062159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24"/>
          <p:cNvSpPr/>
          <p:nvPr/>
        </p:nvSpPr>
        <p:spPr>
          <a:xfrm rot="7203796">
            <a:off x="3193847" y="3650466"/>
            <a:ext cx="147318" cy="147318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24"/>
          <p:cNvSpPr/>
          <p:nvPr/>
        </p:nvSpPr>
        <p:spPr>
          <a:xfrm rot="7203796">
            <a:off x="2839041" y="3740189"/>
            <a:ext cx="147318" cy="147318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24"/>
          <p:cNvSpPr/>
          <p:nvPr/>
        </p:nvSpPr>
        <p:spPr>
          <a:xfrm rot="7203796">
            <a:off x="3000172" y="4171365"/>
            <a:ext cx="147318" cy="147318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24"/>
          <p:cNvSpPr/>
          <p:nvPr/>
        </p:nvSpPr>
        <p:spPr>
          <a:xfrm rot="7203796">
            <a:off x="2822374" y="3997716"/>
            <a:ext cx="147318" cy="147318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24"/>
          <p:cNvSpPr/>
          <p:nvPr/>
        </p:nvSpPr>
        <p:spPr>
          <a:xfrm rot="7203796">
            <a:off x="2588595" y="3784749"/>
            <a:ext cx="147318" cy="147318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24"/>
          <p:cNvSpPr/>
          <p:nvPr/>
        </p:nvSpPr>
        <p:spPr>
          <a:xfrm rot="7203796">
            <a:off x="3137502" y="3934381"/>
            <a:ext cx="147318" cy="147318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24"/>
          <p:cNvSpPr txBox="1"/>
          <p:nvPr/>
        </p:nvSpPr>
        <p:spPr>
          <a:xfrm>
            <a:off x="7808475" y="1877400"/>
            <a:ext cx="1178100" cy="572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MALE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FEMALE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8" name="Google Shape;308;p24"/>
          <p:cNvSpPr/>
          <p:nvPr/>
        </p:nvSpPr>
        <p:spPr>
          <a:xfrm rot="7203796">
            <a:off x="7946194" y="1975359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24"/>
          <p:cNvSpPr/>
          <p:nvPr/>
        </p:nvSpPr>
        <p:spPr>
          <a:xfrm>
            <a:off x="7946200" y="2245200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4"/>
          <p:cNvSpPr/>
          <p:nvPr/>
        </p:nvSpPr>
        <p:spPr>
          <a:xfrm>
            <a:off x="4477750" y="3686300"/>
            <a:ext cx="147300" cy="147300"/>
          </a:xfrm>
          <a:prstGeom prst="ellipse">
            <a:avLst/>
          </a:prstGeom>
          <a:solidFill>
            <a:srgbClr val="E6913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4"/>
          <p:cNvSpPr/>
          <p:nvPr/>
        </p:nvSpPr>
        <p:spPr>
          <a:xfrm rot="8706975">
            <a:off x="4666056" y="3477233"/>
            <a:ext cx="507245" cy="14738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5"/>
          <p:cNvSpPr/>
          <p:nvPr/>
        </p:nvSpPr>
        <p:spPr>
          <a:xfrm>
            <a:off x="2239625" y="1847950"/>
            <a:ext cx="5006400" cy="2856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2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KNN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8" name="Google Shape;318;p25"/>
          <p:cNvSpPr txBox="1"/>
          <p:nvPr>
            <p:ph idx="1" type="body"/>
          </p:nvPr>
        </p:nvSpPr>
        <p:spPr>
          <a:xfrm>
            <a:off x="311700" y="1152475"/>
            <a:ext cx="8832300" cy="9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Intuition comes from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distance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to points!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19" name="Google Shape;319;p2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20" name="Google Shape;320;p2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25"/>
          <p:cNvSpPr txBox="1"/>
          <p:nvPr/>
        </p:nvSpPr>
        <p:spPr>
          <a:xfrm>
            <a:off x="4076525" y="4704550"/>
            <a:ext cx="13326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WEIGHT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2" name="Google Shape;322;p25"/>
          <p:cNvSpPr txBox="1"/>
          <p:nvPr/>
        </p:nvSpPr>
        <p:spPr>
          <a:xfrm>
            <a:off x="864350" y="2913300"/>
            <a:ext cx="13326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HEIGHT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3" name="Google Shape;323;p25"/>
          <p:cNvSpPr/>
          <p:nvPr/>
        </p:nvSpPr>
        <p:spPr>
          <a:xfrm>
            <a:off x="3224700" y="409637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25"/>
          <p:cNvSpPr/>
          <p:nvPr/>
        </p:nvSpPr>
        <p:spPr>
          <a:xfrm>
            <a:off x="3583200" y="3686300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25"/>
          <p:cNvSpPr/>
          <p:nvPr/>
        </p:nvSpPr>
        <p:spPr>
          <a:xfrm>
            <a:off x="3669350" y="334542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25"/>
          <p:cNvSpPr/>
          <p:nvPr/>
        </p:nvSpPr>
        <p:spPr>
          <a:xfrm>
            <a:off x="3777575" y="394907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25"/>
          <p:cNvSpPr/>
          <p:nvPr/>
        </p:nvSpPr>
        <p:spPr>
          <a:xfrm>
            <a:off x="3282075" y="334542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25"/>
          <p:cNvSpPr/>
          <p:nvPr/>
        </p:nvSpPr>
        <p:spPr>
          <a:xfrm>
            <a:off x="3372000" y="375472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25"/>
          <p:cNvSpPr/>
          <p:nvPr/>
        </p:nvSpPr>
        <p:spPr>
          <a:xfrm>
            <a:off x="3924875" y="360742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25"/>
          <p:cNvSpPr/>
          <p:nvPr/>
        </p:nvSpPr>
        <p:spPr>
          <a:xfrm>
            <a:off x="4217150" y="325182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25"/>
          <p:cNvSpPr/>
          <p:nvPr/>
        </p:nvSpPr>
        <p:spPr>
          <a:xfrm>
            <a:off x="4156050" y="349272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25"/>
          <p:cNvSpPr/>
          <p:nvPr/>
        </p:nvSpPr>
        <p:spPr>
          <a:xfrm>
            <a:off x="4089000" y="380177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25"/>
          <p:cNvSpPr/>
          <p:nvPr/>
        </p:nvSpPr>
        <p:spPr>
          <a:xfrm>
            <a:off x="3943250" y="325182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25"/>
          <p:cNvSpPr/>
          <p:nvPr/>
        </p:nvSpPr>
        <p:spPr>
          <a:xfrm>
            <a:off x="3730500" y="310452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25"/>
          <p:cNvSpPr/>
          <p:nvPr/>
        </p:nvSpPr>
        <p:spPr>
          <a:xfrm>
            <a:off x="4987250" y="2712875"/>
            <a:ext cx="147300" cy="1473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25"/>
          <p:cNvSpPr/>
          <p:nvPr/>
        </p:nvSpPr>
        <p:spPr>
          <a:xfrm>
            <a:off x="5261825" y="3027250"/>
            <a:ext cx="147300" cy="1473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25"/>
          <p:cNvSpPr/>
          <p:nvPr/>
        </p:nvSpPr>
        <p:spPr>
          <a:xfrm>
            <a:off x="5261825" y="2818900"/>
            <a:ext cx="147300" cy="1473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25"/>
          <p:cNvSpPr/>
          <p:nvPr/>
        </p:nvSpPr>
        <p:spPr>
          <a:xfrm rot="6226896">
            <a:off x="5789533" y="2222242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25"/>
          <p:cNvSpPr/>
          <p:nvPr/>
        </p:nvSpPr>
        <p:spPr>
          <a:xfrm rot="6226896">
            <a:off x="5474169" y="2407936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25"/>
          <p:cNvSpPr/>
          <p:nvPr/>
        </p:nvSpPr>
        <p:spPr>
          <a:xfrm rot="6226896">
            <a:off x="5749834" y="2776562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25"/>
          <p:cNvSpPr/>
          <p:nvPr/>
        </p:nvSpPr>
        <p:spPr>
          <a:xfrm rot="6226896">
            <a:off x="5530447" y="2659790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25"/>
          <p:cNvSpPr/>
          <p:nvPr/>
        </p:nvSpPr>
        <p:spPr>
          <a:xfrm rot="6226896">
            <a:off x="5246294" y="2520993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25"/>
          <p:cNvSpPr/>
          <p:nvPr/>
        </p:nvSpPr>
        <p:spPr>
          <a:xfrm rot="6226896">
            <a:off x="5815134" y="2510560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25"/>
          <p:cNvSpPr/>
          <p:nvPr/>
        </p:nvSpPr>
        <p:spPr>
          <a:xfrm rot="6226896">
            <a:off x="6008908" y="2339062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25"/>
          <p:cNvSpPr/>
          <p:nvPr/>
        </p:nvSpPr>
        <p:spPr>
          <a:xfrm rot="7203796">
            <a:off x="6165647" y="2888466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25"/>
          <p:cNvSpPr/>
          <p:nvPr/>
        </p:nvSpPr>
        <p:spPr>
          <a:xfrm rot="7203796">
            <a:off x="5810841" y="2978189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25"/>
          <p:cNvSpPr/>
          <p:nvPr/>
        </p:nvSpPr>
        <p:spPr>
          <a:xfrm rot="7203796">
            <a:off x="5971972" y="3409365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25"/>
          <p:cNvSpPr/>
          <p:nvPr/>
        </p:nvSpPr>
        <p:spPr>
          <a:xfrm rot="7203796">
            <a:off x="5794174" y="3235716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25"/>
          <p:cNvSpPr/>
          <p:nvPr/>
        </p:nvSpPr>
        <p:spPr>
          <a:xfrm rot="7203796">
            <a:off x="5560395" y="3022749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25"/>
          <p:cNvSpPr/>
          <p:nvPr/>
        </p:nvSpPr>
        <p:spPr>
          <a:xfrm rot="7203796">
            <a:off x="6109302" y="3172381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25"/>
          <p:cNvSpPr/>
          <p:nvPr/>
        </p:nvSpPr>
        <p:spPr>
          <a:xfrm rot="7203796">
            <a:off x="6343419" y="3062159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25"/>
          <p:cNvSpPr/>
          <p:nvPr/>
        </p:nvSpPr>
        <p:spPr>
          <a:xfrm rot="7203796">
            <a:off x="3193847" y="3650466"/>
            <a:ext cx="147318" cy="147318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25"/>
          <p:cNvSpPr/>
          <p:nvPr/>
        </p:nvSpPr>
        <p:spPr>
          <a:xfrm rot="7203796">
            <a:off x="2839041" y="3740189"/>
            <a:ext cx="147318" cy="147318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25"/>
          <p:cNvSpPr/>
          <p:nvPr/>
        </p:nvSpPr>
        <p:spPr>
          <a:xfrm rot="7203796">
            <a:off x="3000172" y="4171365"/>
            <a:ext cx="147318" cy="147318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25"/>
          <p:cNvSpPr/>
          <p:nvPr/>
        </p:nvSpPr>
        <p:spPr>
          <a:xfrm rot="7203796">
            <a:off x="2822374" y="3997716"/>
            <a:ext cx="147318" cy="147318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25"/>
          <p:cNvSpPr/>
          <p:nvPr/>
        </p:nvSpPr>
        <p:spPr>
          <a:xfrm rot="7203796">
            <a:off x="2588595" y="3784749"/>
            <a:ext cx="147318" cy="147318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25"/>
          <p:cNvSpPr/>
          <p:nvPr/>
        </p:nvSpPr>
        <p:spPr>
          <a:xfrm rot="7203796">
            <a:off x="3137502" y="3934381"/>
            <a:ext cx="147318" cy="147318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25"/>
          <p:cNvSpPr txBox="1"/>
          <p:nvPr/>
        </p:nvSpPr>
        <p:spPr>
          <a:xfrm>
            <a:off x="7808475" y="1877400"/>
            <a:ext cx="1178100" cy="572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MALE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FEMALE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9" name="Google Shape;359;p25"/>
          <p:cNvSpPr/>
          <p:nvPr/>
        </p:nvSpPr>
        <p:spPr>
          <a:xfrm rot="7203796">
            <a:off x="7946194" y="1975359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25"/>
          <p:cNvSpPr/>
          <p:nvPr/>
        </p:nvSpPr>
        <p:spPr>
          <a:xfrm>
            <a:off x="7946200" y="2245200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25"/>
          <p:cNvSpPr/>
          <p:nvPr/>
        </p:nvSpPr>
        <p:spPr>
          <a:xfrm>
            <a:off x="4477750" y="3686300"/>
            <a:ext cx="147300" cy="147300"/>
          </a:xfrm>
          <a:prstGeom prst="ellipse">
            <a:avLst/>
          </a:prstGeom>
          <a:solidFill>
            <a:srgbClr val="E6913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62" name="Google Shape;362;p25"/>
          <p:cNvCxnSpPr>
            <a:stCxn id="361" idx="0"/>
            <a:endCxn id="330" idx="5"/>
          </p:cNvCxnSpPr>
          <p:nvPr/>
        </p:nvCxnSpPr>
        <p:spPr>
          <a:xfrm rot="10800000">
            <a:off x="4342900" y="3377600"/>
            <a:ext cx="208500" cy="308700"/>
          </a:xfrm>
          <a:prstGeom prst="straightConnector1">
            <a:avLst/>
          </a:prstGeom>
          <a:noFill/>
          <a:ln cap="flat" cmpd="sng" w="19050">
            <a:solidFill>
              <a:srgbClr val="F6B26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3" name="Google Shape;363;p25"/>
          <p:cNvCxnSpPr>
            <a:stCxn id="361" idx="1"/>
            <a:endCxn id="331" idx="5"/>
          </p:cNvCxnSpPr>
          <p:nvPr/>
        </p:nvCxnSpPr>
        <p:spPr>
          <a:xfrm rot="10800000">
            <a:off x="4281822" y="3618472"/>
            <a:ext cx="217500" cy="89400"/>
          </a:xfrm>
          <a:prstGeom prst="straightConnector1">
            <a:avLst/>
          </a:prstGeom>
          <a:noFill/>
          <a:ln cap="flat" cmpd="sng" w="19050">
            <a:solidFill>
              <a:srgbClr val="F6B26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4" name="Google Shape;364;p25"/>
          <p:cNvCxnSpPr>
            <a:stCxn id="361" idx="3"/>
            <a:endCxn id="332" idx="6"/>
          </p:cNvCxnSpPr>
          <p:nvPr/>
        </p:nvCxnSpPr>
        <p:spPr>
          <a:xfrm flipH="1">
            <a:off x="4236222" y="3812028"/>
            <a:ext cx="263100" cy="63300"/>
          </a:xfrm>
          <a:prstGeom prst="straightConnector1">
            <a:avLst/>
          </a:prstGeom>
          <a:noFill/>
          <a:ln cap="flat" cmpd="sng" w="19050">
            <a:solidFill>
              <a:srgbClr val="F6B26B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26"/>
          <p:cNvSpPr/>
          <p:nvPr/>
        </p:nvSpPr>
        <p:spPr>
          <a:xfrm>
            <a:off x="2239625" y="1847950"/>
            <a:ext cx="5006400" cy="2856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2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KNN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1" name="Google Shape;371;p26"/>
          <p:cNvSpPr txBox="1"/>
          <p:nvPr>
            <p:ph idx="1" type="body"/>
          </p:nvPr>
        </p:nvSpPr>
        <p:spPr>
          <a:xfrm>
            <a:off x="311700" y="1152475"/>
            <a:ext cx="8832300" cy="9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What about a less obvious point?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72" name="Google Shape;372;p2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73" name="Google Shape;373;p2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26"/>
          <p:cNvSpPr txBox="1"/>
          <p:nvPr/>
        </p:nvSpPr>
        <p:spPr>
          <a:xfrm>
            <a:off x="4076525" y="4704550"/>
            <a:ext cx="13326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WEIGHT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5" name="Google Shape;375;p26"/>
          <p:cNvSpPr txBox="1"/>
          <p:nvPr/>
        </p:nvSpPr>
        <p:spPr>
          <a:xfrm>
            <a:off x="864350" y="2913300"/>
            <a:ext cx="13326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HEIGHT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6" name="Google Shape;376;p26"/>
          <p:cNvSpPr/>
          <p:nvPr/>
        </p:nvSpPr>
        <p:spPr>
          <a:xfrm>
            <a:off x="3224700" y="409637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26"/>
          <p:cNvSpPr/>
          <p:nvPr/>
        </p:nvSpPr>
        <p:spPr>
          <a:xfrm>
            <a:off x="3583200" y="3686300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26"/>
          <p:cNvSpPr/>
          <p:nvPr/>
        </p:nvSpPr>
        <p:spPr>
          <a:xfrm>
            <a:off x="3669350" y="334542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26"/>
          <p:cNvSpPr/>
          <p:nvPr/>
        </p:nvSpPr>
        <p:spPr>
          <a:xfrm>
            <a:off x="3777575" y="394907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26"/>
          <p:cNvSpPr/>
          <p:nvPr/>
        </p:nvSpPr>
        <p:spPr>
          <a:xfrm>
            <a:off x="3282075" y="334542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26"/>
          <p:cNvSpPr/>
          <p:nvPr/>
        </p:nvSpPr>
        <p:spPr>
          <a:xfrm>
            <a:off x="3372000" y="375472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26"/>
          <p:cNvSpPr/>
          <p:nvPr/>
        </p:nvSpPr>
        <p:spPr>
          <a:xfrm>
            <a:off x="3924875" y="360742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26"/>
          <p:cNvSpPr/>
          <p:nvPr/>
        </p:nvSpPr>
        <p:spPr>
          <a:xfrm>
            <a:off x="4217150" y="325182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26"/>
          <p:cNvSpPr/>
          <p:nvPr/>
        </p:nvSpPr>
        <p:spPr>
          <a:xfrm>
            <a:off x="4156050" y="349272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26"/>
          <p:cNvSpPr/>
          <p:nvPr/>
        </p:nvSpPr>
        <p:spPr>
          <a:xfrm>
            <a:off x="4089000" y="380177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26"/>
          <p:cNvSpPr/>
          <p:nvPr/>
        </p:nvSpPr>
        <p:spPr>
          <a:xfrm>
            <a:off x="3943250" y="325182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26"/>
          <p:cNvSpPr/>
          <p:nvPr/>
        </p:nvSpPr>
        <p:spPr>
          <a:xfrm>
            <a:off x="3730500" y="310452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26"/>
          <p:cNvSpPr/>
          <p:nvPr/>
        </p:nvSpPr>
        <p:spPr>
          <a:xfrm>
            <a:off x="4987250" y="2712875"/>
            <a:ext cx="147300" cy="1473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26"/>
          <p:cNvSpPr/>
          <p:nvPr/>
        </p:nvSpPr>
        <p:spPr>
          <a:xfrm>
            <a:off x="5261825" y="3027250"/>
            <a:ext cx="147300" cy="1473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26"/>
          <p:cNvSpPr/>
          <p:nvPr/>
        </p:nvSpPr>
        <p:spPr>
          <a:xfrm>
            <a:off x="5261825" y="2818900"/>
            <a:ext cx="147300" cy="1473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26"/>
          <p:cNvSpPr/>
          <p:nvPr/>
        </p:nvSpPr>
        <p:spPr>
          <a:xfrm rot="6226896">
            <a:off x="5789533" y="2222242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26"/>
          <p:cNvSpPr/>
          <p:nvPr/>
        </p:nvSpPr>
        <p:spPr>
          <a:xfrm rot="6226896">
            <a:off x="5474169" y="2407936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26"/>
          <p:cNvSpPr/>
          <p:nvPr/>
        </p:nvSpPr>
        <p:spPr>
          <a:xfrm rot="6226896">
            <a:off x="5749834" y="2776562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26"/>
          <p:cNvSpPr/>
          <p:nvPr/>
        </p:nvSpPr>
        <p:spPr>
          <a:xfrm rot="6226896">
            <a:off x="5530447" y="2659790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26"/>
          <p:cNvSpPr/>
          <p:nvPr/>
        </p:nvSpPr>
        <p:spPr>
          <a:xfrm rot="6226896">
            <a:off x="5246294" y="2520993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26"/>
          <p:cNvSpPr/>
          <p:nvPr/>
        </p:nvSpPr>
        <p:spPr>
          <a:xfrm rot="6226896">
            <a:off x="5815134" y="2510560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26"/>
          <p:cNvSpPr/>
          <p:nvPr/>
        </p:nvSpPr>
        <p:spPr>
          <a:xfrm rot="6226896">
            <a:off x="6008908" y="2339062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26"/>
          <p:cNvSpPr/>
          <p:nvPr/>
        </p:nvSpPr>
        <p:spPr>
          <a:xfrm rot="7203796">
            <a:off x="6165647" y="2888466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26"/>
          <p:cNvSpPr/>
          <p:nvPr/>
        </p:nvSpPr>
        <p:spPr>
          <a:xfrm rot="7203796">
            <a:off x="5810841" y="2978189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26"/>
          <p:cNvSpPr/>
          <p:nvPr/>
        </p:nvSpPr>
        <p:spPr>
          <a:xfrm rot="7203796">
            <a:off x="5971972" y="3409365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26"/>
          <p:cNvSpPr/>
          <p:nvPr/>
        </p:nvSpPr>
        <p:spPr>
          <a:xfrm rot="7203796">
            <a:off x="5794174" y="3235716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26"/>
          <p:cNvSpPr/>
          <p:nvPr/>
        </p:nvSpPr>
        <p:spPr>
          <a:xfrm rot="7203796">
            <a:off x="5560395" y="3022749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26"/>
          <p:cNvSpPr/>
          <p:nvPr/>
        </p:nvSpPr>
        <p:spPr>
          <a:xfrm rot="7203796">
            <a:off x="6109302" y="3172381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26"/>
          <p:cNvSpPr/>
          <p:nvPr/>
        </p:nvSpPr>
        <p:spPr>
          <a:xfrm rot="7203796">
            <a:off x="6343419" y="3062159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26"/>
          <p:cNvSpPr/>
          <p:nvPr/>
        </p:nvSpPr>
        <p:spPr>
          <a:xfrm rot="7203796">
            <a:off x="3193847" y="3650466"/>
            <a:ext cx="147318" cy="147318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26"/>
          <p:cNvSpPr/>
          <p:nvPr/>
        </p:nvSpPr>
        <p:spPr>
          <a:xfrm rot="7203796">
            <a:off x="2839041" y="3740189"/>
            <a:ext cx="147318" cy="147318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26"/>
          <p:cNvSpPr/>
          <p:nvPr/>
        </p:nvSpPr>
        <p:spPr>
          <a:xfrm rot="7203796">
            <a:off x="3000172" y="4171365"/>
            <a:ext cx="147318" cy="147318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26"/>
          <p:cNvSpPr/>
          <p:nvPr/>
        </p:nvSpPr>
        <p:spPr>
          <a:xfrm rot="7203796">
            <a:off x="2822374" y="3997716"/>
            <a:ext cx="147318" cy="147318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26"/>
          <p:cNvSpPr/>
          <p:nvPr/>
        </p:nvSpPr>
        <p:spPr>
          <a:xfrm rot="7203796">
            <a:off x="2588595" y="3784749"/>
            <a:ext cx="147318" cy="147318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26"/>
          <p:cNvSpPr/>
          <p:nvPr/>
        </p:nvSpPr>
        <p:spPr>
          <a:xfrm rot="7203796">
            <a:off x="3137502" y="3934381"/>
            <a:ext cx="147318" cy="147318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26"/>
          <p:cNvSpPr txBox="1"/>
          <p:nvPr/>
        </p:nvSpPr>
        <p:spPr>
          <a:xfrm>
            <a:off x="7808475" y="1877400"/>
            <a:ext cx="1178100" cy="572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MALE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FEMALE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2" name="Google Shape;412;p26"/>
          <p:cNvSpPr/>
          <p:nvPr/>
        </p:nvSpPr>
        <p:spPr>
          <a:xfrm rot="7203796">
            <a:off x="7946194" y="1975359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26"/>
          <p:cNvSpPr/>
          <p:nvPr/>
        </p:nvSpPr>
        <p:spPr>
          <a:xfrm>
            <a:off x="7946200" y="2245200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26"/>
          <p:cNvSpPr/>
          <p:nvPr/>
        </p:nvSpPr>
        <p:spPr>
          <a:xfrm>
            <a:off x="4703800" y="3104525"/>
            <a:ext cx="147300" cy="147300"/>
          </a:xfrm>
          <a:prstGeom prst="ellipse">
            <a:avLst/>
          </a:prstGeom>
          <a:solidFill>
            <a:srgbClr val="E6913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26"/>
          <p:cNvSpPr/>
          <p:nvPr/>
        </p:nvSpPr>
        <p:spPr>
          <a:xfrm rot="4028107">
            <a:off x="4347830" y="2776472"/>
            <a:ext cx="507258" cy="147486"/>
          </a:xfrm>
          <a:prstGeom prst="rightArrow">
            <a:avLst>
              <a:gd fmla="val 45895" name="adj1"/>
              <a:gd fmla="val 50000" name="adj2"/>
            </a:avLst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27"/>
          <p:cNvSpPr/>
          <p:nvPr/>
        </p:nvSpPr>
        <p:spPr>
          <a:xfrm>
            <a:off x="2239625" y="1847950"/>
            <a:ext cx="5006400" cy="2856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2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KNN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2" name="Google Shape;422;p27"/>
          <p:cNvSpPr txBox="1"/>
          <p:nvPr>
            <p:ph idx="1" type="body"/>
          </p:nvPr>
        </p:nvSpPr>
        <p:spPr>
          <a:xfrm>
            <a:off x="311700" y="1152475"/>
            <a:ext cx="8832300" cy="9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How many points to we consider?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23" name="Google Shape;423;p2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24" name="Google Shape;424;p2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27"/>
          <p:cNvSpPr txBox="1"/>
          <p:nvPr/>
        </p:nvSpPr>
        <p:spPr>
          <a:xfrm>
            <a:off x="4076525" y="4704550"/>
            <a:ext cx="13326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WEIGHT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6" name="Google Shape;426;p27"/>
          <p:cNvSpPr txBox="1"/>
          <p:nvPr/>
        </p:nvSpPr>
        <p:spPr>
          <a:xfrm>
            <a:off x="864350" y="2913300"/>
            <a:ext cx="13326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HEIGHT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7" name="Google Shape;427;p27"/>
          <p:cNvSpPr/>
          <p:nvPr/>
        </p:nvSpPr>
        <p:spPr>
          <a:xfrm>
            <a:off x="3224700" y="409637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27"/>
          <p:cNvSpPr/>
          <p:nvPr/>
        </p:nvSpPr>
        <p:spPr>
          <a:xfrm>
            <a:off x="3583200" y="3686300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27"/>
          <p:cNvSpPr/>
          <p:nvPr/>
        </p:nvSpPr>
        <p:spPr>
          <a:xfrm>
            <a:off x="3669350" y="334542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27"/>
          <p:cNvSpPr/>
          <p:nvPr/>
        </p:nvSpPr>
        <p:spPr>
          <a:xfrm>
            <a:off x="3777575" y="394907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27"/>
          <p:cNvSpPr/>
          <p:nvPr/>
        </p:nvSpPr>
        <p:spPr>
          <a:xfrm>
            <a:off x="3282075" y="334542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27"/>
          <p:cNvSpPr/>
          <p:nvPr/>
        </p:nvSpPr>
        <p:spPr>
          <a:xfrm>
            <a:off x="3372000" y="375472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27"/>
          <p:cNvSpPr/>
          <p:nvPr/>
        </p:nvSpPr>
        <p:spPr>
          <a:xfrm>
            <a:off x="3924875" y="360742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27"/>
          <p:cNvSpPr/>
          <p:nvPr/>
        </p:nvSpPr>
        <p:spPr>
          <a:xfrm>
            <a:off x="4217150" y="325182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27"/>
          <p:cNvSpPr/>
          <p:nvPr/>
        </p:nvSpPr>
        <p:spPr>
          <a:xfrm>
            <a:off x="4156050" y="349272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27"/>
          <p:cNvSpPr/>
          <p:nvPr/>
        </p:nvSpPr>
        <p:spPr>
          <a:xfrm>
            <a:off x="4089000" y="380177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27"/>
          <p:cNvSpPr/>
          <p:nvPr/>
        </p:nvSpPr>
        <p:spPr>
          <a:xfrm>
            <a:off x="3943250" y="325182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27"/>
          <p:cNvSpPr/>
          <p:nvPr/>
        </p:nvSpPr>
        <p:spPr>
          <a:xfrm>
            <a:off x="3730500" y="310452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27"/>
          <p:cNvSpPr/>
          <p:nvPr/>
        </p:nvSpPr>
        <p:spPr>
          <a:xfrm>
            <a:off x="4987250" y="2712875"/>
            <a:ext cx="147300" cy="1473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27"/>
          <p:cNvSpPr/>
          <p:nvPr/>
        </p:nvSpPr>
        <p:spPr>
          <a:xfrm>
            <a:off x="5261825" y="3027250"/>
            <a:ext cx="147300" cy="1473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27"/>
          <p:cNvSpPr/>
          <p:nvPr/>
        </p:nvSpPr>
        <p:spPr>
          <a:xfrm>
            <a:off x="5261825" y="2818900"/>
            <a:ext cx="147300" cy="1473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27"/>
          <p:cNvSpPr/>
          <p:nvPr/>
        </p:nvSpPr>
        <p:spPr>
          <a:xfrm rot="6226896">
            <a:off x="5789533" y="2222242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27"/>
          <p:cNvSpPr/>
          <p:nvPr/>
        </p:nvSpPr>
        <p:spPr>
          <a:xfrm rot="6226896">
            <a:off x="5474169" y="2407936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27"/>
          <p:cNvSpPr/>
          <p:nvPr/>
        </p:nvSpPr>
        <p:spPr>
          <a:xfrm rot="6226896">
            <a:off x="5749834" y="2776562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27"/>
          <p:cNvSpPr/>
          <p:nvPr/>
        </p:nvSpPr>
        <p:spPr>
          <a:xfrm rot="6226896">
            <a:off x="5530447" y="2659790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27"/>
          <p:cNvSpPr/>
          <p:nvPr/>
        </p:nvSpPr>
        <p:spPr>
          <a:xfrm rot="6226896">
            <a:off x="5246294" y="2520993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27"/>
          <p:cNvSpPr/>
          <p:nvPr/>
        </p:nvSpPr>
        <p:spPr>
          <a:xfrm rot="6226896">
            <a:off x="5815134" y="2510560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27"/>
          <p:cNvSpPr/>
          <p:nvPr/>
        </p:nvSpPr>
        <p:spPr>
          <a:xfrm rot="6226896">
            <a:off x="6008908" y="2339062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27"/>
          <p:cNvSpPr/>
          <p:nvPr/>
        </p:nvSpPr>
        <p:spPr>
          <a:xfrm rot="7203796">
            <a:off x="6165647" y="2888466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27"/>
          <p:cNvSpPr/>
          <p:nvPr/>
        </p:nvSpPr>
        <p:spPr>
          <a:xfrm rot="7203796">
            <a:off x="5810841" y="2978189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27"/>
          <p:cNvSpPr/>
          <p:nvPr/>
        </p:nvSpPr>
        <p:spPr>
          <a:xfrm rot="7203796">
            <a:off x="5971972" y="3409365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27"/>
          <p:cNvSpPr/>
          <p:nvPr/>
        </p:nvSpPr>
        <p:spPr>
          <a:xfrm rot="7203796">
            <a:off x="5794174" y="3235716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27"/>
          <p:cNvSpPr/>
          <p:nvPr/>
        </p:nvSpPr>
        <p:spPr>
          <a:xfrm rot="7203796">
            <a:off x="5560395" y="3022749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27"/>
          <p:cNvSpPr/>
          <p:nvPr/>
        </p:nvSpPr>
        <p:spPr>
          <a:xfrm rot="7203796">
            <a:off x="6109302" y="3172381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27"/>
          <p:cNvSpPr/>
          <p:nvPr/>
        </p:nvSpPr>
        <p:spPr>
          <a:xfrm rot="7203796">
            <a:off x="6343419" y="3062159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27"/>
          <p:cNvSpPr/>
          <p:nvPr/>
        </p:nvSpPr>
        <p:spPr>
          <a:xfrm rot="7203796">
            <a:off x="3193847" y="3650466"/>
            <a:ext cx="147318" cy="147318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27"/>
          <p:cNvSpPr/>
          <p:nvPr/>
        </p:nvSpPr>
        <p:spPr>
          <a:xfrm rot="7203796">
            <a:off x="2839041" y="3740189"/>
            <a:ext cx="147318" cy="147318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27"/>
          <p:cNvSpPr/>
          <p:nvPr/>
        </p:nvSpPr>
        <p:spPr>
          <a:xfrm rot="7203796">
            <a:off x="3000172" y="4171365"/>
            <a:ext cx="147318" cy="147318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27"/>
          <p:cNvSpPr/>
          <p:nvPr/>
        </p:nvSpPr>
        <p:spPr>
          <a:xfrm rot="7203796">
            <a:off x="2822374" y="3997716"/>
            <a:ext cx="147318" cy="147318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27"/>
          <p:cNvSpPr/>
          <p:nvPr/>
        </p:nvSpPr>
        <p:spPr>
          <a:xfrm rot="7203796">
            <a:off x="2588595" y="3784749"/>
            <a:ext cx="147318" cy="147318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27"/>
          <p:cNvSpPr/>
          <p:nvPr/>
        </p:nvSpPr>
        <p:spPr>
          <a:xfrm rot="7203796">
            <a:off x="3137502" y="3934381"/>
            <a:ext cx="147318" cy="147318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27"/>
          <p:cNvSpPr txBox="1"/>
          <p:nvPr/>
        </p:nvSpPr>
        <p:spPr>
          <a:xfrm>
            <a:off x="7808475" y="1877400"/>
            <a:ext cx="1178100" cy="572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MALE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FEMALE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3" name="Google Shape;463;p27"/>
          <p:cNvSpPr/>
          <p:nvPr/>
        </p:nvSpPr>
        <p:spPr>
          <a:xfrm rot="7203796">
            <a:off x="7946194" y="1975359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27"/>
          <p:cNvSpPr/>
          <p:nvPr/>
        </p:nvSpPr>
        <p:spPr>
          <a:xfrm>
            <a:off x="7946200" y="2245200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27"/>
          <p:cNvSpPr/>
          <p:nvPr/>
        </p:nvSpPr>
        <p:spPr>
          <a:xfrm>
            <a:off x="4703800" y="3104525"/>
            <a:ext cx="147300" cy="147300"/>
          </a:xfrm>
          <a:prstGeom prst="ellipse">
            <a:avLst/>
          </a:prstGeom>
          <a:solidFill>
            <a:srgbClr val="E6913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27"/>
          <p:cNvSpPr/>
          <p:nvPr/>
        </p:nvSpPr>
        <p:spPr>
          <a:xfrm rot="4028107">
            <a:off x="4347830" y="2776472"/>
            <a:ext cx="507258" cy="147486"/>
          </a:xfrm>
          <a:prstGeom prst="rightArrow">
            <a:avLst>
              <a:gd fmla="val 45895" name="adj1"/>
              <a:gd fmla="val 50000" name="adj2"/>
            </a:avLst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KNN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2" name="Google Shape;472;p28"/>
          <p:cNvSpPr txBox="1"/>
          <p:nvPr>
            <p:ph idx="1" type="body"/>
          </p:nvPr>
        </p:nvSpPr>
        <p:spPr>
          <a:xfrm>
            <a:off x="311700" y="1152475"/>
            <a:ext cx="8832300" cy="9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imagine a situation like this: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73" name="Google Shape;473;p2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74" name="Google Shape;474;p2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28"/>
          <p:cNvSpPr/>
          <p:nvPr/>
        </p:nvSpPr>
        <p:spPr>
          <a:xfrm>
            <a:off x="3027875" y="3789100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28"/>
          <p:cNvSpPr/>
          <p:nvPr/>
        </p:nvSpPr>
        <p:spPr>
          <a:xfrm>
            <a:off x="3846125" y="335997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28"/>
          <p:cNvSpPr/>
          <p:nvPr/>
        </p:nvSpPr>
        <p:spPr>
          <a:xfrm>
            <a:off x="4069850" y="350727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28"/>
          <p:cNvSpPr/>
          <p:nvPr/>
        </p:nvSpPr>
        <p:spPr>
          <a:xfrm>
            <a:off x="4987250" y="2712875"/>
            <a:ext cx="147300" cy="1473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28"/>
          <p:cNvSpPr/>
          <p:nvPr/>
        </p:nvSpPr>
        <p:spPr>
          <a:xfrm>
            <a:off x="5261825" y="3027250"/>
            <a:ext cx="147300" cy="1473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28"/>
          <p:cNvSpPr/>
          <p:nvPr/>
        </p:nvSpPr>
        <p:spPr>
          <a:xfrm>
            <a:off x="4987250" y="2958775"/>
            <a:ext cx="147300" cy="1473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28"/>
          <p:cNvSpPr/>
          <p:nvPr/>
        </p:nvSpPr>
        <p:spPr>
          <a:xfrm rot="6226896">
            <a:off x="5474169" y="2407936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28"/>
          <p:cNvSpPr/>
          <p:nvPr/>
        </p:nvSpPr>
        <p:spPr>
          <a:xfrm rot="6226896">
            <a:off x="5530447" y="2659790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28"/>
          <p:cNvSpPr/>
          <p:nvPr/>
        </p:nvSpPr>
        <p:spPr>
          <a:xfrm rot="6226896">
            <a:off x="5246294" y="2520993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28"/>
          <p:cNvSpPr txBox="1"/>
          <p:nvPr/>
        </p:nvSpPr>
        <p:spPr>
          <a:xfrm>
            <a:off x="7808475" y="1877400"/>
            <a:ext cx="1178100" cy="572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MALE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FEMALE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5" name="Google Shape;485;p28"/>
          <p:cNvSpPr/>
          <p:nvPr/>
        </p:nvSpPr>
        <p:spPr>
          <a:xfrm rot="7203796">
            <a:off x="7946194" y="1975359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28"/>
          <p:cNvSpPr/>
          <p:nvPr/>
        </p:nvSpPr>
        <p:spPr>
          <a:xfrm>
            <a:off x="7946200" y="2245200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28"/>
          <p:cNvSpPr/>
          <p:nvPr/>
        </p:nvSpPr>
        <p:spPr>
          <a:xfrm>
            <a:off x="4437250" y="3239750"/>
            <a:ext cx="147300" cy="147300"/>
          </a:xfrm>
          <a:prstGeom prst="ellipse">
            <a:avLst/>
          </a:prstGeom>
          <a:solidFill>
            <a:srgbClr val="E6913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28"/>
          <p:cNvSpPr/>
          <p:nvPr/>
        </p:nvSpPr>
        <p:spPr>
          <a:xfrm>
            <a:off x="2239625" y="1847950"/>
            <a:ext cx="5006400" cy="2856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28"/>
          <p:cNvSpPr txBox="1"/>
          <p:nvPr/>
        </p:nvSpPr>
        <p:spPr>
          <a:xfrm>
            <a:off x="4076525" y="4704550"/>
            <a:ext cx="13326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WEIGHT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0" name="Google Shape;490;p28"/>
          <p:cNvSpPr txBox="1"/>
          <p:nvPr/>
        </p:nvSpPr>
        <p:spPr>
          <a:xfrm>
            <a:off x="864350" y="2913300"/>
            <a:ext cx="13326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HEIGHT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29"/>
          <p:cNvSpPr/>
          <p:nvPr/>
        </p:nvSpPr>
        <p:spPr>
          <a:xfrm>
            <a:off x="2239625" y="1847950"/>
            <a:ext cx="5006400" cy="2856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2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KNN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7" name="Google Shape;497;p29"/>
          <p:cNvSpPr txBox="1"/>
          <p:nvPr>
            <p:ph idx="1" type="body"/>
          </p:nvPr>
        </p:nvSpPr>
        <p:spPr>
          <a:xfrm>
            <a:off x="311700" y="1152475"/>
            <a:ext cx="8832300" cy="9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K=1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98" name="Google Shape;498;p2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99" name="Google Shape;499;p2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29"/>
          <p:cNvSpPr/>
          <p:nvPr/>
        </p:nvSpPr>
        <p:spPr>
          <a:xfrm>
            <a:off x="3027875" y="3789100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29"/>
          <p:cNvSpPr/>
          <p:nvPr/>
        </p:nvSpPr>
        <p:spPr>
          <a:xfrm>
            <a:off x="3846125" y="335997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29"/>
          <p:cNvSpPr/>
          <p:nvPr/>
        </p:nvSpPr>
        <p:spPr>
          <a:xfrm>
            <a:off x="4069850" y="350727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29"/>
          <p:cNvSpPr/>
          <p:nvPr/>
        </p:nvSpPr>
        <p:spPr>
          <a:xfrm>
            <a:off x="4987250" y="2712875"/>
            <a:ext cx="147300" cy="1473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29"/>
          <p:cNvSpPr/>
          <p:nvPr/>
        </p:nvSpPr>
        <p:spPr>
          <a:xfrm>
            <a:off x="5261825" y="3027250"/>
            <a:ext cx="147300" cy="1473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29"/>
          <p:cNvSpPr/>
          <p:nvPr/>
        </p:nvSpPr>
        <p:spPr>
          <a:xfrm>
            <a:off x="4987250" y="2958775"/>
            <a:ext cx="147300" cy="1473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29"/>
          <p:cNvSpPr/>
          <p:nvPr/>
        </p:nvSpPr>
        <p:spPr>
          <a:xfrm rot="6226896">
            <a:off x="5474169" y="2407936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29"/>
          <p:cNvSpPr/>
          <p:nvPr/>
        </p:nvSpPr>
        <p:spPr>
          <a:xfrm rot="6226896">
            <a:off x="5530447" y="2659790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29"/>
          <p:cNvSpPr/>
          <p:nvPr/>
        </p:nvSpPr>
        <p:spPr>
          <a:xfrm rot="6226896">
            <a:off x="5246294" y="2520993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29"/>
          <p:cNvSpPr txBox="1"/>
          <p:nvPr/>
        </p:nvSpPr>
        <p:spPr>
          <a:xfrm>
            <a:off x="7808475" y="1877400"/>
            <a:ext cx="1178100" cy="572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MALE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FEMALE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0" name="Google Shape;510;p29"/>
          <p:cNvSpPr/>
          <p:nvPr/>
        </p:nvSpPr>
        <p:spPr>
          <a:xfrm rot="7203796">
            <a:off x="7946194" y="1975359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29"/>
          <p:cNvSpPr/>
          <p:nvPr/>
        </p:nvSpPr>
        <p:spPr>
          <a:xfrm>
            <a:off x="7946200" y="2245200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29"/>
          <p:cNvSpPr/>
          <p:nvPr/>
        </p:nvSpPr>
        <p:spPr>
          <a:xfrm>
            <a:off x="4437250" y="3239750"/>
            <a:ext cx="147300" cy="147300"/>
          </a:xfrm>
          <a:prstGeom prst="ellipse">
            <a:avLst/>
          </a:prstGeom>
          <a:solidFill>
            <a:srgbClr val="E6913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29"/>
          <p:cNvSpPr txBox="1"/>
          <p:nvPr/>
        </p:nvSpPr>
        <p:spPr>
          <a:xfrm>
            <a:off x="4076525" y="4704550"/>
            <a:ext cx="13326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WEIGHT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4" name="Google Shape;514;p29"/>
          <p:cNvSpPr txBox="1"/>
          <p:nvPr/>
        </p:nvSpPr>
        <p:spPr>
          <a:xfrm>
            <a:off x="864350" y="2913300"/>
            <a:ext cx="13326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HEIGHT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15" name="Google Shape;515;p29"/>
          <p:cNvCxnSpPr>
            <a:stCxn id="512" idx="3"/>
            <a:endCxn id="502" idx="7"/>
          </p:cNvCxnSpPr>
          <p:nvPr/>
        </p:nvCxnSpPr>
        <p:spPr>
          <a:xfrm flipH="1">
            <a:off x="4195722" y="3365478"/>
            <a:ext cx="263100" cy="163500"/>
          </a:xfrm>
          <a:prstGeom prst="straightConnector1">
            <a:avLst/>
          </a:prstGeom>
          <a:noFill/>
          <a:ln cap="flat" cmpd="sng" w="19050">
            <a:solidFill>
              <a:srgbClr val="F6B26B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30"/>
          <p:cNvSpPr/>
          <p:nvPr/>
        </p:nvSpPr>
        <p:spPr>
          <a:xfrm>
            <a:off x="2239625" y="1847950"/>
            <a:ext cx="5006400" cy="2856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3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KNN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2" name="Google Shape;522;p30"/>
          <p:cNvSpPr txBox="1"/>
          <p:nvPr>
            <p:ph idx="1" type="body"/>
          </p:nvPr>
        </p:nvSpPr>
        <p:spPr>
          <a:xfrm>
            <a:off x="311700" y="1152475"/>
            <a:ext cx="8832300" cy="9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K=1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23" name="Google Shape;523;p3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24" name="Google Shape;524;p3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525" name="Google Shape;525;p30"/>
          <p:cNvSpPr/>
          <p:nvPr/>
        </p:nvSpPr>
        <p:spPr>
          <a:xfrm>
            <a:off x="3027875" y="3789100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30"/>
          <p:cNvSpPr/>
          <p:nvPr/>
        </p:nvSpPr>
        <p:spPr>
          <a:xfrm>
            <a:off x="3846125" y="335997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30"/>
          <p:cNvSpPr/>
          <p:nvPr/>
        </p:nvSpPr>
        <p:spPr>
          <a:xfrm>
            <a:off x="4069850" y="350727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30"/>
          <p:cNvSpPr/>
          <p:nvPr/>
        </p:nvSpPr>
        <p:spPr>
          <a:xfrm>
            <a:off x="4987250" y="2712875"/>
            <a:ext cx="147300" cy="1473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30"/>
          <p:cNvSpPr/>
          <p:nvPr/>
        </p:nvSpPr>
        <p:spPr>
          <a:xfrm>
            <a:off x="5261825" y="3027250"/>
            <a:ext cx="147300" cy="1473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30"/>
          <p:cNvSpPr/>
          <p:nvPr/>
        </p:nvSpPr>
        <p:spPr>
          <a:xfrm>
            <a:off x="4987250" y="2958775"/>
            <a:ext cx="147300" cy="1473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30"/>
          <p:cNvSpPr/>
          <p:nvPr/>
        </p:nvSpPr>
        <p:spPr>
          <a:xfrm rot="6226896">
            <a:off x="5474169" y="2407936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30"/>
          <p:cNvSpPr/>
          <p:nvPr/>
        </p:nvSpPr>
        <p:spPr>
          <a:xfrm rot="6226896">
            <a:off x="5530447" y="2659790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30"/>
          <p:cNvSpPr/>
          <p:nvPr/>
        </p:nvSpPr>
        <p:spPr>
          <a:xfrm rot="6226896">
            <a:off x="5246294" y="2520993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30"/>
          <p:cNvSpPr txBox="1"/>
          <p:nvPr/>
        </p:nvSpPr>
        <p:spPr>
          <a:xfrm>
            <a:off x="7808475" y="1877400"/>
            <a:ext cx="1178100" cy="572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MALE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FEMALE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5" name="Google Shape;535;p30"/>
          <p:cNvSpPr/>
          <p:nvPr/>
        </p:nvSpPr>
        <p:spPr>
          <a:xfrm rot="7203796">
            <a:off x="7946194" y="1975359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30"/>
          <p:cNvSpPr/>
          <p:nvPr/>
        </p:nvSpPr>
        <p:spPr>
          <a:xfrm>
            <a:off x="7946200" y="2245200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30"/>
          <p:cNvSpPr/>
          <p:nvPr/>
        </p:nvSpPr>
        <p:spPr>
          <a:xfrm>
            <a:off x="4437250" y="3239750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30"/>
          <p:cNvSpPr txBox="1"/>
          <p:nvPr/>
        </p:nvSpPr>
        <p:spPr>
          <a:xfrm>
            <a:off x="4076525" y="4704550"/>
            <a:ext cx="13326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WEIGHT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9" name="Google Shape;539;p30"/>
          <p:cNvSpPr txBox="1"/>
          <p:nvPr/>
        </p:nvSpPr>
        <p:spPr>
          <a:xfrm>
            <a:off x="864350" y="2913300"/>
            <a:ext cx="13326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HEIGHT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40" name="Google Shape;540;p30"/>
          <p:cNvCxnSpPr>
            <a:stCxn id="537" idx="3"/>
            <a:endCxn id="527" idx="7"/>
          </p:cNvCxnSpPr>
          <p:nvPr/>
        </p:nvCxnSpPr>
        <p:spPr>
          <a:xfrm flipH="1">
            <a:off x="4195722" y="3365478"/>
            <a:ext cx="263100" cy="163500"/>
          </a:xfrm>
          <a:prstGeom prst="straightConnector1">
            <a:avLst/>
          </a:prstGeom>
          <a:noFill/>
          <a:ln cap="flat" cmpd="sng" w="19050">
            <a:solidFill>
              <a:srgbClr val="F6B26B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31"/>
          <p:cNvSpPr/>
          <p:nvPr/>
        </p:nvSpPr>
        <p:spPr>
          <a:xfrm>
            <a:off x="2239625" y="1847950"/>
            <a:ext cx="5006400" cy="2856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3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KNN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7" name="Google Shape;547;p31"/>
          <p:cNvSpPr txBox="1"/>
          <p:nvPr>
            <p:ph idx="1" type="body"/>
          </p:nvPr>
        </p:nvSpPr>
        <p:spPr>
          <a:xfrm>
            <a:off x="311700" y="1152475"/>
            <a:ext cx="8832300" cy="9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K=2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48" name="Google Shape;548;p3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49" name="Google Shape;549;p3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31"/>
          <p:cNvSpPr/>
          <p:nvPr/>
        </p:nvSpPr>
        <p:spPr>
          <a:xfrm>
            <a:off x="3027875" y="3789100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31"/>
          <p:cNvSpPr/>
          <p:nvPr/>
        </p:nvSpPr>
        <p:spPr>
          <a:xfrm>
            <a:off x="3846125" y="335997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31"/>
          <p:cNvSpPr/>
          <p:nvPr/>
        </p:nvSpPr>
        <p:spPr>
          <a:xfrm>
            <a:off x="4069850" y="350727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31"/>
          <p:cNvSpPr/>
          <p:nvPr/>
        </p:nvSpPr>
        <p:spPr>
          <a:xfrm>
            <a:off x="4987250" y="2712875"/>
            <a:ext cx="147300" cy="1473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31"/>
          <p:cNvSpPr/>
          <p:nvPr/>
        </p:nvSpPr>
        <p:spPr>
          <a:xfrm>
            <a:off x="5261825" y="3027250"/>
            <a:ext cx="147300" cy="1473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31"/>
          <p:cNvSpPr/>
          <p:nvPr/>
        </p:nvSpPr>
        <p:spPr>
          <a:xfrm>
            <a:off x="4987250" y="2958775"/>
            <a:ext cx="147300" cy="1473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31"/>
          <p:cNvSpPr/>
          <p:nvPr/>
        </p:nvSpPr>
        <p:spPr>
          <a:xfrm rot="6226896">
            <a:off x="5474169" y="2407936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31"/>
          <p:cNvSpPr/>
          <p:nvPr/>
        </p:nvSpPr>
        <p:spPr>
          <a:xfrm rot="6226896">
            <a:off x="5530447" y="2659790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31"/>
          <p:cNvSpPr/>
          <p:nvPr/>
        </p:nvSpPr>
        <p:spPr>
          <a:xfrm rot="6226896">
            <a:off x="5246294" y="2520993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31"/>
          <p:cNvSpPr txBox="1"/>
          <p:nvPr/>
        </p:nvSpPr>
        <p:spPr>
          <a:xfrm>
            <a:off x="7808475" y="1877400"/>
            <a:ext cx="1178100" cy="572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MALE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FEMALE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0" name="Google Shape;560;p31"/>
          <p:cNvSpPr/>
          <p:nvPr/>
        </p:nvSpPr>
        <p:spPr>
          <a:xfrm rot="7203796">
            <a:off x="7946194" y="1975359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31"/>
          <p:cNvSpPr/>
          <p:nvPr/>
        </p:nvSpPr>
        <p:spPr>
          <a:xfrm>
            <a:off x="7946200" y="2245200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31"/>
          <p:cNvSpPr/>
          <p:nvPr/>
        </p:nvSpPr>
        <p:spPr>
          <a:xfrm>
            <a:off x="4437250" y="3239750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31"/>
          <p:cNvSpPr txBox="1"/>
          <p:nvPr/>
        </p:nvSpPr>
        <p:spPr>
          <a:xfrm>
            <a:off x="4076525" y="4704550"/>
            <a:ext cx="13326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WEIGHT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4" name="Google Shape;564;p31"/>
          <p:cNvSpPr txBox="1"/>
          <p:nvPr/>
        </p:nvSpPr>
        <p:spPr>
          <a:xfrm>
            <a:off x="864350" y="2913300"/>
            <a:ext cx="13326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HEIGHT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65" name="Google Shape;565;p31"/>
          <p:cNvCxnSpPr>
            <a:stCxn id="562" idx="3"/>
            <a:endCxn id="552" idx="7"/>
          </p:cNvCxnSpPr>
          <p:nvPr/>
        </p:nvCxnSpPr>
        <p:spPr>
          <a:xfrm flipH="1">
            <a:off x="4195722" y="3365478"/>
            <a:ext cx="263100" cy="163500"/>
          </a:xfrm>
          <a:prstGeom prst="straightConnector1">
            <a:avLst/>
          </a:prstGeom>
          <a:noFill/>
          <a:ln cap="flat" cmpd="sng" w="19050">
            <a:solidFill>
              <a:srgbClr val="F6B26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6" name="Google Shape;566;p31"/>
          <p:cNvCxnSpPr>
            <a:stCxn id="562" idx="2"/>
            <a:endCxn id="551" idx="6"/>
          </p:cNvCxnSpPr>
          <p:nvPr/>
        </p:nvCxnSpPr>
        <p:spPr>
          <a:xfrm flipH="1">
            <a:off x="3993550" y="3313400"/>
            <a:ext cx="443700" cy="120300"/>
          </a:xfrm>
          <a:prstGeom prst="straightConnector1">
            <a:avLst/>
          </a:prstGeom>
          <a:noFill/>
          <a:ln cap="flat" cmpd="sng" w="19050">
            <a:solidFill>
              <a:srgbClr val="F6B26B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32"/>
          <p:cNvSpPr/>
          <p:nvPr/>
        </p:nvSpPr>
        <p:spPr>
          <a:xfrm>
            <a:off x="2239625" y="1847950"/>
            <a:ext cx="5006400" cy="2856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3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KNN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3" name="Google Shape;573;p32"/>
          <p:cNvSpPr txBox="1"/>
          <p:nvPr>
            <p:ph idx="1" type="body"/>
          </p:nvPr>
        </p:nvSpPr>
        <p:spPr>
          <a:xfrm>
            <a:off x="311700" y="1152475"/>
            <a:ext cx="8832300" cy="9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K=3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74" name="Google Shape;574;p3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75" name="Google Shape;575;p3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576" name="Google Shape;576;p32"/>
          <p:cNvSpPr/>
          <p:nvPr/>
        </p:nvSpPr>
        <p:spPr>
          <a:xfrm>
            <a:off x="3027875" y="3789100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32"/>
          <p:cNvSpPr/>
          <p:nvPr/>
        </p:nvSpPr>
        <p:spPr>
          <a:xfrm>
            <a:off x="3846125" y="335997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32"/>
          <p:cNvSpPr/>
          <p:nvPr/>
        </p:nvSpPr>
        <p:spPr>
          <a:xfrm>
            <a:off x="4069850" y="350727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32"/>
          <p:cNvSpPr/>
          <p:nvPr/>
        </p:nvSpPr>
        <p:spPr>
          <a:xfrm>
            <a:off x="4987250" y="2712875"/>
            <a:ext cx="147300" cy="1473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32"/>
          <p:cNvSpPr/>
          <p:nvPr/>
        </p:nvSpPr>
        <p:spPr>
          <a:xfrm>
            <a:off x="5261825" y="3027250"/>
            <a:ext cx="147300" cy="1473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32"/>
          <p:cNvSpPr/>
          <p:nvPr/>
        </p:nvSpPr>
        <p:spPr>
          <a:xfrm>
            <a:off x="4987250" y="2958775"/>
            <a:ext cx="147300" cy="1473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32"/>
          <p:cNvSpPr/>
          <p:nvPr/>
        </p:nvSpPr>
        <p:spPr>
          <a:xfrm rot="6226896">
            <a:off x="5474169" y="2407936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32"/>
          <p:cNvSpPr/>
          <p:nvPr/>
        </p:nvSpPr>
        <p:spPr>
          <a:xfrm rot="6226896">
            <a:off x="5530447" y="2659790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32"/>
          <p:cNvSpPr/>
          <p:nvPr/>
        </p:nvSpPr>
        <p:spPr>
          <a:xfrm rot="6226896">
            <a:off x="5246294" y="2520993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32"/>
          <p:cNvSpPr txBox="1"/>
          <p:nvPr/>
        </p:nvSpPr>
        <p:spPr>
          <a:xfrm>
            <a:off x="7808475" y="1877400"/>
            <a:ext cx="1178100" cy="572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MALE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FEMALE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6" name="Google Shape;586;p32"/>
          <p:cNvSpPr/>
          <p:nvPr/>
        </p:nvSpPr>
        <p:spPr>
          <a:xfrm rot="7203796">
            <a:off x="7946194" y="1975359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32"/>
          <p:cNvSpPr/>
          <p:nvPr/>
        </p:nvSpPr>
        <p:spPr>
          <a:xfrm>
            <a:off x="7946200" y="2245200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32"/>
          <p:cNvSpPr/>
          <p:nvPr/>
        </p:nvSpPr>
        <p:spPr>
          <a:xfrm>
            <a:off x="4437250" y="3239750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32"/>
          <p:cNvSpPr txBox="1"/>
          <p:nvPr/>
        </p:nvSpPr>
        <p:spPr>
          <a:xfrm>
            <a:off x="4076525" y="4704550"/>
            <a:ext cx="13326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WEIGHT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0" name="Google Shape;590;p32"/>
          <p:cNvSpPr txBox="1"/>
          <p:nvPr/>
        </p:nvSpPr>
        <p:spPr>
          <a:xfrm>
            <a:off x="864350" y="2913300"/>
            <a:ext cx="13326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HEIGHT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91" name="Google Shape;591;p32"/>
          <p:cNvCxnSpPr>
            <a:stCxn id="588" idx="3"/>
            <a:endCxn id="578" idx="7"/>
          </p:cNvCxnSpPr>
          <p:nvPr/>
        </p:nvCxnSpPr>
        <p:spPr>
          <a:xfrm flipH="1">
            <a:off x="4195722" y="3365478"/>
            <a:ext cx="263100" cy="163500"/>
          </a:xfrm>
          <a:prstGeom prst="straightConnector1">
            <a:avLst/>
          </a:prstGeom>
          <a:noFill/>
          <a:ln cap="flat" cmpd="sng" w="19050">
            <a:solidFill>
              <a:srgbClr val="F6B26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2" name="Google Shape;592;p32"/>
          <p:cNvCxnSpPr>
            <a:stCxn id="588" idx="2"/>
            <a:endCxn id="577" idx="6"/>
          </p:cNvCxnSpPr>
          <p:nvPr/>
        </p:nvCxnSpPr>
        <p:spPr>
          <a:xfrm flipH="1">
            <a:off x="3993550" y="3313400"/>
            <a:ext cx="443700" cy="120300"/>
          </a:xfrm>
          <a:prstGeom prst="straightConnector1">
            <a:avLst/>
          </a:prstGeom>
          <a:noFill/>
          <a:ln cap="flat" cmpd="sng" w="19050">
            <a:solidFill>
              <a:srgbClr val="F6B26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3" name="Google Shape;593;p32"/>
          <p:cNvCxnSpPr>
            <a:stCxn id="581" idx="3"/>
            <a:endCxn id="588" idx="7"/>
          </p:cNvCxnSpPr>
          <p:nvPr/>
        </p:nvCxnSpPr>
        <p:spPr>
          <a:xfrm flipH="1">
            <a:off x="4563022" y="3084503"/>
            <a:ext cx="445800" cy="176700"/>
          </a:xfrm>
          <a:prstGeom prst="straightConnector1">
            <a:avLst/>
          </a:prstGeom>
          <a:noFill/>
          <a:ln cap="flat" cmpd="sng" w="19050">
            <a:solidFill>
              <a:srgbClr val="F6B26B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33"/>
          <p:cNvSpPr/>
          <p:nvPr/>
        </p:nvSpPr>
        <p:spPr>
          <a:xfrm>
            <a:off x="2239625" y="1847950"/>
            <a:ext cx="5006400" cy="2856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3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KNN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0" name="Google Shape;600;p33"/>
          <p:cNvSpPr txBox="1"/>
          <p:nvPr>
            <p:ph idx="1" type="body"/>
          </p:nvPr>
        </p:nvSpPr>
        <p:spPr>
          <a:xfrm>
            <a:off x="311700" y="1152475"/>
            <a:ext cx="8832300" cy="9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K=4 leads to a tie!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01" name="Google Shape;601;p3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02" name="Google Shape;602;p3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33"/>
          <p:cNvSpPr/>
          <p:nvPr/>
        </p:nvSpPr>
        <p:spPr>
          <a:xfrm>
            <a:off x="3027875" y="3789100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33"/>
          <p:cNvSpPr/>
          <p:nvPr/>
        </p:nvSpPr>
        <p:spPr>
          <a:xfrm>
            <a:off x="3846125" y="335997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33"/>
          <p:cNvSpPr/>
          <p:nvPr/>
        </p:nvSpPr>
        <p:spPr>
          <a:xfrm>
            <a:off x="4069850" y="350727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33"/>
          <p:cNvSpPr/>
          <p:nvPr/>
        </p:nvSpPr>
        <p:spPr>
          <a:xfrm>
            <a:off x="4987250" y="2712875"/>
            <a:ext cx="147300" cy="1473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33"/>
          <p:cNvSpPr/>
          <p:nvPr/>
        </p:nvSpPr>
        <p:spPr>
          <a:xfrm>
            <a:off x="5261825" y="3027250"/>
            <a:ext cx="147300" cy="1473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33"/>
          <p:cNvSpPr/>
          <p:nvPr/>
        </p:nvSpPr>
        <p:spPr>
          <a:xfrm>
            <a:off x="4987250" y="2958775"/>
            <a:ext cx="147300" cy="1473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33"/>
          <p:cNvSpPr/>
          <p:nvPr/>
        </p:nvSpPr>
        <p:spPr>
          <a:xfrm rot="6226896">
            <a:off x="5474169" y="2407936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33"/>
          <p:cNvSpPr/>
          <p:nvPr/>
        </p:nvSpPr>
        <p:spPr>
          <a:xfrm rot="6226896">
            <a:off x="5530447" y="2659790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33"/>
          <p:cNvSpPr/>
          <p:nvPr/>
        </p:nvSpPr>
        <p:spPr>
          <a:xfrm rot="6226896">
            <a:off x="5246294" y="2520993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33"/>
          <p:cNvSpPr txBox="1"/>
          <p:nvPr/>
        </p:nvSpPr>
        <p:spPr>
          <a:xfrm>
            <a:off x="7808475" y="1877400"/>
            <a:ext cx="1178100" cy="572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MALE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FEMALE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3" name="Google Shape;613;p33"/>
          <p:cNvSpPr/>
          <p:nvPr/>
        </p:nvSpPr>
        <p:spPr>
          <a:xfrm rot="7203796">
            <a:off x="7946194" y="1975359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33"/>
          <p:cNvSpPr/>
          <p:nvPr/>
        </p:nvSpPr>
        <p:spPr>
          <a:xfrm>
            <a:off x="7946200" y="2245200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33"/>
          <p:cNvSpPr/>
          <p:nvPr/>
        </p:nvSpPr>
        <p:spPr>
          <a:xfrm>
            <a:off x="4437250" y="3239750"/>
            <a:ext cx="147300" cy="147300"/>
          </a:xfrm>
          <a:prstGeom prst="ellipse">
            <a:avLst/>
          </a:prstGeom>
          <a:solidFill>
            <a:srgbClr val="F6B26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33"/>
          <p:cNvSpPr txBox="1"/>
          <p:nvPr/>
        </p:nvSpPr>
        <p:spPr>
          <a:xfrm>
            <a:off x="4076525" y="4704550"/>
            <a:ext cx="13326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WEIGHT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7" name="Google Shape;617;p33"/>
          <p:cNvSpPr txBox="1"/>
          <p:nvPr/>
        </p:nvSpPr>
        <p:spPr>
          <a:xfrm>
            <a:off x="864350" y="2913300"/>
            <a:ext cx="13326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HEIGHT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618" name="Google Shape;618;p33"/>
          <p:cNvCxnSpPr>
            <a:stCxn id="615" idx="3"/>
            <a:endCxn id="605" idx="7"/>
          </p:cNvCxnSpPr>
          <p:nvPr/>
        </p:nvCxnSpPr>
        <p:spPr>
          <a:xfrm flipH="1">
            <a:off x="4195722" y="3365478"/>
            <a:ext cx="263100" cy="163500"/>
          </a:xfrm>
          <a:prstGeom prst="straightConnector1">
            <a:avLst/>
          </a:prstGeom>
          <a:noFill/>
          <a:ln cap="flat" cmpd="sng" w="19050">
            <a:solidFill>
              <a:srgbClr val="F6B26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9" name="Google Shape;619;p33"/>
          <p:cNvCxnSpPr>
            <a:stCxn id="615" idx="2"/>
            <a:endCxn id="604" idx="6"/>
          </p:cNvCxnSpPr>
          <p:nvPr/>
        </p:nvCxnSpPr>
        <p:spPr>
          <a:xfrm flipH="1">
            <a:off x="3993550" y="3313400"/>
            <a:ext cx="443700" cy="120300"/>
          </a:xfrm>
          <a:prstGeom prst="straightConnector1">
            <a:avLst/>
          </a:prstGeom>
          <a:noFill/>
          <a:ln cap="flat" cmpd="sng" w="19050">
            <a:solidFill>
              <a:srgbClr val="F6B26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0" name="Google Shape;620;p33"/>
          <p:cNvCxnSpPr>
            <a:stCxn id="608" idx="3"/>
            <a:endCxn id="615" idx="7"/>
          </p:cNvCxnSpPr>
          <p:nvPr/>
        </p:nvCxnSpPr>
        <p:spPr>
          <a:xfrm flipH="1">
            <a:off x="4563022" y="3084503"/>
            <a:ext cx="445800" cy="176700"/>
          </a:xfrm>
          <a:prstGeom prst="straightConnector1">
            <a:avLst/>
          </a:prstGeom>
          <a:noFill/>
          <a:ln cap="flat" cmpd="sng" w="19050">
            <a:solidFill>
              <a:srgbClr val="F6B26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1" name="Google Shape;621;p33"/>
          <p:cNvCxnSpPr>
            <a:stCxn id="607" idx="3"/>
            <a:endCxn id="615" idx="6"/>
          </p:cNvCxnSpPr>
          <p:nvPr/>
        </p:nvCxnSpPr>
        <p:spPr>
          <a:xfrm flipH="1">
            <a:off x="4584697" y="3152978"/>
            <a:ext cx="698700" cy="160500"/>
          </a:xfrm>
          <a:prstGeom prst="straightConnector1">
            <a:avLst/>
          </a:prstGeom>
          <a:noFill/>
          <a:ln cap="flat" cmpd="sng" w="19050">
            <a:solidFill>
              <a:srgbClr val="F6B26B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3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KNN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7" name="Google Shape;627;p3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Tie considerations and options: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Always choose an odd K.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case of tie,simply reduce K by 1 until tie is broken.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Randomly break tie.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Choose nearest class point.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28" name="Google Shape;628;p3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29" name="Google Shape;629;p3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3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KNN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5" name="Google Shape;635;p3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What does Scikit-Learn do in case of tie?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i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Warning: Regarding the Nearest Neighbors algorithms, if it is found that two neighbors, neighbor k+1 and k, have identical distances but different labels, the results will depend on the ordering of the training data.</a:t>
            </a:r>
            <a:endParaRPr i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36" name="Google Shape;636;p3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37" name="Google Shape;637;p3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3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KNN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3" name="Google Shape;643;p3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What does Scikit-Learn do in case of tie?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i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the case of ties, the answer will be the class that happens to appear first in the set of neighbors.</a:t>
            </a:r>
            <a:endParaRPr i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i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Results are ordered by distance, so it chooses the class of the closest point.</a:t>
            </a:r>
            <a:endParaRPr i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44" name="Google Shape;644;p3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45" name="Google Shape;645;p3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37"/>
          <p:cNvSpPr/>
          <p:nvPr/>
        </p:nvSpPr>
        <p:spPr>
          <a:xfrm>
            <a:off x="2239625" y="1847950"/>
            <a:ext cx="5006400" cy="2856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3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KNN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2" name="Google Shape;652;p37"/>
          <p:cNvSpPr txBox="1"/>
          <p:nvPr>
            <p:ph idx="1" type="body"/>
          </p:nvPr>
        </p:nvSpPr>
        <p:spPr>
          <a:xfrm>
            <a:off x="311700" y="1152475"/>
            <a:ext cx="8832300" cy="9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K=4 leads to a tie!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53" name="Google Shape;653;p3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54" name="Google Shape;654;p3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655" name="Google Shape;655;p37"/>
          <p:cNvSpPr/>
          <p:nvPr/>
        </p:nvSpPr>
        <p:spPr>
          <a:xfrm>
            <a:off x="3027875" y="3789100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37"/>
          <p:cNvSpPr/>
          <p:nvPr/>
        </p:nvSpPr>
        <p:spPr>
          <a:xfrm>
            <a:off x="3846125" y="335997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37"/>
          <p:cNvSpPr/>
          <p:nvPr/>
        </p:nvSpPr>
        <p:spPr>
          <a:xfrm>
            <a:off x="4069850" y="350727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37"/>
          <p:cNvSpPr/>
          <p:nvPr/>
        </p:nvSpPr>
        <p:spPr>
          <a:xfrm>
            <a:off x="4987250" y="2712875"/>
            <a:ext cx="147300" cy="1473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37"/>
          <p:cNvSpPr/>
          <p:nvPr/>
        </p:nvSpPr>
        <p:spPr>
          <a:xfrm>
            <a:off x="5261825" y="3027250"/>
            <a:ext cx="147300" cy="1473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37"/>
          <p:cNvSpPr/>
          <p:nvPr/>
        </p:nvSpPr>
        <p:spPr>
          <a:xfrm>
            <a:off x="4987250" y="2958775"/>
            <a:ext cx="147300" cy="1473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37"/>
          <p:cNvSpPr/>
          <p:nvPr/>
        </p:nvSpPr>
        <p:spPr>
          <a:xfrm rot="6226896">
            <a:off x="5474169" y="2407936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37"/>
          <p:cNvSpPr/>
          <p:nvPr/>
        </p:nvSpPr>
        <p:spPr>
          <a:xfrm rot="6226896">
            <a:off x="5530447" y="2659790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37"/>
          <p:cNvSpPr/>
          <p:nvPr/>
        </p:nvSpPr>
        <p:spPr>
          <a:xfrm rot="6226896">
            <a:off x="5246294" y="2520993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37"/>
          <p:cNvSpPr txBox="1"/>
          <p:nvPr/>
        </p:nvSpPr>
        <p:spPr>
          <a:xfrm>
            <a:off x="7808475" y="1877400"/>
            <a:ext cx="1178100" cy="572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MALE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FEMALE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5" name="Google Shape;665;p37"/>
          <p:cNvSpPr/>
          <p:nvPr/>
        </p:nvSpPr>
        <p:spPr>
          <a:xfrm rot="7203796">
            <a:off x="7946194" y="1975359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37"/>
          <p:cNvSpPr/>
          <p:nvPr/>
        </p:nvSpPr>
        <p:spPr>
          <a:xfrm>
            <a:off x="7946200" y="2245200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37"/>
          <p:cNvSpPr/>
          <p:nvPr/>
        </p:nvSpPr>
        <p:spPr>
          <a:xfrm>
            <a:off x="4437250" y="3239750"/>
            <a:ext cx="147300" cy="147300"/>
          </a:xfrm>
          <a:prstGeom prst="ellipse">
            <a:avLst/>
          </a:prstGeom>
          <a:solidFill>
            <a:srgbClr val="F6B26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37"/>
          <p:cNvSpPr txBox="1"/>
          <p:nvPr/>
        </p:nvSpPr>
        <p:spPr>
          <a:xfrm>
            <a:off x="4076525" y="4704550"/>
            <a:ext cx="13326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WEIGHT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9" name="Google Shape;669;p37"/>
          <p:cNvSpPr txBox="1"/>
          <p:nvPr/>
        </p:nvSpPr>
        <p:spPr>
          <a:xfrm>
            <a:off x="864350" y="2913300"/>
            <a:ext cx="13326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HEIGHT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670" name="Google Shape;670;p37"/>
          <p:cNvCxnSpPr>
            <a:stCxn id="667" idx="3"/>
            <a:endCxn id="657" idx="7"/>
          </p:cNvCxnSpPr>
          <p:nvPr/>
        </p:nvCxnSpPr>
        <p:spPr>
          <a:xfrm flipH="1">
            <a:off x="4195722" y="3365478"/>
            <a:ext cx="263100" cy="163500"/>
          </a:xfrm>
          <a:prstGeom prst="straightConnector1">
            <a:avLst/>
          </a:prstGeom>
          <a:noFill/>
          <a:ln cap="flat" cmpd="sng" w="19050">
            <a:solidFill>
              <a:srgbClr val="F6B26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1" name="Google Shape;671;p37"/>
          <p:cNvCxnSpPr>
            <a:stCxn id="667" idx="2"/>
            <a:endCxn id="656" idx="6"/>
          </p:cNvCxnSpPr>
          <p:nvPr/>
        </p:nvCxnSpPr>
        <p:spPr>
          <a:xfrm flipH="1">
            <a:off x="3993550" y="3313400"/>
            <a:ext cx="443700" cy="120300"/>
          </a:xfrm>
          <a:prstGeom prst="straightConnector1">
            <a:avLst/>
          </a:prstGeom>
          <a:noFill/>
          <a:ln cap="flat" cmpd="sng" w="19050">
            <a:solidFill>
              <a:srgbClr val="F6B26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2" name="Google Shape;672;p37"/>
          <p:cNvCxnSpPr>
            <a:stCxn id="660" idx="3"/>
            <a:endCxn id="667" idx="7"/>
          </p:cNvCxnSpPr>
          <p:nvPr/>
        </p:nvCxnSpPr>
        <p:spPr>
          <a:xfrm flipH="1">
            <a:off x="4563022" y="3084503"/>
            <a:ext cx="445800" cy="176700"/>
          </a:xfrm>
          <a:prstGeom prst="straightConnector1">
            <a:avLst/>
          </a:prstGeom>
          <a:noFill/>
          <a:ln cap="flat" cmpd="sng" w="19050">
            <a:solidFill>
              <a:srgbClr val="F6B26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3" name="Google Shape;673;p37"/>
          <p:cNvCxnSpPr>
            <a:stCxn id="659" idx="3"/>
            <a:endCxn id="667" idx="6"/>
          </p:cNvCxnSpPr>
          <p:nvPr/>
        </p:nvCxnSpPr>
        <p:spPr>
          <a:xfrm flipH="1">
            <a:off x="4584697" y="3152978"/>
            <a:ext cx="698700" cy="160500"/>
          </a:xfrm>
          <a:prstGeom prst="straightConnector1">
            <a:avLst/>
          </a:prstGeom>
          <a:noFill/>
          <a:ln cap="flat" cmpd="sng" w="19050">
            <a:solidFill>
              <a:srgbClr val="F6B26B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38"/>
          <p:cNvSpPr/>
          <p:nvPr/>
        </p:nvSpPr>
        <p:spPr>
          <a:xfrm>
            <a:off x="2239625" y="1847950"/>
            <a:ext cx="5006400" cy="2856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3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KNN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0" name="Google Shape;680;p38"/>
          <p:cNvSpPr txBox="1"/>
          <p:nvPr>
            <p:ph idx="1" type="body"/>
          </p:nvPr>
        </p:nvSpPr>
        <p:spPr>
          <a:xfrm>
            <a:off x="311700" y="1152475"/>
            <a:ext cx="8832300" cy="9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Choose closest K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81" name="Google Shape;681;p3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82" name="Google Shape;682;p3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p38"/>
          <p:cNvSpPr/>
          <p:nvPr/>
        </p:nvSpPr>
        <p:spPr>
          <a:xfrm>
            <a:off x="3027875" y="3789100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38"/>
          <p:cNvSpPr/>
          <p:nvPr/>
        </p:nvSpPr>
        <p:spPr>
          <a:xfrm>
            <a:off x="3846125" y="335997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38"/>
          <p:cNvSpPr/>
          <p:nvPr/>
        </p:nvSpPr>
        <p:spPr>
          <a:xfrm>
            <a:off x="4069850" y="350727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p38"/>
          <p:cNvSpPr/>
          <p:nvPr/>
        </p:nvSpPr>
        <p:spPr>
          <a:xfrm>
            <a:off x="4987250" y="2712875"/>
            <a:ext cx="147300" cy="1473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38"/>
          <p:cNvSpPr/>
          <p:nvPr/>
        </p:nvSpPr>
        <p:spPr>
          <a:xfrm>
            <a:off x="5261825" y="3027250"/>
            <a:ext cx="147300" cy="1473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38"/>
          <p:cNvSpPr/>
          <p:nvPr/>
        </p:nvSpPr>
        <p:spPr>
          <a:xfrm>
            <a:off x="4987250" y="2958775"/>
            <a:ext cx="147300" cy="1473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38"/>
          <p:cNvSpPr/>
          <p:nvPr/>
        </p:nvSpPr>
        <p:spPr>
          <a:xfrm rot="6226896">
            <a:off x="5474169" y="2407936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38"/>
          <p:cNvSpPr/>
          <p:nvPr/>
        </p:nvSpPr>
        <p:spPr>
          <a:xfrm rot="6226896">
            <a:off x="5530447" y="2659790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38"/>
          <p:cNvSpPr/>
          <p:nvPr/>
        </p:nvSpPr>
        <p:spPr>
          <a:xfrm rot="6226896">
            <a:off x="5246294" y="2520993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38"/>
          <p:cNvSpPr txBox="1"/>
          <p:nvPr/>
        </p:nvSpPr>
        <p:spPr>
          <a:xfrm>
            <a:off x="7808475" y="1877400"/>
            <a:ext cx="1178100" cy="572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MALE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FEMALE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93" name="Google Shape;693;p38"/>
          <p:cNvSpPr/>
          <p:nvPr/>
        </p:nvSpPr>
        <p:spPr>
          <a:xfrm rot="7203796">
            <a:off x="7946194" y="1975359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38"/>
          <p:cNvSpPr/>
          <p:nvPr/>
        </p:nvSpPr>
        <p:spPr>
          <a:xfrm>
            <a:off x="7946200" y="2245200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38"/>
          <p:cNvSpPr/>
          <p:nvPr/>
        </p:nvSpPr>
        <p:spPr>
          <a:xfrm>
            <a:off x="4437250" y="3239750"/>
            <a:ext cx="147300" cy="147300"/>
          </a:xfrm>
          <a:prstGeom prst="ellipse">
            <a:avLst/>
          </a:prstGeom>
          <a:solidFill>
            <a:srgbClr val="F6B26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6" name="Google Shape;696;p38"/>
          <p:cNvSpPr txBox="1"/>
          <p:nvPr/>
        </p:nvSpPr>
        <p:spPr>
          <a:xfrm>
            <a:off x="4076525" y="4704550"/>
            <a:ext cx="13326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WEIGHT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97" name="Google Shape;697;p38"/>
          <p:cNvSpPr txBox="1"/>
          <p:nvPr/>
        </p:nvSpPr>
        <p:spPr>
          <a:xfrm>
            <a:off x="864350" y="2913300"/>
            <a:ext cx="13326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HEIGHT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698" name="Google Shape;698;p38"/>
          <p:cNvCxnSpPr>
            <a:stCxn id="695" idx="3"/>
            <a:endCxn id="685" idx="7"/>
          </p:cNvCxnSpPr>
          <p:nvPr/>
        </p:nvCxnSpPr>
        <p:spPr>
          <a:xfrm flipH="1">
            <a:off x="4195722" y="3365478"/>
            <a:ext cx="263100" cy="163500"/>
          </a:xfrm>
          <a:prstGeom prst="straightConnector1">
            <a:avLst/>
          </a:prstGeom>
          <a:noFill/>
          <a:ln cap="flat" cmpd="sng" w="19050">
            <a:solidFill>
              <a:srgbClr val="F6B26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9" name="Google Shape;699;p38"/>
          <p:cNvCxnSpPr>
            <a:stCxn id="695" idx="2"/>
            <a:endCxn id="684" idx="6"/>
          </p:cNvCxnSpPr>
          <p:nvPr/>
        </p:nvCxnSpPr>
        <p:spPr>
          <a:xfrm flipH="1">
            <a:off x="3993550" y="3313400"/>
            <a:ext cx="443700" cy="120300"/>
          </a:xfrm>
          <a:prstGeom prst="straightConnector1">
            <a:avLst/>
          </a:prstGeom>
          <a:noFill/>
          <a:ln cap="flat" cmpd="sng" w="19050">
            <a:solidFill>
              <a:srgbClr val="F6B26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0" name="Google Shape;700;p38"/>
          <p:cNvCxnSpPr>
            <a:stCxn id="688" idx="3"/>
            <a:endCxn id="695" idx="7"/>
          </p:cNvCxnSpPr>
          <p:nvPr/>
        </p:nvCxnSpPr>
        <p:spPr>
          <a:xfrm flipH="1">
            <a:off x="4563022" y="3084503"/>
            <a:ext cx="445800" cy="176700"/>
          </a:xfrm>
          <a:prstGeom prst="straightConnector1">
            <a:avLst/>
          </a:prstGeom>
          <a:noFill/>
          <a:ln cap="flat" cmpd="sng" w="19050">
            <a:solidFill>
              <a:srgbClr val="F6B26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1" name="Google Shape;701;p38"/>
          <p:cNvCxnSpPr>
            <a:stCxn id="687" idx="3"/>
            <a:endCxn id="695" idx="6"/>
          </p:cNvCxnSpPr>
          <p:nvPr/>
        </p:nvCxnSpPr>
        <p:spPr>
          <a:xfrm flipH="1">
            <a:off x="4584697" y="3152978"/>
            <a:ext cx="698700" cy="160500"/>
          </a:xfrm>
          <a:prstGeom prst="straightConnector1">
            <a:avLst/>
          </a:prstGeom>
          <a:noFill/>
          <a:ln cap="flat" cmpd="sng" w="19050">
            <a:solidFill>
              <a:srgbClr val="F6B26B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02" name="Google Shape;702;p38"/>
          <p:cNvSpPr/>
          <p:nvPr/>
        </p:nvSpPr>
        <p:spPr>
          <a:xfrm>
            <a:off x="3951350" y="3388775"/>
            <a:ext cx="384300" cy="384300"/>
          </a:xfrm>
          <a:prstGeom prst="ellipse">
            <a:avLst/>
          </a:prstGeom>
          <a:noFill/>
          <a:ln cap="flat" cmpd="sng" w="28575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39"/>
          <p:cNvSpPr/>
          <p:nvPr/>
        </p:nvSpPr>
        <p:spPr>
          <a:xfrm>
            <a:off x="2239625" y="1847950"/>
            <a:ext cx="5006400" cy="2856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3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KNN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9" name="Google Shape;709;p39"/>
          <p:cNvSpPr txBox="1"/>
          <p:nvPr>
            <p:ph idx="1" type="body"/>
          </p:nvPr>
        </p:nvSpPr>
        <p:spPr>
          <a:xfrm>
            <a:off x="311700" y="1152475"/>
            <a:ext cx="8832300" cy="9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Choose closest K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10" name="Google Shape;710;p3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11" name="Google Shape;711;p3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712" name="Google Shape;712;p39"/>
          <p:cNvSpPr/>
          <p:nvPr/>
        </p:nvSpPr>
        <p:spPr>
          <a:xfrm>
            <a:off x="3027875" y="3789100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p39"/>
          <p:cNvSpPr/>
          <p:nvPr/>
        </p:nvSpPr>
        <p:spPr>
          <a:xfrm>
            <a:off x="3846125" y="335997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p39"/>
          <p:cNvSpPr/>
          <p:nvPr/>
        </p:nvSpPr>
        <p:spPr>
          <a:xfrm>
            <a:off x="4069850" y="350727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p39"/>
          <p:cNvSpPr/>
          <p:nvPr/>
        </p:nvSpPr>
        <p:spPr>
          <a:xfrm>
            <a:off x="4987250" y="2712875"/>
            <a:ext cx="147300" cy="1473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39"/>
          <p:cNvSpPr/>
          <p:nvPr/>
        </p:nvSpPr>
        <p:spPr>
          <a:xfrm>
            <a:off x="5261825" y="3027250"/>
            <a:ext cx="147300" cy="1473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p39"/>
          <p:cNvSpPr/>
          <p:nvPr/>
        </p:nvSpPr>
        <p:spPr>
          <a:xfrm>
            <a:off x="4987250" y="2958775"/>
            <a:ext cx="147300" cy="1473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p39"/>
          <p:cNvSpPr/>
          <p:nvPr/>
        </p:nvSpPr>
        <p:spPr>
          <a:xfrm rot="6226896">
            <a:off x="5474169" y="2407936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39"/>
          <p:cNvSpPr/>
          <p:nvPr/>
        </p:nvSpPr>
        <p:spPr>
          <a:xfrm rot="6226896">
            <a:off x="5530447" y="2659790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p39"/>
          <p:cNvSpPr/>
          <p:nvPr/>
        </p:nvSpPr>
        <p:spPr>
          <a:xfrm rot="6226896">
            <a:off x="5246294" y="2520993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1" name="Google Shape;721;p39"/>
          <p:cNvSpPr txBox="1"/>
          <p:nvPr/>
        </p:nvSpPr>
        <p:spPr>
          <a:xfrm>
            <a:off x="7808475" y="1877400"/>
            <a:ext cx="1178100" cy="572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MALE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FEMALE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2" name="Google Shape;722;p39"/>
          <p:cNvSpPr/>
          <p:nvPr/>
        </p:nvSpPr>
        <p:spPr>
          <a:xfrm rot="7203796">
            <a:off x="7946194" y="1975359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39"/>
          <p:cNvSpPr/>
          <p:nvPr/>
        </p:nvSpPr>
        <p:spPr>
          <a:xfrm>
            <a:off x="7946200" y="2245200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39"/>
          <p:cNvSpPr/>
          <p:nvPr/>
        </p:nvSpPr>
        <p:spPr>
          <a:xfrm>
            <a:off x="4437250" y="3239750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p39"/>
          <p:cNvSpPr txBox="1"/>
          <p:nvPr/>
        </p:nvSpPr>
        <p:spPr>
          <a:xfrm>
            <a:off x="4076525" y="4704550"/>
            <a:ext cx="13326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WEIGHT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6" name="Google Shape;726;p39"/>
          <p:cNvSpPr txBox="1"/>
          <p:nvPr/>
        </p:nvSpPr>
        <p:spPr>
          <a:xfrm>
            <a:off x="864350" y="2913300"/>
            <a:ext cx="13326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HEIGHT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727" name="Google Shape;727;p39"/>
          <p:cNvCxnSpPr>
            <a:stCxn id="724" idx="3"/>
            <a:endCxn id="714" idx="7"/>
          </p:cNvCxnSpPr>
          <p:nvPr/>
        </p:nvCxnSpPr>
        <p:spPr>
          <a:xfrm flipH="1">
            <a:off x="4195722" y="3365478"/>
            <a:ext cx="263100" cy="163500"/>
          </a:xfrm>
          <a:prstGeom prst="straightConnector1">
            <a:avLst/>
          </a:prstGeom>
          <a:noFill/>
          <a:ln cap="flat" cmpd="sng" w="19050">
            <a:solidFill>
              <a:srgbClr val="F6B26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8" name="Google Shape;728;p39"/>
          <p:cNvCxnSpPr>
            <a:stCxn id="724" idx="2"/>
            <a:endCxn id="713" idx="6"/>
          </p:cNvCxnSpPr>
          <p:nvPr/>
        </p:nvCxnSpPr>
        <p:spPr>
          <a:xfrm flipH="1">
            <a:off x="3993550" y="3313400"/>
            <a:ext cx="443700" cy="120300"/>
          </a:xfrm>
          <a:prstGeom prst="straightConnector1">
            <a:avLst/>
          </a:prstGeom>
          <a:noFill/>
          <a:ln cap="flat" cmpd="sng" w="19050">
            <a:solidFill>
              <a:srgbClr val="F6B26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9" name="Google Shape;729;p39"/>
          <p:cNvCxnSpPr>
            <a:stCxn id="717" idx="3"/>
            <a:endCxn id="724" idx="7"/>
          </p:cNvCxnSpPr>
          <p:nvPr/>
        </p:nvCxnSpPr>
        <p:spPr>
          <a:xfrm flipH="1">
            <a:off x="4563022" y="3084503"/>
            <a:ext cx="445800" cy="176700"/>
          </a:xfrm>
          <a:prstGeom prst="straightConnector1">
            <a:avLst/>
          </a:prstGeom>
          <a:noFill/>
          <a:ln cap="flat" cmpd="sng" w="19050">
            <a:solidFill>
              <a:srgbClr val="F6B26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0" name="Google Shape;730;p39"/>
          <p:cNvCxnSpPr>
            <a:stCxn id="716" idx="3"/>
            <a:endCxn id="724" idx="6"/>
          </p:cNvCxnSpPr>
          <p:nvPr/>
        </p:nvCxnSpPr>
        <p:spPr>
          <a:xfrm flipH="1">
            <a:off x="4584697" y="3152978"/>
            <a:ext cx="698700" cy="160500"/>
          </a:xfrm>
          <a:prstGeom prst="straightConnector1">
            <a:avLst/>
          </a:prstGeom>
          <a:noFill/>
          <a:ln cap="flat" cmpd="sng" w="19050">
            <a:solidFill>
              <a:srgbClr val="F6B26B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31" name="Google Shape;731;p39"/>
          <p:cNvSpPr/>
          <p:nvPr/>
        </p:nvSpPr>
        <p:spPr>
          <a:xfrm>
            <a:off x="3951350" y="3388775"/>
            <a:ext cx="384300" cy="384300"/>
          </a:xfrm>
          <a:prstGeom prst="ellipse">
            <a:avLst/>
          </a:prstGeom>
          <a:noFill/>
          <a:ln cap="flat" cmpd="sng" w="28575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40"/>
          <p:cNvSpPr/>
          <p:nvPr/>
        </p:nvSpPr>
        <p:spPr>
          <a:xfrm>
            <a:off x="2239625" y="1847950"/>
            <a:ext cx="5006400" cy="2856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7" name="Google Shape;737;p4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KNN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8" name="Google Shape;738;p40"/>
          <p:cNvSpPr txBox="1"/>
          <p:nvPr>
            <p:ph idx="1" type="body"/>
          </p:nvPr>
        </p:nvSpPr>
        <p:spPr>
          <a:xfrm>
            <a:off x="311700" y="1152475"/>
            <a:ext cx="8832300" cy="9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K=5 causes a switch from previous K values.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39" name="Google Shape;739;p4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40" name="Google Shape;740;p4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741" name="Google Shape;741;p40"/>
          <p:cNvSpPr/>
          <p:nvPr/>
        </p:nvSpPr>
        <p:spPr>
          <a:xfrm>
            <a:off x="3027875" y="3789100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2" name="Google Shape;742;p40"/>
          <p:cNvSpPr/>
          <p:nvPr/>
        </p:nvSpPr>
        <p:spPr>
          <a:xfrm>
            <a:off x="3846125" y="335997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3" name="Google Shape;743;p40"/>
          <p:cNvSpPr/>
          <p:nvPr/>
        </p:nvSpPr>
        <p:spPr>
          <a:xfrm>
            <a:off x="4069850" y="350727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" name="Google Shape;744;p40"/>
          <p:cNvSpPr/>
          <p:nvPr/>
        </p:nvSpPr>
        <p:spPr>
          <a:xfrm>
            <a:off x="4987250" y="2712875"/>
            <a:ext cx="147300" cy="1473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p40"/>
          <p:cNvSpPr/>
          <p:nvPr/>
        </p:nvSpPr>
        <p:spPr>
          <a:xfrm>
            <a:off x="5261825" y="3027250"/>
            <a:ext cx="147300" cy="1473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" name="Google Shape;746;p40"/>
          <p:cNvSpPr/>
          <p:nvPr/>
        </p:nvSpPr>
        <p:spPr>
          <a:xfrm>
            <a:off x="4987250" y="2958775"/>
            <a:ext cx="147300" cy="1473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7" name="Google Shape;747;p40"/>
          <p:cNvSpPr/>
          <p:nvPr/>
        </p:nvSpPr>
        <p:spPr>
          <a:xfrm rot="6226896">
            <a:off x="5474169" y="2407936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40"/>
          <p:cNvSpPr/>
          <p:nvPr/>
        </p:nvSpPr>
        <p:spPr>
          <a:xfrm rot="6226896">
            <a:off x="5530447" y="2659790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9" name="Google Shape;749;p40"/>
          <p:cNvSpPr/>
          <p:nvPr/>
        </p:nvSpPr>
        <p:spPr>
          <a:xfrm rot="6226896">
            <a:off x="5246294" y="2520993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p40"/>
          <p:cNvSpPr txBox="1"/>
          <p:nvPr/>
        </p:nvSpPr>
        <p:spPr>
          <a:xfrm>
            <a:off x="7808475" y="1877400"/>
            <a:ext cx="1178100" cy="572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MALE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FEMALE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51" name="Google Shape;751;p40"/>
          <p:cNvSpPr/>
          <p:nvPr/>
        </p:nvSpPr>
        <p:spPr>
          <a:xfrm rot="7203796">
            <a:off x="7946194" y="1975359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2" name="Google Shape;752;p40"/>
          <p:cNvSpPr/>
          <p:nvPr/>
        </p:nvSpPr>
        <p:spPr>
          <a:xfrm>
            <a:off x="7946200" y="2245200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p40"/>
          <p:cNvSpPr/>
          <p:nvPr/>
        </p:nvSpPr>
        <p:spPr>
          <a:xfrm>
            <a:off x="4437250" y="3239750"/>
            <a:ext cx="147300" cy="1473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4" name="Google Shape;754;p40"/>
          <p:cNvSpPr txBox="1"/>
          <p:nvPr/>
        </p:nvSpPr>
        <p:spPr>
          <a:xfrm>
            <a:off x="4076525" y="4704550"/>
            <a:ext cx="13326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WEIGHT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55" name="Google Shape;755;p40"/>
          <p:cNvSpPr txBox="1"/>
          <p:nvPr/>
        </p:nvSpPr>
        <p:spPr>
          <a:xfrm>
            <a:off x="864350" y="2913300"/>
            <a:ext cx="13326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HEIGHT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756" name="Google Shape;756;p40"/>
          <p:cNvCxnSpPr>
            <a:stCxn id="753" idx="3"/>
            <a:endCxn id="743" idx="7"/>
          </p:cNvCxnSpPr>
          <p:nvPr/>
        </p:nvCxnSpPr>
        <p:spPr>
          <a:xfrm flipH="1">
            <a:off x="4195722" y="3365478"/>
            <a:ext cx="263100" cy="163500"/>
          </a:xfrm>
          <a:prstGeom prst="straightConnector1">
            <a:avLst/>
          </a:prstGeom>
          <a:noFill/>
          <a:ln cap="flat" cmpd="sng" w="19050">
            <a:solidFill>
              <a:srgbClr val="F6B26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7" name="Google Shape;757;p40"/>
          <p:cNvCxnSpPr>
            <a:stCxn id="753" idx="2"/>
            <a:endCxn id="742" idx="6"/>
          </p:cNvCxnSpPr>
          <p:nvPr/>
        </p:nvCxnSpPr>
        <p:spPr>
          <a:xfrm flipH="1">
            <a:off x="3993550" y="3313400"/>
            <a:ext cx="443700" cy="120300"/>
          </a:xfrm>
          <a:prstGeom prst="straightConnector1">
            <a:avLst/>
          </a:prstGeom>
          <a:noFill/>
          <a:ln cap="flat" cmpd="sng" w="19050">
            <a:solidFill>
              <a:srgbClr val="F6B26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8" name="Google Shape;758;p40"/>
          <p:cNvCxnSpPr>
            <a:stCxn id="746" idx="3"/>
            <a:endCxn id="753" idx="7"/>
          </p:cNvCxnSpPr>
          <p:nvPr/>
        </p:nvCxnSpPr>
        <p:spPr>
          <a:xfrm flipH="1">
            <a:off x="4563022" y="3084503"/>
            <a:ext cx="445800" cy="176700"/>
          </a:xfrm>
          <a:prstGeom prst="straightConnector1">
            <a:avLst/>
          </a:prstGeom>
          <a:noFill/>
          <a:ln cap="flat" cmpd="sng" w="19050">
            <a:solidFill>
              <a:srgbClr val="F6B26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9" name="Google Shape;759;p40"/>
          <p:cNvCxnSpPr>
            <a:stCxn id="745" idx="3"/>
            <a:endCxn id="753" idx="6"/>
          </p:cNvCxnSpPr>
          <p:nvPr/>
        </p:nvCxnSpPr>
        <p:spPr>
          <a:xfrm flipH="1">
            <a:off x="4584697" y="3152978"/>
            <a:ext cx="698700" cy="160500"/>
          </a:xfrm>
          <a:prstGeom prst="straightConnector1">
            <a:avLst/>
          </a:prstGeom>
          <a:noFill/>
          <a:ln cap="flat" cmpd="sng" w="19050">
            <a:solidFill>
              <a:srgbClr val="F6B26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0" name="Google Shape;760;p40"/>
          <p:cNvCxnSpPr>
            <a:stCxn id="744" idx="3"/>
            <a:endCxn id="753" idx="0"/>
          </p:cNvCxnSpPr>
          <p:nvPr/>
        </p:nvCxnSpPr>
        <p:spPr>
          <a:xfrm flipH="1">
            <a:off x="4510822" y="2838603"/>
            <a:ext cx="498000" cy="401100"/>
          </a:xfrm>
          <a:prstGeom prst="straightConnector1">
            <a:avLst/>
          </a:prstGeom>
          <a:noFill/>
          <a:ln cap="flat" cmpd="sng" w="19050">
            <a:solidFill>
              <a:srgbClr val="F6B26B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41"/>
          <p:cNvSpPr/>
          <p:nvPr/>
        </p:nvSpPr>
        <p:spPr>
          <a:xfrm>
            <a:off x="2239625" y="1847950"/>
            <a:ext cx="5006400" cy="2856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6" name="Google Shape;766;p4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KNN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7" name="Google Shape;767;p41"/>
          <p:cNvSpPr txBox="1"/>
          <p:nvPr>
            <p:ph idx="1" type="body"/>
          </p:nvPr>
        </p:nvSpPr>
        <p:spPr>
          <a:xfrm>
            <a:off x="311700" y="1152475"/>
            <a:ext cx="8832300" cy="9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How to choose best K value?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68" name="Google Shape;768;p4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69" name="Google Shape;769;p4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770" name="Google Shape;770;p41"/>
          <p:cNvSpPr/>
          <p:nvPr/>
        </p:nvSpPr>
        <p:spPr>
          <a:xfrm>
            <a:off x="3027875" y="3789100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1" name="Google Shape;771;p41"/>
          <p:cNvSpPr/>
          <p:nvPr/>
        </p:nvSpPr>
        <p:spPr>
          <a:xfrm>
            <a:off x="3846125" y="335997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41"/>
          <p:cNvSpPr/>
          <p:nvPr/>
        </p:nvSpPr>
        <p:spPr>
          <a:xfrm>
            <a:off x="4069850" y="350727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3" name="Google Shape;773;p41"/>
          <p:cNvSpPr/>
          <p:nvPr/>
        </p:nvSpPr>
        <p:spPr>
          <a:xfrm>
            <a:off x="4987250" y="2712875"/>
            <a:ext cx="147300" cy="1473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p41"/>
          <p:cNvSpPr/>
          <p:nvPr/>
        </p:nvSpPr>
        <p:spPr>
          <a:xfrm>
            <a:off x="5261825" y="3027250"/>
            <a:ext cx="147300" cy="1473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p41"/>
          <p:cNvSpPr/>
          <p:nvPr/>
        </p:nvSpPr>
        <p:spPr>
          <a:xfrm>
            <a:off x="4987250" y="2958775"/>
            <a:ext cx="147300" cy="1473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6" name="Google Shape;776;p41"/>
          <p:cNvSpPr/>
          <p:nvPr/>
        </p:nvSpPr>
        <p:spPr>
          <a:xfrm rot="6226896">
            <a:off x="5474169" y="2407936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7" name="Google Shape;777;p41"/>
          <p:cNvSpPr/>
          <p:nvPr/>
        </p:nvSpPr>
        <p:spPr>
          <a:xfrm rot="6226896">
            <a:off x="5530447" y="2659790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8" name="Google Shape;778;p41"/>
          <p:cNvSpPr/>
          <p:nvPr/>
        </p:nvSpPr>
        <p:spPr>
          <a:xfrm rot="6226896">
            <a:off x="5246294" y="2520993"/>
            <a:ext cx="147342" cy="147342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9" name="Google Shape;779;p41"/>
          <p:cNvSpPr txBox="1"/>
          <p:nvPr/>
        </p:nvSpPr>
        <p:spPr>
          <a:xfrm>
            <a:off x="7808475" y="1877400"/>
            <a:ext cx="1178100" cy="5727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MALE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    FEMALE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0" name="Google Shape;780;p41"/>
          <p:cNvSpPr/>
          <p:nvPr/>
        </p:nvSpPr>
        <p:spPr>
          <a:xfrm rot="7203796">
            <a:off x="7946194" y="1975359"/>
            <a:ext cx="147318" cy="147318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1" name="Google Shape;781;p41"/>
          <p:cNvSpPr/>
          <p:nvPr/>
        </p:nvSpPr>
        <p:spPr>
          <a:xfrm>
            <a:off x="7946200" y="2245200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2" name="Google Shape;782;p41"/>
          <p:cNvSpPr/>
          <p:nvPr/>
        </p:nvSpPr>
        <p:spPr>
          <a:xfrm>
            <a:off x="4437250" y="3239750"/>
            <a:ext cx="147300" cy="1473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3" name="Google Shape;783;p41"/>
          <p:cNvSpPr txBox="1"/>
          <p:nvPr/>
        </p:nvSpPr>
        <p:spPr>
          <a:xfrm>
            <a:off x="4076525" y="4704550"/>
            <a:ext cx="13326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WEIGHT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4" name="Google Shape;784;p41"/>
          <p:cNvSpPr txBox="1"/>
          <p:nvPr/>
        </p:nvSpPr>
        <p:spPr>
          <a:xfrm>
            <a:off x="864350" y="2913300"/>
            <a:ext cx="13326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HEIGHT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785" name="Google Shape;785;p41"/>
          <p:cNvCxnSpPr>
            <a:stCxn id="782" idx="3"/>
            <a:endCxn id="772" idx="7"/>
          </p:cNvCxnSpPr>
          <p:nvPr/>
        </p:nvCxnSpPr>
        <p:spPr>
          <a:xfrm flipH="1">
            <a:off x="4195722" y="3365478"/>
            <a:ext cx="263100" cy="163500"/>
          </a:xfrm>
          <a:prstGeom prst="straightConnector1">
            <a:avLst/>
          </a:prstGeom>
          <a:noFill/>
          <a:ln cap="flat" cmpd="sng" w="19050">
            <a:solidFill>
              <a:srgbClr val="F6B26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6" name="Google Shape;786;p41"/>
          <p:cNvCxnSpPr>
            <a:stCxn id="782" idx="2"/>
            <a:endCxn id="771" idx="6"/>
          </p:cNvCxnSpPr>
          <p:nvPr/>
        </p:nvCxnSpPr>
        <p:spPr>
          <a:xfrm flipH="1">
            <a:off x="3993550" y="3313400"/>
            <a:ext cx="443700" cy="120300"/>
          </a:xfrm>
          <a:prstGeom prst="straightConnector1">
            <a:avLst/>
          </a:prstGeom>
          <a:noFill/>
          <a:ln cap="flat" cmpd="sng" w="19050">
            <a:solidFill>
              <a:srgbClr val="F6B26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7" name="Google Shape;787;p41"/>
          <p:cNvCxnSpPr>
            <a:stCxn id="775" idx="3"/>
            <a:endCxn id="782" idx="7"/>
          </p:cNvCxnSpPr>
          <p:nvPr/>
        </p:nvCxnSpPr>
        <p:spPr>
          <a:xfrm flipH="1">
            <a:off x="4563022" y="3084503"/>
            <a:ext cx="445800" cy="176700"/>
          </a:xfrm>
          <a:prstGeom prst="straightConnector1">
            <a:avLst/>
          </a:prstGeom>
          <a:noFill/>
          <a:ln cap="flat" cmpd="sng" w="19050">
            <a:solidFill>
              <a:srgbClr val="F6B26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8" name="Google Shape;788;p41"/>
          <p:cNvCxnSpPr>
            <a:stCxn id="774" idx="3"/>
            <a:endCxn id="782" idx="6"/>
          </p:cNvCxnSpPr>
          <p:nvPr/>
        </p:nvCxnSpPr>
        <p:spPr>
          <a:xfrm flipH="1">
            <a:off x="4584697" y="3152978"/>
            <a:ext cx="698700" cy="160500"/>
          </a:xfrm>
          <a:prstGeom prst="straightConnector1">
            <a:avLst/>
          </a:prstGeom>
          <a:noFill/>
          <a:ln cap="flat" cmpd="sng" w="19050">
            <a:solidFill>
              <a:srgbClr val="F6B26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9" name="Google Shape;789;p41"/>
          <p:cNvCxnSpPr>
            <a:stCxn id="773" idx="3"/>
            <a:endCxn id="782" idx="0"/>
          </p:cNvCxnSpPr>
          <p:nvPr/>
        </p:nvCxnSpPr>
        <p:spPr>
          <a:xfrm flipH="1">
            <a:off x="4510822" y="2838603"/>
            <a:ext cx="498000" cy="401100"/>
          </a:xfrm>
          <a:prstGeom prst="straightConnector1">
            <a:avLst/>
          </a:prstGeom>
          <a:noFill/>
          <a:ln cap="flat" cmpd="sng" w="19050">
            <a:solidFill>
              <a:srgbClr val="F6B26B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4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KNN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5" name="Google Shape;795;p4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want a K value that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minimizes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error: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Error = 1 - Accuracy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Two methods: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Elbow method.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Cross validate a grid search of multiple K values and choose K that results in lowest error or highest accuracy.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96" name="Google Shape;796;p4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97" name="Google Shape;797;p4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4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KNN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3" name="Google Shape;803;p4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Elbow method: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04" name="Google Shape;804;p4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05" name="Google Shape;805;p4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06" name="Google Shape;806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32800" y="1748375"/>
            <a:ext cx="4915899" cy="297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4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KNN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12" name="Google Shape;812;p4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Elbow method: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13" name="Google Shape;813;p4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14" name="Google Shape;814;p4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5" name="Google Shape;815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32800" y="1748375"/>
            <a:ext cx="4915899" cy="2972525"/>
          </a:xfrm>
          <a:prstGeom prst="rect">
            <a:avLst/>
          </a:prstGeom>
          <a:noFill/>
          <a:ln>
            <a:noFill/>
          </a:ln>
        </p:spPr>
      </p:pic>
      <p:sp>
        <p:nvSpPr>
          <p:cNvPr id="816" name="Google Shape;816;p44"/>
          <p:cNvSpPr/>
          <p:nvPr/>
        </p:nvSpPr>
        <p:spPr>
          <a:xfrm rot="-3324771">
            <a:off x="4081009" y="3308197"/>
            <a:ext cx="664307" cy="241573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4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KNN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2" name="Google Shape;822;p4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Elbow method: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23" name="Google Shape;823;p4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24" name="Google Shape;824;p4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25" name="Google Shape;825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32800" y="1748375"/>
            <a:ext cx="4915899" cy="2972525"/>
          </a:xfrm>
          <a:prstGeom prst="rect">
            <a:avLst/>
          </a:prstGeom>
          <a:noFill/>
          <a:ln>
            <a:noFill/>
          </a:ln>
        </p:spPr>
      </p:pic>
      <p:sp>
        <p:nvSpPr>
          <p:cNvPr id="826" name="Google Shape;826;p45"/>
          <p:cNvSpPr/>
          <p:nvPr/>
        </p:nvSpPr>
        <p:spPr>
          <a:xfrm>
            <a:off x="2008025" y="3911950"/>
            <a:ext cx="229500" cy="4587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27" name="Google Shape;827;p45"/>
          <p:cNvCxnSpPr/>
          <p:nvPr/>
        </p:nvCxnSpPr>
        <p:spPr>
          <a:xfrm>
            <a:off x="2589850" y="3936100"/>
            <a:ext cx="4389000" cy="0"/>
          </a:xfrm>
          <a:prstGeom prst="straightConnector1">
            <a:avLst/>
          </a:prstGeom>
          <a:noFill/>
          <a:ln cap="flat" cmpd="sng" w="19050">
            <a:solidFill>
              <a:srgbClr val="E06666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828" name="Google Shape;828;p45"/>
          <p:cNvCxnSpPr/>
          <p:nvPr/>
        </p:nvCxnSpPr>
        <p:spPr>
          <a:xfrm>
            <a:off x="2589850" y="4335200"/>
            <a:ext cx="4389000" cy="0"/>
          </a:xfrm>
          <a:prstGeom prst="straightConnector1">
            <a:avLst/>
          </a:prstGeom>
          <a:noFill/>
          <a:ln cap="flat" cmpd="sng" w="19050">
            <a:solidFill>
              <a:srgbClr val="E06666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829" name="Google Shape;829;p45"/>
          <p:cNvSpPr/>
          <p:nvPr/>
        </p:nvSpPr>
        <p:spPr>
          <a:xfrm rot="-3324771">
            <a:off x="4081009" y="3308197"/>
            <a:ext cx="664307" cy="241573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4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KNN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5" name="Google Shape;835;p4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Cross validation only takes into account the K value with the lowest error rate across multiple folds.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could result in a more complex model (higher value of K).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Consider the context of the problem to decide if larger K values are an issue.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36" name="Google Shape;836;p4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37" name="Google Shape;837;p4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4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KNN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43" name="Google Shape;843;p4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KNN Algorithm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Choose K value.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Sort feature vectors (N dimensional space) by distance metric.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Choose class based on K nearest feature vectors.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44" name="Google Shape;844;p4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45" name="Google Shape;845;p4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4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KNN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51" name="Google Shape;851;p4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KNN Considerations: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Distance Metric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Many ways to measure distance: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3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Minkowski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3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Euclidean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3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Manhattan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3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Chebyshev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52" name="Google Shape;852;p4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53" name="Google Shape;853;p4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4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KNN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59" name="Google Shape;859;p4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KNN Considerations: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Scaling for Distance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Features could have vastly different value ranges!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60" name="Google Shape;860;p4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61" name="Google Shape;861;p4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862" name="Google Shape;862;p49"/>
          <p:cNvSpPr/>
          <p:nvPr/>
        </p:nvSpPr>
        <p:spPr>
          <a:xfrm>
            <a:off x="796875" y="3174550"/>
            <a:ext cx="8155800" cy="15300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3" name="Google Shape;863;p49"/>
          <p:cNvSpPr/>
          <p:nvPr/>
        </p:nvSpPr>
        <p:spPr>
          <a:xfrm>
            <a:off x="1385825" y="4145300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4" name="Google Shape;864;p49"/>
          <p:cNvSpPr/>
          <p:nvPr/>
        </p:nvSpPr>
        <p:spPr>
          <a:xfrm>
            <a:off x="1564150" y="3998000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5" name="Google Shape;865;p49"/>
          <p:cNvSpPr/>
          <p:nvPr/>
        </p:nvSpPr>
        <p:spPr>
          <a:xfrm>
            <a:off x="1606750" y="421962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6" name="Google Shape;866;p49"/>
          <p:cNvSpPr txBox="1"/>
          <p:nvPr/>
        </p:nvSpPr>
        <p:spPr>
          <a:xfrm>
            <a:off x="4076525" y="4704550"/>
            <a:ext cx="13326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Feature 1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7" name="Google Shape;867;p49"/>
          <p:cNvSpPr txBox="1"/>
          <p:nvPr/>
        </p:nvSpPr>
        <p:spPr>
          <a:xfrm rot="-5400000">
            <a:off x="-175475" y="3791900"/>
            <a:ext cx="13326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Feature 2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8" name="Google Shape;868;p49"/>
          <p:cNvSpPr/>
          <p:nvPr/>
        </p:nvSpPr>
        <p:spPr>
          <a:xfrm>
            <a:off x="8167625" y="4145300"/>
            <a:ext cx="147300" cy="1473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9" name="Google Shape;869;p49"/>
          <p:cNvSpPr/>
          <p:nvPr/>
        </p:nvSpPr>
        <p:spPr>
          <a:xfrm>
            <a:off x="8345950" y="3998000"/>
            <a:ext cx="147300" cy="1473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0" name="Google Shape;870;p49"/>
          <p:cNvSpPr/>
          <p:nvPr/>
        </p:nvSpPr>
        <p:spPr>
          <a:xfrm>
            <a:off x="8388550" y="4219625"/>
            <a:ext cx="147300" cy="1473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5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KNN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6" name="Google Shape;876;p5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KNN Considerations: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Scaling for Distance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Features could have vastly different value ranges!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77" name="Google Shape;877;p5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78" name="Google Shape;878;p5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879" name="Google Shape;879;p50"/>
          <p:cNvSpPr/>
          <p:nvPr/>
        </p:nvSpPr>
        <p:spPr>
          <a:xfrm>
            <a:off x="796875" y="3174550"/>
            <a:ext cx="8155800" cy="15300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0" name="Google Shape;880;p50"/>
          <p:cNvSpPr/>
          <p:nvPr/>
        </p:nvSpPr>
        <p:spPr>
          <a:xfrm>
            <a:off x="1385825" y="4145300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1" name="Google Shape;881;p50"/>
          <p:cNvSpPr/>
          <p:nvPr/>
        </p:nvSpPr>
        <p:spPr>
          <a:xfrm>
            <a:off x="1564150" y="3998000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2" name="Google Shape;882;p50"/>
          <p:cNvSpPr/>
          <p:nvPr/>
        </p:nvSpPr>
        <p:spPr>
          <a:xfrm>
            <a:off x="1606750" y="421962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3" name="Google Shape;883;p50"/>
          <p:cNvSpPr txBox="1"/>
          <p:nvPr/>
        </p:nvSpPr>
        <p:spPr>
          <a:xfrm>
            <a:off x="4076525" y="4704550"/>
            <a:ext cx="13326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Feature 1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84" name="Google Shape;884;p50"/>
          <p:cNvSpPr txBox="1"/>
          <p:nvPr/>
        </p:nvSpPr>
        <p:spPr>
          <a:xfrm rot="-5400000">
            <a:off x="-175475" y="3791900"/>
            <a:ext cx="13326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Feature 2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85" name="Google Shape;885;p50"/>
          <p:cNvSpPr/>
          <p:nvPr/>
        </p:nvSpPr>
        <p:spPr>
          <a:xfrm>
            <a:off x="8167625" y="4145300"/>
            <a:ext cx="147300" cy="1473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6" name="Google Shape;886;p50"/>
          <p:cNvSpPr/>
          <p:nvPr/>
        </p:nvSpPr>
        <p:spPr>
          <a:xfrm>
            <a:off x="8345950" y="3998000"/>
            <a:ext cx="147300" cy="1473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7" name="Google Shape;887;p50"/>
          <p:cNvSpPr/>
          <p:nvPr/>
        </p:nvSpPr>
        <p:spPr>
          <a:xfrm>
            <a:off x="8388550" y="4219625"/>
            <a:ext cx="147300" cy="1473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88" name="Google Shape;888;p50"/>
          <p:cNvCxnSpPr/>
          <p:nvPr/>
        </p:nvCxnSpPr>
        <p:spPr>
          <a:xfrm>
            <a:off x="1765075" y="3181475"/>
            <a:ext cx="0" cy="1539300"/>
          </a:xfrm>
          <a:prstGeom prst="straightConnector1">
            <a:avLst/>
          </a:prstGeom>
          <a:noFill/>
          <a:ln cap="flat" cmpd="sng" w="19050">
            <a:solidFill>
              <a:srgbClr val="E6913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889" name="Google Shape;889;p50"/>
          <p:cNvCxnSpPr/>
          <p:nvPr/>
        </p:nvCxnSpPr>
        <p:spPr>
          <a:xfrm>
            <a:off x="8165875" y="3181475"/>
            <a:ext cx="0" cy="1539300"/>
          </a:xfrm>
          <a:prstGeom prst="straightConnector1">
            <a:avLst/>
          </a:prstGeom>
          <a:noFill/>
          <a:ln cap="flat" cmpd="sng" w="19050">
            <a:solidFill>
              <a:srgbClr val="E69138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5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KNN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95" name="Google Shape;895;p5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KNN Considerations: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Scaling for Distance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Features could have vastly different value ranges!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96" name="Google Shape;896;p5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97" name="Google Shape;897;p5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898" name="Google Shape;898;p51"/>
          <p:cNvSpPr/>
          <p:nvPr/>
        </p:nvSpPr>
        <p:spPr>
          <a:xfrm>
            <a:off x="796875" y="3174550"/>
            <a:ext cx="8155800" cy="15300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9" name="Google Shape;899;p51"/>
          <p:cNvSpPr/>
          <p:nvPr/>
        </p:nvSpPr>
        <p:spPr>
          <a:xfrm>
            <a:off x="1385825" y="4145300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0" name="Google Shape;900;p51"/>
          <p:cNvSpPr/>
          <p:nvPr/>
        </p:nvSpPr>
        <p:spPr>
          <a:xfrm>
            <a:off x="1564150" y="3998000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1" name="Google Shape;901;p51"/>
          <p:cNvSpPr/>
          <p:nvPr/>
        </p:nvSpPr>
        <p:spPr>
          <a:xfrm>
            <a:off x="1606750" y="4219625"/>
            <a:ext cx="147300" cy="1473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2" name="Google Shape;902;p51"/>
          <p:cNvSpPr txBox="1"/>
          <p:nvPr/>
        </p:nvSpPr>
        <p:spPr>
          <a:xfrm>
            <a:off x="4076525" y="4704550"/>
            <a:ext cx="13326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Feature 1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03" name="Google Shape;903;p51"/>
          <p:cNvSpPr txBox="1"/>
          <p:nvPr/>
        </p:nvSpPr>
        <p:spPr>
          <a:xfrm rot="-5400000">
            <a:off x="-175475" y="3791900"/>
            <a:ext cx="13326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Feature 2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04" name="Google Shape;904;p51"/>
          <p:cNvSpPr/>
          <p:nvPr/>
        </p:nvSpPr>
        <p:spPr>
          <a:xfrm>
            <a:off x="8167625" y="4145300"/>
            <a:ext cx="147300" cy="1473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5" name="Google Shape;905;p51"/>
          <p:cNvSpPr/>
          <p:nvPr/>
        </p:nvSpPr>
        <p:spPr>
          <a:xfrm>
            <a:off x="8345950" y="3998000"/>
            <a:ext cx="147300" cy="1473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6" name="Google Shape;906;p51"/>
          <p:cNvSpPr/>
          <p:nvPr/>
        </p:nvSpPr>
        <p:spPr>
          <a:xfrm>
            <a:off x="8388550" y="4219625"/>
            <a:ext cx="147300" cy="1473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07" name="Google Shape;907;p51"/>
          <p:cNvCxnSpPr/>
          <p:nvPr/>
        </p:nvCxnSpPr>
        <p:spPr>
          <a:xfrm>
            <a:off x="802925" y="4376450"/>
            <a:ext cx="8125800" cy="0"/>
          </a:xfrm>
          <a:prstGeom prst="straightConnector1">
            <a:avLst/>
          </a:prstGeom>
          <a:noFill/>
          <a:ln cap="flat" cmpd="sng" w="19050">
            <a:solidFill>
              <a:srgbClr val="E6913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908" name="Google Shape;908;p51"/>
          <p:cNvCxnSpPr/>
          <p:nvPr/>
        </p:nvCxnSpPr>
        <p:spPr>
          <a:xfrm>
            <a:off x="802925" y="3995450"/>
            <a:ext cx="8125800" cy="0"/>
          </a:xfrm>
          <a:prstGeom prst="straightConnector1">
            <a:avLst/>
          </a:prstGeom>
          <a:noFill/>
          <a:ln cap="flat" cmpd="sng" w="19050">
            <a:solidFill>
              <a:srgbClr val="E69138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5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KNN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14" name="Google Shape;914;p5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KNN Considerations: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Scaling is necessary for KNN.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15" name="Google Shape;915;p5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16" name="Google Shape;916;p5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917" name="Google Shape;917;p52"/>
          <p:cNvSpPr/>
          <p:nvPr/>
        </p:nvSpPr>
        <p:spPr>
          <a:xfrm>
            <a:off x="3461400" y="2686450"/>
            <a:ext cx="2315700" cy="20181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8" name="Google Shape;918;p52"/>
          <p:cNvSpPr txBox="1"/>
          <p:nvPr/>
        </p:nvSpPr>
        <p:spPr>
          <a:xfrm>
            <a:off x="2924175" y="4704550"/>
            <a:ext cx="34893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Scaled </a:t>
            </a: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Feature 1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19" name="Google Shape;919;p52"/>
          <p:cNvSpPr txBox="1"/>
          <p:nvPr/>
        </p:nvSpPr>
        <p:spPr>
          <a:xfrm rot="-5400000">
            <a:off x="2306525" y="3581350"/>
            <a:ext cx="13326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Scaled </a:t>
            </a: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Feature 2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20" name="Google Shape;920;p52"/>
          <p:cNvSpPr/>
          <p:nvPr/>
        </p:nvSpPr>
        <p:spPr>
          <a:xfrm>
            <a:off x="3605150" y="3892013"/>
            <a:ext cx="147300" cy="1473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1" name="Google Shape;921;p52"/>
          <p:cNvSpPr/>
          <p:nvPr/>
        </p:nvSpPr>
        <p:spPr>
          <a:xfrm>
            <a:off x="3844175" y="3479088"/>
            <a:ext cx="147300" cy="1473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2" name="Google Shape;922;p52"/>
          <p:cNvSpPr/>
          <p:nvPr/>
        </p:nvSpPr>
        <p:spPr>
          <a:xfrm>
            <a:off x="3958875" y="4145288"/>
            <a:ext cx="147300" cy="1473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3" name="Google Shape;923;p52"/>
          <p:cNvSpPr/>
          <p:nvPr/>
        </p:nvSpPr>
        <p:spPr>
          <a:xfrm>
            <a:off x="4976750" y="3511013"/>
            <a:ext cx="147300" cy="1473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4" name="Google Shape;924;p52"/>
          <p:cNvSpPr/>
          <p:nvPr/>
        </p:nvSpPr>
        <p:spPr>
          <a:xfrm>
            <a:off x="5215775" y="3098088"/>
            <a:ext cx="147300" cy="1473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5" name="Google Shape;925;p52"/>
          <p:cNvSpPr/>
          <p:nvPr/>
        </p:nvSpPr>
        <p:spPr>
          <a:xfrm>
            <a:off x="5330475" y="3764288"/>
            <a:ext cx="147300" cy="1473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p5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KNN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31" name="Google Shape;931;p5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While the KNN Algorithm is relatively simple, keep in mind the following considerations: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Choosing the optimal K value.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Scaling features.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continue to explore how to perform KNN for classification!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32" name="Google Shape;932;p5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33" name="Google Shape;933;p5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p5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KNN Classification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39" name="Google Shape;939;p5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Coding Part One: Data and Model</a:t>
            </a:r>
            <a:endParaRPr/>
          </a:p>
        </p:txBody>
      </p:sp>
      <p:pic>
        <p:nvPicPr>
          <p:cNvPr descr="watermark.jpg" id="940" name="Google Shape;940;p5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41" name="Google Shape;941;p5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p5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KNN Classification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7" name="Google Shape;947;p5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Coding Part Two: Choosing K</a:t>
            </a:r>
            <a:endParaRPr/>
          </a:p>
        </p:txBody>
      </p:sp>
      <p:pic>
        <p:nvPicPr>
          <p:cNvPr descr="watermark.jpg" id="948" name="Google Shape;948;p5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49" name="Google Shape;949;p5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5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KNN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5" name="Google Shape;955;p5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 Pipeline object in Scikit-Learn can set up a sequence of repeated operations, such as a scaler and a model.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way only the pipeline needs to be called, instead of having to repeatedly call a scaler and a model.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56" name="Google Shape;956;p5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57" name="Google Shape;957;p5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p57"/>
          <p:cNvSpPr txBox="1"/>
          <p:nvPr>
            <p:ph type="ctrTitle"/>
          </p:nvPr>
        </p:nvSpPr>
        <p:spPr>
          <a:xfrm>
            <a:off x="311708" y="13541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KNN Exercise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Overview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63" name="Google Shape;963;p5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64" name="Google Shape;964;p5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5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KNN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70" name="Google Shape;970;p5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test your new skills on a real data set.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We’ll be analyzing sonar frequencies to help distinguish between rocks or sea mines!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71" name="Google Shape;971;p5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72" name="Google Shape;972;p5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73" name="Google Shape;973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03026" y="2825325"/>
            <a:ext cx="4337950" cy="218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p59"/>
          <p:cNvSpPr txBox="1"/>
          <p:nvPr>
            <p:ph type="ctrTitle"/>
          </p:nvPr>
        </p:nvSpPr>
        <p:spPr>
          <a:xfrm>
            <a:off x="311708" y="13541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KNN Exercise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Solutions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79" name="Google Shape;979;p5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80" name="Google Shape;980;p5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