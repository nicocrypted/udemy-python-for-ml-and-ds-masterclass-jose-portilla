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3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  <p:sldId id="356" r:id="rId105"/>
    <p:sldId id="357" r:id="rId106"/>
    <p:sldId id="358" r:id="rId107"/>
    <p:sldId id="359" r:id="rId108"/>
    <p:sldId id="360" r:id="rId109"/>
    <p:sldId id="361" r:id="rId110"/>
    <p:sldId id="362" r:id="rId111"/>
    <p:sldId id="363" r:id="rId112"/>
    <p:sldId id="364" r:id="rId113"/>
    <p:sldId id="365" r:id="rId114"/>
    <p:sldId id="366" r:id="rId115"/>
    <p:sldId id="367" r:id="rId116"/>
    <p:sldId id="368" r:id="rId117"/>
    <p:sldId id="369" r:id="rId118"/>
    <p:sldId id="370" r:id="rId119"/>
    <p:sldId id="371" r:id="rId120"/>
    <p:sldId id="372" r:id="rId121"/>
    <p:sldId id="373" r:id="rId122"/>
    <p:sldId id="374" r:id="rId123"/>
    <p:sldId id="375" r:id="rId124"/>
    <p:sldId id="376" r:id="rId125"/>
    <p:sldId id="377" r:id="rId126"/>
    <p:sldId id="378" r:id="rId127"/>
    <p:sldId id="379" r:id="rId128"/>
    <p:sldId id="380" r:id="rId129"/>
    <p:sldId id="381" r:id="rId130"/>
    <p:sldId id="382" r:id="rId131"/>
    <p:sldId id="383" r:id="rId132"/>
    <p:sldId id="384" r:id="rId133"/>
    <p:sldId id="385" r:id="rId134"/>
    <p:sldId id="386" r:id="rId135"/>
    <p:sldId id="387" r:id="rId136"/>
    <p:sldId id="388" r:id="rId137"/>
    <p:sldId id="389" r:id="rId138"/>
    <p:sldId id="390" r:id="rId139"/>
    <p:sldId id="391" r:id="rId140"/>
    <p:sldId id="392" r:id="rId141"/>
    <p:sldId id="393" r:id="rId142"/>
    <p:sldId id="394" r:id="rId143"/>
    <p:sldId id="395" r:id="rId144"/>
    <p:sldId id="396" r:id="rId145"/>
    <p:sldId id="397" r:id="rId146"/>
    <p:sldId id="398" r:id="rId147"/>
  </p:sldIdLst>
  <p:sldSz cy="5143500" cx="9144000"/>
  <p:notesSz cx="6858000" cy="9144000"/>
  <p:embeddedFontLst>
    <p:embeddedFont>
      <p:font typeface="Montserrat"/>
      <p:regular r:id="rId148"/>
      <p:bold r:id="rId149"/>
      <p:italic r:id="rId150"/>
      <p:boldItalic r:id="rId1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07" Type="http://schemas.openxmlformats.org/officeDocument/2006/relationships/slide" Target="slides/slide103.xml"/><Relationship Id="rId106" Type="http://schemas.openxmlformats.org/officeDocument/2006/relationships/slide" Target="slides/slide102.xml"/><Relationship Id="rId105" Type="http://schemas.openxmlformats.org/officeDocument/2006/relationships/slide" Target="slides/slide101.xml"/><Relationship Id="rId104" Type="http://schemas.openxmlformats.org/officeDocument/2006/relationships/slide" Target="slides/slide100.xml"/><Relationship Id="rId109" Type="http://schemas.openxmlformats.org/officeDocument/2006/relationships/slide" Target="slides/slide105.xml"/><Relationship Id="rId108" Type="http://schemas.openxmlformats.org/officeDocument/2006/relationships/slide" Target="slides/slide104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103" Type="http://schemas.openxmlformats.org/officeDocument/2006/relationships/slide" Target="slides/slide99.xml"/><Relationship Id="rId102" Type="http://schemas.openxmlformats.org/officeDocument/2006/relationships/slide" Target="slides/slide98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29" Type="http://schemas.openxmlformats.org/officeDocument/2006/relationships/slide" Target="slides/slide125.xml"/><Relationship Id="rId128" Type="http://schemas.openxmlformats.org/officeDocument/2006/relationships/slide" Target="slides/slide124.xml"/><Relationship Id="rId127" Type="http://schemas.openxmlformats.org/officeDocument/2006/relationships/slide" Target="slides/slide123.xml"/><Relationship Id="rId126" Type="http://schemas.openxmlformats.org/officeDocument/2006/relationships/slide" Target="slides/slide122.xml"/><Relationship Id="rId26" Type="http://schemas.openxmlformats.org/officeDocument/2006/relationships/slide" Target="slides/slide22.xml"/><Relationship Id="rId121" Type="http://schemas.openxmlformats.org/officeDocument/2006/relationships/slide" Target="slides/slide117.xml"/><Relationship Id="rId25" Type="http://schemas.openxmlformats.org/officeDocument/2006/relationships/slide" Target="slides/slide21.xml"/><Relationship Id="rId120" Type="http://schemas.openxmlformats.org/officeDocument/2006/relationships/slide" Target="slides/slide116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125" Type="http://schemas.openxmlformats.org/officeDocument/2006/relationships/slide" Target="slides/slide121.xml"/><Relationship Id="rId29" Type="http://schemas.openxmlformats.org/officeDocument/2006/relationships/slide" Target="slides/slide25.xml"/><Relationship Id="rId124" Type="http://schemas.openxmlformats.org/officeDocument/2006/relationships/slide" Target="slides/slide120.xml"/><Relationship Id="rId123" Type="http://schemas.openxmlformats.org/officeDocument/2006/relationships/slide" Target="slides/slide119.xml"/><Relationship Id="rId122" Type="http://schemas.openxmlformats.org/officeDocument/2006/relationships/slide" Target="slides/slide118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11" Type="http://schemas.openxmlformats.org/officeDocument/2006/relationships/slide" Target="slides/slide7.xml"/><Relationship Id="rId99" Type="http://schemas.openxmlformats.org/officeDocument/2006/relationships/slide" Target="slides/slide95.xml"/><Relationship Id="rId10" Type="http://schemas.openxmlformats.org/officeDocument/2006/relationships/slide" Target="slides/slide6.xml"/><Relationship Id="rId98" Type="http://schemas.openxmlformats.org/officeDocument/2006/relationships/slide" Target="slides/slide94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118" Type="http://schemas.openxmlformats.org/officeDocument/2006/relationships/slide" Target="slides/slide114.xml"/><Relationship Id="rId117" Type="http://schemas.openxmlformats.org/officeDocument/2006/relationships/slide" Target="slides/slide113.xml"/><Relationship Id="rId116" Type="http://schemas.openxmlformats.org/officeDocument/2006/relationships/slide" Target="slides/slide112.xml"/><Relationship Id="rId115" Type="http://schemas.openxmlformats.org/officeDocument/2006/relationships/slide" Target="slides/slide111.xml"/><Relationship Id="rId119" Type="http://schemas.openxmlformats.org/officeDocument/2006/relationships/slide" Target="slides/slide115.xml"/><Relationship Id="rId15" Type="http://schemas.openxmlformats.org/officeDocument/2006/relationships/slide" Target="slides/slide11.xml"/><Relationship Id="rId110" Type="http://schemas.openxmlformats.org/officeDocument/2006/relationships/slide" Target="slides/slide106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14" Type="http://schemas.openxmlformats.org/officeDocument/2006/relationships/slide" Target="slides/slide110.xml"/><Relationship Id="rId18" Type="http://schemas.openxmlformats.org/officeDocument/2006/relationships/slide" Target="slides/slide14.xml"/><Relationship Id="rId113" Type="http://schemas.openxmlformats.org/officeDocument/2006/relationships/slide" Target="slides/slide109.xml"/><Relationship Id="rId112" Type="http://schemas.openxmlformats.org/officeDocument/2006/relationships/slide" Target="slides/slide108.xml"/><Relationship Id="rId111" Type="http://schemas.openxmlformats.org/officeDocument/2006/relationships/slide" Target="slides/slide107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8" Type="http://schemas.openxmlformats.org/officeDocument/2006/relationships/slide" Target="slides/slide84.xml"/><Relationship Id="rId150" Type="http://schemas.openxmlformats.org/officeDocument/2006/relationships/font" Target="fonts/Montserrat-italic.fntdata"/><Relationship Id="rId87" Type="http://schemas.openxmlformats.org/officeDocument/2006/relationships/slide" Target="slides/slide83.xml"/><Relationship Id="rId89" Type="http://schemas.openxmlformats.org/officeDocument/2006/relationships/slide" Target="slides/slide85.xml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149" Type="http://schemas.openxmlformats.org/officeDocument/2006/relationships/font" Target="fonts/Montserrat-bold.fntdata"/><Relationship Id="rId4" Type="http://schemas.openxmlformats.org/officeDocument/2006/relationships/notesMaster" Target="notesMasters/notesMaster1.xml"/><Relationship Id="rId148" Type="http://schemas.openxmlformats.org/officeDocument/2006/relationships/font" Target="fonts/Montserrat-regular.fntdata"/><Relationship Id="rId9" Type="http://schemas.openxmlformats.org/officeDocument/2006/relationships/slide" Target="slides/slide5.xml"/><Relationship Id="rId143" Type="http://schemas.openxmlformats.org/officeDocument/2006/relationships/slide" Target="slides/slide139.xml"/><Relationship Id="rId142" Type="http://schemas.openxmlformats.org/officeDocument/2006/relationships/slide" Target="slides/slide138.xml"/><Relationship Id="rId141" Type="http://schemas.openxmlformats.org/officeDocument/2006/relationships/slide" Target="slides/slide137.xml"/><Relationship Id="rId140" Type="http://schemas.openxmlformats.org/officeDocument/2006/relationships/slide" Target="slides/slide136.xml"/><Relationship Id="rId5" Type="http://schemas.openxmlformats.org/officeDocument/2006/relationships/slide" Target="slides/slide1.xml"/><Relationship Id="rId147" Type="http://schemas.openxmlformats.org/officeDocument/2006/relationships/slide" Target="slides/slide143.xml"/><Relationship Id="rId6" Type="http://schemas.openxmlformats.org/officeDocument/2006/relationships/slide" Target="slides/slide2.xml"/><Relationship Id="rId146" Type="http://schemas.openxmlformats.org/officeDocument/2006/relationships/slide" Target="slides/slide142.xml"/><Relationship Id="rId7" Type="http://schemas.openxmlformats.org/officeDocument/2006/relationships/slide" Target="slides/slide3.xml"/><Relationship Id="rId145" Type="http://schemas.openxmlformats.org/officeDocument/2006/relationships/slide" Target="slides/slide141.xml"/><Relationship Id="rId8" Type="http://schemas.openxmlformats.org/officeDocument/2006/relationships/slide" Target="slides/slide4.xml"/><Relationship Id="rId144" Type="http://schemas.openxmlformats.org/officeDocument/2006/relationships/slide" Target="slides/slide14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139" Type="http://schemas.openxmlformats.org/officeDocument/2006/relationships/slide" Target="slides/slide135.xml"/><Relationship Id="rId138" Type="http://schemas.openxmlformats.org/officeDocument/2006/relationships/slide" Target="slides/slide134.xml"/><Relationship Id="rId137" Type="http://schemas.openxmlformats.org/officeDocument/2006/relationships/slide" Target="slides/slide133.xml"/><Relationship Id="rId132" Type="http://schemas.openxmlformats.org/officeDocument/2006/relationships/slide" Target="slides/slide128.xml"/><Relationship Id="rId131" Type="http://schemas.openxmlformats.org/officeDocument/2006/relationships/slide" Target="slides/slide127.xml"/><Relationship Id="rId130" Type="http://schemas.openxmlformats.org/officeDocument/2006/relationships/slide" Target="slides/slide126.xml"/><Relationship Id="rId136" Type="http://schemas.openxmlformats.org/officeDocument/2006/relationships/slide" Target="slides/slide132.xml"/><Relationship Id="rId135" Type="http://schemas.openxmlformats.org/officeDocument/2006/relationships/slide" Target="slides/slide131.xml"/><Relationship Id="rId134" Type="http://schemas.openxmlformats.org/officeDocument/2006/relationships/slide" Target="slides/slide130.xml"/><Relationship Id="rId133" Type="http://schemas.openxmlformats.org/officeDocument/2006/relationships/slide" Target="slides/slide12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69" Type="http://schemas.openxmlformats.org/officeDocument/2006/relationships/slide" Target="slides/slide6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151" Type="http://schemas.openxmlformats.org/officeDocument/2006/relationships/font" Target="fonts/Montserra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04b92013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404b92013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995c1dcea2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995c1dcea2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995c1dcea2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995c1dcea2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995c1dcea2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995c1dcea2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995c1dcea2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995c1dcea2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995c1dcea2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995c1dcea2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995c1dce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995c1dce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995c1dcea2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995c1dcea2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995c1dcea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995c1dcea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995c1dcea2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995c1dcea2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995c1dcea2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995c1dcea2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995c1dcea2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995c1dcea2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995c1dcea2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995c1dcea2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995c1dcea2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995c1dcea2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995c1dcea2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995c1dcea2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995c1dcea2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995c1dcea2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995c1dcea2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995c1dcea2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995c1dcea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995c1dcea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995c1dcea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995c1dcea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995c1dcea2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995c1dcea2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995c1dcea2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995c1dcea2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995c1dce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995c1dce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995c1dcea2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995c1dcea2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995c1dcea2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995c1dcea2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995c1dcea2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995c1dcea2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995c1dcea2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995c1dcea2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995c1dcea2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995c1dcea2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995c1dcea2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995c1dcea2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995c1dcea2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995c1dcea2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995c1dcea2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995c1dcea2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995c1dcea2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995c1dcea2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995c1dcea2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995c1dcea2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995c1dcea2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995c1dcea2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995c1dcea2_0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995c1dcea2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995c1dcea2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995c1dcea2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995c1dcea2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995c1dcea2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995c1dcea2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995c1dcea2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995c1dcea2_0_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995c1dcea2_0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995c1dcea2_0_6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995c1dcea2_0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995c1dcea2_0_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995c1dcea2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995c1dcea2_0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995c1dcea2_0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995c1dcea2_0_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995c1dcea2_0_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995c1dcea2_0_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995c1dcea2_0_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995c1dcea2_0_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995c1dcea2_0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995c1dcea2_0_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995c1dcea2_0_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995c1dcea2_0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995c1dcea2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995c1dcea2_0_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995c1dcea2_0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995c1dcea2_0_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995c1dcea2_0_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995c1dcea2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995c1dcea2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995c1dcea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995c1dcea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995c1dcea2_0_1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995c1dcea2_0_1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995c1dcea2_0_1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995c1dcea2_0_1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995c1dcea2_0_1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995c1dcea2_0_1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995c1dcea2_0_1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995c1dcea2_0_1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995c1dcea2_0_1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995c1dcea2_0_1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995c1dcea2_0_1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995c1dcea2_0_1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995c1dcea2_0_1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995c1dcea2_0_1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995c1dcea2_0_1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995c1dcea2_0_1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995c1dcea2_0_1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995c1dcea2_0_1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995c1dcea2_0_1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995c1dcea2_0_1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995c1dcea2_0_1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995c1dcea2_0_1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995c1dcea2_0_1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995c1dcea2_0_1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995c1dcea2_0_10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995c1dcea2_0_1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995c1dcea2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995c1dcea2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995c1dcea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995c1dcea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995c1dcea2_0_7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995c1dcea2_0_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995c1dcea2_0_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995c1dcea2_0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995c1dcea2_0_7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995c1dcea2_0_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995c1dcea2_0_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995c1dcea2_0_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995c1dcea2_0_7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995c1dcea2_0_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995c1dcea2_0_8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995c1dcea2_0_8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995c1dcea2_0_8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995c1dcea2_0_8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995c1dcea2_0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995c1dcea2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995c1dcea2_0_8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995c1dcea2_0_8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995c1dcea2_0_8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995c1dcea2_0_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995c1dcea2_0_8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995c1dcea2_0_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995c1dcea2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995c1dcea2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995c1dcea2_0_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995c1dcea2_0_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995c1dcea2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995c1dcea2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995c1dcea2_0_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995c1dcea2_0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995c1dcea2_0_9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995c1dcea2_0_9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995c1dcea2_0_9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995c1dcea2_0_9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995c1dcea2_0_9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995c1dcea2_0_9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995c1dcea2_0_9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995c1dcea2_0_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995c1dcea2_0_9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995c1dcea2_0_9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995c1dcea2_0_9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4" name="Google Shape;1024;g995c1dcea2_0_9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995c1dcea2_0_10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995c1dcea2_0_1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995c1dcea2_0_10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995c1dcea2_0_10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995c1dcea2_0_10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995c1dcea2_0_1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995c1dcea2_0_10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995c1dcea2_0_1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995c1dcea2_0_10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0" name="Google Shape;1070;g995c1dcea2_0_10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995c1dcea2_0_10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995c1dcea2_0_1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995c1dcea2_0_10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995c1dcea2_0_1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995c1dcea2_0_10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995c1dcea2_0_10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995c1dcea2_0_10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" name="Google Shape;1104;g995c1dcea2_0_10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995c1dcea2_0_10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995c1dcea2_0_1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995c1dcea2_0_1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995c1dcea2_0_1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995c1dcea2_0_10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995c1dcea2_0_10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995c1dcea2_0_1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995c1dcea2_0_1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995c1dcea2_0_1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995c1dcea2_0_1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995c1dcea2_0_1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995c1dcea2_0_1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995c1dcea2_0_1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995c1dcea2_0_1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995c1dcea2_0_1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4" name="Google Shape;1174;g995c1dcea2_0_1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995c1dcea2_0_1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3" name="Google Shape;1183;g995c1dcea2_0_1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995c1dcea2_0_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1" name="Google Shape;1191;g995c1dcea2_0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995c1dcea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9" name="Google Shape;1199;g995c1dcea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995c1dcea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7" name="Google Shape;1207;g995c1dcea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995c1dcea2_0_1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5" name="Google Shape;1215;g995c1dcea2_0_1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995c1dcea2_0_1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3" name="Google Shape;1223;g995c1dcea2_0_1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g995c1dcea2_0_1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2" name="Google Shape;1232;g995c1dcea2_0_1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995c1dcea2_0_1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995c1dcea2_0_1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995c1dcea2_0_1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0" name="Google Shape;1250;g995c1dcea2_0_1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g995c1dcea2_0_1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9" name="Google Shape;1259;g995c1dcea2_0_1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995c1dcea2_0_1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8" name="Google Shape;1268;g995c1dcea2_0_1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995c1dcea2_0_1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6" name="Google Shape;1276;g995c1dcea2_0_1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995c1dcea2_0_1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4" name="Google Shape;1284;g995c1dcea2_0_1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995c1dcea2_0_1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995c1dcea2_0_1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995c1dcea2_0_1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995c1dcea2_0_1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g995c1dcea2_0_1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1" name="Google Shape;1311;g995c1dcea2_0_1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g995c1dcea2_0_1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0" name="Google Shape;1320;g995c1dcea2_0_1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995c1dcea2_0_1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g995c1dcea2_0_1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995c1dcea2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995c1dcea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g995c1dcea2_0_1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4" name="Google Shape;1344;g995c1dcea2_0_1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g9ff7d1e6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2" name="Google Shape;1352;g9ff7d1e6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9ff7d1e6f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0" name="Google Shape;1360;g9ff7d1e6f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9ff7d1e6f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9ff7d1e6f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995c1dcea2_0_1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" name="Google Shape;1378;g995c1dcea2_0_1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g995c1dcea2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6" name="Google Shape;1386;g995c1dcea2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g995c1dcea2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4" name="Google Shape;1394;g995c1dcea2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g9ff7d1e6f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2" name="Google Shape;1402;g9ff7d1e6f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g9ff7d1e6f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0" name="Google Shape;1410;g9ff7d1e6f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9ff7d1e6f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9ff7d1e6f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9ff7d1e6f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9ff7d1e6f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9ff7d1e6f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9ff7d1e6f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9ff7d1e6f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5" name="Google Shape;1445;g9ff7d1e6f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g9ff7d1e6f3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3" name="Google Shape;1453;g9ff7d1e6f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g9ff7d1e6f3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2" name="Google Shape;1462;g9ff7d1e6f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g9ff7d1e6f3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0" name="Google Shape;1470;g9ff7d1e6f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g9ff7d1e6f3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8" name="Google Shape;1478;g9ff7d1e6f3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g9ff7d1e6f3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6" name="Google Shape;1486;g9ff7d1e6f3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g9ff7d1e6f3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4" name="Google Shape;1494;g9ff7d1e6f3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9ff7d1e6f3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9ff7d1e6f3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seaborn.pydata.org/" TargetMode="External"/><Relationship Id="rId4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Relationship Id="rId4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Relationship Id="rId4" Type="http://schemas.openxmlformats.org/officeDocument/2006/relationships/image" Target="../media/image1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Relationship Id="rId4" Type="http://schemas.openxmlformats.org/officeDocument/2006/relationships/image" Target="../media/image1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jpg"/><Relationship Id="rId4" Type="http://schemas.openxmlformats.org/officeDocument/2006/relationships/image" Target="../media/image1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9.png"/><Relationship Id="rId4" Type="http://schemas.openxmlformats.org/officeDocument/2006/relationships/image" Target="../media/image1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jpg"/><Relationship Id="rId4" Type="http://schemas.openxmlformats.org/officeDocument/2006/relationships/image" Target="../media/image2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jpg"/><Relationship Id="rId4" Type="http://schemas.openxmlformats.org/officeDocument/2006/relationships/image" Target="../media/image15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jpg"/><Relationship Id="rId4" Type="http://schemas.openxmlformats.org/officeDocument/2006/relationships/image" Target="../media/image1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.jpg"/><Relationship Id="rId4" Type="http://schemas.openxmlformats.org/officeDocument/2006/relationships/image" Target="../media/image15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jpg"/><Relationship Id="rId4" Type="http://schemas.openxmlformats.org/officeDocument/2006/relationships/image" Target="../media/image16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.jpg"/><Relationship Id="rId4" Type="http://schemas.openxmlformats.org/officeDocument/2006/relationships/image" Target="../media/image17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.jpg"/><Relationship Id="rId4" Type="http://schemas.openxmlformats.org/officeDocument/2006/relationships/image" Target="../media/image17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jpg"/><Relationship Id="rId4" Type="http://schemas.openxmlformats.org/officeDocument/2006/relationships/image" Target="../media/image17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.jpg"/><Relationship Id="rId4" Type="http://schemas.openxmlformats.org/officeDocument/2006/relationships/image" Target="../media/image17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.jpg"/><Relationship Id="rId4" Type="http://schemas.openxmlformats.org/officeDocument/2006/relationships/image" Target="../media/image17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.jpg"/><Relationship Id="rId4" Type="http://schemas.openxmlformats.org/officeDocument/2006/relationships/image" Target="../media/image17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.jpg"/><Relationship Id="rId4" Type="http://schemas.openxmlformats.org/officeDocument/2006/relationships/image" Target="../media/image17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.jpg"/><Relationship Id="rId4" Type="http://schemas.openxmlformats.org/officeDocument/2006/relationships/image" Target="../media/image17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.jpg"/><Relationship Id="rId4" Type="http://schemas.openxmlformats.org/officeDocument/2006/relationships/image" Target="../media/image17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Relationship Id="rId4" Type="http://schemas.openxmlformats.org/officeDocument/2006/relationships/image" Target="../media/image17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.jpg"/><Relationship Id="rId4" Type="http://schemas.openxmlformats.org/officeDocument/2006/relationships/image" Target="../media/image17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.jpg"/><Relationship Id="rId4" Type="http://schemas.openxmlformats.org/officeDocument/2006/relationships/image" Target="../media/image17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.jpg"/><Relationship Id="rId4" Type="http://schemas.openxmlformats.org/officeDocument/2006/relationships/image" Target="../media/image17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.jpg"/><Relationship Id="rId4" Type="http://schemas.openxmlformats.org/officeDocument/2006/relationships/image" Target="../media/image22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.jpg"/><Relationship Id="rId4" Type="http://schemas.openxmlformats.org/officeDocument/2006/relationships/image" Target="../media/image35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.jpg"/><Relationship Id="rId4" Type="http://schemas.openxmlformats.org/officeDocument/2006/relationships/image" Target="../media/image46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.jp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.jpg"/><Relationship Id="rId4" Type="http://schemas.openxmlformats.org/officeDocument/2006/relationships/image" Target="../media/image20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.jpg"/><Relationship Id="rId4" Type="http://schemas.openxmlformats.org/officeDocument/2006/relationships/image" Target="../media/image20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.jpg"/><Relationship Id="rId4" Type="http://schemas.openxmlformats.org/officeDocument/2006/relationships/image" Target="../media/image20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.jpg"/><Relationship Id="rId4" Type="http://schemas.openxmlformats.org/officeDocument/2006/relationships/image" Target="../media/image24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.jpg"/><Relationship Id="rId4" Type="http://schemas.openxmlformats.org/officeDocument/2006/relationships/image" Target="../media/image42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.jpg"/><Relationship Id="rId4" Type="http://schemas.openxmlformats.org/officeDocument/2006/relationships/image" Target="../media/image42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.jp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.jp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.jpg"/><Relationship Id="rId4" Type="http://schemas.openxmlformats.org/officeDocument/2006/relationships/image" Target="../media/image25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1.jpg"/><Relationship Id="rId4" Type="http://schemas.openxmlformats.org/officeDocument/2006/relationships/image" Target="../media/image43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.jpg"/><Relationship Id="rId4" Type="http://schemas.openxmlformats.org/officeDocument/2006/relationships/image" Target="../media/image45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.jp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1.jp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1.jpg"/><Relationship Id="rId4" Type="http://schemas.openxmlformats.org/officeDocument/2006/relationships/image" Target="../media/image29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1.jpg"/><Relationship Id="rId4" Type="http://schemas.openxmlformats.org/officeDocument/2006/relationships/image" Target="../media/image23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1.jpg"/><Relationship Id="rId4" Type="http://schemas.openxmlformats.org/officeDocument/2006/relationships/image" Target="../media/image31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1.jpg"/><Relationship Id="rId4" Type="http://schemas.openxmlformats.org/officeDocument/2006/relationships/image" Target="../media/image44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1.jp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1.jp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.jp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1.jp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1.jp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1.jpg"/><Relationship Id="rId4" Type="http://schemas.openxmlformats.org/officeDocument/2006/relationships/image" Target="../media/image28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27.png"/><Relationship Id="rId4" Type="http://schemas.openxmlformats.org/officeDocument/2006/relationships/image" Target="../media/image1.jp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27.png"/><Relationship Id="rId4" Type="http://schemas.openxmlformats.org/officeDocument/2006/relationships/image" Target="../media/image1.jp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27.png"/><Relationship Id="rId4" Type="http://schemas.openxmlformats.org/officeDocument/2006/relationships/image" Target="../media/image1.jp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26.png"/><Relationship Id="rId4" Type="http://schemas.openxmlformats.org/officeDocument/2006/relationships/image" Target="../media/image1.jp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1.jp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1.jp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1.jpg"/><Relationship Id="rId4" Type="http://schemas.openxmlformats.org/officeDocument/2006/relationships/image" Target="../media/image36.pn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1.jpg"/><Relationship Id="rId4" Type="http://schemas.openxmlformats.org/officeDocument/2006/relationships/image" Target="../media/image34.pn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1.jpg"/><Relationship Id="rId4" Type="http://schemas.openxmlformats.org/officeDocument/2006/relationships/image" Target="../media/image30.png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1.jpg"/><Relationship Id="rId4" Type="http://schemas.openxmlformats.org/officeDocument/2006/relationships/image" Target="../media/image32.pn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1.jp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1.jp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1.jp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1.jp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1.jpg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1.jpg"/><Relationship Id="rId4" Type="http://schemas.openxmlformats.org/officeDocument/2006/relationships/image" Target="../media/image33.pn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1.jpg"/><Relationship Id="rId4" Type="http://schemas.openxmlformats.org/officeDocument/2006/relationships/image" Target="../media/image39.pn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1.jpg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1.jpg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1.jp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1.jpg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41.png"/><Relationship Id="rId4" Type="http://schemas.openxmlformats.org/officeDocument/2006/relationships/image" Target="../media/image1.jpg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1.jpg"/><Relationship Id="rId4" Type="http://schemas.openxmlformats.org/officeDocument/2006/relationships/image" Target="../media/image40.png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1.jpg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38.png"/><Relationship Id="rId4" Type="http://schemas.openxmlformats.org/officeDocument/2006/relationships/image" Target="../media/image1.jpg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1.jpg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1.jpg"/><Relationship Id="rId4" Type="http://schemas.openxmlformats.org/officeDocument/2006/relationships/image" Target="../media/image37.png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1.jpg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1.jpg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1.jpg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1.jpg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1.jpg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Seaborn is a statistical plotting library that is specifically designed to interact well with Pandas DataFrames to create common statistical plot types.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Seaborn is built directly off of Matplotlib but uses a simpler “one-line” syntax.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using seaborn, we trade-off customization for ease of use.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However, since its built directly off of Matplotlib, we can actually still make plt method calls to directly affect the resulting seaborn plot.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typical seaborn plot uses one line of code, for example: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○"/>
            </a:pP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sns.scatterplot(x='salary',y='sales',data=df)</a:t>
            </a:r>
            <a:endParaRPr b="1"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Seaborn takes in a pandas DataFrame and then the user provides the corresponding string column names for x and y (depending on the plot type)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 we focus on understanding the use cases for each plot and the seaborn syntax for them.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Online Docs: </a:t>
            </a:r>
            <a:r>
              <a:rPr lang="en" sz="29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https://seaborn.pydata.org/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Common student question: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“How do I choose which plot to use?”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depends on what questions or relationships you are trying to understand.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Google Image Searching “Choosing a plot visualization” will yield many useful flowcharts.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At the end of this section, you will have a good intuition of which plots to use.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Section Topics: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Scatter Plots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Distribution Plots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Categorical Plots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Comparison Plots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Seaborn Grids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Matrix Plots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Scatter Plots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1" name="Google Shape;121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Scatter plots show the relationship between two continuous features.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 that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continuous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features are numeric variables that can take any number of values between any two values.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" name="Google Shape;129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Continuous Feature Examples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Height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Salary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Temperature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Prices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7" name="Google Shape;137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continuous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feature allows for a value to always be between two values.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 to be confused with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categorical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features which represent distinct and unique categories: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Colors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Shapes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Names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4" name="Google Shape;144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5" name="Google Shape;145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Scatter plots line up a set of two continuous features and plots them out as coordinates.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imagine employees with salaries who sell a certain dollar amount of items each year. We could explore the relationship between employee salaries and sales amount.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2" name="Google Shape;152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3" name="Google Shape;153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Plot (x,y) coordinate points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0" name="Google Shape;160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1" name="Google Shape;161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2900" y="1840050"/>
            <a:ext cx="4938199" cy="319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Plot (salary,sales) coordinate points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9" name="Google Shape;169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0" name="Google Shape;170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2900" y="1840050"/>
            <a:ext cx="4938199" cy="319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Seaborn can then add coloring and styling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8" name="Google Shape;178;p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9" name="Google Shape;179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5712" y="1765750"/>
            <a:ext cx="4692575" cy="3035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Seaborn can then add coloring and styling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7" name="Google Shape;187;p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8" name="Google Shape;188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8446" y="1710250"/>
            <a:ext cx="5050600" cy="326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Scatter Plots with seaborn!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6" name="Google Shape;196;p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7" name="Google Shape;197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Distribution Plots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ONE: UNDERSTANDING PLOT TYPES</a:t>
            </a:r>
            <a:endParaRPr/>
          </a:p>
        </p:txBody>
      </p:sp>
      <p:pic>
        <p:nvPicPr>
          <p:cNvPr descr="watermark.jpg" id="204" name="Google Shape;204;p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5" name="Google Shape;205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Distribution plots display a single continuous feature and help visualize properties such as deviation and average values.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3 main distribution plot types: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Rug Plot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Histogram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KDE Plot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2" name="Google Shape;212;p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3" name="Google Shape;213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the distribution of employee salaries.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One way to do this is through a rug plot.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rug plot is the simplest distribution plot and merely adds a dash or tick line for every single value.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y-axis does not really have a meaning.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0" name="Google Shape;220;p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1" name="Google Shape;221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Rug Plot of Salaries: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Adds a tick for every salary value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8" name="Google Shape;228;p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9" name="Google Shape;229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1775" y="2705875"/>
            <a:ext cx="3600450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" name="Google Shape;236;p3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Rug Plot of Salaries: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Optionally adjust height of ticks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7" name="Google Shape;237;p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8" name="Google Shape;238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1775" y="2705875"/>
            <a:ext cx="3600450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3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Rug Plot of Salaries: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Y-axis not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interpretable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6" name="Google Shape;246;p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7" name="Google Shape;247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1775" y="2705875"/>
            <a:ext cx="3600450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Rug Plot of Salaries: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Highest salary near $160,000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5" name="Google Shape;255;p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6" name="Google Shape;256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1775" y="2705875"/>
            <a:ext cx="3600450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p3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Rug Plot of Salaries: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Many salaries between $60k - $120k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4" name="Google Shape;264;p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5" name="Google Shape;265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1775" y="2705875"/>
            <a:ext cx="3600450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3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Rug Plot of Salaries: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Many ticks could be right on top of eachother, we can’t tell!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3" name="Google Shape;273;p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4" name="Google Shape;274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1775" y="2705875"/>
            <a:ext cx="3600450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" name="Google Shape;281;p4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we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count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how many ticks there are per various x-ranges, we can create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histogram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2" name="Google Shape;282;p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3" name="Google Shape;283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1775" y="2705875"/>
            <a:ext cx="3600450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0" name="Google Shape;290;p41"/>
          <p:cNvSpPr txBox="1"/>
          <p:nvPr>
            <p:ph idx="1" type="body"/>
          </p:nvPr>
        </p:nvSpPr>
        <p:spPr>
          <a:xfrm>
            <a:off x="311700" y="1152475"/>
            <a:ext cx="8684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a simple example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1" name="Google Shape;291;p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2" name="Google Shape;292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1"/>
          <p:cNvSpPr/>
          <p:nvPr/>
        </p:nvSpPr>
        <p:spPr>
          <a:xfrm>
            <a:off x="2283425" y="1792750"/>
            <a:ext cx="4866600" cy="2814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4" name="Google Shape;294;p41"/>
          <p:cNvCxnSpPr/>
          <p:nvPr/>
        </p:nvCxnSpPr>
        <p:spPr>
          <a:xfrm rot="10800000">
            <a:off x="5556900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5" name="Google Shape;295;p41"/>
          <p:cNvSpPr txBox="1"/>
          <p:nvPr/>
        </p:nvSpPr>
        <p:spPr>
          <a:xfrm>
            <a:off x="3709013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296" name="Google Shape;296;p41"/>
          <p:cNvSpPr txBox="1"/>
          <p:nvPr/>
        </p:nvSpPr>
        <p:spPr>
          <a:xfrm>
            <a:off x="5340138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</a:t>
            </a:r>
            <a:endParaRPr/>
          </a:p>
        </p:txBody>
      </p:sp>
      <p:sp>
        <p:nvSpPr>
          <p:cNvPr id="297" name="Google Shape;297;p41"/>
          <p:cNvSpPr txBox="1"/>
          <p:nvPr/>
        </p:nvSpPr>
        <p:spPr>
          <a:xfrm>
            <a:off x="2130938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cxnSp>
        <p:nvCxnSpPr>
          <p:cNvPr id="298" name="Google Shape;298;p41"/>
          <p:cNvCxnSpPr/>
          <p:nvPr/>
        </p:nvCxnSpPr>
        <p:spPr>
          <a:xfrm rot="10800000">
            <a:off x="3925775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41"/>
          <p:cNvCxnSpPr/>
          <p:nvPr/>
        </p:nvCxnSpPr>
        <p:spPr>
          <a:xfrm rot="10800000">
            <a:off x="2283425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41"/>
          <p:cNvCxnSpPr/>
          <p:nvPr/>
        </p:nvCxnSpPr>
        <p:spPr>
          <a:xfrm rot="10800000">
            <a:off x="7150025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1" name="Google Shape;301;p41"/>
          <p:cNvSpPr txBox="1"/>
          <p:nvPr/>
        </p:nvSpPr>
        <p:spPr>
          <a:xfrm>
            <a:off x="6933263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r>
              <a:rPr lang="en"/>
              <a:t>0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7" name="Google Shape;307;p42"/>
          <p:cNvSpPr txBox="1"/>
          <p:nvPr>
            <p:ph idx="1" type="body"/>
          </p:nvPr>
        </p:nvSpPr>
        <p:spPr>
          <a:xfrm>
            <a:off x="311700" y="1152475"/>
            <a:ext cx="8684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place the rug plot ticks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8" name="Google Shape;308;p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9" name="Google Shape;309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2"/>
          <p:cNvSpPr/>
          <p:nvPr/>
        </p:nvSpPr>
        <p:spPr>
          <a:xfrm>
            <a:off x="2283425" y="1792750"/>
            <a:ext cx="4866600" cy="2814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1" name="Google Shape;311;p42"/>
          <p:cNvCxnSpPr/>
          <p:nvPr/>
        </p:nvCxnSpPr>
        <p:spPr>
          <a:xfrm rot="10800000">
            <a:off x="5556900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" name="Google Shape;312;p42"/>
          <p:cNvSpPr txBox="1"/>
          <p:nvPr/>
        </p:nvSpPr>
        <p:spPr>
          <a:xfrm>
            <a:off x="3709013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313" name="Google Shape;313;p42"/>
          <p:cNvSpPr txBox="1"/>
          <p:nvPr/>
        </p:nvSpPr>
        <p:spPr>
          <a:xfrm>
            <a:off x="5340138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</a:t>
            </a:r>
            <a:endParaRPr/>
          </a:p>
        </p:txBody>
      </p:sp>
      <p:sp>
        <p:nvSpPr>
          <p:cNvPr id="314" name="Google Shape;314;p42"/>
          <p:cNvSpPr txBox="1"/>
          <p:nvPr/>
        </p:nvSpPr>
        <p:spPr>
          <a:xfrm>
            <a:off x="2130938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cxnSp>
        <p:nvCxnSpPr>
          <p:cNvPr id="315" name="Google Shape;315;p42"/>
          <p:cNvCxnSpPr/>
          <p:nvPr/>
        </p:nvCxnSpPr>
        <p:spPr>
          <a:xfrm rot="10800000">
            <a:off x="3925775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" name="Google Shape;316;p42"/>
          <p:cNvCxnSpPr/>
          <p:nvPr/>
        </p:nvCxnSpPr>
        <p:spPr>
          <a:xfrm rot="10800000">
            <a:off x="2283425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" name="Google Shape;317;p42"/>
          <p:cNvCxnSpPr/>
          <p:nvPr/>
        </p:nvCxnSpPr>
        <p:spPr>
          <a:xfrm rot="10800000">
            <a:off x="7150025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8" name="Google Shape;318;p42"/>
          <p:cNvSpPr txBox="1"/>
          <p:nvPr/>
        </p:nvSpPr>
        <p:spPr>
          <a:xfrm>
            <a:off x="6933263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</a:t>
            </a:r>
            <a:endParaRPr/>
          </a:p>
        </p:txBody>
      </p:sp>
      <p:cxnSp>
        <p:nvCxnSpPr>
          <p:cNvPr id="319" name="Google Shape;319;p42"/>
          <p:cNvCxnSpPr/>
          <p:nvPr/>
        </p:nvCxnSpPr>
        <p:spPr>
          <a:xfrm rot="10800000">
            <a:off x="3106100" y="4191500"/>
            <a:ext cx="0" cy="41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42"/>
          <p:cNvCxnSpPr/>
          <p:nvPr/>
        </p:nvCxnSpPr>
        <p:spPr>
          <a:xfrm rot="10800000">
            <a:off x="4350250" y="4191500"/>
            <a:ext cx="0" cy="41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42"/>
          <p:cNvCxnSpPr/>
          <p:nvPr/>
        </p:nvCxnSpPr>
        <p:spPr>
          <a:xfrm rot="10800000">
            <a:off x="4653750" y="4191500"/>
            <a:ext cx="0" cy="41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42"/>
          <p:cNvCxnSpPr/>
          <p:nvPr/>
        </p:nvCxnSpPr>
        <p:spPr>
          <a:xfrm rot="10800000">
            <a:off x="5305900" y="4191500"/>
            <a:ext cx="0" cy="41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42"/>
          <p:cNvCxnSpPr/>
          <p:nvPr/>
        </p:nvCxnSpPr>
        <p:spPr>
          <a:xfrm rot="10800000">
            <a:off x="6204075" y="4191500"/>
            <a:ext cx="0" cy="41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42"/>
          <p:cNvCxnSpPr/>
          <p:nvPr/>
        </p:nvCxnSpPr>
        <p:spPr>
          <a:xfrm rot="10800000">
            <a:off x="6933275" y="4191500"/>
            <a:ext cx="0" cy="41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p43"/>
          <p:cNvSpPr txBox="1"/>
          <p:nvPr>
            <p:ph idx="1" type="body"/>
          </p:nvPr>
        </p:nvSpPr>
        <p:spPr>
          <a:xfrm>
            <a:off x="311700" y="1152475"/>
            <a:ext cx="8684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Choose a number of “bins”, we’ll pick 3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1" name="Google Shape;331;p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2" name="Google Shape;332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3"/>
          <p:cNvSpPr/>
          <p:nvPr/>
        </p:nvSpPr>
        <p:spPr>
          <a:xfrm>
            <a:off x="2283425" y="1792750"/>
            <a:ext cx="4866600" cy="2814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4" name="Google Shape;334;p43"/>
          <p:cNvCxnSpPr/>
          <p:nvPr/>
        </p:nvCxnSpPr>
        <p:spPr>
          <a:xfrm rot="10800000">
            <a:off x="5556900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5" name="Google Shape;335;p43"/>
          <p:cNvSpPr txBox="1"/>
          <p:nvPr/>
        </p:nvSpPr>
        <p:spPr>
          <a:xfrm>
            <a:off x="3709013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336" name="Google Shape;336;p43"/>
          <p:cNvSpPr txBox="1"/>
          <p:nvPr/>
        </p:nvSpPr>
        <p:spPr>
          <a:xfrm>
            <a:off x="5340138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</a:t>
            </a:r>
            <a:endParaRPr/>
          </a:p>
        </p:txBody>
      </p:sp>
      <p:sp>
        <p:nvSpPr>
          <p:cNvPr id="337" name="Google Shape;337;p43"/>
          <p:cNvSpPr txBox="1"/>
          <p:nvPr/>
        </p:nvSpPr>
        <p:spPr>
          <a:xfrm>
            <a:off x="2130938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cxnSp>
        <p:nvCxnSpPr>
          <p:cNvPr id="338" name="Google Shape;338;p43"/>
          <p:cNvCxnSpPr/>
          <p:nvPr/>
        </p:nvCxnSpPr>
        <p:spPr>
          <a:xfrm rot="10800000">
            <a:off x="3925775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" name="Google Shape;339;p43"/>
          <p:cNvCxnSpPr/>
          <p:nvPr/>
        </p:nvCxnSpPr>
        <p:spPr>
          <a:xfrm rot="10800000">
            <a:off x="2283425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43"/>
          <p:cNvCxnSpPr/>
          <p:nvPr/>
        </p:nvCxnSpPr>
        <p:spPr>
          <a:xfrm rot="10800000">
            <a:off x="7150025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" name="Google Shape;341;p43"/>
          <p:cNvSpPr txBox="1"/>
          <p:nvPr/>
        </p:nvSpPr>
        <p:spPr>
          <a:xfrm>
            <a:off x="6933263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</a:t>
            </a:r>
            <a:endParaRPr/>
          </a:p>
        </p:txBody>
      </p:sp>
      <p:cxnSp>
        <p:nvCxnSpPr>
          <p:cNvPr id="342" name="Google Shape;342;p43"/>
          <p:cNvCxnSpPr/>
          <p:nvPr/>
        </p:nvCxnSpPr>
        <p:spPr>
          <a:xfrm rot="10800000">
            <a:off x="3106100" y="4191500"/>
            <a:ext cx="0" cy="41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43"/>
          <p:cNvCxnSpPr/>
          <p:nvPr/>
        </p:nvCxnSpPr>
        <p:spPr>
          <a:xfrm rot="10800000">
            <a:off x="4350250" y="4191500"/>
            <a:ext cx="0" cy="41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43"/>
          <p:cNvCxnSpPr/>
          <p:nvPr/>
        </p:nvCxnSpPr>
        <p:spPr>
          <a:xfrm rot="10800000">
            <a:off x="4653750" y="4191500"/>
            <a:ext cx="0" cy="41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43"/>
          <p:cNvCxnSpPr/>
          <p:nvPr/>
        </p:nvCxnSpPr>
        <p:spPr>
          <a:xfrm rot="10800000">
            <a:off x="5305900" y="4191500"/>
            <a:ext cx="0" cy="41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p43"/>
          <p:cNvCxnSpPr/>
          <p:nvPr/>
        </p:nvCxnSpPr>
        <p:spPr>
          <a:xfrm rot="10800000">
            <a:off x="6204075" y="4191500"/>
            <a:ext cx="0" cy="41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" name="Google Shape;347;p43"/>
          <p:cNvCxnSpPr/>
          <p:nvPr/>
        </p:nvCxnSpPr>
        <p:spPr>
          <a:xfrm rot="10800000">
            <a:off x="6933275" y="4191500"/>
            <a:ext cx="0" cy="41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43"/>
          <p:cNvCxnSpPr/>
          <p:nvPr/>
        </p:nvCxnSpPr>
        <p:spPr>
          <a:xfrm>
            <a:off x="2452550" y="4878050"/>
            <a:ext cx="1307100" cy="0"/>
          </a:xfrm>
          <a:prstGeom prst="straightConnector1">
            <a:avLst/>
          </a:prstGeom>
          <a:noFill/>
          <a:ln cap="flat" cmpd="sng" w="19050">
            <a:solidFill>
              <a:srgbClr val="6D9EEB"/>
            </a:solidFill>
            <a:prstDash val="dash"/>
            <a:round/>
            <a:headEnd len="med" w="med" type="oval"/>
            <a:tailEnd len="med" w="med" type="oval"/>
          </a:ln>
        </p:spPr>
      </p:cxnSp>
      <p:cxnSp>
        <p:nvCxnSpPr>
          <p:cNvPr id="349" name="Google Shape;349;p43"/>
          <p:cNvCxnSpPr/>
          <p:nvPr/>
        </p:nvCxnSpPr>
        <p:spPr>
          <a:xfrm>
            <a:off x="4063175" y="4878050"/>
            <a:ext cx="1307100" cy="0"/>
          </a:xfrm>
          <a:prstGeom prst="straightConnector1">
            <a:avLst/>
          </a:prstGeom>
          <a:noFill/>
          <a:ln cap="flat" cmpd="sng" w="19050">
            <a:solidFill>
              <a:srgbClr val="6D9EEB"/>
            </a:solidFill>
            <a:prstDash val="dash"/>
            <a:round/>
            <a:headEnd len="med" w="med" type="oval"/>
            <a:tailEnd len="med" w="med" type="oval"/>
          </a:ln>
        </p:spPr>
      </p:cxnSp>
      <p:cxnSp>
        <p:nvCxnSpPr>
          <p:cNvPr id="350" name="Google Shape;350;p43"/>
          <p:cNvCxnSpPr/>
          <p:nvPr/>
        </p:nvCxnSpPr>
        <p:spPr>
          <a:xfrm>
            <a:off x="5707125" y="4878050"/>
            <a:ext cx="1307100" cy="0"/>
          </a:xfrm>
          <a:prstGeom prst="straightConnector1">
            <a:avLst/>
          </a:prstGeom>
          <a:noFill/>
          <a:ln cap="flat" cmpd="sng" w="19050">
            <a:solidFill>
              <a:srgbClr val="6D9EEB"/>
            </a:solidFill>
            <a:prstDash val="dash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6" name="Google Shape;356;p44"/>
          <p:cNvSpPr txBox="1"/>
          <p:nvPr>
            <p:ph idx="1" type="body"/>
          </p:nvPr>
        </p:nvSpPr>
        <p:spPr>
          <a:xfrm>
            <a:off x="311700" y="1152475"/>
            <a:ext cx="8684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Count ticks per bin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7" name="Google Shape;357;p4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8" name="Google Shape;358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44"/>
          <p:cNvSpPr/>
          <p:nvPr/>
        </p:nvSpPr>
        <p:spPr>
          <a:xfrm>
            <a:off x="2283425" y="1792750"/>
            <a:ext cx="4866600" cy="2814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0" name="Google Shape;360;p44"/>
          <p:cNvCxnSpPr/>
          <p:nvPr/>
        </p:nvCxnSpPr>
        <p:spPr>
          <a:xfrm rot="10800000">
            <a:off x="5556900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1" name="Google Shape;361;p44"/>
          <p:cNvSpPr txBox="1"/>
          <p:nvPr/>
        </p:nvSpPr>
        <p:spPr>
          <a:xfrm>
            <a:off x="3709013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362" name="Google Shape;362;p44"/>
          <p:cNvSpPr txBox="1"/>
          <p:nvPr/>
        </p:nvSpPr>
        <p:spPr>
          <a:xfrm>
            <a:off x="5340138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</a:t>
            </a:r>
            <a:endParaRPr/>
          </a:p>
        </p:txBody>
      </p:sp>
      <p:sp>
        <p:nvSpPr>
          <p:cNvPr id="363" name="Google Shape;363;p44"/>
          <p:cNvSpPr txBox="1"/>
          <p:nvPr/>
        </p:nvSpPr>
        <p:spPr>
          <a:xfrm>
            <a:off x="2130938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cxnSp>
        <p:nvCxnSpPr>
          <p:cNvPr id="364" name="Google Shape;364;p44"/>
          <p:cNvCxnSpPr/>
          <p:nvPr/>
        </p:nvCxnSpPr>
        <p:spPr>
          <a:xfrm rot="10800000">
            <a:off x="3925775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44"/>
          <p:cNvCxnSpPr/>
          <p:nvPr/>
        </p:nvCxnSpPr>
        <p:spPr>
          <a:xfrm rot="10800000">
            <a:off x="2283425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44"/>
          <p:cNvCxnSpPr/>
          <p:nvPr/>
        </p:nvCxnSpPr>
        <p:spPr>
          <a:xfrm rot="10800000">
            <a:off x="7150025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7" name="Google Shape;367;p44"/>
          <p:cNvSpPr txBox="1"/>
          <p:nvPr/>
        </p:nvSpPr>
        <p:spPr>
          <a:xfrm>
            <a:off x="6933263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</a:t>
            </a:r>
            <a:endParaRPr/>
          </a:p>
        </p:txBody>
      </p:sp>
      <p:cxnSp>
        <p:nvCxnSpPr>
          <p:cNvPr id="368" name="Google Shape;368;p44"/>
          <p:cNvCxnSpPr/>
          <p:nvPr/>
        </p:nvCxnSpPr>
        <p:spPr>
          <a:xfrm rot="10800000">
            <a:off x="3106100" y="4191500"/>
            <a:ext cx="0" cy="41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44"/>
          <p:cNvCxnSpPr/>
          <p:nvPr/>
        </p:nvCxnSpPr>
        <p:spPr>
          <a:xfrm rot="10800000">
            <a:off x="4350250" y="4191500"/>
            <a:ext cx="0" cy="41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" name="Google Shape;370;p44"/>
          <p:cNvCxnSpPr/>
          <p:nvPr/>
        </p:nvCxnSpPr>
        <p:spPr>
          <a:xfrm rot="10800000">
            <a:off x="4653750" y="4191500"/>
            <a:ext cx="0" cy="41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44"/>
          <p:cNvCxnSpPr/>
          <p:nvPr/>
        </p:nvCxnSpPr>
        <p:spPr>
          <a:xfrm rot="10800000">
            <a:off x="5305900" y="4191500"/>
            <a:ext cx="0" cy="41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44"/>
          <p:cNvCxnSpPr/>
          <p:nvPr/>
        </p:nvCxnSpPr>
        <p:spPr>
          <a:xfrm rot="10800000">
            <a:off x="6204075" y="4191500"/>
            <a:ext cx="0" cy="41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44"/>
          <p:cNvCxnSpPr/>
          <p:nvPr/>
        </p:nvCxnSpPr>
        <p:spPr>
          <a:xfrm rot="10800000">
            <a:off x="6933275" y="4191500"/>
            <a:ext cx="0" cy="41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44"/>
          <p:cNvCxnSpPr/>
          <p:nvPr/>
        </p:nvCxnSpPr>
        <p:spPr>
          <a:xfrm>
            <a:off x="2452550" y="4878050"/>
            <a:ext cx="1307100" cy="0"/>
          </a:xfrm>
          <a:prstGeom prst="straightConnector1">
            <a:avLst/>
          </a:prstGeom>
          <a:noFill/>
          <a:ln cap="flat" cmpd="sng" w="19050">
            <a:solidFill>
              <a:srgbClr val="6D9EEB"/>
            </a:solidFill>
            <a:prstDash val="dash"/>
            <a:round/>
            <a:headEnd len="med" w="med" type="oval"/>
            <a:tailEnd len="med" w="med" type="oval"/>
          </a:ln>
        </p:spPr>
      </p:cxnSp>
      <p:cxnSp>
        <p:nvCxnSpPr>
          <p:cNvPr id="375" name="Google Shape;375;p44"/>
          <p:cNvCxnSpPr/>
          <p:nvPr/>
        </p:nvCxnSpPr>
        <p:spPr>
          <a:xfrm>
            <a:off x="4063175" y="4878050"/>
            <a:ext cx="1307100" cy="0"/>
          </a:xfrm>
          <a:prstGeom prst="straightConnector1">
            <a:avLst/>
          </a:prstGeom>
          <a:noFill/>
          <a:ln cap="flat" cmpd="sng" w="19050">
            <a:solidFill>
              <a:srgbClr val="6D9EEB"/>
            </a:solidFill>
            <a:prstDash val="dash"/>
            <a:round/>
            <a:headEnd len="med" w="med" type="oval"/>
            <a:tailEnd len="med" w="med" type="oval"/>
          </a:ln>
        </p:spPr>
      </p:cxnSp>
      <p:cxnSp>
        <p:nvCxnSpPr>
          <p:cNvPr id="376" name="Google Shape;376;p44"/>
          <p:cNvCxnSpPr/>
          <p:nvPr/>
        </p:nvCxnSpPr>
        <p:spPr>
          <a:xfrm>
            <a:off x="5707125" y="4878050"/>
            <a:ext cx="1307100" cy="0"/>
          </a:xfrm>
          <a:prstGeom prst="straightConnector1">
            <a:avLst/>
          </a:prstGeom>
          <a:noFill/>
          <a:ln cap="flat" cmpd="sng" w="19050">
            <a:solidFill>
              <a:srgbClr val="6D9EEB"/>
            </a:solidFill>
            <a:prstDash val="dash"/>
            <a:round/>
            <a:headEnd len="med" w="med" type="oval"/>
            <a:tailEnd len="med" w="med" type="oval"/>
          </a:ln>
        </p:spPr>
      </p:cxnSp>
      <p:sp>
        <p:nvSpPr>
          <p:cNvPr id="377" name="Google Shape;377;p44"/>
          <p:cNvSpPr txBox="1"/>
          <p:nvPr/>
        </p:nvSpPr>
        <p:spPr>
          <a:xfrm>
            <a:off x="2923438" y="363040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155CC"/>
                </a:solidFill>
              </a:rPr>
              <a:t>1</a:t>
            </a:r>
            <a:endParaRPr b="1" sz="1800">
              <a:solidFill>
                <a:srgbClr val="1155CC"/>
              </a:solidFill>
            </a:endParaRPr>
          </a:p>
        </p:txBody>
      </p:sp>
      <p:sp>
        <p:nvSpPr>
          <p:cNvPr id="378" name="Google Shape;378;p44"/>
          <p:cNvSpPr txBox="1"/>
          <p:nvPr/>
        </p:nvSpPr>
        <p:spPr>
          <a:xfrm>
            <a:off x="4569163" y="363040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155CC"/>
                </a:solidFill>
              </a:rPr>
              <a:t>3</a:t>
            </a:r>
            <a:endParaRPr b="1" sz="1800">
              <a:solidFill>
                <a:srgbClr val="1155CC"/>
              </a:solidFill>
            </a:endParaRPr>
          </a:p>
        </p:txBody>
      </p:sp>
      <p:sp>
        <p:nvSpPr>
          <p:cNvPr id="379" name="Google Shape;379;p44"/>
          <p:cNvSpPr txBox="1"/>
          <p:nvPr/>
        </p:nvSpPr>
        <p:spPr>
          <a:xfrm>
            <a:off x="6214900" y="3630400"/>
            <a:ext cx="4335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155CC"/>
                </a:solidFill>
              </a:rPr>
              <a:t>2</a:t>
            </a:r>
            <a:endParaRPr b="1" sz="1800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5" name="Google Shape;385;p45"/>
          <p:cNvSpPr txBox="1"/>
          <p:nvPr>
            <p:ph idx="1" type="body"/>
          </p:nvPr>
        </p:nvSpPr>
        <p:spPr>
          <a:xfrm>
            <a:off x="311700" y="1152475"/>
            <a:ext cx="8684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a bar as high as count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6" name="Google Shape;386;p4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7" name="Google Shape;387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5"/>
          <p:cNvSpPr/>
          <p:nvPr/>
        </p:nvSpPr>
        <p:spPr>
          <a:xfrm>
            <a:off x="2283425" y="1792750"/>
            <a:ext cx="4866600" cy="2814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9" name="Google Shape;389;p45"/>
          <p:cNvCxnSpPr/>
          <p:nvPr/>
        </p:nvCxnSpPr>
        <p:spPr>
          <a:xfrm rot="10800000">
            <a:off x="5556900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0" name="Google Shape;390;p45"/>
          <p:cNvSpPr txBox="1"/>
          <p:nvPr/>
        </p:nvSpPr>
        <p:spPr>
          <a:xfrm>
            <a:off x="3709013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391" name="Google Shape;391;p45"/>
          <p:cNvSpPr txBox="1"/>
          <p:nvPr/>
        </p:nvSpPr>
        <p:spPr>
          <a:xfrm>
            <a:off x="5340138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</a:t>
            </a:r>
            <a:endParaRPr/>
          </a:p>
        </p:txBody>
      </p:sp>
      <p:sp>
        <p:nvSpPr>
          <p:cNvPr id="392" name="Google Shape;392;p45"/>
          <p:cNvSpPr txBox="1"/>
          <p:nvPr/>
        </p:nvSpPr>
        <p:spPr>
          <a:xfrm>
            <a:off x="2130938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cxnSp>
        <p:nvCxnSpPr>
          <p:cNvPr id="393" name="Google Shape;393;p45"/>
          <p:cNvCxnSpPr/>
          <p:nvPr/>
        </p:nvCxnSpPr>
        <p:spPr>
          <a:xfrm rot="10800000">
            <a:off x="3925775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" name="Google Shape;394;p45"/>
          <p:cNvCxnSpPr/>
          <p:nvPr/>
        </p:nvCxnSpPr>
        <p:spPr>
          <a:xfrm rot="10800000">
            <a:off x="2283425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45"/>
          <p:cNvCxnSpPr/>
          <p:nvPr/>
        </p:nvCxnSpPr>
        <p:spPr>
          <a:xfrm rot="10800000">
            <a:off x="7150025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45"/>
          <p:cNvSpPr txBox="1"/>
          <p:nvPr/>
        </p:nvSpPr>
        <p:spPr>
          <a:xfrm>
            <a:off x="6933263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</a:t>
            </a:r>
            <a:endParaRPr/>
          </a:p>
        </p:txBody>
      </p:sp>
      <p:cxnSp>
        <p:nvCxnSpPr>
          <p:cNvPr id="397" name="Google Shape;397;p45"/>
          <p:cNvCxnSpPr/>
          <p:nvPr/>
        </p:nvCxnSpPr>
        <p:spPr>
          <a:xfrm rot="10800000">
            <a:off x="3106100" y="4191500"/>
            <a:ext cx="0" cy="41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" name="Google Shape;398;p45"/>
          <p:cNvCxnSpPr/>
          <p:nvPr/>
        </p:nvCxnSpPr>
        <p:spPr>
          <a:xfrm rot="10800000">
            <a:off x="4350250" y="4191500"/>
            <a:ext cx="0" cy="41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45"/>
          <p:cNvCxnSpPr/>
          <p:nvPr/>
        </p:nvCxnSpPr>
        <p:spPr>
          <a:xfrm rot="10800000">
            <a:off x="4653750" y="4191500"/>
            <a:ext cx="0" cy="41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" name="Google Shape;400;p45"/>
          <p:cNvCxnSpPr/>
          <p:nvPr/>
        </p:nvCxnSpPr>
        <p:spPr>
          <a:xfrm rot="10800000">
            <a:off x="5305900" y="4191500"/>
            <a:ext cx="0" cy="41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" name="Google Shape;401;p45"/>
          <p:cNvCxnSpPr/>
          <p:nvPr/>
        </p:nvCxnSpPr>
        <p:spPr>
          <a:xfrm rot="10800000">
            <a:off x="6204075" y="4191500"/>
            <a:ext cx="0" cy="41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45"/>
          <p:cNvCxnSpPr/>
          <p:nvPr/>
        </p:nvCxnSpPr>
        <p:spPr>
          <a:xfrm rot="10800000">
            <a:off x="6933275" y="4191500"/>
            <a:ext cx="0" cy="41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" name="Google Shape;403;p45"/>
          <p:cNvCxnSpPr/>
          <p:nvPr/>
        </p:nvCxnSpPr>
        <p:spPr>
          <a:xfrm>
            <a:off x="2452550" y="4878050"/>
            <a:ext cx="1307100" cy="0"/>
          </a:xfrm>
          <a:prstGeom prst="straightConnector1">
            <a:avLst/>
          </a:prstGeom>
          <a:noFill/>
          <a:ln cap="flat" cmpd="sng" w="19050">
            <a:solidFill>
              <a:srgbClr val="6D9EEB"/>
            </a:solidFill>
            <a:prstDash val="dash"/>
            <a:round/>
            <a:headEnd len="med" w="med" type="oval"/>
            <a:tailEnd len="med" w="med" type="oval"/>
          </a:ln>
        </p:spPr>
      </p:cxnSp>
      <p:cxnSp>
        <p:nvCxnSpPr>
          <p:cNvPr id="404" name="Google Shape;404;p45"/>
          <p:cNvCxnSpPr/>
          <p:nvPr/>
        </p:nvCxnSpPr>
        <p:spPr>
          <a:xfrm>
            <a:off x="4063175" y="4878050"/>
            <a:ext cx="1307100" cy="0"/>
          </a:xfrm>
          <a:prstGeom prst="straightConnector1">
            <a:avLst/>
          </a:prstGeom>
          <a:noFill/>
          <a:ln cap="flat" cmpd="sng" w="19050">
            <a:solidFill>
              <a:srgbClr val="6D9EEB"/>
            </a:solidFill>
            <a:prstDash val="dash"/>
            <a:round/>
            <a:headEnd len="med" w="med" type="oval"/>
            <a:tailEnd len="med" w="med" type="oval"/>
          </a:ln>
        </p:spPr>
      </p:cxnSp>
      <p:cxnSp>
        <p:nvCxnSpPr>
          <p:cNvPr id="405" name="Google Shape;405;p45"/>
          <p:cNvCxnSpPr/>
          <p:nvPr/>
        </p:nvCxnSpPr>
        <p:spPr>
          <a:xfrm>
            <a:off x="5707125" y="4878050"/>
            <a:ext cx="1307100" cy="0"/>
          </a:xfrm>
          <a:prstGeom prst="straightConnector1">
            <a:avLst/>
          </a:prstGeom>
          <a:noFill/>
          <a:ln cap="flat" cmpd="sng" w="19050">
            <a:solidFill>
              <a:srgbClr val="6D9EEB"/>
            </a:solidFill>
            <a:prstDash val="dash"/>
            <a:round/>
            <a:headEnd len="med" w="med" type="oval"/>
            <a:tailEnd len="med" w="med" type="oval"/>
          </a:ln>
        </p:spPr>
      </p:cxnSp>
      <p:sp>
        <p:nvSpPr>
          <p:cNvPr id="406" name="Google Shape;406;p45"/>
          <p:cNvSpPr txBox="1"/>
          <p:nvPr/>
        </p:nvSpPr>
        <p:spPr>
          <a:xfrm>
            <a:off x="2923438" y="363040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155CC"/>
                </a:solidFill>
              </a:rPr>
              <a:t>1</a:t>
            </a:r>
            <a:endParaRPr b="1" sz="1800">
              <a:solidFill>
                <a:srgbClr val="1155CC"/>
              </a:solidFill>
            </a:endParaRPr>
          </a:p>
        </p:txBody>
      </p:sp>
      <p:sp>
        <p:nvSpPr>
          <p:cNvPr id="407" name="Google Shape;407;p45"/>
          <p:cNvSpPr txBox="1"/>
          <p:nvPr/>
        </p:nvSpPr>
        <p:spPr>
          <a:xfrm>
            <a:off x="4569163" y="363040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155CC"/>
                </a:solidFill>
              </a:rPr>
              <a:t>3</a:t>
            </a:r>
            <a:endParaRPr b="1" sz="1800">
              <a:solidFill>
                <a:srgbClr val="1155CC"/>
              </a:solidFill>
            </a:endParaRPr>
          </a:p>
        </p:txBody>
      </p:sp>
      <p:sp>
        <p:nvSpPr>
          <p:cNvPr id="408" name="Google Shape;408;p45"/>
          <p:cNvSpPr txBox="1"/>
          <p:nvPr/>
        </p:nvSpPr>
        <p:spPr>
          <a:xfrm>
            <a:off x="6214900" y="3630400"/>
            <a:ext cx="4335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155CC"/>
                </a:solidFill>
              </a:rPr>
              <a:t>2</a:t>
            </a:r>
            <a:endParaRPr b="1" sz="1800">
              <a:solidFill>
                <a:srgbClr val="1155CC"/>
              </a:solidFill>
            </a:endParaRPr>
          </a:p>
        </p:txBody>
      </p:sp>
      <p:sp>
        <p:nvSpPr>
          <p:cNvPr id="409" name="Google Shape;409;p45"/>
          <p:cNvSpPr txBox="1"/>
          <p:nvPr/>
        </p:nvSpPr>
        <p:spPr>
          <a:xfrm>
            <a:off x="1906738" y="44291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cxnSp>
        <p:nvCxnSpPr>
          <p:cNvPr id="410" name="Google Shape;410;p45"/>
          <p:cNvCxnSpPr/>
          <p:nvPr/>
        </p:nvCxnSpPr>
        <p:spPr>
          <a:xfrm>
            <a:off x="2130950" y="4606750"/>
            <a:ext cx="1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" name="Google Shape;411;p45"/>
          <p:cNvSpPr txBox="1"/>
          <p:nvPr/>
        </p:nvSpPr>
        <p:spPr>
          <a:xfrm>
            <a:off x="1867838" y="3728125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cxnSp>
        <p:nvCxnSpPr>
          <p:cNvPr id="412" name="Google Shape;412;p45"/>
          <p:cNvCxnSpPr/>
          <p:nvPr/>
        </p:nvCxnSpPr>
        <p:spPr>
          <a:xfrm>
            <a:off x="2092050" y="3905725"/>
            <a:ext cx="1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3" name="Google Shape;413;p45"/>
          <p:cNvSpPr txBox="1"/>
          <p:nvPr/>
        </p:nvSpPr>
        <p:spPr>
          <a:xfrm>
            <a:off x="1867838" y="3057875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cxnSp>
        <p:nvCxnSpPr>
          <p:cNvPr id="414" name="Google Shape;414;p45"/>
          <p:cNvCxnSpPr/>
          <p:nvPr/>
        </p:nvCxnSpPr>
        <p:spPr>
          <a:xfrm>
            <a:off x="2092050" y="3235475"/>
            <a:ext cx="1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" name="Google Shape;415;p45"/>
          <p:cNvSpPr txBox="1"/>
          <p:nvPr/>
        </p:nvSpPr>
        <p:spPr>
          <a:xfrm>
            <a:off x="1867838" y="2422125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cxnSp>
        <p:nvCxnSpPr>
          <p:cNvPr id="416" name="Google Shape;416;p45"/>
          <p:cNvCxnSpPr/>
          <p:nvPr/>
        </p:nvCxnSpPr>
        <p:spPr>
          <a:xfrm>
            <a:off x="2092050" y="2599725"/>
            <a:ext cx="1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7" name="Google Shape;417;p45"/>
          <p:cNvSpPr txBox="1"/>
          <p:nvPr/>
        </p:nvSpPr>
        <p:spPr>
          <a:xfrm>
            <a:off x="1867838" y="1837125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cxnSp>
        <p:nvCxnSpPr>
          <p:cNvPr id="418" name="Google Shape;418;p45"/>
          <p:cNvCxnSpPr/>
          <p:nvPr/>
        </p:nvCxnSpPr>
        <p:spPr>
          <a:xfrm>
            <a:off x="2092050" y="2014725"/>
            <a:ext cx="1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6"/>
          <p:cNvSpPr/>
          <p:nvPr/>
        </p:nvSpPr>
        <p:spPr>
          <a:xfrm>
            <a:off x="5566400" y="3095950"/>
            <a:ext cx="1583700" cy="15210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46"/>
          <p:cNvSpPr/>
          <p:nvPr/>
        </p:nvSpPr>
        <p:spPr>
          <a:xfrm>
            <a:off x="3923900" y="2599725"/>
            <a:ext cx="1642500" cy="20043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46"/>
          <p:cNvSpPr/>
          <p:nvPr/>
        </p:nvSpPr>
        <p:spPr>
          <a:xfrm>
            <a:off x="2283425" y="3905725"/>
            <a:ext cx="1642500" cy="6996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7" name="Google Shape;427;p46"/>
          <p:cNvSpPr txBox="1"/>
          <p:nvPr>
            <p:ph idx="1" type="body"/>
          </p:nvPr>
        </p:nvSpPr>
        <p:spPr>
          <a:xfrm>
            <a:off x="311700" y="1152475"/>
            <a:ext cx="8684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a bar as high as count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8" name="Google Shape;428;p4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9" name="Google Shape;429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46"/>
          <p:cNvSpPr/>
          <p:nvPr/>
        </p:nvSpPr>
        <p:spPr>
          <a:xfrm>
            <a:off x="2283425" y="1792750"/>
            <a:ext cx="4866600" cy="2814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1" name="Google Shape;431;p46"/>
          <p:cNvCxnSpPr/>
          <p:nvPr/>
        </p:nvCxnSpPr>
        <p:spPr>
          <a:xfrm rot="10800000">
            <a:off x="5556900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2" name="Google Shape;432;p46"/>
          <p:cNvSpPr txBox="1"/>
          <p:nvPr/>
        </p:nvSpPr>
        <p:spPr>
          <a:xfrm>
            <a:off x="3709013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433" name="Google Shape;433;p46"/>
          <p:cNvSpPr txBox="1"/>
          <p:nvPr/>
        </p:nvSpPr>
        <p:spPr>
          <a:xfrm>
            <a:off x="5340138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</a:t>
            </a:r>
            <a:endParaRPr/>
          </a:p>
        </p:txBody>
      </p:sp>
      <p:sp>
        <p:nvSpPr>
          <p:cNvPr id="434" name="Google Shape;434;p46"/>
          <p:cNvSpPr txBox="1"/>
          <p:nvPr/>
        </p:nvSpPr>
        <p:spPr>
          <a:xfrm>
            <a:off x="2130938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cxnSp>
        <p:nvCxnSpPr>
          <p:cNvPr id="435" name="Google Shape;435;p46"/>
          <p:cNvCxnSpPr/>
          <p:nvPr/>
        </p:nvCxnSpPr>
        <p:spPr>
          <a:xfrm rot="10800000">
            <a:off x="3925775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" name="Google Shape;436;p46"/>
          <p:cNvCxnSpPr/>
          <p:nvPr/>
        </p:nvCxnSpPr>
        <p:spPr>
          <a:xfrm rot="10800000">
            <a:off x="2283425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" name="Google Shape;437;p46"/>
          <p:cNvCxnSpPr/>
          <p:nvPr/>
        </p:nvCxnSpPr>
        <p:spPr>
          <a:xfrm rot="10800000">
            <a:off x="7150025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8" name="Google Shape;438;p46"/>
          <p:cNvSpPr txBox="1"/>
          <p:nvPr/>
        </p:nvSpPr>
        <p:spPr>
          <a:xfrm>
            <a:off x="6933263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</a:t>
            </a:r>
            <a:endParaRPr/>
          </a:p>
        </p:txBody>
      </p:sp>
      <p:cxnSp>
        <p:nvCxnSpPr>
          <p:cNvPr id="439" name="Google Shape;439;p46"/>
          <p:cNvCxnSpPr/>
          <p:nvPr/>
        </p:nvCxnSpPr>
        <p:spPr>
          <a:xfrm rot="10800000">
            <a:off x="3106100" y="4191500"/>
            <a:ext cx="0" cy="41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46"/>
          <p:cNvCxnSpPr/>
          <p:nvPr/>
        </p:nvCxnSpPr>
        <p:spPr>
          <a:xfrm rot="10800000">
            <a:off x="4350250" y="4191500"/>
            <a:ext cx="0" cy="41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" name="Google Shape;441;p46"/>
          <p:cNvCxnSpPr/>
          <p:nvPr/>
        </p:nvCxnSpPr>
        <p:spPr>
          <a:xfrm rot="10800000">
            <a:off x="4653750" y="4191500"/>
            <a:ext cx="0" cy="41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46"/>
          <p:cNvCxnSpPr/>
          <p:nvPr/>
        </p:nvCxnSpPr>
        <p:spPr>
          <a:xfrm rot="10800000">
            <a:off x="5305900" y="4191500"/>
            <a:ext cx="0" cy="41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46"/>
          <p:cNvCxnSpPr/>
          <p:nvPr/>
        </p:nvCxnSpPr>
        <p:spPr>
          <a:xfrm rot="10800000">
            <a:off x="6204075" y="4191500"/>
            <a:ext cx="0" cy="41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" name="Google Shape;444;p46"/>
          <p:cNvCxnSpPr/>
          <p:nvPr/>
        </p:nvCxnSpPr>
        <p:spPr>
          <a:xfrm rot="10800000">
            <a:off x="6933275" y="4191500"/>
            <a:ext cx="0" cy="41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46"/>
          <p:cNvCxnSpPr/>
          <p:nvPr/>
        </p:nvCxnSpPr>
        <p:spPr>
          <a:xfrm>
            <a:off x="2452550" y="4878050"/>
            <a:ext cx="1307100" cy="0"/>
          </a:xfrm>
          <a:prstGeom prst="straightConnector1">
            <a:avLst/>
          </a:prstGeom>
          <a:noFill/>
          <a:ln cap="flat" cmpd="sng" w="19050">
            <a:solidFill>
              <a:srgbClr val="6D9EEB"/>
            </a:solidFill>
            <a:prstDash val="dash"/>
            <a:round/>
            <a:headEnd len="med" w="med" type="oval"/>
            <a:tailEnd len="med" w="med" type="oval"/>
          </a:ln>
        </p:spPr>
      </p:cxnSp>
      <p:cxnSp>
        <p:nvCxnSpPr>
          <p:cNvPr id="446" name="Google Shape;446;p46"/>
          <p:cNvCxnSpPr/>
          <p:nvPr/>
        </p:nvCxnSpPr>
        <p:spPr>
          <a:xfrm>
            <a:off x="4063175" y="4878050"/>
            <a:ext cx="1307100" cy="0"/>
          </a:xfrm>
          <a:prstGeom prst="straightConnector1">
            <a:avLst/>
          </a:prstGeom>
          <a:noFill/>
          <a:ln cap="flat" cmpd="sng" w="19050">
            <a:solidFill>
              <a:srgbClr val="6D9EEB"/>
            </a:solidFill>
            <a:prstDash val="dash"/>
            <a:round/>
            <a:headEnd len="med" w="med" type="oval"/>
            <a:tailEnd len="med" w="med" type="oval"/>
          </a:ln>
        </p:spPr>
      </p:cxnSp>
      <p:cxnSp>
        <p:nvCxnSpPr>
          <p:cNvPr id="447" name="Google Shape;447;p46"/>
          <p:cNvCxnSpPr/>
          <p:nvPr/>
        </p:nvCxnSpPr>
        <p:spPr>
          <a:xfrm>
            <a:off x="5707125" y="4878050"/>
            <a:ext cx="1307100" cy="0"/>
          </a:xfrm>
          <a:prstGeom prst="straightConnector1">
            <a:avLst/>
          </a:prstGeom>
          <a:noFill/>
          <a:ln cap="flat" cmpd="sng" w="19050">
            <a:solidFill>
              <a:srgbClr val="6D9EEB"/>
            </a:solidFill>
            <a:prstDash val="dash"/>
            <a:round/>
            <a:headEnd len="med" w="med" type="oval"/>
            <a:tailEnd len="med" w="med" type="oval"/>
          </a:ln>
        </p:spPr>
      </p:cxnSp>
      <p:sp>
        <p:nvSpPr>
          <p:cNvPr id="448" name="Google Shape;448;p46"/>
          <p:cNvSpPr txBox="1"/>
          <p:nvPr/>
        </p:nvSpPr>
        <p:spPr>
          <a:xfrm>
            <a:off x="2923438" y="363040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155CC"/>
                </a:solidFill>
              </a:rPr>
              <a:t>1</a:t>
            </a:r>
            <a:endParaRPr b="1" sz="1800">
              <a:solidFill>
                <a:srgbClr val="1155CC"/>
              </a:solidFill>
            </a:endParaRPr>
          </a:p>
        </p:txBody>
      </p:sp>
      <p:sp>
        <p:nvSpPr>
          <p:cNvPr id="449" name="Google Shape;449;p46"/>
          <p:cNvSpPr txBox="1"/>
          <p:nvPr/>
        </p:nvSpPr>
        <p:spPr>
          <a:xfrm>
            <a:off x="4569163" y="363040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155CC"/>
                </a:solidFill>
              </a:rPr>
              <a:t>3</a:t>
            </a:r>
            <a:endParaRPr b="1" sz="1800">
              <a:solidFill>
                <a:srgbClr val="1155CC"/>
              </a:solidFill>
            </a:endParaRPr>
          </a:p>
        </p:txBody>
      </p:sp>
      <p:sp>
        <p:nvSpPr>
          <p:cNvPr id="450" name="Google Shape;450;p46"/>
          <p:cNvSpPr txBox="1"/>
          <p:nvPr/>
        </p:nvSpPr>
        <p:spPr>
          <a:xfrm>
            <a:off x="6214900" y="3630400"/>
            <a:ext cx="4335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155CC"/>
                </a:solidFill>
              </a:rPr>
              <a:t>2</a:t>
            </a:r>
            <a:endParaRPr b="1" sz="1800">
              <a:solidFill>
                <a:srgbClr val="1155CC"/>
              </a:solidFill>
            </a:endParaRPr>
          </a:p>
        </p:txBody>
      </p:sp>
      <p:sp>
        <p:nvSpPr>
          <p:cNvPr id="451" name="Google Shape;451;p46"/>
          <p:cNvSpPr txBox="1"/>
          <p:nvPr/>
        </p:nvSpPr>
        <p:spPr>
          <a:xfrm>
            <a:off x="1906738" y="44291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cxnSp>
        <p:nvCxnSpPr>
          <p:cNvPr id="452" name="Google Shape;452;p46"/>
          <p:cNvCxnSpPr/>
          <p:nvPr/>
        </p:nvCxnSpPr>
        <p:spPr>
          <a:xfrm>
            <a:off x="2130950" y="4606750"/>
            <a:ext cx="1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3" name="Google Shape;453;p46"/>
          <p:cNvSpPr txBox="1"/>
          <p:nvPr/>
        </p:nvSpPr>
        <p:spPr>
          <a:xfrm>
            <a:off x="1867838" y="3728125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cxnSp>
        <p:nvCxnSpPr>
          <p:cNvPr id="454" name="Google Shape;454;p46"/>
          <p:cNvCxnSpPr/>
          <p:nvPr/>
        </p:nvCxnSpPr>
        <p:spPr>
          <a:xfrm>
            <a:off x="2092050" y="3905725"/>
            <a:ext cx="1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5" name="Google Shape;455;p46"/>
          <p:cNvSpPr txBox="1"/>
          <p:nvPr/>
        </p:nvSpPr>
        <p:spPr>
          <a:xfrm>
            <a:off x="1867838" y="3057875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cxnSp>
        <p:nvCxnSpPr>
          <p:cNvPr id="456" name="Google Shape;456;p46"/>
          <p:cNvCxnSpPr/>
          <p:nvPr/>
        </p:nvCxnSpPr>
        <p:spPr>
          <a:xfrm>
            <a:off x="2092050" y="3235475"/>
            <a:ext cx="1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7" name="Google Shape;457;p46"/>
          <p:cNvSpPr txBox="1"/>
          <p:nvPr/>
        </p:nvSpPr>
        <p:spPr>
          <a:xfrm>
            <a:off x="1867838" y="2422125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cxnSp>
        <p:nvCxnSpPr>
          <p:cNvPr id="458" name="Google Shape;458;p46"/>
          <p:cNvCxnSpPr/>
          <p:nvPr/>
        </p:nvCxnSpPr>
        <p:spPr>
          <a:xfrm>
            <a:off x="2092050" y="2599725"/>
            <a:ext cx="1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9" name="Google Shape;459;p46"/>
          <p:cNvSpPr txBox="1"/>
          <p:nvPr/>
        </p:nvSpPr>
        <p:spPr>
          <a:xfrm>
            <a:off x="1867838" y="1837125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cxnSp>
        <p:nvCxnSpPr>
          <p:cNvPr id="460" name="Google Shape;460;p46"/>
          <p:cNvCxnSpPr/>
          <p:nvPr/>
        </p:nvCxnSpPr>
        <p:spPr>
          <a:xfrm>
            <a:off x="2092050" y="2014725"/>
            <a:ext cx="1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7"/>
          <p:cNvSpPr/>
          <p:nvPr/>
        </p:nvSpPr>
        <p:spPr>
          <a:xfrm>
            <a:off x="5566400" y="3095950"/>
            <a:ext cx="1583700" cy="15210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47"/>
          <p:cNvSpPr/>
          <p:nvPr/>
        </p:nvSpPr>
        <p:spPr>
          <a:xfrm>
            <a:off x="3923900" y="2599725"/>
            <a:ext cx="1642500" cy="20043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47"/>
          <p:cNvSpPr/>
          <p:nvPr/>
        </p:nvSpPr>
        <p:spPr>
          <a:xfrm>
            <a:off x="2283425" y="3905725"/>
            <a:ext cx="1642500" cy="6996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p47"/>
          <p:cNvSpPr txBox="1"/>
          <p:nvPr>
            <p:ph idx="1" type="body"/>
          </p:nvPr>
        </p:nvSpPr>
        <p:spPr>
          <a:xfrm>
            <a:off x="311700" y="1152475"/>
            <a:ext cx="8684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a bar as high as count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0" name="Google Shape;470;p4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1" name="Google Shape;471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47"/>
          <p:cNvSpPr/>
          <p:nvPr/>
        </p:nvSpPr>
        <p:spPr>
          <a:xfrm>
            <a:off x="2283425" y="1792750"/>
            <a:ext cx="4866600" cy="2814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3" name="Google Shape;473;p47"/>
          <p:cNvCxnSpPr/>
          <p:nvPr/>
        </p:nvCxnSpPr>
        <p:spPr>
          <a:xfrm rot="10800000">
            <a:off x="5556900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4" name="Google Shape;474;p47"/>
          <p:cNvSpPr txBox="1"/>
          <p:nvPr/>
        </p:nvSpPr>
        <p:spPr>
          <a:xfrm>
            <a:off x="3709013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475" name="Google Shape;475;p47"/>
          <p:cNvSpPr txBox="1"/>
          <p:nvPr/>
        </p:nvSpPr>
        <p:spPr>
          <a:xfrm>
            <a:off x="5340138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</a:t>
            </a:r>
            <a:endParaRPr/>
          </a:p>
        </p:txBody>
      </p:sp>
      <p:sp>
        <p:nvSpPr>
          <p:cNvPr id="476" name="Google Shape;476;p47"/>
          <p:cNvSpPr txBox="1"/>
          <p:nvPr/>
        </p:nvSpPr>
        <p:spPr>
          <a:xfrm>
            <a:off x="2130938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cxnSp>
        <p:nvCxnSpPr>
          <p:cNvPr id="477" name="Google Shape;477;p47"/>
          <p:cNvCxnSpPr/>
          <p:nvPr/>
        </p:nvCxnSpPr>
        <p:spPr>
          <a:xfrm rot="10800000">
            <a:off x="3925775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" name="Google Shape;478;p47"/>
          <p:cNvCxnSpPr/>
          <p:nvPr/>
        </p:nvCxnSpPr>
        <p:spPr>
          <a:xfrm rot="10800000">
            <a:off x="2283425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47"/>
          <p:cNvCxnSpPr/>
          <p:nvPr/>
        </p:nvCxnSpPr>
        <p:spPr>
          <a:xfrm rot="10800000">
            <a:off x="7150025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0" name="Google Shape;480;p47"/>
          <p:cNvSpPr txBox="1"/>
          <p:nvPr/>
        </p:nvSpPr>
        <p:spPr>
          <a:xfrm>
            <a:off x="6933263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</a:t>
            </a:r>
            <a:endParaRPr/>
          </a:p>
        </p:txBody>
      </p:sp>
      <p:cxnSp>
        <p:nvCxnSpPr>
          <p:cNvPr id="481" name="Google Shape;481;p47"/>
          <p:cNvCxnSpPr/>
          <p:nvPr/>
        </p:nvCxnSpPr>
        <p:spPr>
          <a:xfrm>
            <a:off x="2452550" y="4878050"/>
            <a:ext cx="1307100" cy="0"/>
          </a:xfrm>
          <a:prstGeom prst="straightConnector1">
            <a:avLst/>
          </a:prstGeom>
          <a:noFill/>
          <a:ln cap="flat" cmpd="sng" w="19050">
            <a:solidFill>
              <a:srgbClr val="6D9EEB"/>
            </a:solidFill>
            <a:prstDash val="dash"/>
            <a:round/>
            <a:headEnd len="med" w="med" type="oval"/>
            <a:tailEnd len="med" w="med" type="oval"/>
          </a:ln>
        </p:spPr>
      </p:cxnSp>
      <p:cxnSp>
        <p:nvCxnSpPr>
          <p:cNvPr id="482" name="Google Shape;482;p47"/>
          <p:cNvCxnSpPr/>
          <p:nvPr/>
        </p:nvCxnSpPr>
        <p:spPr>
          <a:xfrm>
            <a:off x="4063175" y="4878050"/>
            <a:ext cx="1307100" cy="0"/>
          </a:xfrm>
          <a:prstGeom prst="straightConnector1">
            <a:avLst/>
          </a:prstGeom>
          <a:noFill/>
          <a:ln cap="flat" cmpd="sng" w="19050">
            <a:solidFill>
              <a:srgbClr val="6D9EEB"/>
            </a:solidFill>
            <a:prstDash val="dash"/>
            <a:round/>
            <a:headEnd len="med" w="med" type="oval"/>
            <a:tailEnd len="med" w="med" type="oval"/>
          </a:ln>
        </p:spPr>
      </p:cxnSp>
      <p:cxnSp>
        <p:nvCxnSpPr>
          <p:cNvPr id="483" name="Google Shape;483;p47"/>
          <p:cNvCxnSpPr/>
          <p:nvPr/>
        </p:nvCxnSpPr>
        <p:spPr>
          <a:xfrm>
            <a:off x="5707125" y="4878050"/>
            <a:ext cx="1307100" cy="0"/>
          </a:xfrm>
          <a:prstGeom prst="straightConnector1">
            <a:avLst/>
          </a:prstGeom>
          <a:noFill/>
          <a:ln cap="flat" cmpd="sng" w="19050">
            <a:solidFill>
              <a:srgbClr val="6D9EEB"/>
            </a:solidFill>
            <a:prstDash val="dash"/>
            <a:round/>
            <a:headEnd len="med" w="med" type="oval"/>
            <a:tailEnd len="med" w="med" type="oval"/>
          </a:ln>
        </p:spPr>
      </p:cxnSp>
      <p:sp>
        <p:nvSpPr>
          <p:cNvPr id="484" name="Google Shape;484;p47"/>
          <p:cNvSpPr txBox="1"/>
          <p:nvPr/>
        </p:nvSpPr>
        <p:spPr>
          <a:xfrm>
            <a:off x="1906738" y="44291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cxnSp>
        <p:nvCxnSpPr>
          <p:cNvPr id="485" name="Google Shape;485;p47"/>
          <p:cNvCxnSpPr/>
          <p:nvPr/>
        </p:nvCxnSpPr>
        <p:spPr>
          <a:xfrm>
            <a:off x="2130950" y="4606750"/>
            <a:ext cx="1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6" name="Google Shape;486;p47"/>
          <p:cNvSpPr txBox="1"/>
          <p:nvPr/>
        </p:nvSpPr>
        <p:spPr>
          <a:xfrm>
            <a:off x="1867838" y="3728125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cxnSp>
        <p:nvCxnSpPr>
          <p:cNvPr id="487" name="Google Shape;487;p47"/>
          <p:cNvCxnSpPr/>
          <p:nvPr/>
        </p:nvCxnSpPr>
        <p:spPr>
          <a:xfrm>
            <a:off x="2092050" y="3905725"/>
            <a:ext cx="1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8" name="Google Shape;488;p47"/>
          <p:cNvSpPr txBox="1"/>
          <p:nvPr/>
        </p:nvSpPr>
        <p:spPr>
          <a:xfrm>
            <a:off x="1867838" y="3057875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cxnSp>
        <p:nvCxnSpPr>
          <p:cNvPr id="489" name="Google Shape;489;p47"/>
          <p:cNvCxnSpPr/>
          <p:nvPr/>
        </p:nvCxnSpPr>
        <p:spPr>
          <a:xfrm>
            <a:off x="2092050" y="3235475"/>
            <a:ext cx="1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0" name="Google Shape;490;p47"/>
          <p:cNvSpPr txBox="1"/>
          <p:nvPr/>
        </p:nvSpPr>
        <p:spPr>
          <a:xfrm>
            <a:off x="1867838" y="2422125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cxnSp>
        <p:nvCxnSpPr>
          <p:cNvPr id="491" name="Google Shape;491;p47"/>
          <p:cNvCxnSpPr/>
          <p:nvPr/>
        </p:nvCxnSpPr>
        <p:spPr>
          <a:xfrm>
            <a:off x="2092050" y="2599725"/>
            <a:ext cx="1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2" name="Google Shape;492;p47"/>
          <p:cNvSpPr txBox="1"/>
          <p:nvPr/>
        </p:nvSpPr>
        <p:spPr>
          <a:xfrm>
            <a:off x="1867838" y="1837125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cxnSp>
        <p:nvCxnSpPr>
          <p:cNvPr id="493" name="Google Shape;493;p47"/>
          <p:cNvCxnSpPr/>
          <p:nvPr/>
        </p:nvCxnSpPr>
        <p:spPr>
          <a:xfrm>
            <a:off x="2092050" y="2014725"/>
            <a:ext cx="1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8"/>
          <p:cNvSpPr/>
          <p:nvPr/>
        </p:nvSpPr>
        <p:spPr>
          <a:xfrm>
            <a:off x="5566400" y="3095950"/>
            <a:ext cx="1583700" cy="15210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48"/>
          <p:cNvSpPr/>
          <p:nvPr/>
        </p:nvSpPr>
        <p:spPr>
          <a:xfrm>
            <a:off x="3923900" y="2599725"/>
            <a:ext cx="1642500" cy="20043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48"/>
          <p:cNvSpPr/>
          <p:nvPr/>
        </p:nvSpPr>
        <p:spPr>
          <a:xfrm>
            <a:off x="2283425" y="3905725"/>
            <a:ext cx="1642500" cy="6996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2" name="Google Shape;502;p48"/>
          <p:cNvSpPr txBox="1"/>
          <p:nvPr>
            <p:ph idx="1" type="body"/>
          </p:nvPr>
        </p:nvSpPr>
        <p:spPr>
          <a:xfrm>
            <a:off x="311700" y="1152475"/>
            <a:ext cx="8684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Histogram is complete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03" name="Google Shape;503;p4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4" name="Google Shape;504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8"/>
          <p:cNvSpPr/>
          <p:nvPr/>
        </p:nvSpPr>
        <p:spPr>
          <a:xfrm>
            <a:off x="2283425" y="1792750"/>
            <a:ext cx="4866600" cy="2814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6" name="Google Shape;506;p48"/>
          <p:cNvCxnSpPr/>
          <p:nvPr/>
        </p:nvCxnSpPr>
        <p:spPr>
          <a:xfrm rot="10800000">
            <a:off x="5556900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" name="Google Shape;507;p48"/>
          <p:cNvSpPr txBox="1"/>
          <p:nvPr/>
        </p:nvSpPr>
        <p:spPr>
          <a:xfrm>
            <a:off x="3709013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508" name="Google Shape;508;p48"/>
          <p:cNvSpPr txBox="1"/>
          <p:nvPr/>
        </p:nvSpPr>
        <p:spPr>
          <a:xfrm>
            <a:off x="5340138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</a:t>
            </a:r>
            <a:endParaRPr/>
          </a:p>
        </p:txBody>
      </p:sp>
      <p:sp>
        <p:nvSpPr>
          <p:cNvPr id="509" name="Google Shape;509;p48"/>
          <p:cNvSpPr txBox="1"/>
          <p:nvPr/>
        </p:nvSpPr>
        <p:spPr>
          <a:xfrm>
            <a:off x="2130938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cxnSp>
        <p:nvCxnSpPr>
          <p:cNvPr id="510" name="Google Shape;510;p48"/>
          <p:cNvCxnSpPr/>
          <p:nvPr/>
        </p:nvCxnSpPr>
        <p:spPr>
          <a:xfrm rot="10800000">
            <a:off x="3925775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" name="Google Shape;511;p48"/>
          <p:cNvCxnSpPr/>
          <p:nvPr/>
        </p:nvCxnSpPr>
        <p:spPr>
          <a:xfrm rot="10800000">
            <a:off x="2283425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48"/>
          <p:cNvCxnSpPr/>
          <p:nvPr/>
        </p:nvCxnSpPr>
        <p:spPr>
          <a:xfrm rot="10800000">
            <a:off x="7150025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3" name="Google Shape;513;p48"/>
          <p:cNvSpPr txBox="1"/>
          <p:nvPr/>
        </p:nvSpPr>
        <p:spPr>
          <a:xfrm>
            <a:off x="6933263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</a:t>
            </a:r>
            <a:endParaRPr/>
          </a:p>
        </p:txBody>
      </p:sp>
      <p:sp>
        <p:nvSpPr>
          <p:cNvPr id="514" name="Google Shape;514;p48"/>
          <p:cNvSpPr txBox="1"/>
          <p:nvPr/>
        </p:nvSpPr>
        <p:spPr>
          <a:xfrm>
            <a:off x="1906738" y="44291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cxnSp>
        <p:nvCxnSpPr>
          <p:cNvPr id="515" name="Google Shape;515;p48"/>
          <p:cNvCxnSpPr/>
          <p:nvPr/>
        </p:nvCxnSpPr>
        <p:spPr>
          <a:xfrm>
            <a:off x="2130950" y="4606750"/>
            <a:ext cx="1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6" name="Google Shape;516;p48"/>
          <p:cNvSpPr txBox="1"/>
          <p:nvPr/>
        </p:nvSpPr>
        <p:spPr>
          <a:xfrm>
            <a:off x="1867838" y="3728125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cxnSp>
        <p:nvCxnSpPr>
          <p:cNvPr id="517" name="Google Shape;517;p48"/>
          <p:cNvCxnSpPr/>
          <p:nvPr/>
        </p:nvCxnSpPr>
        <p:spPr>
          <a:xfrm>
            <a:off x="2092050" y="3905725"/>
            <a:ext cx="1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8" name="Google Shape;518;p48"/>
          <p:cNvSpPr txBox="1"/>
          <p:nvPr/>
        </p:nvSpPr>
        <p:spPr>
          <a:xfrm>
            <a:off x="1867838" y="3057875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cxnSp>
        <p:nvCxnSpPr>
          <p:cNvPr id="519" name="Google Shape;519;p48"/>
          <p:cNvCxnSpPr/>
          <p:nvPr/>
        </p:nvCxnSpPr>
        <p:spPr>
          <a:xfrm>
            <a:off x="2092050" y="3235475"/>
            <a:ext cx="1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0" name="Google Shape;520;p48"/>
          <p:cNvSpPr txBox="1"/>
          <p:nvPr/>
        </p:nvSpPr>
        <p:spPr>
          <a:xfrm>
            <a:off x="1867838" y="2422125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cxnSp>
        <p:nvCxnSpPr>
          <p:cNvPr id="521" name="Google Shape;521;p48"/>
          <p:cNvCxnSpPr/>
          <p:nvPr/>
        </p:nvCxnSpPr>
        <p:spPr>
          <a:xfrm>
            <a:off x="2092050" y="2599725"/>
            <a:ext cx="1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2" name="Google Shape;522;p48"/>
          <p:cNvSpPr txBox="1"/>
          <p:nvPr/>
        </p:nvSpPr>
        <p:spPr>
          <a:xfrm>
            <a:off x="1867838" y="1837125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cxnSp>
        <p:nvCxnSpPr>
          <p:cNvPr id="523" name="Google Shape;523;p48"/>
          <p:cNvCxnSpPr/>
          <p:nvPr/>
        </p:nvCxnSpPr>
        <p:spPr>
          <a:xfrm>
            <a:off x="2092050" y="2014725"/>
            <a:ext cx="1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9"/>
          <p:cNvSpPr/>
          <p:nvPr/>
        </p:nvSpPr>
        <p:spPr>
          <a:xfrm>
            <a:off x="5566400" y="3095950"/>
            <a:ext cx="1583700" cy="15210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49"/>
          <p:cNvSpPr/>
          <p:nvPr/>
        </p:nvSpPr>
        <p:spPr>
          <a:xfrm>
            <a:off x="3923900" y="2599725"/>
            <a:ext cx="1642500" cy="20043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49"/>
          <p:cNvSpPr/>
          <p:nvPr/>
        </p:nvSpPr>
        <p:spPr>
          <a:xfrm>
            <a:off x="2283425" y="3905725"/>
            <a:ext cx="1642500" cy="6996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2" name="Google Shape;532;p49"/>
          <p:cNvSpPr txBox="1"/>
          <p:nvPr>
            <p:ph idx="1" type="body"/>
          </p:nvPr>
        </p:nvSpPr>
        <p:spPr>
          <a:xfrm>
            <a:off x="311700" y="1152475"/>
            <a:ext cx="8684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Y-axis can also be normalized as percent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33" name="Google Shape;533;p4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34" name="Google Shape;534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49"/>
          <p:cNvSpPr/>
          <p:nvPr/>
        </p:nvSpPr>
        <p:spPr>
          <a:xfrm>
            <a:off x="2283425" y="1792750"/>
            <a:ext cx="4866600" cy="2814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6" name="Google Shape;536;p49"/>
          <p:cNvCxnSpPr/>
          <p:nvPr/>
        </p:nvCxnSpPr>
        <p:spPr>
          <a:xfrm rot="10800000">
            <a:off x="5556900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" name="Google Shape;537;p49"/>
          <p:cNvSpPr txBox="1"/>
          <p:nvPr/>
        </p:nvSpPr>
        <p:spPr>
          <a:xfrm>
            <a:off x="3709013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538" name="Google Shape;538;p49"/>
          <p:cNvSpPr txBox="1"/>
          <p:nvPr/>
        </p:nvSpPr>
        <p:spPr>
          <a:xfrm>
            <a:off x="5340138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</a:t>
            </a:r>
            <a:endParaRPr/>
          </a:p>
        </p:txBody>
      </p:sp>
      <p:sp>
        <p:nvSpPr>
          <p:cNvPr id="539" name="Google Shape;539;p49"/>
          <p:cNvSpPr txBox="1"/>
          <p:nvPr/>
        </p:nvSpPr>
        <p:spPr>
          <a:xfrm>
            <a:off x="2130938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cxnSp>
        <p:nvCxnSpPr>
          <p:cNvPr id="540" name="Google Shape;540;p49"/>
          <p:cNvCxnSpPr/>
          <p:nvPr/>
        </p:nvCxnSpPr>
        <p:spPr>
          <a:xfrm rot="10800000">
            <a:off x="3925775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" name="Google Shape;541;p49"/>
          <p:cNvCxnSpPr/>
          <p:nvPr/>
        </p:nvCxnSpPr>
        <p:spPr>
          <a:xfrm rot="10800000">
            <a:off x="2283425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2" name="Google Shape;542;p49"/>
          <p:cNvCxnSpPr/>
          <p:nvPr/>
        </p:nvCxnSpPr>
        <p:spPr>
          <a:xfrm rot="10800000">
            <a:off x="7150025" y="4606700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3" name="Google Shape;543;p49"/>
          <p:cNvSpPr txBox="1"/>
          <p:nvPr/>
        </p:nvSpPr>
        <p:spPr>
          <a:xfrm>
            <a:off x="6933263" y="47004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</a:t>
            </a:r>
            <a:endParaRPr/>
          </a:p>
        </p:txBody>
      </p:sp>
      <p:sp>
        <p:nvSpPr>
          <p:cNvPr id="544" name="Google Shape;544;p49"/>
          <p:cNvSpPr txBox="1"/>
          <p:nvPr/>
        </p:nvSpPr>
        <p:spPr>
          <a:xfrm>
            <a:off x="1906738" y="4429150"/>
            <a:ext cx="433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cxnSp>
        <p:nvCxnSpPr>
          <p:cNvPr id="545" name="Google Shape;545;p49"/>
          <p:cNvCxnSpPr/>
          <p:nvPr/>
        </p:nvCxnSpPr>
        <p:spPr>
          <a:xfrm>
            <a:off x="2130950" y="4606750"/>
            <a:ext cx="1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6" name="Google Shape;546;p49"/>
          <p:cNvSpPr txBox="1"/>
          <p:nvPr/>
        </p:nvSpPr>
        <p:spPr>
          <a:xfrm>
            <a:off x="1469150" y="3724063"/>
            <a:ext cx="7563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0.166</a:t>
            </a:r>
            <a:endParaRPr/>
          </a:p>
        </p:txBody>
      </p:sp>
      <p:cxnSp>
        <p:nvCxnSpPr>
          <p:cNvPr id="547" name="Google Shape;547;p49"/>
          <p:cNvCxnSpPr/>
          <p:nvPr/>
        </p:nvCxnSpPr>
        <p:spPr>
          <a:xfrm>
            <a:off x="2092050" y="3905725"/>
            <a:ext cx="1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8" name="Google Shape;548;p49"/>
          <p:cNvSpPr txBox="1"/>
          <p:nvPr/>
        </p:nvSpPr>
        <p:spPr>
          <a:xfrm>
            <a:off x="1492408" y="3018963"/>
            <a:ext cx="7098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0.333</a:t>
            </a:r>
            <a:endParaRPr/>
          </a:p>
        </p:txBody>
      </p:sp>
      <p:cxnSp>
        <p:nvCxnSpPr>
          <p:cNvPr id="549" name="Google Shape;549;p49"/>
          <p:cNvCxnSpPr/>
          <p:nvPr/>
        </p:nvCxnSpPr>
        <p:spPr>
          <a:xfrm>
            <a:off x="2092050" y="3235475"/>
            <a:ext cx="1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0" name="Google Shape;550;p49"/>
          <p:cNvSpPr txBox="1"/>
          <p:nvPr/>
        </p:nvSpPr>
        <p:spPr>
          <a:xfrm>
            <a:off x="1645306" y="2422125"/>
            <a:ext cx="6561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0.5</a:t>
            </a:r>
            <a:endParaRPr/>
          </a:p>
        </p:txBody>
      </p:sp>
      <p:cxnSp>
        <p:nvCxnSpPr>
          <p:cNvPr id="551" name="Google Shape;551;p49"/>
          <p:cNvCxnSpPr/>
          <p:nvPr/>
        </p:nvCxnSpPr>
        <p:spPr>
          <a:xfrm>
            <a:off x="2092050" y="2599725"/>
            <a:ext cx="1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7" name="Google Shape;557;p50"/>
          <p:cNvSpPr txBox="1"/>
          <p:nvPr>
            <p:ph idx="1" type="body"/>
          </p:nvPr>
        </p:nvSpPr>
        <p:spPr>
          <a:xfrm>
            <a:off x="311700" y="1152475"/>
            <a:ext cx="8684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Changing number of bins shows more detail instead of general trends.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8" name="Google Shape;558;p5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59" name="Google Shape;559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7488" y="2305825"/>
            <a:ext cx="3629025" cy="24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6" name="Google Shape;566;p51"/>
          <p:cNvSpPr txBox="1"/>
          <p:nvPr>
            <p:ph idx="1" type="body"/>
          </p:nvPr>
        </p:nvSpPr>
        <p:spPr>
          <a:xfrm>
            <a:off x="311700" y="1152475"/>
            <a:ext cx="8684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Changing number of bins shows more detail instead of general trends.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67" name="Google Shape;567;p5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8" name="Google Shape;568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7488" y="2305825"/>
            <a:ext cx="3629025" cy="24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5" name="Google Shape;575;p52"/>
          <p:cNvSpPr txBox="1"/>
          <p:nvPr>
            <p:ph idx="1" type="body"/>
          </p:nvPr>
        </p:nvSpPr>
        <p:spPr>
          <a:xfrm>
            <a:off x="311700" y="1152475"/>
            <a:ext cx="8684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Changing number of bins shows more detail instead of general trends.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76" name="Google Shape;576;p5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7" name="Google Shape;577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6063" y="2305825"/>
            <a:ext cx="3571875" cy="24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5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4" name="Google Shape;584;p53"/>
          <p:cNvSpPr txBox="1"/>
          <p:nvPr>
            <p:ph idx="1" type="body"/>
          </p:nvPr>
        </p:nvSpPr>
        <p:spPr>
          <a:xfrm>
            <a:off x="311700" y="1152475"/>
            <a:ext cx="8684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Seaborn also allows us to add on a KDE plot curve on top of a histogram.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85" name="Google Shape;585;p5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86" name="Google Shape;586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0350" y="2201050"/>
            <a:ext cx="3543300" cy="26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3" name="Google Shape;593;p54"/>
          <p:cNvSpPr txBox="1"/>
          <p:nvPr>
            <p:ph idx="1" type="body"/>
          </p:nvPr>
        </p:nvSpPr>
        <p:spPr>
          <a:xfrm>
            <a:off x="311700" y="1152475"/>
            <a:ext cx="8684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what a KDE plot is and how it is constructed.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94" name="Google Shape;594;p5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95" name="Google Shape;595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0350" y="2201050"/>
            <a:ext cx="3543300" cy="26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2" name="Google Shape;602;p55"/>
          <p:cNvSpPr txBox="1"/>
          <p:nvPr>
            <p:ph idx="1" type="body"/>
          </p:nvPr>
        </p:nvSpPr>
        <p:spPr>
          <a:xfrm>
            <a:off x="311700" y="1152475"/>
            <a:ext cx="8684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KDE stands for Kernel Density Estimation.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is a method of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estimating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 probability density function of a random variable.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simpler terms, it is a way of estimating a continuous probability curve for a finite data sample.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03" name="Google Shape;603;p5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04" name="Google Shape;604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0" name="Google Shape;610;p56"/>
          <p:cNvSpPr txBox="1"/>
          <p:nvPr>
            <p:ph idx="1" type="body"/>
          </p:nvPr>
        </p:nvSpPr>
        <p:spPr>
          <a:xfrm>
            <a:off x="311700" y="1152475"/>
            <a:ext cx="8684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KDE plots are best understood by visualizing their “construction”.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start with a rug plot….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11" name="Google Shape;611;p5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12" name="Google Shape;612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5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18" name="Google Shape;618;p5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19" name="Google Shape;619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8450" y="1173288"/>
            <a:ext cx="7067106" cy="3628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26" name="Google Shape;626;p5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27" name="Google Shape;627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3723" y="1055250"/>
            <a:ext cx="7059402" cy="3559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5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4" name="Google Shape;634;p5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35" name="Google Shape;635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3475" y="1179676"/>
            <a:ext cx="68770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2" name="Google Shape;642;p6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3" name="Google Shape;643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9011" y="1112749"/>
            <a:ext cx="6376625" cy="314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6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0" name="Google Shape;650;p61"/>
          <p:cNvSpPr txBox="1"/>
          <p:nvPr>
            <p:ph idx="1" type="body"/>
          </p:nvPr>
        </p:nvSpPr>
        <p:spPr>
          <a:xfrm>
            <a:off x="311700" y="1152475"/>
            <a:ext cx="8684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 change the kernel and bandwidth used which can make your KDE show more or less of the variance contained in the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the next lecture we will explore how to create these plots with python and seaborn!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51" name="Google Shape;651;p6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2" name="Google Shape;652;p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6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Distribution Plots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8" name="Google Shape;658;p6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TWO: CODING WITH SEABORN</a:t>
            </a:r>
            <a:endParaRPr/>
          </a:p>
        </p:txBody>
      </p:sp>
      <p:pic>
        <p:nvPicPr>
          <p:cNvPr descr="watermark.jpg" id="659" name="Google Shape;659;p6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60" name="Google Shape;660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6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Categorical Plots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6" name="Google Shape;666;p6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Statistical Estimation within Categories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One: Understanding the Plots</a:t>
            </a:r>
            <a:endParaRPr/>
          </a:p>
        </p:txBody>
      </p:sp>
      <p:pic>
        <p:nvPicPr>
          <p:cNvPr descr="watermark.jpg" id="667" name="Google Shape;667;p6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68" name="Google Shape;668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6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4" name="Google Shape;674;p6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categorical plots discussed here will display a statistical metrics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 category.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 mean value per category or a count of the number of rows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category.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is the visualization equivalent of a groupby() call.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75" name="Google Shape;675;p6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76" name="Google Shape;676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6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2" name="Google Shape;682;p6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two main types of plots for this are: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countplot()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Counts number of rows per category.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barplot()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General form of displaying any chosen metric per category.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83" name="Google Shape;683;p6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84" name="Google Shape;684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6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0" name="Google Shape;690;p6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Countplot for corporate divisions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91" name="Google Shape;691;p6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92" name="Google Shape;692;p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7800" y="1749048"/>
            <a:ext cx="7348401" cy="3153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900" y="1725500"/>
            <a:ext cx="7527899" cy="3230675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6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0" name="Google Shape;700;p6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Countplot for education level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01" name="Google Shape;701;p67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02" name="Google Shape;702;p67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6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8" name="Google Shape;708;p6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Countplot with additional hue separation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09" name="Google Shape;709;p6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10" name="Google Shape;710;p6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9088" y="1719225"/>
            <a:ext cx="7289325" cy="3149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6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7" name="Google Shape;717;p6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barplot is the general form that allows you to choose any measure or estimator for the y axis.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could plot the mean value and standard deviation per category instead.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8" name="Google Shape;718;p6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19" name="Google Shape;719;p6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7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5" name="Google Shape;725;p7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Important Note!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 very careful with these plots, since the bar is filled and continuous, a viewer may interpret continuity along the y-axis which may be incorrect!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Always make sure to add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additional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labeling and explanation for these plots!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6" name="Google Shape;726;p7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7" name="Google Shape;727;p7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7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3" name="Google Shape;733;p7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Barplot showing mean and SD bar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34" name="Google Shape;734;p7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5" name="Google Shape;735;p7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4188" y="1820475"/>
            <a:ext cx="5475624" cy="32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7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2" name="Google Shape;742;p7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this best shown with a barplot?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43" name="Google Shape;743;p7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44" name="Google Shape;744;p7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4188" y="1820475"/>
            <a:ext cx="5475624" cy="32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7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1" name="Google Shape;751;p73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Probably not! These are just single values!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52" name="Google Shape;752;p7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53" name="Google Shape;753;p7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4188" y="1820475"/>
            <a:ext cx="5475624" cy="32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7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0" name="Google Shape;760;p7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simple table is probably better.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61" name="Google Shape;761;p7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62" name="Google Shape;762;p7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3" name="Google Shape;763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8313" y="1949124"/>
            <a:ext cx="3927376" cy="285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7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9" name="Google Shape;769;p7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coding out these plots with seaborn in the next lecture!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70" name="Google Shape;770;p7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71" name="Google Shape;771;p7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7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Categorical Plots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7" name="Google Shape;777;p7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Statistical Estimation within Categories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Two: Coding the Plots </a:t>
            </a:r>
            <a:endParaRPr/>
          </a:p>
        </p:txBody>
      </p:sp>
      <p:pic>
        <p:nvPicPr>
          <p:cNvPr descr="watermark.jpg" id="778" name="Google Shape;778;p7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79" name="Google Shape;779;p7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7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Categorical Plots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5" name="Google Shape;785;p7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within Categories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One: Understanding the Plots</a:t>
            </a:r>
            <a:endParaRPr/>
          </a:p>
        </p:txBody>
      </p:sp>
      <p:pic>
        <p:nvPicPr>
          <p:cNvPr descr="watermark.jpg" id="786" name="Google Shape;786;p7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87" name="Google Shape;787;p7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7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3" name="Google Shape;793;p7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explored distribution plots for a single feature, but what if we want to compare distributions across categories?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instead of the distribution of everyone’s salary, we can compare the distributions of salaries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level of education.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4" name="Google Shape;794;p7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95" name="Google Shape;795;p7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7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1" name="Google Shape;801;p7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first separate out each category, then create the distribution visualization.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what plot types we have available….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2" name="Google Shape;802;p7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3" name="Google Shape;803;p7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8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9" name="Google Shape;809;p8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Distribution within Categories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Boxplot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Violinplot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Swarmplot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Boxenplot (Letter-Value Plot)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understanding these plots on the previous salary dataset.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10" name="Google Shape;810;p8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1" name="Google Shape;811;p8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8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7" name="Google Shape;817;p8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Boxplot displays the distribution of a continuous variable.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does this through the use of quartiles.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Quartiles separate out the data into 4 equal number of data points 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25% of data points are in bottom quartile.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50th percentile (Q2) is the median.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18" name="Google Shape;818;p8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9" name="Google Shape;819;p8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8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5" name="Google Shape;825;p82"/>
          <p:cNvSpPr txBox="1"/>
          <p:nvPr>
            <p:ph idx="1" type="body"/>
          </p:nvPr>
        </p:nvSpPr>
        <p:spPr>
          <a:xfrm>
            <a:off x="311700" y="96350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Boxplot on single feature: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26" name="Google Shape;826;p8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27" name="Google Shape;827;p8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8225" y="1930200"/>
            <a:ext cx="5471051" cy="3086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8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4" name="Google Shape;834;p83"/>
          <p:cNvSpPr txBox="1"/>
          <p:nvPr>
            <p:ph idx="1" type="body"/>
          </p:nvPr>
        </p:nvSpPr>
        <p:spPr>
          <a:xfrm>
            <a:off x="311700" y="96350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Median is 50th percentile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35" name="Google Shape;835;p8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36" name="Google Shape;836;p8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8225" y="1930200"/>
            <a:ext cx="5471051" cy="30864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8" name="Google Shape;838;p83"/>
          <p:cNvCxnSpPr/>
          <p:nvPr/>
        </p:nvCxnSpPr>
        <p:spPr>
          <a:xfrm flipH="1" rot="10800000">
            <a:off x="4267025" y="1737550"/>
            <a:ext cx="607500" cy="4767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39" name="Google Shape;839;p83"/>
          <p:cNvSpPr txBox="1"/>
          <p:nvPr/>
        </p:nvSpPr>
        <p:spPr>
          <a:xfrm>
            <a:off x="4712925" y="1453500"/>
            <a:ext cx="1975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Median (Q2)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8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5" name="Google Shape;845;p84"/>
          <p:cNvSpPr txBox="1"/>
          <p:nvPr>
            <p:ph idx="1" type="body"/>
          </p:nvPr>
        </p:nvSpPr>
        <p:spPr>
          <a:xfrm>
            <a:off x="311700" y="96350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Median splits data in half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46" name="Google Shape;846;p8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47" name="Google Shape;847;p8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8225" y="1930200"/>
            <a:ext cx="5471051" cy="30864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9" name="Google Shape;849;p84"/>
          <p:cNvCxnSpPr/>
          <p:nvPr/>
        </p:nvCxnSpPr>
        <p:spPr>
          <a:xfrm flipH="1" rot="10800000">
            <a:off x="4267025" y="1737550"/>
            <a:ext cx="607500" cy="4767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50" name="Google Shape;850;p84"/>
          <p:cNvSpPr txBox="1"/>
          <p:nvPr/>
        </p:nvSpPr>
        <p:spPr>
          <a:xfrm>
            <a:off x="4712925" y="1453500"/>
            <a:ext cx="1975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Median (Q2)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8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6" name="Google Shape;856;p85"/>
          <p:cNvSpPr txBox="1"/>
          <p:nvPr>
            <p:ph idx="1" type="body"/>
          </p:nvPr>
        </p:nvSpPr>
        <p:spPr>
          <a:xfrm>
            <a:off x="311700" y="96350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IQR defines the box width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57" name="Google Shape;857;p8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58" name="Google Shape;858;p8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8225" y="1930200"/>
            <a:ext cx="5471051" cy="3086449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85"/>
          <p:cNvSpPr/>
          <p:nvPr/>
        </p:nvSpPr>
        <p:spPr>
          <a:xfrm rot="5400000">
            <a:off x="4105550" y="1568850"/>
            <a:ext cx="269100" cy="991800"/>
          </a:xfrm>
          <a:prstGeom prst="leftBrace">
            <a:avLst>
              <a:gd fmla="val 50000" name="adj1"/>
              <a:gd fmla="val 50385" name="adj2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85"/>
          <p:cNvSpPr txBox="1"/>
          <p:nvPr/>
        </p:nvSpPr>
        <p:spPr>
          <a:xfrm>
            <a:off x="1506925" y="1530375"/>
            <a:ext cx="5089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IQR - Interquartile Range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2" name="Google Shape;862;p85"/>
          <p:cNvSpPr txBox="1"/>
          <p:nvPr/>
        </p:nvSpPr>
        <p:spPr>
          <a:xfrm>
            <a:off x="3179050" y="4050025"/>
            <a:ext cx="703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Q1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3" name="Google Shape;863;p85"/>
          <p:cNvSpPr txBox="1"/>
          <p:nvPr/>
        </p:nvSpPr>
        <p:spPr>
          <a:xfrm>
            <a:off x="4585575" y="4050025"/>
            <a:ext cx="703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Q3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8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9" name="Google Shape;869;p86"/>
          <p:cNvSpPr txBox="1"/>
          <p:nvPr>
            <p:ph idx="1" type="body"/>
          </p:nvPr>
        </p:nvSpPr>
        <p:spPr>
          <a:xfrm>
            <a:off x="311700" y="96350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50% of all data points are inside the box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70" name="Google Shape;870;p8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1" name="Google Shape;871;p8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8225" y="1930200"/>
            <a:ext cx="5471051" cy="3086449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86"/>
          <p:cNvSpPr/>
          <p:nvPr/>
        </p:nvSpPr>
        <p:spPr>
          <a:xfrm rot="5400000">
            <a:off x="4105550" y="1568850"/>
            <a:ext cx="269100" cy="991800"/>
          </a:xfrm>
          <a:prstGeom prst="leftBrace">
            <a:avLst>
              <a:gd fmla="val 50000" name="adj1"/>
              <a:gd fmla="val 50385" name="adj2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86"/>
          <p:cNvSpPr txBox="1"/>
          <p:nvPr/>
        </p:nvSpPr>
        <p:spPr>
          <a:xfrm>
            <a:off x="1506925" y="1530375"/>
            <a:ext cx="5089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IQR - Interquartile Range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5" name="Google Shape;875;p86"/>
          <p:cNvSpPr txBox="1"/>
          <p:nvPr/>
        </p:nvSpPr>
        <p:spPr>
          <a:xfrm>
            <a:off x="3179050" y="4050025"/>
            <a:ext cx="703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Q1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6" name="Google Shape;876;p86"/>
          <p:cNvSpPr txBox="1"/>
          <p:nvPr/>
        </p:nvSpPr>
        <p:spPr>
          <a:xfrm>
            <a:off x="4585575" y="4050025"/>
            <a:ext cx="703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Q3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8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2" name="Google Shape;882;p87"/>
          <p:cNvSpPr txBox="1"/>
          <p:nvPr>
            <p:ph idx="1" type="body"/>
          </p:nvPr>
        </p:nvSpPr>
        <p:spPr>
          <a:xfrm>
            <a:off x="311700" y="96350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50% of all data points are inside the box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3" name="Google Shape;883;p8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84" name="Google Shape;884;p8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8225" y="1930200"/>
            <a:ext cx="5471051" cy="3086449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87"/>
          <p:cNvSpPr/>
          <p:nvPr/>
        </p:nvSpPr>
        <p:spPr>
          <a:xfrm rot="5400000">
            <a:off x="4105550" y="1568850"/>
            <a:ext cx="269100" cy="991800"/>
          </a:xfrm>
          <a:prstGeom prst="leftBrace">
            <a:avLst>
              <a:gd fmla="val 50000" name="adj1"/>
              <a:gd fmla="val 50385" name="adj2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87"/>
          <p:cNvSpPr txBox="1"/>
          <p:nvPr/>
        </p:nvSpPr>
        <p:spPr>
          <a:xfrm>
            <a:off x="3744200" y="1491950"/>
            <a:ext cx="991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IQR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8" name="Google Shape;888;p87"/>
          <p:cNvSpPr txBox="1"/>
          <p:nvPr/>
        </p:nvSpPr>
        <p:spPr>
          <a:xfrm>
            <a:off x="3179050" y="4050025"/>
            <a:ext cx="703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Q1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9" name="Google Shape;889;p87"/>
          <p:cNvSpPr txBox="1"/>
          <p:nvPr/>
        </p:nvSpPr>
        <p:spPr>
          <a:xfrm>
            <a:off x="4585575" y="4050025"/>
            <a:ext cx="703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Q3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8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5" name="Google Shape;895;p88"/>
          <p:cNvSpPr txBox="1"/>
          <p:nvPr>
            <p:ph idx="1" type="body"/>
          </p:nvPr>
        </p:nvSpPr>
        <p:spPr>
          <a:xfrm>
            <a:off x="311700" y="96350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Q1 is the 25th percentile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96" name="Google Shape;896;p8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7" name="Google Shape;897;p8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8225" y="1930200"/>
            <a:ext cx="5471051" cy="3086449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88"/>
          <p:cNvSpPr/>
          <p:nvPr/>
        </p:nvSpPr>
        <p:spPr>
          <a:xfrm rot="5400000">
            <a:off x="4105550" y="1568850"/>
            <a:ext cx="269100" cy="991800"/>
          </a:xfrm>
          <a:prstGeom prst="leftBrace">
            <a:avLst>
              <a:gd fmla="val 50000" name="adj1"/>
              <a:gd fmla="val 50385" name="adj2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88"/>
          <p:cNvSpPr txBox="1"/>
          <p:nvPr/>
        </p:nvSpPr>
        <p:spPr>
          <a:xfrm>
            <a:off x="3744200" y="1491950"/>
            <a:ext cx="991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IQR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1" name="Google Shape;901;p88"/>
          <p:cNvSpPr txBox="1"/>
          <p:nvPr/>
        </p:nvSpPr>
        <p:spPr>
          <a:xfrm>
            <a:off x="3179050" y="4050025"/>
            <a:ext cx="703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Q1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2" name="Google Shape;902;p88"/>
          <p:cNvSpPr txBox="1"/>
          <p:nvPr/>
        </p:nvSpPr>
        <p:spPr>
          <a:xfrm>
            <a:off x="4585575" y="4050025"/>
            <a:ext cx="703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Q3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8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8" name="Google Shape;908;p89"/>
          <p:cNvSpPr txBox="1"/>
          <p:nvPr>
            <p:ph idx="1" type="body"/>
          </p:nvPr>
        </p:nvSpPr>
        <p:spPr>
          <a:xfrm>
            <a:off x="311700" y="96350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25% of data points are below Q1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09" name="Google Shape;909;p8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10" name="Google Shape;910;p8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8225" y="1930200"/>
            <a:ext cx="5471051" cy="3086449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89"/>
          <p:cNvSpPr/>
          <p:nvPr/>
        </p:nvSpPr>
        <p:spPr>
          <a:xfrm rot="5400000">
            <a:off x="4105550" y="1568850"/>
            <a:ext cx="269100" cy="991800"/>
          </a:xfrm>
          <a:prstGeom prst="leftBrace">
            <a:avLst>
              <a:gd fmla="val 50000" name="adj1"/>
              <a:gd fmla="val 50385" name="adj2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89"/>
          <p:cNvSpPr txBox="1"/>
          <p:nvPr/>
        </p:nvSpPr>
        <p:spPr>
          <a:xfrm>
            <a:off x="3744200" y="1491950"/>
            <a:ext cx="991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IQR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4" name="Google Shape;914;p89"/>
          <p:cNvSpPr txBox="1"/>
          <p:nvPr/>
        </p:nvSpPr>
        <p:spPr>
          <a:xfrm>
            <a:off x="3179050" y="4050025"/>
            <a:ext cx="703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Q1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5" name="Google Shape;915;p89"/>
          <p:cNvSpPr txBox="1"/>
          <p:nvPr/>
        </p:nvSpPr>
        <p:spPr>
          <a:xfrm>
            <a:off x="4585575" y="4050025"/>
            <a:ext cx="703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Q3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9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1" name="Google Shape;921;p90"/>
          <p:cNvSpPr txBox="1"/>
          <p:nvPr>
            <p:ph idx="1" type="body"/>
          </p:nvPr>
        </p:nvSpPr>
        <p:spPr>
          <a:xfrm>
            <a:off x="311700" y="96350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Q3 is the 75th percentile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22" name="Google Shape;922;p9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23" name="Google Shape;923;p9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8225" y="1930200"/>
            <a:ext cx="5471051" cy="3086449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90"/>
          <p:cNvSpPr/>
          <p:nvPr/>
        </p:nvSpPr>
        <p:spPr>
          <a:xfrm rot="5400000">
            <a:off x="4105550" y="1568850"/>
            <a:ext cx="269100" cy="991800"/>
          </a:xfrm>
          <a:prstGeom prst="leftBrace">
            <a:avLst>
              <a:gd fmla="val 50000" name="adj1"/>
              <a:gd fmla="val 50385" name="adj2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90"/>
          <p:cNvSpPr txBox="1"/>
          <p:nvPr/>
        </p:nvSpPr>
        <p:spPr>
          <a:xfrm>
            <a:off x="3744200" y="1491950"/>
            <a:ext cx="991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IQR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7" name="Google Shape;927;p90"/>
          <p:cNvSpPr txBox="1"/>
          <p:nvPr/>
        </p:nvSpPr>
        <p:spPr>
          <a:xfrm>
            <a:off x="3179050" y="4050025"/>
            <a:ext cx="703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Q1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8" name="Google Shape;928;p90"/>
          <p:cNvSpPr txBox="1"/>
          <p:nvPr/>
        </p:nvSpPr>
        <p:spPr>
          <a:xfrm>
            <a:off x="4585575" y="4050025"/>
            <a:ext cx="703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Q3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9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4" name="Google Shape;934;p91"/>
          <p:cNvSpPr txBox="1"/>
          <p:nvPr>
            <p:ph idx="1" type="body"/>
          </p:nvPr>
        </p:nvSpPr>
        <p:spPr>
          <a:xfrm>
            <a:off x="311700" y="96350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25% of all points are above Q3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35" name="Google Shape;935;p9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36" name="Google Shape;936;p9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8225" y="1930200"/>
            <a:ext cx="5471051" cy="3086449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91"/>
          <p:cNvSpPr/>
          <p:nvPr/>
        </p:nvSpPr>
        <p:spPr>
          <a:xfrm rot="5400000">
            <a:off x="4105550" y="1568850"/>
            <a:ext cx="269100" cy="991800"/>
          </a:xfrm>
          <a:prstGeom prst="leftBrace">
            <a:avLst>
              <a:gd fmla="val 50000" name="adj1"/>
              <a:gd fmla="val 50385" name="adj2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91"/>
          <p:cNvSpPr txBox="1"/>
          <p:nvPr/>
        </p:nvSpPr>
        <p:spPr>
          <a:xfrm>
            <a:off x="3744200" y="1491950"/>
            <a:ext cx="991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IQR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0" name="Google Shape;940;p91"/>
          <p:cNvSpPr txBox="1"/>
          <p:nvPr/>
        </p:nvSpPr>
        <p:spPr>
          <a:xfrm>
            <a:off x="3179050" y="4050025"/>
            <a:ext cx="703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Q1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1" name="Google Shape;941;p91"/>
          <p:cNvSpPr txBox="1"/>
          <p:nvPr/>
        </p:nvSpPr>
        <p:spPr>
          <a:xfrm>
            <a:off x="4585575" y="4050025"/>
            <a:ext cx="703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Q3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9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7" name="Google Shape;947;p92"/>
          <p:cNvSpPr txBox="1"/>
          <p:nvPr>
            <p:ph idx="1" type="body"/>
          </p:nvPr>
        </p:nvSpPr>
        <p:spPr>
          <a:xfrm>
            <a:off x="311700" y="96350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“whiskers” are defined by 1.5 × IQR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48" name="Google Shape;948;p9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49" name="Google Shape;949;p9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0" name="Google Shape;950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8225" y="1930200"/>
            <a:ext cx="5471051" cy="3086449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92"/>
          <p:cNvSpPr/>
          <p:nvPr/>
        </p:nvSpPr>
        <p:spPr>
          <a:xfrm rot="5400000">
            <a:off x="2875450" y="1860600"/>
            <a:ext cx="269100" cy="1422300"/>
          </a:xfrm>
          <a:prstGeom prst="leftBrace">
            <a:avLst>
              <a:gd fmla="val 50000" name="adj1"/>
              <a:gd fmla="val 50385" name="adj2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92"/>
          <p:cNvSpPr txBox="1"/>
          <p:nvPr/>
        </p:nvSpPr>
        <p:spPr>
          <a:xfrm>
            <a:off x="3744200" y="1491950"/>
            <a:ext cx="991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IQR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3" name="Google Shape;953;p92"/>
          <p:cNvSpPr txBox="1"/>
          <p:nvPr/>
        </p:nvSpPr>
        <p:spPr>
          <a:xfrm>
            <a:off x="3179050" y="4050025"/>
            <a:ext cx="703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Q1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4" name="Google Shape;954;p92"/>
          <p:cNvSpPr txBox="1"/>
          <p:nvPr/>
        </p:nvSpPr>
        <p:spPr>
          <a:xfrm>
            <a:off x="4585575" y="4050025"/>
            <a:ext cx="703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Q3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5" name="Google Shape;955;p92"/>
          <p:cNvSpPr/>
          <p:nvPr/>
        </p:nvSpPr>
        <p:spPr>
          <a:xfrm rot="5400000">
            <a:off x="5293425" y="1840000"/>
            <a:ext cx="269100" cy="1383900"/>
          </a:xfrm>
          <a:prstGeom prst="leftBrace">
            <a:avLst>
              <a:gd fmla="val 50000" name="adj1"/>
              <a:gd fmla="val 50385" name="adj2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92"/>
          <p:cNvSpPr txBox="1"/>
          <p:nvPr/>
        </p:nvSpPr>
        <p:spPr>
          <a:xfrm>
            <a:off x="4843525" y="1968650"/>
            <a:ext cx="13839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1.5 × </a:t>
            </a: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IQR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7" name="Google Shape;957;p92"/>
          <p:cNvSpPr txBox="1"/>
          <p:nvPr/>
        </p:nvSpPr>
        <p:spPr>
          <a:xfrm>
            <a:off x="2360300" y="1968650"/>
            <a:ext cx="13839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1.5 × IQR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8" name="Google Shape;958;p92"/>
          <p:cNvSpPr/>
          <p:nvPr/>
        </p:nvSpPr>
        <p:spPr>
          <a:xfrm rot="5400000">
            <a:off x="4105550" y="1568850"/>
            <a:ext cx="269100" cy="991800"/>
          </a:xfrm>
          <a:prstGeom prst="leftBrace">
            <a:avLst>
              <a:gd fmla="val 50000" name="adj1"/>
              <a:gd fmla="val 50385" name="adj2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9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4" name="Google Shape;964;p93"/>
          <p:cNvSpPr txBox="1"/>
          <p:nvPr>
            <p:ph idx="1" type="body"/>
          </p:nvPr>
        </p:nvSpPr>
        <p:spPr>
          <a:xfrm>
            <a:off x="311700" y="96350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Outside of the whiskers are outliers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5" name="Google Shape;965;p9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6" name="Google Shape;966;p9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8225" y="1930200"/>
            <a:ext cx="5471051" cy="3086449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93"/>
          <p:cNvSpPr/>
          <p:nvPr/>
        </p:nvSpPr>
        <p:spPr>
          <a:xfrm rot="5400000">
            <a:off x="2875450" y="1860600"/>
            <a:ext cx="269100" cy="1422300"/>
          </a:xfrm>
          <a:prstGeom prst="leftBrace">
            <a:avLst>
              <a:gd fmla="val 50000" name="adj1"/>
              <a:gd fmla="val 50385" name="adj2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93"/>
          <p:cNvSpPr txBox="1"/>
          <p:nvPr/>
        </p:nvSpPr>
        <p:spPr>
          <a:xfrm>
            <a:off x="3744200" y="1491950"/>
            <a:ext cx="991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IQR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0" name="Google Shape;970;p93"/>
          <p:cNvSpPr txBox="1"/>
          <p:nvPr/>
        </p:nvSpPr>
        <p:spPr>
          <a:xfrm>
            <a:off x="3179050" y="4050025"/>
            <a:ext cx="703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Q1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1" name="Google Shape;971;p93"/>
          <p:cNvSpPr txBox="1"/>
          <p:nvPr/>
        </p:nvSpPr>
        <p:spPr>
          <a:xfrm>
            <a:off x="4585575" y="4050025"/>
            <a:ext cx="703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Q3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2" name="Google Shape;972;p93"/>
          <p:cNvSpPr/>
          <p:nvPr/>
        </p:nvSpPr>
        <p:spPr>
          <a:xfrm rot="5400000">
            <a:off x="5293425" y="1840000"/>
            <a:ext cx="269100" cy="1383900"/>
          </a:xfrm>
          <a:prstGeom prst="leftBrace">
            <a:avLst>
              <a:gd fmla="val 50000" name="adj1"/>
              <a:gd fmla="val 50385" name="adj2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93"/>
          <p:cNvSpPr txBox="1"/>
          <p:nvPr/>
        </p:nvSpPr>
        <p:spPr>
          <a:xfrm>
            <a:off x="4843525" y="1968650"/>
            <a:ext cx="13839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1.5 × IQR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4" name="Google Shape;974;p93"/>
          <p:cNvSpPr txBox="1"/>
          <p:nvPr/>
        </p:nvSpPr>
        <p:spPr>
          <a:xfrm>
            <a:off x="2360300" y="1968650"/>
            <a:ext cx="13839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1.5 × IQR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5" name="Google Shape;975;p93"/>
          <p:cNvSpPr/>
          <p:nvPr/>
        </p:nvSpPr>
        <p:spPr>
          <a:xfrm rot="5400000">
            <a:off x="4105550" y="1568850"/>
            <a:ext cx="269100" cy="991800"/>
          </a:xfrm>
          <a:prstGeom prst="leftBrace">
            <a:avLst>
              <a:gd fmla="val 50000" name="adj1"/>
              <a:gd fmla="val 50385" name="adj2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93"/>
          <p:cNvSpPr txBox="1"/>
          <p:nvPr/>
        </p:nvSpPr>
        <p:spPr>
          <a:xfrm>
            <a:off x="7326750" y="2199300"/>
            <a:ext cx="11766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Outliers</a:t>
            </a:r>
            <a:endParaRPr b="1" sz="18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77" name="Google Shape;977;p93"/>
          <p:cNvCxnSpPr/>
          <p:nvPr/>
        </p:nvCxnSpPr>
        <p:spPr>
          <a:xfrm flipH="1" rot="10800000">
            <a:off x="6588900" y="2590950"/>
            <a:ext cx="776400" cy="4767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9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3" name="Google Shape;983;p94"/>
          <p:cNvSpPr txBox="1"/>
          <p:nvPr>
            <p:ph idx="1" type="body"/>
          </p:nvPr>
        </p:nvSpPr>
        <p:spPr>
          <a:xfrm>
            <a:off x="311700" y="96350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Boxplot quickly gives statistical distribution information in a visual format: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84" name="Google Shape;984;p9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85" name="Google Shape;985;p9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6" name="Google Shape;986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8225" y="1930200"/>
            <a:ext cx="5471051" cy="3086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9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2" name="Google Shape;992;p95"/>
          <p:cNvSpPr txBox="1"/>
          <p:nvPr>
            <p:ph idx="1" type="body"/>
          </p:nvPr>
        </p:nvSpPr>
        <p:spPr>
          <a:xfrm>
            <a:off x="311700" y="96350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Boxplot can be oriented vertically or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horizontally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93" name="Google Shape;993;p9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94" name="Google Shape;994;p9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5" name="Google Shape;995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6750" y="1777425"/>
            <a:ext cx="2206550" cy="3366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9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1" name="Google Shape;1001;p96"/>
          <p:cNvSpPr txBox="1"/>
          <p:nvPr>
            <p:ph idx="1" type="body"/>
          </p:nvPr>
        </p:nvSpPr>
        <p:spPr>
          <a:xfrm>
            <a:off x="311700" y="96350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create a box plot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category!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02" name="Google Shape;1002;p9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03" name="Google Shape;1003;p9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991809"/>
            <a:ext cx="9144000" cy="2388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9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0" name="Google Shape;1010;p97"/>
          <p:cNvSpPr txBox="1"/>
          <p:nvPr>
            <p:ph idx="1" type="body"/>
          </p:nvPr>
        </p:nvSpPr>
        <p:spPr>
          <a:xfrm>
            <a:off x="311700" y="96350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create a box plot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category!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11" name="Google Shape;1011;p9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12" name="Google Shape;1012;p9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3" name="Google Shape;1013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904273"/>
            <a:ext cx="9144000" cy="2565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9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9" name="Google Shape;1019;p9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violin plot plays a similar role as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box plot.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displays the probability density across the data using a KDE.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imagine it as a mirrored KDE plot.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20" name="Google Shape;1020;p9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21" name="Google Shape;1021;p9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9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7" name="Google Shape;1027;p9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violin plot plays a similar role as the box plot.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displays the probability density across the data using a KDE.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imagine it as a mirrored KDE plot.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28" name="Google Shape;1028;p9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29" name="Google Shape;1029;p9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10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5" name="Google Shape;1035;p10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take the KDE of a single feature: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6" name="Google Shape;1036;p10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37" name="Google Shape;1037;p10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8" name="Google Shape;1038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187" y="1789887"/>
            <a:ext cx="8067623" cy="156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10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4" name="Google Shape;1044;p10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could then “mirror” it: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5" name="Google Shape;1045;p10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6" name="Google Shape;1046;p10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187" y="1789887"/>
            <a:ext cx="8067623" cy="156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10800000">
            <a:off x="538187" y="3283775"/>
            <a:ext cx="8067623" cy="156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10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4" name="Google Shape;1054;p10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Then combine it to get the violin plot: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55" name="Google Shape;1055;p10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6" name="Google Shape;1056;p10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10800000">
            <a:off x="538200" y="3005150"/>
            <a:ext cx="8067623" cy="156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8" name="Google Shape;1058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200" y="2366512"/>
            <a:ext cx="8067623" cy="156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10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4" name="Google Shape;1064;p10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Then combine it to get the violin plot: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65" name="Google Shape;1065;p10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66" name="Google Shape;1066;p10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7" name="Google Shape;1067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325" y="2022849"/>
            <a:ext cx="8282898" cy="251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10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3" name="Google Shape;1073;p10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violin plots can then be created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category: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74" name="Google Shape;1074;p10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75" name="Google Shape;1075;p10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231961"/>
            <a:ext cx="9144000" cy="2385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10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2" name="Google Shape;1082;p10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violin plots can then be created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category: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83" name="Google Shape;1083;p10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84" name="Google Shape;1084;p10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5" name="Google Shape;1085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231961"/>
            <a:ext cx="9144000" cy="2385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10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1" name="Google Shape;1091;p10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few more less common categorical distribution plots are the swarmplot and the boxenplot.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quickly explore these plot types...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92" name="Google Shape;1092;p10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93" name="Google Shape;1093;p10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10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9" name="Google Shape;1099;p10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swarmplot is very simple and simply shows all the data points in the distribution.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very large data sets, it won’t show all the points, but will display the general distribution of them.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00" name="Google Shape;1100;p10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01" name="Google Shape;1101;p10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10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7" name="Google Shape;1107;p10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Swarmplot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08" name="Google Shape;1108;p10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09" name="Google Shape;1109;p10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0" name="Google Shape;1110;p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014874"/>
            <a:ext cx="8420699" cy="2553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10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6" name="Google Shape;1116;p10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Swarmplot per Category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17" name="Google Shape;1117;p10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18" name="Google Shape;1118;p10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9" name="Google Shape;1119;p1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003773"/>
            <a:ext cx="9144000" cy="2565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11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5" name="Google Shape;1125;p11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Change size of points to show more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26" name="Google Shape;1126;p11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27" name="Google Shape;1127;p11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8" name="Google Shape;1128;p1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003773"/>
            <a:ext cx="9144000" cy="2565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11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4" name="Google Shape;1134;p11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boxenplot (Letter-value plot) is a relatively new plot developed in 2011 by Heike Hofmann, Karen Kafadar, and Hadley Wickham.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Its mainly designed as an expansion upon the normal box plot.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Make sure to read the linked paper in the notebook if you end up using this plot!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35" name="Google Shape;1135;p11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6" name="Google Shape;1136;p11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11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2" name="Google Shape;1142;p11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 that the boxenplot is currently very uncommon, in fact a Google search will often auto-correct this to a “boxplot” call.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Only use this plot type if you know your audience is familiar with it.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briefly explore the boxenplot and its benefits.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43" name="Google Shape;1143;p11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44" name="Google Shape;1144;p11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11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0" name="Google Shape;1150;p11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Using a system of letter-values we can use multiple quantiles instead of strictly quartiles.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51" name="Google Shape;1151;p1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52" name="Google Shape;1152;p1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3" name="Google Shape;1153;p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8124" y="2210375"/>
            <a:ext cx="3140875" cy="293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1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9" name="Google Shape;1159;p1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Boxenplot showing letter-value quantiles to display against a standard boxplot: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60" name="Google Shape;1160;p1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61" name="Google Shape;1161;p1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2" name="Google Shape;1162;p114"/>
          <p:cNvPicPr preferRelativeResize="0"/>
          <p:nvPr/>
        </p:nvPicPr>
        <p:blipFill rotWithShape="1">
          <a:blip r:embed="rId4">
            <a:alphaModFix/>
          </a:blip>
          <a:srcRect b="17451" l="0" r="0" t="0"/>
          <a:stretch/>
        </p:blipFill>
        <p:spPr>
          <a:xfrm>
            <a:off x="1388900" y="2461650"/>
            <a:ext cx="6096000" cy="210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1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8" name="Google Shape;1168;p1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Boxenplot showing letter-value quantiles to display against a standard boxplot: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69" name="Google Shape;1169;p1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70" name="Google Shape;1170;p1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1" name="Google Shape;1171;p1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2538" y="2457100"/>
            <a:ext cx="5800725" cy="20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1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7" name="Google Shape;1177;p1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Boxenplot in seaborn: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78" name="Google Shape;1178;p1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79" name="Google Shape;1179;p1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0" name="Google Shape;1180;p1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871773"/>
            <a:ext cx="9144000" cy="2565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1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6" name="Google Shape;1186;p1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in mind the main purpose of data visualizations is to inform, not confuse or show-off various esoteric plots!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the next lecture we will explore coding out these plot types.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87" name="Google Shape;1187;p1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88" name="Google Shape;1188;p1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1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Categorical Plots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4" name="Google Shape;1194;p1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within Categories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Two: Creating the Plots</a:t>
            </a:r>
            <a:endParaRPr/>
          </a:p>
        </p:txBody>
      </p:sp>
      <p:pic>
        <p:nvPicPr>
          <p:cNvPr descr="watermark.jpg" id="1195" name="Google Shape;1195;p1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96" name="Google Shape;1196;p1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1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Comparison Plots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2" name="Google Shape;1202;p1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One: Understanding the Plots</a:t>
            </a:r>
            <a:endParaRPr/>
          </a:p>
        </p:txBody>
      </p:sp>
      <p:pic>
        <p:nvPicPr>
          <p:cNvPr descr="watermark.jpg" id="1203" name="Google Shape;1203;p1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04" name="Google Shape;1204;p1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1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0" name="Google Shape;1210;p1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Comparison plots are essentially 2-dimensional versions of the plots we’ve learned about so far.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two main plots types discussed here: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jointplot()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pairplot()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11" name="Google Shape;1211;p1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12" name="Google Shape;1212;p1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1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8" name="Google Shape;1218;p1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jointplot()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map histograms to each feature of a scatterplot to clarify the distributions within each feature.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also adjust the scatterplot to be a hex plot or a 2D KDE plot.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19" name="Google Shape;1219;p1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20" name="Google Shape;1220;p1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1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6" name="Google Shape;1226;p1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Histograms with Scatterplot: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27" name="Google Shape;1227;p1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28" name="Google Shape;1228;p1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9" name="Google Shape;1229;p1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6372" y="1996250"/>
            <a:ext cx="3169525" cy="314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4" name="Google Shape;1234;p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4199" y="2091225"/>
            <a:ext cx="3073875" cy="305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1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6" name="Google Shape;1236;p12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Histograms with hexagons: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37" name="Google Shape;1237;p123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38" name="Google Shape;1238;p123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3" name="Google Shape;1243;p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4199" y="2091225"/>
            <a:ext cx="3073875" cy="305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4" name="Google Shape;1244;p1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5" name="Google Shape;1245;p1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Hexagons are dark the more points fall into their area.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46" name="Google Shape;1246;p124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47" name="Google Shape;1247;p124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2" name="Google Shape;1252;p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4199" y="2091225"/>
            <a:ext cx="3073875" cy="305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3" name="Google Shape;1253;p1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4" name="Google Shape;1254;p1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Hexagons are useful when many points overlap.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55" name="Google Shape;1255;p125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56" name="Google Shape;1256;p125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1" name="Google Shape;1261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2313" y="2046025"/>
            <a:ext cx="3119375" cy="309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p1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3" name="Google Shape;1263;p1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2D KDE plots show shaded distribution between both KDEs: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64" name="Google Shape;1264;p126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65" name="Google Shape;1265;p126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1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1" name="Google Shape;1271;p1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pairplot()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pairplot() is a quick way to compare all numerical columns in a DataFrame.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automatically creates a histogram for each column and a scatterplot comparison between all possible combinations of columns.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72" name="Google Shape;1272;p1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73" name="Google Shape;1273;p1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1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9" name="Google Shape;1279;p1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pairplot()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Warning!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pairplot() can be CPU and RAM intensive for large DataFrames with many columns.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is a good idea to first filter down to only the columns you are interested in.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80" name="Google Shape;1280;p1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81" name="Google Shape;1281;p1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1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7" name="Google Shape;1287;p1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pairplot()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88" name="Google Shape;1288;p1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89" name="Google Shape;1289;p1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0" name="Google Shape;1290;p1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3450" y="1295925"/>
            <a:ext cx="3840599" cy="384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1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6" name="Google Shape;1296;p1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pairplot()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97" name="Google Shape;1297;p1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8" name="Google Shape;1298;p1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9" name="Google Shape;1299;p1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3290" y="1220450"/>
            <a:ext cx="4408075" cy="392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1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5" name="Google Shape;1305;p1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pairplot()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06" name="Google Shape;1306;p1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07" name="Google Shape;1307;p1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8" name="Google Shape;1308;p1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5437" y="1190500"/>
            <a:ext cx="4403775" cy="3919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1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4" name="Google Shape;1314;p1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pairplot()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15" name="Google Shape;1315;p1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16" name="Google Shape;1316;p1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7" name="Google Shape;1317;p1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5097" y="1152475"/>
            <a:ext cx="4484452" cy="399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1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3" name="Google Shape;1323;p1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code out these comparison plots in the next lecture!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24" name="Google Shape;1324;p1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25" name="Google Shape;1325;p1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1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Comparison Plots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1" name="Google Shape;1331;p1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Two: Coding the Plots</a:t>
            </a:r>
            <a:endParaRPr/>
          </a:p>
        </p:txBody>
      </p:sp>
      <p:pic>
        <p:nvPicPr>
          <p:cNvPr descr="watermark.jpg" id="1332" name="Google Shape;1332;p1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33" name="Google Shape;1333;p1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1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Seaborn Grids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9" name="Google Shape;1339;p1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340" name="Google Shape;1340;p1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41" name="Google Shape;1341;p1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1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7" name="Google Shape;1347;p13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Seaborn grid calls use Matplotlib subplots() to automatically create a grid based off a categorical column.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Instead of passing in a specific number of cols or rows for the subplots, we can simply pass in the name of the column and seaborn will automatically map the subplots grid.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48" name="Google Shape;1348;p1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49" name="Google Shape;1349;p1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1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5" name="Google Shape;1355;p1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Many of seaborn’s built-in plot calls are running on top of this grid system.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Directly calling the grid system allows users to heavily customize plots.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56" name="Google Shape;1356;p1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57" name="Google Shape;1357;p1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1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3" name="Google Shape;1363;p13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Creating subplots based on grids: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64" name="Google Shape;1364;p1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5" name="Google Shape;1365;p1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6" name="Google Shape;1366;p1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0325" y="1723375"/>
            <a:ext cx="3343351" cy="3343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1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2" name="Google Shape;1372;p13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Map plots based on pairplot() grid: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73" name="Google Shape;1373;p1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74" name="Google Shape;1374;p1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5" name="Google Shape;1375;p1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2711" y="1771800"/>
            <a:ext cx="3278574" cy="330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1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1" name="Google Shape;1381;p14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best understood through code, so let’s jump to the notebook!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82" name="Google Shape;1382;p1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83" name="Google Shape;1383;p1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1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Matrix Plots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9" name="Google Shape;1389;p1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390" name="Google Shape;1390;p1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91" name="Google Shape;1391;p1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1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7" name="Google Shape;1397;p14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Matrix plots are the visual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equivalent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of displaying a pivot table.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matrix plot displays all the data passed in,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visualizing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all the numeric values in a DataFrame.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 every DataFrame is a valid choice for a matrix plot such as a heatmap.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98" name="Google Shape;1398;p1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99" name="Google Shape;1399;p1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1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5" name="Google Shape;1405;p14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two main matrix plot types are: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heatmap()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Visually displays the distribution of cell values with a color mapping.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clustermap()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Same visual as heatmap, but first conducts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hierarchical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clustering to reorganize data into groups.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06" name="Google Shape;1406;p1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07" name="Google Shape;1407;p1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2" name="Google Shape;1412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2188" y="1418375"/>
            <a:ext cx="6703126" cy="331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3" name="Google Shape;1413;p1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4" name="Google Shape;1414;p14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Heatmap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15" name="Google Shape;1415;p144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16" name="Google Shape;1416;p144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1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2" name="Google Shape;1422;p14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Heatmap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23" name="Google Shape;1423;p14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24" name="Google Shape;1424;p1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5" name="Google Shape;1425;p1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2000" y="1553151"/>
            <a:ext cx="5676800" cy="359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1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1" name="Google Shape;1431;p14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 that a heatmap should ideally have all cells be in the same units, so the color mapping makes sense across the entire DataFrame.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particular case, all values were “rates” of percentage growth or change were in the heatmap.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32" name="Google Shape;1432;p14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33" name="Google Shape;1433;p1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Google Shape;1438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9625" y="1844950"/>
            <a:ext cx="5215401" cy="32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9" name="Google Shape;1439;p1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0" name="Google Shape;1440;p14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we included age: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41" name="Google Shape;1441;p147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42" name="Google Shape;1442;p147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1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8" name="Google Shape;1448;p14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Seaborn also comes with the ability to automatically cluster similar groupings.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Later on we will discuss how this clustering is done when we learn about Machine Learning clustering techniques.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49" name="Google Shape;1449;p14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50" name="Google Shape;1450;p1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1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6" name="Google Shape;1456;p14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57" name="Google Shape;1457;p14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58" name="Google Shape;1458;p1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9" name="Google Shape;1459;p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2376" y="1049250"/>
            <a:ext cx="4002800" cy="400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1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5" name="Google Shape;1465;p15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to coding out these matrix plots!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66" name="Google Shape;1466;p15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67" name="Google Shape;1467;p1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15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Seaborn Exercises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3" name="Google Shape;1473;p15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474" name="Google Shape;1474;p15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75" name="Google Shape;1475;p1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1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1" name="Google Shape;1481;p15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Main goal of seaborn is to be able to use its simpler syntax to quickly create informative plots.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general its difficult to test on seaborn skills since most plots are simply passing in the data and choosing x and 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82" name="Google Shape;1482;p15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83" name="Google Shape;1483;p1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15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9" name="Google Shape;1489;p15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these exercises we’ve inserted jpg images of seaborn plots we want you to replicate.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worry if you don’t get coloring or dimensions exactly the same as ours, focus on the general plots and relationships visualized.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90" name="Google Shape;1490;p15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91" name="Google Shape;1491;p1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1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7" name="Google Shape;1497;p15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Read the plot descriptions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carefully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Most of these plots have filtering and adjustments with pandas on the DataFrame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before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being passed into the seaborn call.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98" name="Google Shape;1498;p15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99" name="Google Shape;1499;p1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155"/>
          <p:cNvSpPr txBox="1"/>
          <p:nvPr>
            <p:ph type="ctrTitle"/>
          </p:nvPr>
        </p:nvSpPr>
        <p:spPr>
          <a:xfrm>
            <a:off x="396158" y="1612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Seaborn Exercises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05" name="Google Shape;1505;p15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06" name="Google Shape;1506;p1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