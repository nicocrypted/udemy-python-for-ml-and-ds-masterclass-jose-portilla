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13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</p:sldIdLst>
  <p:sldSz cy="5143500" cx="9144000"/>
  <p:notesSz cx="6858000" cy="9144000"/>
  <p:embeddedFontLst>
    <p:embeddedFont>
      <p:font typeface="Montserrat"/>
      <p:regular r:id="rId140"/>
      <p:bold r:id="rId141"/>
      <p:italic r:id="rId142"/>
      <p:boldItalic r:id="rId1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8394794-0641-439A-A705-68315A265B27}">
  <a:tblStyle styleId="{C8394794-0641-439A-A705-68315A265B2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29" Type="http://schemas.openxmlformats.org/officeDocument/2006/relationships/slide" Target="slides/slide124.xml"/><Relationship Id="rId128" Type="http://schemas.openxmlformats.org/officeDocument/2006/relationships/slide" Target="slides/slide123.xml"/><Relationship Id="rId127" Type="http://schemas.openxmlformats.org/officeDocument/2006/relationships/slide" Target="slides/slide122.xml"/><Relationship Id="rId126" Type="http://schemas.openxmlformats.org/officeDocument/2006/relationships/slide" Target="slides/slide121.xml"/><Relationship Id="rId26" Type="http://schemas.openxmlformats.org/officeDocument/2006/relationships/slide" Target="slides/slide21.xml"/><Relationship Id="rId121" Type="http://schemas.openxmlformats.org/officeDocument/2006/relationships/slide" Target="slides/slide116.xml"/><Relationship Id="rId25" Type="http://schemas.openxmlformats.org/officeDocument/2006/relationships/slide" Target="slides/slide20.xml"/><Relationship Id="rId120" Type="http://schemas.openxmlformats.org/officeDocument/2006/relationships/slide" Target="slides/slide115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125" Type="http://schemas.openxmlformats.org/officeDocument/2006/relationships/slide" Target="slides/slide120.xml"/><Relationship Id="rId29" Type="http://schemas.openxmlformats.org/officeDocument/2006/relationships/slide" Target="slides/slide24.xml"/><Relationship Id="rId124" Type="http://schemas.openxmlformats.org/officeDocument/2006/relationships/slide" Target="slides/slide119.xml"/><Relationship Id="rId123" Type="http://schemas.openxmlformats.org/officeDocument/2006/relationships/slide" Target="slides/slide118.xml"/><Relationship Id="rId122" Type="http://schemas.openxmlformats.org/officeDocument/2006/relationships/slide" Target="slides/slide117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117" Type="http://schemas.openxmlformats.org/officeDocument/2006/relationships/slide" Target="slides/slide112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9" Type="http://schemas.openxmlformats.org/officeDocument/2006/relationships/slide" Target="slides/slide114.xml"/><Relationship Id="rId15" Type="http://schemas.openxmlformats.org/officeDocument/2006/relationships/slide" Target="slides/slide10.xml"/><Relationship Id="rId110" Type="http://schemas.openxmlformats.org/officeDocument/2006/relationships/slide" Target="slides/slide105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slide" Target="slides/slide109.xml"/><Relationship Id="rId18" Type="http://schemas.openxmlformats.org/officeDocument/2006/relationships/slide" Target="slides/slide13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3" Type="http://schemas.openxmlformats.org/officeDocument/2006/relationships/font" Target="fonts/Montserrat-boldItalic.fntdata"/><Relationship Id="rId142" Type="http://schemas.openxmlformats.org/officeDocument/2006/relationships/font" Target="fonts/Montserrat-italic.fntdata"/><Relationship Id="rId141" Type="http://schemas.openxmlformats.org/officeDocument/2006/relationships/font" Target="fonts/Montserrat-bold.fntdata"/><Relationship Id="rId140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139" Type="http://schemas.openxmlformats.org/officeDocument/2006/relationships/slide" Target="slides/slide134.xml"/><Relationship Id="rId138" Type="http://schemas.openxmlformats.org/officeDocument/2006/relationships/slide" Target="slides/slide133.xml"/><Relationship Id="rId137" Type="http://schemas.openxmlformats.org/officeDocument/2006/relationships/slide" Target="slides/slide132.xml"/><Relationship Id="rId132" Type="http://schemas.openxmlformats.org/officeDocument/2006/relationships/slide" Target="slides/slide127.xml"/><Relationship Id="rId131" Type="http://schemas.openxmlformats.org/officeDocument/2006/relationships/slide" Target="slides/slide126.xml"/><Relationship Id="rId130" Type="http://schemas.openxmlformats.org/officeDocument/2006/relationships/slide" Target="slides/slide125.xml"/><Relationship Id="rId136" Type="http://schemas.openxmlformats.org/officeDocument/2006/relationships/slide" Target="slides/slide131.xml"/><Relationship Id="rId135" Type="http://schemas.openxmlformats.org/officeDocument/2006/relationships/slide" Target="slides/slide130.xml"/><Relationship Id="rId134" Type="http://schemas.openxmlformats.org/officeDocument/2006/relationships/slide" Target="slides/slide129.xml"/><Relationship Id="rId133" Type="http://schemas.openxmlformats.org/officeDocument/2006/relationships/slide" Target="slides/slide12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404b92013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404b92013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b165387aa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b165387aa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788ceb7e46_0_1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788ceb7e46_0_1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b165387aa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b165387aa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165387aa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165387aa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b165387aa3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b165387aa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788ceb7e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788ceb7e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788ceb7e4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788ceb7e4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788ceb7e4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788ceb7e4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788ceb7e46_0_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788ceb7e46_0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788ceb7e46_0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788ceb7e46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788ceb7e46_0_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788ceb7e46_0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788ceb7e46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788ceb7e46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788ceb7e4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788ceb7e4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788ceb7e46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788ceb7e46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788ceb7e46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788ceb7e46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788ceb7e46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788ceb7e46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788ceb7e46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788ceb7e46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788ceb7e46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788ceb7e46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788ceb7e46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788ceb7e46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788ceb7e46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788ceb7e46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788ceb7e46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788ceb7e46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788ceb7e46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788ceb7e46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788ceb7e46_0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788ceb7e46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788ceb7e46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788ceb7e46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788ceb7e46_0_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788ceb7e46_0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788ceb7e46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788ceb7e46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788ceb7e46_0_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788ceb7e46_0_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788ceb7e46_0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788ceb7e46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788ceb7e46_0_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788ceb7e46_0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788ceb7e46_0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788ceb7e46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b165387aa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b165387aa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788ceb7e46_0_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788ceb7e46_0_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788ceb7e46_0_5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788ceb7e46_0_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788ceb7e46_0_6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788ceb7e46_0_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788ceb7e46_0_7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788ceb7e46_0_7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788ceb7e46_0_7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788ceb7e46_0_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788ceb7e46_0_7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788ceb7e46_0_7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788ceb7e46_0_6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788ceb7e46_0_6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788ceb7e46_0_6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g788ceb7e46_0_6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788ceb7e46_0_7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788ceb7e46_0_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788ceb7e46_0_7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788ceb7e46_0_7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788ceb7e46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788ceb7e46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788ceb7e46_0_8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788ceb7e46_0_8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788ceb7e46_0_8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2" name="Google Shape;832;g788ceb7e46_0_8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788ceb7e46_0_8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788ceb7e46_0_8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788ceb7e46_0_9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788ceb7e46_0_9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788ceb7e46_0_9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5" name="Google Shape;895;g788ceb7e46_0_9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788ceb7e46_0_9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788ceb7e46_0_9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788ceb7e46_0_9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3" name="Google Shape;933;g788ceb7e46_0_9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b165387aa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b165387aa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b220918b2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2" name="Google Shape;962;gb220918b2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b220918b2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b220918b2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b220918b2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8" name="Google Shape;978;gb220918b2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b220918b2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b220918b2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b220918b2f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b220918b2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b220918b2f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gb220918b2f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b220918b2f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b220918b2f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b220918b2f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b220918b2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b220918b2f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2" name="Google Shape;1052;gb220918b2f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b220918b2f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1" name="Google Shape;1071;gb220918b2f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b220918b2f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3" name="Google Shape;1093;gb220918b2f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gb220918b2f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5" name="Google Shape;1115;gb220918b2f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b220918b2f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7" name="Google Shape;1137;gb220918b2f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b220918b2f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9" name="Google Shape;1159;gb220918b2f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gb220918b2f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7" name="Google Shape;1167;gb220918b2f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b220918b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5" name="Google Shape;1175;gb220918b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g788ceb7e46_0_9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3" name="Google Shape;1183;g788ceb7e46_0_9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g788ceb7e46_0_10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1" name="Google Shape;1191;g788ceb7e46_0_10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g788ceb7e46_0_10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9" name="Google Shape;1199;g788ceb7e46_0_10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g788ceb7e46_0_10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8" name="Google Shape;1208;g788ceb7e46_0_10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g788ceb7e46_0_10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8" name="Google Shape;1218;g788ceb7e46_0_10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788ceb7e46_0_10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788ceb7e46_0_10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g788ceb7e46_0_1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2" name="Google Shape;1242;g788ceb7e46_0_1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g788ceb7e46_0_1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1" name="Google Shape;1251;g788ceb7e46_0_1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g788ceb7e46_0_1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1" name="Google Shape;1261;g788ceb7e46_0_1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788ceb7e46_0_1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5" name="Google Shape;1275;g788ceb7e46_0_1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g788ceb7e46_0_1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8" name="Google Shape;1288;g788ceb7e46_0_1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g788ceb7e46_0_1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4" name="Google Shape;1304;g788ceb7e46_0_1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g788ceb7e46_0_1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0" name="Google Shape;1320;g788ceb7e46_0_1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g788ceb7e46_0_1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7" name="Google Shape;1337;g788ceb7e46_0_1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gb220918b2f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4" name="Google Shape;1354;gb220918b2f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g788ceb7e46_0_1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1" name="Google Shape;1371;g788ceb7e46_0_1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g788ceb7e46_0_1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8" name="Google Shape;1388;g788ceb7e46_0_1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g788ceb7e46_0_1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5" name="Google Shape;1405;g788ceb7e46_0_1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g788ceb7e46_0_1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2" name="Google Shape;1422;g788ceb7e46_0_1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g788ceb7e46_0_1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9" name="Google Shape;1439;g788ceb7e46_0_1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g788ceb7e46_0_1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6" name="Google Shape;1456;g788ceb7e46_0_1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g788ceb7e46_0_1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2" name="Google Shape;1472;g788ceb7e46_0_1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788ceb7e46_0_1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8" name="Google Shape;1488;g788ceb7e46_0_1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g788ceb7e46_0_1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4" name="Google Shape;1504;g788ceb7e46_0_1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g788ceb7e46_0_1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0" name="Google Shape;1520;g788ceb7e46_0_1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g788ceb7e46_0_1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6" name="Google Shape;1536;g788ceb7e46_0_1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2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g788ceb7e46_0_9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4" name="Google Shape;1544;g788ceb7e46_0_9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0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gb165387aa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2" name="Google Shape;1552;gb165387aa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8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gb220918b2f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0" name="Google Shape;1560;gb220918b2f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gb220918b2f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9" name="Google Shape;1569;gb220918b2f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gb220918b2f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8" name="Google Shape;1578;gb220918b2f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5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gb220918b2f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7" name="Google Shape;1587;gb220918b2f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4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gb220918b2f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6" name="Google Shape;1596;gb220918b2f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3" name="Shape 1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Google Shape;1604;gb220918b2f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5" name="Google Shape;1605;gb220918b2f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Google Shape;1614;gb220918b2f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5" name="Google Shape;1615;gb220918b2f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7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Google Shape;1628;gb220918b2f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9" name="Google Shape;1629;gb220918b2f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gb220918b2f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3" name="Google Shape;1643;gb220918b2f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2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gb220918b2f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4" name="Google Shape;1654;gb220918b2f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3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gb220918b2f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5" name="Google Shape;1665;gb220918b2f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gb220918b2f_0_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1" name="Google Shape;1681;gb220918b2f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6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Google Shape;1697;gb220918b2f_0_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8" name="Google Shape;1698;gb220918b2f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gb220918b2f_0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7" name="Google Shape;1717;gb220918b2f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7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gb220918b2f_0_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9" name="Google Shape;1729;gb220918b2f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8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gb220918b2f_0_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0" name="Google Shape;1750;gb220918b2f_0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b220918b2f_0_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3" name="Google Shape;1763;gb220918b2f_0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8" name="Shape 1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Google Shape;1779;gb220918b2f_0_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0" name="Google Shape;1780;gb220918b2f_0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" name="Google Shape;1787;gb220918b2f_0_5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8" name="Google Shape;1788;gb220918b2f_0_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5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gb220918b2f_0_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7" name="Google Shape;1797;gb220918b2f_0_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4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Google Shape;1805;gb220918b2f_0_5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6" name="Google Shape;1806;gb220918b2f_0_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8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9" name="Google Shape;1819;gb220918b2f_0_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0" name="Google Shape;1820;gb220918b2f_0_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2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" name="Google Shape;1833;gb220918b2f_0_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4" name="Google Shape;1834;gb220918b2f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6" name="Shape 1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7" name="Google Shape;1857;gb220918b2f_0_6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8" name="Google Shape;1858;gb220918b2f_0_6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5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oogle Shape;1896;gb220918b2f_0_6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7" name="Google Shape;1897;gb220918b2f_0_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4" name="Shape 1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" name="Google Shape;1935;gb220918b2f_0_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6" name="Google Shape;1936;gb220918b2f_0_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2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3" name="Google Shape;1943;gb220918b2f_0_6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4" name="Google Shape;1944;gb220918b2f_0_6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0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Google Shape;1951;gb220918b2f_0_6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2" name="Google Shape;1952;gb220918b2f_0_6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8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9" name="Google Shape;1959;gb220918b2f_0_7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0" name="Google Shape;1960;gb220918b2f_0_7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gb220918b2f_0_7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3" name="Google Shape;1993;gb220918b2f_0_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4" name="Shape 2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5" name="Google Shape;2025;gb220918b2f_0_7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6" name="Google Shape;2026;gb220918b2f_0_7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9" name="Shape 2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Google Shape;2060;gb220918b2f_0_8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1" name="Google Shape;2061;gb220918b2f_0_8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4" name="Shape 2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5" name="Google Shape;2085;gb220918b2f_0_8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6" name="Google Shape;2086;gb220918b2f_0_8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7" name="Shape 2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8" name="Google Shape;2118;gb220918b2f_0_9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9" name="Google Shape;2119;gb220918b2f_0_9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b220918b2f_0_9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b220918b2f_0_9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3" name="Shape 2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4" name="Google Shape;2174;gb220918b2f_0_9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5" name="Google Shape;2175;gb220918b2f_0_9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1" name="Shape 2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2" name="Google Shape;2182;gb220918b2f_0_10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3" name="Google Shape;2183;gb220918b2f_0_10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9" name="Shape 2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0" name="Google Shape;2190;gb220918b2f_0_10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1" name="Google Shape;2191;gb220918b2f_0_10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Relationship Id="rId4" Type="http://schemas.openxmlformats.org/officeDocument/2006/relationships/image" Target="../media/image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8.png"/><Relationship Id="rId4" Type="http://schemas.openxmlformats.org/officeDocument/2006/relationships/image" Target="../media/image1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jpg"/><Relationship Id="rId4" Type="http://schemas.openxmlformats.org/officeDocument/2006/relationships/image" Target="../media/image8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.jp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.jp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.jp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.jp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.jp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.jp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.jp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.jp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.jp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.jp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jp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.jp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.jp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.jp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1.jp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1.jp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1.jp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1.jp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1.jp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1.jp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1.jp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1.jp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1.jp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1.jp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1.jp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1.jpg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1.jpg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1.jp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1.jpg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1.jpg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1.jpg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1.jpg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1.jpg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1.jpg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0.xml"/><Relationship Id="rId3" Type="http://schemas.openxmlformats.org/officeDocument/2006/relationships/image" Target="../media/image1.jpg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1.jpg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1.jpg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1.jpg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1.jpg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1.jpg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1.jpg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1.jpg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1.jpg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1.jpg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1.jpg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1.jpg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1.jpg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Relationship Id="rId3" Type="http://schemas.openxmlformats.org/officeDocument/2006/relationships/image" Target="../media/image1.jpg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Tree Based Methods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Tree Based Methods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next few sections of the course will focus on tree based methods.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3 main methods: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Random Forests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Boosted Trees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Tree Based Methods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Each of these methods stems from the basic decision tree algorithm.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cover each of these methods in their own section and then test your new skills with a project exercise after learning about all 3 method types.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Tree Based Methods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Related Reading in ISLR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Chapter 8 covers tree-based methods.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" name="Google Shape;89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Theory and Intuition: History</a:t>
            </a:r>
            <a:endParaRPr/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Tree Based Methods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While the use of basic decision trees for modeling choices and outcomes have been around for a very long time, statistical decision trees are a more recent development.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 careful to note the difference here!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" name="Google Shape;105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Tree Based Methods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general term “decision tree” can refer to a flowchart mapping out outcomes: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2" name="Google Shape;112;p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3" name="Google Shape;113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Tree Based Methods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general term “decision tree” can refer to a flowchart mapping out outcomes: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0" name="Google Shape;120;p2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1" name="Google Shape;121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1"/>
          <p:cNvSpPr/>
          <p:nvPr/>
        </p:nvSpPr>
        <p:spPr>
          <a:xfrm>
            <a:off x="2062050" y="2962125"/>
            <a:ext cx="1506900" cy="10647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Montserrat"/>
                <a:ea typeface="Montserrat"/>
                <a:cs typeface="Montserrat"/>
                <a:sym typeface="Montserrat"/>
              </a:rPr>
              <a:t>Coin Flip</a:t>
            </a:r>
            <a:endParaRPr sz="2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" name="Google Shape;123;p21"/>
          <p:cNvSpPr/>
          <p:nvPr/>
        </p:nvSpPr>
        <p:spPr>
          <a:xfrm>
            <a:off x="5461000" y="2328325"/>
            <a:ext cx="1506900" cy="10647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Montserrat"/>
                <a:ea typeface="Montserrat"/>
                <a:cs typeface="Montserrat"/>
                <a:sym typeface="Montserrat"/>
              </a:rPr>
              <a:t>Heads</a:t>
            </a:r>
            <a:endParaRPr sz="2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" name="Google Shape;124;p21"/>
          <p:cNvSpPr/>
          <p:nvPr/>
        </p:nvSpPr>
        <p:spPr>
          <a:xfrm>
            <a:off x="5461000" y="3912825"/>
            <a:ext cx="1506900" cy="10647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Montserrat"/>
                <a:ea typeface="Montserrat"/>
                <a:cs typeface="Montserrat"/>
                <a:sym typeface="Montserrat"/>
              </a:rPr>
              <a:t>Tails</a:t>
            </a:r>
            <a:endParaRPr sz="21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5" name="Google Shape;125;p21"/>
          <p:cNvCxnSpPr>
            <a:stCxn id="122" idx="3"/>
            <a:endCxn id="123" idx="1"/>
          </p:cNvCxnSpPr>
          <p:nvPr/>
        </p:nvCxnSpPr>
        <p:spPr>
          <a:xfrm flipH="1" rot="10800000">
            <a:off x="3568950" y="2860575"/>
            <a:ext cx="1892100" cy="63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" name="Google Shape;126;p21"/>
          <p:cNvCxnSpPr>
            <a:stCxn id="122" idx="3"/>
            <a:endCxn id="124" idx="1"/>
          </p:cNvCxnSpPr>
          <p:nvPr/>
        </p:nvCxnSpPr>
        <p:spPr>
          <a:xfrm>
            <a:off x="3568950" y="3494475"/>
            <a:ext cx="1892100" cy="95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" name="Google Shape;127;p21"/>
          <p:cNvSpPr txBox="1"/>
          <p:nvPr/>
        </p:nvSpPr>
        <p:spPr>
          <a:xfrm>
            <a:off x="3816500" y="2706650"/>
            <a:ext cx="11100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P = 0.5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p21"/>
          <p:cNvSpPr txBox="1"/>
          <p:nvPr/>
        </p:nvSpPr>
        <p:spPr>
          <a:xfrm>
            <a:off x="3816500" y="4026825"/>
            <a:ext cx="11100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P = 0.5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Tree Based Methods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2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Decision Tree Learning refers to the statistical modeling that uses a form of decision trees, where node splits are decided based on an information metric.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dive deeper into the developments that lead to the ability to create predictions based on decision trees.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5" name="Google Shape;135;p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6" name="Google Shape;136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Tree Based Methods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2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Fundamentally, decision trees and other tree based methods rely on the ability to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split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data based on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information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features.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means we need a mathematical definition of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information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and the ability to measure it.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3" name="Google Shape;143;p2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4" name="Google Shape;144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Tree Based Methods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2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Claude Shannon is known as the “father of information theory”.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1" name="Google Shape;151;p2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2" name="Google Shape;152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4"/>
          <p:cNvSpPr txBox="1"/>
          <p:nvPr>
            <p:ph idx="1" type="body"/>
          </p:nvPr>
        </p:nvSpPr>
        <p:spPr>
          <a:xfrm>
            <a:off x="311700" y="2156275"/>
            <a:ext cx="5907600" cy="25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Published “</a:t>
            </a: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Mathematical Theory of Communication”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1948 in Bell System Technical Journal.</a:t>
            </a:r>
            <a:r>
              <a:rPr b="1"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4" name="Google Shape;15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9250" y="1773975"/>
            <a:ext cx="2139848" cy="328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Tree Based Methods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2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Later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published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as “</a:t>
            </a:r>
            <a:r>
              <a:rPr i="1" lang="en" sz="2900" u="sng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</a:t>
            </a: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Mathematical Theory of Communication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”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1" name="Google Shape;161;p2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2" name="Google Shape;162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9250" y="1773975"/>
            <a:ext cx="2139848" cy="328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5"/>
          <p:cNvSpPr txBox="1"/>
          <p:nvPr>
            <p:ph idx="1" type="body"/>
          </p:nvPr>
        </p:nvSpPr>
        <p:spPr>
          <a:xfrm>
            <a:off x="311700" y="2156275"/>
            <a:ext cx="5907600" cy="25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Worked in many fields: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Circuit Design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Cryptography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Wearable Computers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Artificial Intelligence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Tree Based Methods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ability to measure and define information will become more important as we learn the mathematics of how tree based methods are constructed.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revisit this idea later on, for now, let’s move on to the development of decision trees.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1" name="Google Shape;171;p2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2" name="Google Shape;172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Tree Based Methods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1963: First publication of regression tree algorithm by Morgan and Sonquist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9" name="Google Shape;179;p2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0" name="Google Shape;180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6142" y="2651825"/>
            <a:ext cx="1464926" cy="1953224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4500000" dist="38100">
              <a:srgbClr val="674EA7">
                <a:alpha val="50000"/>
              </a:srgbClr>
            </a:outerShdw>
          </a:effectLst>
        </p:spPr>
      </p:pic>
      <p:pic>
        <p:nvPicPr>
          <p:cNvPr id="182" name="Google Shape;182;p27"/>
          <p:cNvPicPr preferRelativeResize="0"/>
          <p:nvPr/>
        </p:nvPicPr>
        <p:blipFill rotWithShape="1">
          <a:blip r:embed="rId5">
            <a:alphaModFix/>
          </a:blip>
          <a:srcRect b="0" l="24998" r="0" t="0"/>
          <a:stretch/>
        </p:blipFill>
        <p:spPr>
          <a:xfrm>
            <a:off x="2333375" y="2615650"/>
            <a:ext cx="1464925" cy="1953225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4500000" dist="38100">
              <a:srgbClr val="674EA7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Tree Based Methods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2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1963: Morgan and Sonquist created piecewise-constant model with splits.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9" name="Google Shape;189;p2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0" name="Google Shape;190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6142" y="2651825"/>
            <a:ext cx="1464926" cy="1953224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4500000" dist="38100">
              <a:srgbClr val="674EA7">
                <a:alpha val="50000"/>
              </a:srgbClr>
            </a:outerShdw>
          </a:effectLst>
        </p:spPr>
      </p:pic>
      <p:pic>
        <p:nvPicPr>
          <p:cNvPr id="192" name="Google Shape;192;p28"/>
          <p:cNvPicPr preferRelativeResize="0"/>
          <p:nvPr/>
        </p:nvPicPr>
        <p:blipFill rotWithShape="1">
          <a:blip r:embed="rId5">
            <a:alphaModFix/>
          </a:blip>
          <a:srcRect b="0" l="24998" r="0" t="0"/>
          <a:stretch/>
        </p:blipFill>
        <p:spPr>
          <a:xfrm>
            <a:off x="2333375" y="2615650"/>
            <a:ext cx="1464925" cy="1953225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4500000" dist="38100">
              <a:srgbClr val="674EA7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Tree Based Methods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2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1963: Piecewise-constant regression tree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9" name="Google Shape;199;p2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0" name="Google Shape;200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9"/>
          <p:cNvSpPr/>
          <p:nvPr/>
        </p:nvSpPr>
        <p:spPr>
          <a:xfrm>
            <a:off x="936625" y="2070475"/>
            <a:ext cx="2992500" cy="2188200"/>
          </a:xfrm>
          <a:prstGeom prst="rect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9"/>
          <p:cNvSpPr txBox="1"/>
          <p:nvPr/>
        </p:nvSpPr>
        <p:spPr>
          <a:xfrm>
            <a:off x="2137950" y="4322950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p29"/>
          <p:cNvSpPr txBox="1"/>
          <p:nvPr/>
        </p:nvSpPr>
        <p:spPr>
          <a:xfrm>
            <a:off x="429375" y="29039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Y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Tree Based Methods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9" name="Google Shape;209;p3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1963: Piecewise-constant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regression tree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0" name="Google Shape;210;p3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1" name="Google Shape;211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0"/>
          <p:cNvSpPr/>
          <p:nvPr/>
        </p:nvSpPr>
        <p:spPr>
          <a:xfrm>
            <a:off x="936625" y="2070475"/>
            <a:ext cx="2992500" cy="2188200"/>
          </a:xfrm>
          <a:prstGeom prst="rect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30"/>
          <p:cNvSpPr txBox="1"/>
          <p:nvPr/>
        </p:nvSpPr>
        <p:spPr>
          <a:xfrm>
            <a:off x="2167375" y="4521550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b="1"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p30"/>
          <p:cNvSpPr txBox="1"/>
          <p:nvPr/>
        </p:nvSpPr>
        <p:spPr>
          <a:xfrm>
            <a:off x="152400" y="2888500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Y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" name="Google Shape;215;p30"/>
          <p:cNvSpPr/>
          <p:nvPr/>
        </p:nvSpPr>
        <p:spPr>
          <a:xfrm>
            <a:off x="1151150" y="3534600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0"/>
          <p:cNvSpPr/>
          <p:nvPr/>
        </p:nvSpPr>
        <p:spPr>
          <a:xfrm>
            <a:off x="1421525" y="3182875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0"/>
          <p:cNvSpPr/>
          <p:nvPr/>
        </p:nvSpPr>
        <p:spPr>
          <a:xfrm>
            <a:off x="1654350" y="3427500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0"/>
          <p:cNvSpPr/>
          <p:nvPr/>
        </p:nvSpPr>
        <p:spPr>
          <a:xfrm>
            <a:off x="2025500" y="2781388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0"/>
          <p:cNvSpPr/>
          <p:nvPr/>
        </p:nvSpPr>
        <p:spPr>
          <a:xfrm>
            <a:off x="2322700" y="3030338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30"/>
          <p:cNvSpPr/>
          <p:nvPr/>
        </p:nvSpPr>
        <p:spPr>
          <a:xfrm>
            <a:off x="2737900" y="2759063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0"/>
          <p:cNvSpPr/>
          <p:nvPr/>
        </p:nvSpPr>
        <p:spPr>
          <a:xfrm>
            <a:off x="3029750" y="3289963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0"/>
          <p:cNvSpPr/>
          <p:nvPr/>
        </p:nvSpPr>
        <p:spPr>
          <a:xfrm>
            <a:off x="3466400" y="3220463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0"/>
          <p:cNvSpPr/>
          <p:nvPr/>
        </p:nvSpPr>
        <p:spPr>
          <a:xfrm>
            <a:off x="3466400" y="3534588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0"/>
          <p:cNvSpPr txBox="1"/>
          <p:nvPr/>
        </p:nvSpPr>
        <p:spPr>
          <a:xfrm>
            <a:off x="671125" y="4205050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" name="Google Shape;225;p30"/>
          <p:cNvSpPr txBox="1"/>
          <p:nvPr/>
        </p:nvSpPr>
        <p:spPr>
          <a:xfrm>
            <a:off x="1654350" y="42586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p30"/>
          <p:cNvSpPr txBox="1"/>
          <p:nvPr/>
        </p:nvSpPr>
        <p:spPr>
          <a:xfrm>
            <a:off x="2658975" y="42586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27" name="Google Shape;227;p30"/>
          <p:cNvCxnSpPr/>
          <p:nvPr/>
        </p:nvCxnSpPr>
        <p:spPr>
          <a:xfrm>
            <a:off x="936625" y="4205050"/>
            <a:ext cx="0" cy="1233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" name="Google Shape;228;p30"/>
          <p:cNvCxnSpPr/>
          <p:nvPr/>
        </p:nvCxnSpPr>
        <p:spPr>
          <a:xfrm>
            <a:off x="1919850" y="4205050"/>
            <a:ext cx="0" cy="1233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" name="Google Shape;229;p30"/>
          <p:cNvCxnSpPr/>
          <p:nvPr/>
        </p:nvCxnSpPr>
        <p:spPr>
          <a:xfrm>
            <a:off x="2924975" y="4205050"/>
            <a:ext cx="0" cy="1233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30"/>
          <p:cNvCxnSpPr/>
          <p:nvPr/>
        </p:nvCxnSpPr>
        <p:spPr>
          <a:xfrm>
            <a:off x="3929125" y="4205050"/>
            <a:ext cx="0" cy="1233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1" name="Google Shape;231;p30"/>
          <p:cNvSpPr txBox="1"/>
          <p:nvPr/>
        </p:nvSpPr>
        <p:spPr>
          <a:xfrm>
            <a:off x="3663600" y="42586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32" name="Google Shape;232;p30"/>
          <p:cNvCxnSpPr/>
          <p:nvPr/>
        </p:nvCxnSpPr>
        <p:spPr>
          <a:xfrm rot="10800000">
            <a:off x="844825" y="3740750"/>
            <a:ext cx="183600" cy="30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30"/>
          <p:cNvCxnSpPr/>
          <p:nvPr/>
        </p:nvCxnSpPr>
        <p:spPr>
          <a:xfrm rot="10800000">
            <a:off x="844825" y="3045250"/>
            <a:ext cx="183600" cy="30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30"/>
          <p:cNvCxnSpPr/>
          <p:nvPr/>
        </p:nvCxnSpPr>
        <p:spPr>
          <a:xfrm rot="10800000">
            <a:off x="844825" y="2495100"/>
            <a:ext cx="183600" cy="30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" name="Google Shape;235;p30"/>
          <p:cNvSpPr txBox="1"/>
          <p:nvPr/>
        </p:nvSpPr>
        <p:spPr>
          <a:xfrm>
            <a:off x="465975" y="35467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6" name="Google Shape;236;p30"/>
          <p:cNvSpPr txBox="1"/>
          <p:nvPr/>
        </p:nvSpPr>
        <p:spPr>
          <a:xfrm>
            <a:off x="465975" y="28641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7" name="Google Shape;237;p30"/>
          <p:cNvSpPr txBox="1"/>
          <p:nvPr/>
        </p:nvSpPr>
        <p:spPr>
          <a:xfrm>
            <a:off x="465975" y="22921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Tree Based Methods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" name="Google Shape;243;p3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1963: Piecewise-constant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regression tree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4" name="Google Shape;244;p3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5" name="Google Shape;245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1"/>
          <p:cNvSpPr/>
          <p:nvPr/>
        </p:nvSpPr>
        <p:spPr>
          <a:xfrm>
            <a:off x="936625" y="2070475"/>
            <a:ext cx="2992500" cy="2188200"/>
          </a:xfrm>
          <a:prstGeom prst="rect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1"/>
          <p:cNvSpPr txBox="1"/>
          <p:nvPr/>
        </p:nvSpPr>
        <p:spPr>
          <a:xfrm>
            <a:off x="2167375" y="4521550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b="1"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p31"/>
          <p:cNvSpPr txBox="1"/>
          <p:nvPr/>
        </p:nvSpPr>
        <p:spPr>
          <a:xfrm>
            <a:off x="152400" y="2888500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Y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9" name="Google Shape;249;p31"/>
          <p:cNvSpPr/>
          <p:nvPr/>
        </p:nvSpPr>
        <p:spPr>
          <a:xfrm>
            <a:off x="1151150" y="3534600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1"/>
          <p:cNvSpPr/>
          <p:nvPr/>
        </p:nvSpPr>
        <p:spPr>
          <a:xfrm>
            <a:off x="1421525" y="3182875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1"/>
          <p:cNvSpPr/>
          <p:nvPr/>
        </p:nvSpPr>
        <p:spPr>
          <a:xfrm>
            <a:off x="1654350" y="3427500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1"/>
          <p:cNvSpPr/>
          <p:nvPr/>
        </p:nvSpPr>
        <p:spPr>
          <a:xfrm>
            <a:off x="2025500" y="2781388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1"/>
          <p:cNvSpPr/>
          <p:nvPr/>
        </p:nvSpPr>
        <p:spPr>
          <a:xfrm>
            <a:off x="2322700" y="3030338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1"/>
          <p:cNvSpPr/>
          <p:nvPr/>
        </p:nvSpPr>
        <p:spPr>
          <a:xfrm>
            <a:off x="2737900" y="2759063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1"/>
          <p:cNvSpPr/>
          <p:nvPr/>
        </p:nvSpPr>
        <p:spPr>
          <a:xfrm>
            <a:off x="3029750" y="3289963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1"/>
          <p:cNvSpPr/>
          <p:nvPr/>
        </p:nvSpPr>
        <p:spPr>
          <a:xfrm>
            <a:off x="3466400" y="3220463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1"/>
          <p:cNvSpPr/>
          <p:nvPr/>
        </p:nvSpPr>
        <p:spPr>
          <a:xfrm>
            <a:off x="3466400" y="3534588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1"/>
          <p:cNvSpPr txBox="1"/>
          <p:nvPr/>
        </p:nvSpPr>
        <p:spPr>
          <a:xfrm>
            <a:off x="671125" y="4205050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9" name="Google Shape;259;p31"/>
          <p:cNvSpPr txBox="1"/>
          <p:nvPr/>
        </p:nvSpPr>
        <p:spPr>
          <a:xfrm>
            <a:off x="1654350" y="42586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" name="Google Shape;260;p31"/>
          <p:cNvSpPr txBox="1"/>
          <p:nvPr/>
        </p:nvSpPr>
        <p:spPr>
          <a:xfrm>
            <a:off x="2658975" y="42586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61" name="Google Shape;261;p31"/>
          <p:cNvCxnSpPr/>
          <p:nvPr/>
        </p:nvCxnSpPr>
        <p:spPr>
          <a:xfrm>
            <a:off x="936625" y="4205050"/>
            <a:ext cx="0" cy="1233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31"/>
          <p:cNvCxnSpPr/>
          <p:nvPr/>
        </p:nvCxnSpPr>
        <p:spPr>
          <a:xfrm>
            <a:off x="1919850" y="4205050"/>
            <a:ext cx="0" cy="1233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31"/>
          <p:cNvCxnSpPr/>
          <p:nvPr/>
        </p:nvCxnSpPr>
        <p:spPr>
          <a:xfrm>
            <a:off x="2924975" y="4205050"/>
            <a:ext cx="0" cy="1233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31"/>
          <p:cNvCxnSpPr/>
          <p:nvPr/>
        </p:nvCxnSpPr>
        <p:spPr>
          <a:xfrm>
            <a:off x="3929125" y="4205050"/>
            <a:ext cx="0" cy="1233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5" name="Google Shape;265;p31"/>
          <p:cNvSpPr txBox="1"/>
          <p:nvPr/>
        </p:nvSpPr>
        <p:spPr>
          <a:xfrm>
            <a:off x="3663600" y="42586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66" name="Google Shape;266;p31"/>
          <p:cNvCxnSpPr/>
          <p:nvPr/>
        </p:nvCxnSpPr>
        <p:spPr>
          <a:xfrm rot="10800000">
            <a:off x="844825" y="3740750"/>
            <a:ext cx="183600" cy="30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31"/>
          <p:cNvCxnSpPr/>
          <p:nvPr/>
        </p:nvCxnSpPr>
        <p:spPr>
          <a:xfrm rot="10800000">
            <a:off x="844825" y="3045250"/>
            <a:ext cx="183600" cy="30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" name="Google Shape;268;p31"/>
          <p:cNvCxnSpPr/>
          <p:nvPr/>
        </p:nvCxnSpPr>
        <p:spPr>
          <a:xfrm rot="10800000">
            <a:off x="844825" y="2495100"/>
            <a:ext cx="183600" cy="30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9" name="Google Shape;269;p31"/>
          <p:cNvSpPr txBox="1"/>
          <p:nvPr/>
        </p:nvSpPr>
        <p:spPr>
          <a:xfrm>
            <a:off x="465975" y="35467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p31"/>
          <p:cNvSpPr txBox="1"/>
          <p:nvPr/>
        </p:nvSpPr>
        <p:spPr>
          <a:xfrm>
            <a:off x="465975" y="28641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1" name="Google Shape;271;p31"/>
          <p:cNvSpPr txBox="1"/>
          <p:nvPr/>
        </p:nvSpPr>
        <p:spPr>
          <a:xfrm>
            <a:off x="465975" y="22921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2" name="Google Shape;272;p31"/>
          <p:cNvSpPr/>
          <p:nvPr/>
        </p:nvSpPr>
        <p:spPr>
          <a:xfrm>
            <a:off x="942000" y="2940338"/>
            <a:ext cx="2997925" cy="1007200"/>
          </a:xfrm>
          <a:custGeom>
            <a:rect b="b" l="l" r="r" t="t"/>
            <a:pathLst>
              <a:path extrusionOk="0" h="40288" w="119917">
                <a:moveTo>
                  <a:pt x="0" y="40288"/>
                </a:moveTo>
                <a:cubicBezTo>
                  <a:pt x="8867" y="33602"/>
                  <a:pt x="33215" y="2389"/>
                  <a:pt x="53201" y="172"/>
                </a:cubicBezTo>
                <a:cubicBezTo>
                  <a:pt x="73187" y="-2045"/>
                  <a:pt x="108798" y="22518"/>
                  <a:pt x="119917" y="26987"/>
                </a:cubicBezTo>
              </a:path>
            </a:pathLst>
          </a:custGeom>
          <a:noFill/>
          <a:ln cap="flat" cmpd="sng" w="19050">
            <a:solidFill>
              <a:srgbClr val="E06666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Tree Based Methods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3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1963: Piecewise-constant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regression tree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9" name="Google Shape;279;p3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0" name="Google Shape;280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2"/>
          <p:cNvSpPr/>
          <p:nvPr/>
        </p:nvSpPr>
        <p:spPr>
          <a:xfrm>
            <a:off x="936625" y="2070475"/>
            <a:ext cx="2992500" cy="2188200"/>
          </a:xfrm>
          <a:prstGeom prst="rect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2"/>
          <p:cNvSpPr txBox="1"/>
          <p:nvPr/>
        </p:nvSpPr>
        <p:spPr>
          <a:xfrm>
            <a:off x="2167375" y="4521550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b="1"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3" name="Google Shape;283;p32"/>
          <p:cNvSpPr txBox="1"/>
          <p:nvPr/>
        </p:nvSpPr>
        <p:spPr>
          <a:xfrm>
            <a:off x="152400" y="2888500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Y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4" name="Google Shape;284;p32"/>
          <p:cNvSpPr/>
          <p:nvPr/>
        </p:nvSpPr>
        <p:spPr>
          <a:xfrm>
            <a:off x="1151150" y="3534600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2"/>
          <p:cNvSpPr/>
          <p:nvPr/>
        </p:nvSpPr>
        <p:spPr>
          <a:xfrm>
            <a:off x="1421525" y="3182875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2"/>
          <p:cNvSpPr/>
          <p:nvPr/>
        </p:nvSpPr>
        <p:spPr>
          <a:xfrm>
            <a:off x="1654350" y="3427500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2"/>
          <p:cNvSpPr/>
          <p:nvPr/>
        </p:nvSpPr>
        <p:spPr>
          <a:xfrm>
            <a:off x="2025500" y="2781388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2"/>
          <p:cNvSpPr/>
          <p:nvPr/>
        </p:nvSpPr>
        <p:spPr>
          <a:xfrm>
            <a:off x="2322700" y="3030338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2"/>
          <p:cNvSpPr/>
          <p:nvPr/>
        </p:nvSpPr>
        <p:spPr>
          <a:xfrm>
            <a:off x="2737900" y="2759063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2"/>
          <p:cNvSpPr/>
          <p:nvPr/>
        </p:nvSpPr>
        <p:spPr>
          <a:xfrm>
            <a:off x="3029750" y="3289963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2"/>
          <p:cNvSpPr/>
          <p:nvPr/>
        </p:nvSpPr>
        <p:spPr>
          <a:xfrm>
            <a:off x="3466400" y="3220463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2"/>
          <p:cNvSpPr/>
          <p:nvPr/>
        </p:nvSpPr>
        <p:spPr>
          <a:xfrm>
            <a:off x="3466400" y="3534588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2"/>
          <p:cNvSpPr txBox="1"/>
          <p:nvPr/>
        </p:nvSpPr>
        <p:spPr>
          <a:xfrm>
            <a:off x="671125" y="4205050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4" name="Google Shape;294;p32"/>
          <p:cNvSpPr txBox="1"/>
          <p:nvPr/>
        </p:nvSpPr>
        <p:spPr>
          <a:xfrm>
            <a:off x="1654350" y="42586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5" name="Google Shape;295;p32"/>
          <p:cNvSpPr txBox="1"/>
          <p:nvPr/>
        </p:nvSpPr>
        <p:spPr>
          <a:xfrm>
            <a:off x="2658975" y="42586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96" name="Google Shape;296;p32"/>
          <p:cNvCxnSpPr/>
          <p:nvPr/>
        </p:nvCxnSpPr>
        <p:spPr>
          <a:xfrm>
            <a:off x="936625" y="4205050"/>
            <a:ext cx="0" cy="1233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" name="Google Shape;297;p32"/>
          <p:cNvCxnSpPr/>
          <p:nvPr/>
        </p:nvCxnSpPr>
        <p:spPr>
          <a:xfrm>
            <a:off x="1919850" y="4205050"/>
            <a:ext cx="0" cy="1233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" name="Google Shape;298;p32"/>
          <p:cNvCxnSpPr/>
          <p:nvPr/>
        </p:nvCxnSpPr>
        <p:spPr>
          <a:xfrm>
            <a:off x="2924975" y="4205050"/>
            <a:ext cx="0" cy="1233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32"/>
          <p:cNvCxnSpPr/>
          <p:nvPr/>
        </p:nvCxnSpPr>
        <p:spPr>
          <a:xfrm>
            <a:off x="3929125" y="4205050"/>
            <a:ext cx="0" cy="1233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0" name="Google Shape;300;p32"/>
          <p:cNvSpPr txBox="1"/>
          <p:nvPr/>
        </p:nvSpPr>
        <p:spPr>
          <a:xfrm>
            <a:off x="3663600" y="42586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01" name="Google Shape;301;p32"/>
          <p:cNvCxnSpPr/>
          <p:nvPr/>
        </p:nvCxnSpPr>
        <p:spPr>
          <a:xfrm rot="10800000">
            <a:off x="844825" y="3740750"/>
            <a:ext cx="183600" cy="30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" name="Google Shape;302;p32"/>
          <p:cNvCxnSpPr/>
          <p:nvPr/>
        </p:nvCxnSpPr>
        <p:spPr>
          <a:xfrm rot="10800000">
            <a:off x="844825" y="3045250"/>
            <a:ext cx="183600" cy="30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" name="Google Shape;303;p32"/>
          <p:cNvCxnSpPr/>
          <p:nvPr/>
        </p:nvCxnSpPr>
        <p:spPr>
          <a:xfrm rot="10800000">
            <a:off x="844825" y="2495100"/>
            <a:ext cx="183600" cy="30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4" name="Google Shape;304;p32"/>
          <p:cNvSpPr txBox="1"/>
          <p:nvPr/>
        </p:nvSpPr>
        <p:spPr>
          <a:xfrm>
            <a:off x="465975" y="35467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5" name="Google Shape;305;p32"/>
          <p:cNvSpPr txBox="1"/>
          <p:nvPr/>
        </p:nvSpPr>
        <p:spPr>
          <a:xfrm>
            <a:off x="465975" y="28641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6" name="Google Shape;306;p32"/>
          <p:cNvSpPr txBox="1"/>
          <p:nvPr/>
        </p:nvSpPr>
        <p:spPr>
          <a:xfrm>
            <a:off x="465975" y="22921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Tree Based Methods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2" name="Google Shape;312;p3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1963: Piecewise-constant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regression tree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13" name="Google Shape;313;p3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14" name="Google Shape;314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3"/>
          <p:cNvSpPr/>
          <p:nvPr/>
        </p:nvSpPr>
        <p:spPr>
          <a:xfrm>
            <a:off x="936625" y="2070475"/>
            <a:ext cx="2992500" cy="2188200"/>
          </a:xfrm>
          <a:prstGeom prst="rect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3"/>
          <p:cNvSpPr txBox="1"/>
          <p:nvPr/>
        </p:nvSpPr>
        <p:spPr>
          <a:xfrm>
            <a:off x="2167375" y="4521550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b="1"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7" name="Google Shape;317;p33"/>
          <p:cNvSpPr txBox="1"/>
          <p:nvPr/>
        </p:nvSpPr>
        <p:spPr>
          <a:xfrm>
            <a:off x="152400" y="2888500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Y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8" name="Google Shape;318;p33"/>
          <p:cNvSpPr/>
          <p:nvPr/>
        </p:nvSpPr>
        <p:spPr>
          <a:xfrm>
            <a:off x="1151150" y="3534600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3"/>
          <p:cNvSpPr/>
          <p:nvPr/>
        </p:nvSpPr>
        <p:spPr>
          <a:xfrm>
            <a:off x="1421525" y="3182875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3"/>
          <p:cNvSpPr/>
          <p:nvPr/>
        </p:nvSpPr>
        <p:spPr>
          <a:xfrm>
            <a:off x="1654350" y="3427500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3"/>
          <p:cNvSpPr/>
          <p:nvPr/>
        </p:nvSpPr>
        <p:spPr>
          <a:xfrm>
            <a:off x="2025500" y="2781388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3"/>
          <p:cNvSpPr/>
          <p:nvPr/>
        </p:nvSpPr>
        <p:spPr>
          <a:xfrm>
            <a:off x="2322700" y="3030338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3"/>
          <p:cNvSpPr/>
          <p:nvPr/>
        </p:nvSpPr>
        <p:spPr>
          <a:xfrm>
            <a:off x="2737900" y="2759063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3"/>
          <p:cNvSpPr/>
          <p:nvPr/>
        </p:nvSpPr>
        <p:spPr>
          <a:xfrm>
            <a:off x="3029750" y="3289963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3"/>
          <p:cNvSpPr/>
          <p:nvPr/>
        </p:nvSpPr>
        <p:spPr>
          <a:xfrm>
            <a:off x="3466400" y="3220463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3"/>
          <p:cNvSpPr/>
          <p:nvPr/>
        </p:nvSpPr>
        <p:spPr>
          <a:xfrm>
            <a:off x="3466400" y="3534588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3"/>
          <p:cNvSpPr/>
          <p:nvPr/>
        </p:nvSpPr>
        <p:spPr>
          <a:xfrm>
            <a:off x="6562825" y="1798050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 &lt;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8" name="Google Shape;328;p33"/>
          <p:cNvSpPr txBox="1"/>
          <p:nvPr/>
        </p:nvSpPr>
        <p:spPr>
          <a:xfrm>
            <a:off x="671125" y="4205050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9" name="Google Shape;329;p33"/>
          <p:cNvSpPr txBox="1"/>
          <p:nvPr/>
        </p:nvSpPr>
        <p:spPr>
          <a:xfrm>
            <a:off x="1654350" y="42586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0" name="Google Shape;330;p33"/>
          <p:cNvSpPr txBox="1"/>
          <p:nvPr/>
        </p:nvSpPr>
        <p:spPr>
          <a:xfrm>
            <a:off x="2658975" y="42586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31" name="Google Shape;331;p33"/>
          <p:cNvCxnSpPr/>
          <p:nvPr/>
        </p:nvCxnSpPr>
        <p:spPr>
          <a:xfrm>
            <a:off x="936625" y="4205050"/>
            <a:ext cx="0" cy="1233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" name="Google Shape;332;p33"/>
          <p:cNvCxnSpPr/>
          <p:nvPr/>
        </p:nvCxnSpPr>
        <p:spPr>
          <a:xfrm>
            <a:off x="1919850" y="4205050"/>
            <a:ext cx="0" cy="1233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" name="Google Shape;333;p33"/>
          <p:cNvCxnSpPr/>
          <p:nvPr/>
        </p:nvCxnSpPr>
        <p:spPr>
          <a:xfrm>
            <a:off x="2924975" y="4205050"/>
            <a:ext cx="0" cy="1233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" name="Google Shape;334;p33"/>
          <p:cNvCxnSpPr/>
          <p:nvPr/>
        </p:nvCxnSpPr>
        <p:spPr>
          <a:xfrm>
            <a:off x="3929125" y="4205050"/>
            <a:ext cx="0" cy="1233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5" name="Google Shape;335;p33"/>
          <p:cNvSpPr txBox="1"/>
          <p:nvPr/>
        </p:nvSpPr>
        <p:spPr>
          <a:xfrm>
            <a:off x="3663600" y="42586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36" name="Google Shape;336;p33"/>
          <p:cNvCxnSpPr/>
          <p:nvPr/>
        </p:nvCxnSpPr>
        <p:spPr>
          <a:xfrm rot="10800000">
            <a:off x="844825" y="3740750"/>
            <a:ext cx="183600" cy="30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" name="Google Shape;337;p33"/>
          <p:cNvCxnSpPr/>
          <p:nvPr/>
        </p:nvCxnSpPr>
        <p:spPr>
          <a:xfrm rot="10800000">
            <a:off x="844825" y="3045250"/>
            <a:ext cx="183600" cy="30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" name="Google Shape;338;p33"/>
          <p:cNvCxnSpPr/>
          <p:nvPr/>
        </p:nvCxnSpPr>
        <p:spPr>
          <a:xfrm rot="10800000">
            <a:off x="844825" y="2495100"/>
            <a:ext cx="183600" cy="30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9" name="Google Shape;339;p33"/>
          <p:cNvSpPr txBox="1"/>
          <p:nvPr/>
        </p:nvSpPr>
        <p:spPr>
          <a:xfrm>
            <a:off x="465975" y="35467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0" name="Google Shape;340;p33"/>
          <p:cNvSpPr txBox="1"/>
          <p:nvPr/>
        </p:nvSpPr>
        <p:spPr>
          <a:xfrm>
            <a:off x="465975" y="28641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1" name="Google Shape;341;p33"/>
          <p:cNvSpPr txBox="1"/>
          <p:nvPr/>
        </p:nvSpPr>
        <p:spPr>
          <a:xfrm>
            <a:off x="465975" y="22921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Tree Based Methods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7" name="Google Shape;347;p3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1963: Piecewise-constant regression tree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8" name="Google Shape;348;p3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9" name="Google Shape;349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4"/>
          <p:cNvSpPr/>
          <p:nvPr/>
        </p:nvSpPr>
        <p:spPr>
          <a:xfrm>
            <a:off x="936625" y="2070475"/>
            <a:ext cx="2992500" cy="2188200"/>
          </a:xfrm>
          <a:prstGeom prst="rect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4"/>
          <p:cNvSpPr txBox="1"/>
          <p:nvPr/>
        </p:nvSpPr>
        <p:spPr>
          <a:xfrm>
            <a:off x="2167375" y="4521550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b="1"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2" name="Google Shape;352;p34"/>
          <p:cNvSpPr txBox="1"/>
          <p:nvPr/>
        </p:nvSpPr>
        <p:spPr>
          <a:xfrm>
            <a:off x="152400" y="2888500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Y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3" name="Google Shape;353;p34"/>
          <p:cNvSpPr/>
          <p:nvPr/>
        </p:nvSpPr>
        <p:spPr>
          <a:xfrm>
            <a:off x="1151150" y="3534600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34"/>
          <p:cNvSpPr/>
          <p:nvPr/>
        </p:nvSpPr>
        <p:spPr>
          <a:xfrm>
            <a:off x="1421525" y="3182875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4"/>
          <p:cNvSpPr/>
          <p:nvPr/>
        </p:nvSpPr>
        <p:spPr>
          <a:xfrm>
            <a:off x="1654350" y="3427500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4"/>
          <p:cNvSpPr/>
          <p:nvPr/>
        </p:nvSpPr>
        <p:spPr>
          <a:xfrm>
            <a:off x="2025500" y="2781388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4"/>
          <p:cNvSpPr/>
          <p:nvPr/>
        </p:nvSpPr>
        <p:spPr>
          <a:xfrm>
            <a:off x="2322700" y="3030338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34"/>
          <p:cNvSpPr/>
          <p:nvPr/>
        </p:nvSpPr>
        <p:spPr>
          <a:xfrm>
            <a:off x="2737900" y="2759063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4"/>
          <p:cNvSpPr/>
          <p:nvPr/>
        </p:nvSpPr>
        <p:spPr>
          <a:xfrm>
            <a:off x="3029750" y="3289963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4"/>
          <p:cNvSpPr/>
          <p:nvPr/>
        </p:nvSpPr>
        <p:spPr>
          <a:xfrm>
            <a:off x="3466400" y="3220463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4"/>
          <p:cNvSpPr/>
          <p:nvPr/>
        </p:nvSpPr>
        <p:spPr>
          <a:xfrm>
            <a:off x="3466400" y="3534588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4"/>
          <p:cNvSpPr txBox="1"/>
          <p:nvPr/>
        </p:nvSpPr>
        <p:spPr>
          <a:xfrm>
            <a:off x="671125" y="4205050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3" name="Google Shape;363;p34"/>
          <p:cNvSpPr txBox="1"/>
          <p:nvPr/>
        </p:nvSpPr>
        <p:spPr>
          <a:xfrm>
            <a:off x="1654350" y="42586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4" name="Google Shape;364;p34"/>
          <p:cNvSpPr txBox="1"/>
          <p:nvPr/>
        </p:nvSpPr>
        <p:spPr>
          <a:xfrm>
            <a:off x="2658975" y="42586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65" name="Google Shape;365;p34"/>
          <p:cNvCxnSpPr/>
          <p:nvPr/>
        </p:nvCxnSpPr>
        <p:spPr>
          <a:xfrm>
            <a:off x="936625" y="4205050"/>
            <a:ext cx="0" cy="1233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6" name="Google Shape;366;p34"/>
          <p:cNvCxnSpPr/>
          <p:nvPr/>
        </p:nvCxnSpPr>
        <p:spPr>
          <a:xfrm>
            <a:off x="1919850" y="4205050"/>
            <a:ext cx="0" cy="1233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" name="Google Shape;367;p34"/>
          <p:cNvCxnSpPr/>
          <p:nvPr/>
        </p:nvCxnSpPr>
        <p:spPr>
          <a:xfrm>
            <a:off x="2924975" y="4205050"/>
            <a:ext cx="0" cy="1233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" name="Google Shape;368;p34"/>
          <p:cNvCxnSpPr/>
          <p:nvPr/>
        </p:nvCxnSpPr>
        <p:spPr>
          <a:xfrm>
            <a:off x="3929125" y="4205050"/>
            <a:ext cx="0" cy="1233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9" name="Google Shape;369;p34"/>
          <p:cNvSpPr txBox="1"/>
          <p:nvPr/>
        </p:nvSpPr>
        <p:spPr>
          <a:xfrm>
            <a:off x="3663600" y="42586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70" name="Google Shape;370;p34"/>
          <p:cNvCxnSpPr/>
          <p:nvPr/>
        </p:nvCxnSpPr>
        <p:spPr>
          <a:xfrm rot="10800000">
            <a:off x="844825" y="3740750"/>
            <a:ext cx="183600" cy="30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" name="Google Shape;371;p34"/>
          <p:cNvCxnSpPr/>
          <p:nvPr/>
        </p:nvCxnSpPr>
        <p:spPr>
          <a:xfrm rot="10800000">
            <a:off x="844825" y="3045250"/>
            <a:ext cx="183600" cy="30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" name="Google Shape;372;p34"/>
          <p:cNvCxnSpPr/>
          <p:nvPr/>
        </p:nvCxnSpPr>
        <p:spPr>
          <a:xfrm rot="10800000">
            <a:off x="844825" y="2495100"/>
            <a:ext cx="183600" cy="30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3" name="Google Shape;373;p34"/>
          <p:cNvSpPr txBox="1"/>
          <p:nvPr/>
        </p:nvSpPr>
        <p:spPr>
          <a:xfrm>
            <a:off x="465975" y="35467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4" name="Google Shape;374;p34"/>
          <p:cNvSpPr txBox="1"/>
          <p:nvPr/>
        </p:nvSpPr>
        <p:spPr>
          <a:xfrm>
            <a:off x="465975" y="28641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5" name="Google Shape;375;p34"/>
          <p:cNvSpPr txBox="1"/>
          <p:nvPr/>
        </p:nvSpPr>
        <p:spPr>
          <a:xfrm>
            <a:off x="465975" y="22921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76" name="Google Shape;376;p34"/>
          <p:cNvCxnSpPr/>
          <p:nvPr/>
        </p:nvCxnSpPr>
        <p:spPr>
          <a:xfrm>
            <a:off x="925900" y="3400500"/>
            <a:ext cx="986700" cy="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7" name="Google Shape;377;p34"/>
          <p:cNvSpPr/>
          <p:nvPr/>
        </p:nvSpPr>
        <p:spPr>
          <a:xfrm>
            <a:off x="6562825" y="1798050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 ≤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78" name="Google Shape;378;p34"/>
          <p:cNvCxnSpPr>
            <a:stCxn id="377" idx="2"/>
            <a:endCxn id="379" idx="0"/>
          </p:cNvCxnSpPr>
          <p:nvPr/>
        </p:nvCxnSpPr>
        <p:spPr>
          <a:xfrm flipH="1">
            <a:off x="5986975" y="2370750"/>
            <a:ext cx="1020900" cy="50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9" name="Google Shape;379;p34"/>
          <p:cNvSpPr/>
          <p:nvPr/>
        </p:nvSpPr>
        <p:spPr>
          <a:xfrm>
            <a:off x="5541925" y="2878225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Y=1.5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80" name="Google Shape;380;p34"/>
          <p:cNvCxnSpPr>
            <a:stCxn id="377" idx="2"/>
            <a:endCxn id="381" idx="0"/>
          </p:cNvCxnSpPr>
          <p:nvPr/>
        </p:nvCxnSpPr>
        <p:spPr>
          <a:xfrm>
            <a:off x="7007875" y="2370750"/>
            <a:ext cx="766200" cy="50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1" name="Google Shape;381;p34"/>
          <p:cNvSpPr/>
          <p:nvPr/>
        </p:nvSpPr>
        <p:spPr>
          <a:xfrm>
            <a:off x="7328888" y="2878213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 ≤ 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2" name="Google Shape;382;p34"/>
          <p:cNvSpPr txBox="1"/>
          <p:nvPr/>
        </p:nvSpPr>
        <p:spPr>
          <a:xfrm>
            <a:off x="6163425" y="23583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  <p:sp>
        <p:nvSpPr>
          <p:cNvPr id="383" name="Google Shape;383;p34"/>
          <p:cNvSpPr txBox="1"/>
          <p:nvPr/>
        </p:nvSpPr>
        <p:spPr>
          <a:xfrm>
            <a:off x="7481875" y="23583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Tree Based Methods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9" name="Google Shape;389;p3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1963: Piecewise-constant regression tree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0" name="Google Shape;390;p3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1" name="Google Shape;391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5"/>
          <p:cNvSpPr/>
          <p:nvPr/>
        </p:nvSpPr>
        <p:spPr>
          <a:xfrm>
            <a:off x="936625" y="2070475"/>
            <a:ext cx="2992500" cy="2188200"/>
          </a:xfrm>
          <a:prstGeom prst="rect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5"/>
          <p:cNvSpPr txBox="1"/>
          <p:nvPr/>
        </p:nvSpPr>
        <p:spPr>
          <a:xfrm>
            <a:off x="2167375" y="4521550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b="1"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4" name="Google Shape;394;p35"/>
          <p:cNvSpPr txBox="1"/>
          <p:nvPr/>
        </p:nvSpPr>
        <p:spPr>
          <a:xfrm>
            <a:off x="152400" y="2888500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Y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5" name="Google Shape;395;p35"/>
          <p:cNvSpPr/>
          <p:nvPr/>
        </p:nvSpPr>
        <p:spPr>
          <a:xfrm>
            <a:off x="1151150" y="3534600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5"/>
          <p:cNvSpPr/>
          <p:nvPr/>
        </p:nvSpPr>
        <p:spPr>
          <a:xfrm>
            <a:off x="1421525" y="3182875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5"/>
          <p:cNvSpPr/>
          <p:nvPr/>
        </p:nvSpPr>
        <p:spPr>
          <a:xfrm>
            <a:off x="1654350" y="3427500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5"/>
          <p:cNvSpPr/>
          <p:nvPr/>
        </p:nvSpPr>
        <p:spPr>
          <a:xfrm>
            <a:off x="2025500" y="2781388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5"/>
          <p:cNvSpPr/>
          <p:nvPr/>
        </p:nvSpPr>
        <p:spPr>
          <a:xfrm>
            <a:off x="2322700" y="3030338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5"/>
          <p:cNvSpPr/>
          <p:nvPr/>
        </p:nvSpPr>
        <p:spPr>
          <a:xfrm>
            <a:off x="2737900" y="2759063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5"/>
          <p:cNvSpPr/>
          <p:nvPr/>
        </p:nvSpPr>
        <p:spPr>
          <a:xfrm>
            <a:off x="3029750" y="3289963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/>
          <p:nvPr/>
        </p:nvSpPr>
        <p:spPr>
          <a:xfrm>
            <a:off x="3466400" y="3220463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5"/>
          <p:cNvSpPr/>
          <p:nvPr/>
        </p:nvSpPr>
        <p:spPr>
          <a:xfrm>
            <a:off x="3466400" y="3534588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5"/>
          <p:cNvSpPr txBox="1"/>
          <p:nvPr/>
        </p:nvSpPr>
        <p:spPr>
          <a:xfrm>
            <a:off x="671125" y="4205050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5" name="Google Shape;405;p35"/>
          <p:cNvSpPr txBox="1"/>
          <p:nvPr/>
        </p:nvSpPr>
        <p:spPr>
          <a:xfrm>
            <a:off x="1654350" y="42586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6" name="Google Shape;406;p35"/>
          <p:cNvSpPr txBox="1"/>
          <p:nvPr/>
        </p:nvSpPr>
        <p:spPr>
          <a:xfrm>
            <a:off x="2658975" y="42586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07" name="Google Shape;407;p35"/>
          <p:cNvCxnSpPr/>
          <p:nvPr/>
        </p:nvCxnSpPr>
        <p:spPr>
          <a:xfrm>
            <a:off x="936625" y="4205050"/>
            <a:ext cx="0" cy="1233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8" name="Google Shape;408;p35"/>
          <p:cNvCxnSpPr/>
          <p:nvPr/>
        </p:nvCxnSpPr>
        <p:spPr>
          <a:xfrm>
            <a:off x="1919850" y="4205050"/>
            <a:ext cx="0" cy="1233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" name="Google Shape;409;p35"/>
          <p:cNvCxnSpPr/>
          <p:nvPr/>
        </p:nvCxnSpPr>
        <p:spPr>
          <a:xfrm>
            <a:off x="2924975" y="4205050"/>
            <a:ext cx="0" cy="1233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" name="Google Shape;410;p35"/>
          <p:cNvCxnSpPr/>
          <p:nvPr/>
        </p:nvCxnSpPr>
        <p:spPr>
          <a:xfrm>
            <a:off x="3929125" y="4205050"/>
            <a:ext cx="0" cy="1233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1" name="Google Shape;411;p35"/>
          <p:cNvSpPr txBox="1"/>
          <p:nvPr/>
        </p:nvSpPr>
        <p:spPr>
          <a:xfrm>
            <a:off x="3663600" y="42586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12" name="Google Shape;412;p35"/>
          <p:cNvCxnSpPr/>
          <p:nvPr/>
        </p:nvCxnSpPr>
        <p:spPr>
          <a:xfrm rot="10800000">
            <a:off x="844825" y="3740750"/>
            <a:ext cx="183600" cy="30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" name="Google Shape;413;p35"/>
          <p:cNvCxnSpPr/>
          <p:nvPr/>
        </p:nvCxnSpPr>
        <p:spPr>
          <a:xfrm rot="10800000">
            <a:off x="844825" y="3045250"/>
            <a:ext cx="183600" cy="30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" name="Google Shape;414;p35"/>
          <p:cNvCxnSpPr/>
          <p:nvPr/>
        </p:nvCxnSpPr>
        <p:spPr>
          <a:xfrm rot="10800000">
            <a:off x="844825" y="2495100"/>
            <a:ext cx="183600" cy="30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5" name="Google Shape;415;p35"/>
          <p:cNvSpPr txBox="1"/>
          <p:nvPr/>
        </p:nvSpPr>
        <p:spPr>
          <a:xfrm>
            <a:off x="465975" y="35467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6" name="Google Shape;416;p35"/>
          <p:cNvSpPr txBox="1"/>
          <p:nvPr/>
        </p:nvSpPr>
        <p:spPr>
          <a:xfrm>
            <a:off x="465975" y="28641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7" name="Google Shape;417;p35"/>
          <p:cNvSpPr txBox="1"/>
          <p:nvPr/>
        </p:nvSpPr>
        <p:spPr>
          <a:xfrm>
            <a:off x="465975" y="22921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18" name="Google Shape;418;p35"/>
          <p:cNvCxnSpPr/>
          <p:nvPr/>
        </p:nvCxnSpPr>
        <p:spPr>
          <a:xfrm>
            <a:off x="925900" y="3400500"/>
            <a:ext cx="986700" cy="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" name="Google Shape;419;p35"/>
          <p:cNvCxnSpPr/>
          <p:nvPr/>
        </p:nvCxnSpPr>
        <p:spPr>
          <a:xfrm>
            <a:off x="1916500" y="2943300"/>
            <a:ext cx="986700" cy="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35"/>
          <p:cNvCxnSpPr/>
          <p:nvPr/>
        </p:nvCxnSpPr>
        <p:spPr>
          <a:xfrm>
            <a:off x="2907100" y="3400500"/>
            <a:ext cx="986700" cy="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1" name="Google Shape;421;p35"/>
          <p:cNvSpPr/>
          <p:nvPr/>
        </p:nvSpPr>
        <p:spPr>
          <a:xfrm>
            <a:off x="6562825" y="1798050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 ≤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22" name="Google Shape;422;p35"/>
          <p:cNvCxnSpPr>
            <a:stCxn id="421" idx="2"/>
            <a:endCxn id="423" idx="0"/>
          </p:cNvCxnSpPr>
          <p:nvPr/>
        </p:nvCxnSpPr>
        <p:spPr>
          <a:xfrm flipH="1">
            <a:off x="5986975" y="2370750"/>
            <a:ext cx="1020900" cy="50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3" name="Google Shape;423;p35"/>
          <p:cNvSpPr/>
          <p:nvPr/>
        </p:nvSpPr>
        <p:spPr>
          <a:xfrm>
            <a:off x="5541925" y="2878225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Y=1.5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24" name="Google Shape;424;p35"/>
          <p:cNvCxnSpPr>
            <a:stCxn id="421" idx="2"/>
            <a:endCxn id="425" idx="0"/>
          </p:cNvCxnSpPr>
          <p:nvPr/>
        </p:nvCxnSpPr>
        <p:spPr>
          <a:xfrm>
            <a:off x="7007875" y="2370750"/>
            <a:ext cx="766200" cy="50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5" name="Google Shape;425;p35"/>
          <p:cNvSpPr/>
          <p:nvPr/>
        </p:nvSpPr>
        <p:spPr>
          <a:xfrm>
            <a:off x="7328888" y="2878213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 ≤ 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26" name="Google Shape;426;p35"/>
          <p:cNvCxnSpPr>
            <a:stCxn id="425" idx="2"/>
            <a:endCxn id="427" idx="0"/>
          </p:cNvCxnSpPr>
          <p:nvPr/>
        </p:nvCxnSpPr>
        <p:spPr>
          <a:xfrm>
            <a:off x="7773938" y="3450913"/>
            <a:ext cx="617400" cy="43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8" name="Google Shape;428;p35"/>
          <p:cNvSpPr/>
          <p:nvPr/>
        </p:nvSpPr>
        <p:spPr>
          <a:xfrm>
            <a:off x="6622650" y="3889125"/>
            <a:ext cx="924900" cy="57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Y=2.2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7" name="Google Shape;427;p35"/>
          <p:cNvSpPr/>
          <p:nvPr/>
        </p:nvSpPr>
        <p:spPr>
          <a:xfrm>
            <a:off x="7928875" y="3889125"/>
            <a:ext cx="924900" cy="57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Y=1.5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29" name="Google Shape;429;p35"/>
          <p:cNvCxnSpPr>
            <a:stCxn id="425" idx="2"/>
            <a:endCxn id="428" idx="0"/>
          </p:cNvCxnSpPr>
          <p:nvPr/>
        </p:nvCxnSpPr>
        <p:spPr>
          <a:xfrm flipH="1">
            <a:off x="7085138" y="3450913"/>
            <a:ext cx="688800" cy="43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0" name="Google Shape;430;p35"/>
          <p:cNvSpPr txBox="1"/>
          <p:nvPr/>
        </p:nvSpPr>
        <p:spPr>
          <a:xfrm>
            <a:off x="8270725" y="3534600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sp>
        <p:nvSpPr>
          <p:cNvPr id="431" name="Google Shape;431;p35"/>
          <p:cNvSpPr txBox="1"/>
          <p:nvPr/>
        </p:nvSpPr>
        <p:spPr>
          <a:xfrm>
            <a:off x="6163425" y="23583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  <p:sp>
        <p:nvSpPr>
          <p:cNvPr id="432" name="Google Shape;432;p35"/>
          <p:cNvSpPr txBox="1"/>
          <p:nvPr/>
        </p:nvSpPr>
        <p:spPr>
          <a:xfrm>
            <a:off x="7481875" y="23583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sp>
        <p:nvSpPr>
          <p:cNvPr id="433" name="Google Shape;433;p35"/>
          <p:cNvSpPr txBox="1"/>
          <p:nvPr/>
        </p:nvSpPr>
        <p:spPr>
          <a:xfrm>
            <a:off x="7007875" y="3496050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Tree Based Methods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9" name="Google Shape;439;p3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1963: Piecewise-constant regression tree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40" name="Google Shape;440;p3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41" name="Google Shape;441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6"/>
          <p:cNvSpPr/>
          <p:nvPr/>
        </p:nvSpPr>
        <p:spPr>
          <a:xfrm>
            <a:off x="936625" y="2070475"/>
            <a:ext cx="2992500" cy="2188200"/>
          </a:xfrm>
          <a:prstGeom prst="rect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36"/>
          <p:cNvSpPr txBox="1"/>
          <p:nvPr/>
        </p:nvSpPr>
        <p:spPr>
          <a:xfrm>
            <a:off x="2167375" y="4521550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b="1"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4" name="Google Shape;444;p36"/>
          <p:cNvSpPr txBox="1"/>
          <p:nvPr/>
        </p:nvSpPr>
        <p:spPr>
          <a:xfrm>
            <a:off x="152400" y="2888500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Y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5" name="Google Shape;445;p36"/>
          <p:cNvSpPr/>
          <p:nvPr/>
        </p:nvSpPr>
        <p:spPr>
          <a:xfrm>
            <a:off x="1151150" y="3534600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36"/>
          <p:cNvSpPr/>
          <p:nvPr/>
        </p:nvSpPr>
        <p:spPr>
          <a:xfrm>
            <a:off x="1421525" y="3182875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36"/>
          <p:cNvSpPr/>
          <p:nvPr/>
        </p:nvSpPr>
        <p:spPr>
          <a:xfrm>
            <a:off x="1654350" y="3427500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36"/>
          <p:cNvSpPr/>
          <p:nvPr/>
        </p:nvSpPr>
        <p:spPr>
          <a:xfrm>
            <a:off x="2025500" y="2781388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36"/>
          <p:cNvSpPr/>
          <p:nvPr/>
        </p:nvSpPr>
        <p:spPr>
          <a:xfrm>
            <a:off x="2322700" y="3030338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6"/>
          <p:cNvSpPr/>
          <p:nvPr/>
        </p:nvSpPr>
        <p:spPr>
          <a:xfrm>
            <a:off x="2737900" y="2759063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36"/>
          <p:cNvSpPr/>
          <p:nvPr/>
        </p:nvSpPr>
        <p:spPr>
          <a:xfrm>
            <a:off x="3029750" y="3289963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36"/>
          <p:cNvSpPr/>
          <p:nvPr/>
        </p:nvSpPr>
        <p:spPr>
          <a:xfrm>
            <a:off x="3466400" y="3220463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36"/>
          <p:cNvSpPr/>
          <p:nvPr/>
        </p:nvSpPr>
        <p:spPr>
          <a:xfrm>
            <a:off x="3466400" y="3534588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6"/>
          <p:cNvSpPr/>
          <p:nvPr/>
        </p:nvSpPr>
        <p:spPr>
          <a:xfrm>
            <a:off x="6562825" y="1798050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 ≤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5" name="Google Shape;455;p36"/>
          <p:cNvSpPr txBox="1"/>
          <p:nvPr/>
        </p:nvSpPr>
        <p:spPr>
          <a:xfrm>
            <a:off x="671125" y="4205050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6" name="Google Shape;456;p36"/>
          <p:cNvSpPr txBox="1"/>
          <p:nvPr/>
        </p:nvSpPr>
        <p:spPr>
          <a:xfrm>
            <a:off x="1654350" y="42586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7" name="Google Shape;457;p36"/>
          <p:cNvSpPr txBox="1"/>
          <p:nvPr/>
        </p:nvSpPr>
        <p:spPr>
          <a:xfrm>
            <a:off x="2658975" y="42586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58" name="Google Shape;458;p36"/>
          <p:cNvCxnSpPr/>
          <p:nvPr/>
        </p:nvCxnSpPr>
        <p:spPr>
          <a:xfrm>
            <a:off x="936625" y="4205050"/>
            <a:ext cx="0" cy="1233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9" name="Google Shape;459;p36"/>
          <p:cNvCxnSpPr/>
          <p:nvPr/>
        </p:nvCxnSpPr>
        <p:spPr>
          <a:xfrm>
            <a:off x="1919850" y="4205050"/>
            <a:ext cx="0" cy="1233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0" name="Google Shape;460;p36"/>
          <p:cNvCxnSpPr/>
          <p:nvPr/>
        </p:nvCxnSpPr>
        <p:spPr>
          <a:xfrm>
            <a:off x="2924975" y="4205050"/>
            <a:ext cx="0" cy="1233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" name="Google Shape;461;p36"/>
          <p:cNvCxnSpPr/>
          <p:nvPr/>
        </p:nvCxnSpPr>
        <p:spPr>
          <a:xfrm>
            <a:off x="3929125" y="4205050"/>
            <a:ext cx="0" cy="1233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2" name="Google Shape;462;p36"/>
          <p:cNvSpPr txBox="1"/>
          <p:nvPr/>
        </p:nvSpPr>
        <p:spPr>
          <a:xfrm>
            <a:off x="3663600" y="42586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63" name="Google Shape;463;p36"/>
          <p:cNvCxnSpPr/>
          <p:nvPr/>
        </p:nvCxnSpPr>
        <p:spPr>
          <a:xfrm rot="10800000">
            <a:off x="844825" y="3740750"/>
            <a:ext cx="183600" cy="30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4" name="Google Shape;464;p36"/>
          <p:cNvCxnSpPr/>
          <p:nvPr/>
        </p:nvCxnSpPr>
        <p:spPr>
          <a:xfrm rot="10800000">
            <a:off x="844825" y="3045250"/>
            <a:ext cx="183600" cy="30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5" name="Google Shape;465;p36"/>
          <p:cNvCxnSpPr/>
          <p:nvPr/>
        </p:nvCxnSpPr>
        <p:spPr>
          <a:xfrm rot="10800000">
            <a:off x="844825" y="2495100"/>
            <a:ext cx="183600" cy="30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6" name="Google Shape;466;p36"/>
          <p:cNvSpPr txBox="1"/>
          <p:nvPr/>
        </p:nvSpPr>
        <p:spPr>
          <a:xfrm>
            <a:off x="465975" y="35467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7" name="Google Shape;467;p36"/>
          <p:cNvSpPr txBox="1"/>
          <p:nvPr/>
        </p:nvSpPr>
        <p:spPr>
          <a:xfrm>
            <a:off x="465975" y="28641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8" name="Google Shape;468;p36"/>
          <p:cNvSpPr txBox="1"/>
          <p:nvPr/>
        </p:nvSpPr>
        <p:spPr>
          <a:xfrm>
            <a:off x="465975" y="22921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69" name="Google Shape;469;p36"/>
          <p:cNvCxnSpPr>
            <a:stCxn id="454" idx="2"/>
            <a:endCxn id="470" idx="0"/>
          </p:cNvCxnSpPr>
          <p:nvPr/>
        </p:nvCxnSpPr>
        <p:spPr>
          <a:xfrm flipH="1">
            <a:off x="5986975" y="2370750"/>
            <a:ext cx="1020900" cy="50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0" name="Google Shape;470;p36"/>
          <p:cNvSpPr/>
          <p:nvPr/>
        </p:nvSpPr>
        <p:spPr>
          <a:xfrm>
            <a:off x="5541925" y="2878225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Y=1.5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71" name="Google Shape;471;p36"/>
          <p:cNvCxnSpPr>
            <a:stCxn id="454" idx="2"/>
            <a:endCxn id="472" idx="0"/>
          </p:cNvCxnSpPr>
          <p:nvPr/>
        </p:nvCxnSpPr>
        <p:spPr>
          <a:xfrm>
            <a:off x="7007875" y="2370750"/>
            <a:ext cx="766200" cy="50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2" name="Google Shape;472;p36"/>
          <p:cNvSpPr/>
          <p:nvPr/>
        </p:nvSpPr>
        <p:spPr>
          <a:xfrm>
            <a:off x="7328888" y="2878213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 ≤ 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73" name="Google Shape;473;p36"/>
          <p:cNvCxnSpPr>
            <a:stCxn id="472" idx="2"/>
            <a:endCxn id="474" idx="0"/>
          </p:cNvCxnSpPr>
          <p:nvPr/>
        </p:nvCxnSpPr>
        <p:spPr>
          <a:xfrm>
            <a:off x="7773938" y="3450913"/>
            <a:ext cx="617400" cy="43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5" name="Google Shape;475;p36"/>
          <p:cNvSpPr/>
          <p:nvPr/>
        </p:nvSpPr>
        <p:spPr>
          <a:xfrm>
            <a:off x="6622650" y="3889125"/>
            <a:ext cx="924900" cy="57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Y=2.2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4" name="Google Shape;474;p36"/>
          <p:cNvSpPr/>
          <p:nvPr/>
        </p:nvSpPr>
        <p:spPr>
          <a:xfrm>
            <a:off x="7928875" y="3889125"/>
            <a:ext cx="924900" cy="57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Y=1.5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76" name="Google Shape;476;p36"/>
          <p:cNvCxnSpPr>
            <a:stCxn id="472" idx="2"/>
            <a:endCxn id="475" idx="0"/>
          </p:cNvCxnSpPr>
          <p:nvPr/>
        </p:nvCxnSpPr>
        <p:spPr>
          <a:xfrm flipH="1">
            <a:off x="7085138" y="3450913"/>
            <a:ext cx="688800" cy="43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7" name="Google Shape;477;p36"/>
          <p:cNvCxnSpPr/>
          <p:nvPr/>
        </p:nvCxnSpPr>
        <p:spPr>
          <a:xfrm>
            <a:off x="925900" y="3400500"/>
            <a:ext cx="986700" cy="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8" name="Google Shape;478;p36"/>
          <p:cNvCxnSpPr/>
          <p:nvPr/>
        </p:nvCxnSpPr>
        <p:spPr>
          <a:xfrm>
            <a:off x="1916500" y="2943300"/>
            <a:ext cx="1009800" cy="15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9" name="Google Shape;479;p36"/>
          <p:cNvCxnSpPr/>
          <p:nvPr/>
        </p:nvCxnSpPr>
        <p:spPr>
          <a:xfrm>
            <a:off x="2907100" y="3400500"/>
            <a:ext cx="986700" cy="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36"/>
          <p:cNvCxnSpPr/>
          <p:nvPr/>
        </p:nvCxnSpPr>
        <p:spPr>
          <a:xfrm rot="10800000">
            <a:off x="1919850" y="2931325"/>
            <a:ext cx="0" cy="4665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36"/>
          <p:cNvCxnSpPr/>
          <p:nvPr/>
        </p:nvCxnSpPr>
        <p:spPr>
          <a:xfrm rot="10800000">
            <a:off x="2924475" y="2931325"/>
            <a:ext cx="0" cy="4665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36"/>
          <p:cNvSpPr txBox="1"/>
          <p:nvPr/>
        </p:nvSpPr>
        <p:spPr>
          <a:xfrm>
            <a:off x="8270725" y="3534600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sp>
        <p:nvSpPr>
          <p:cNvPr id="483" name="Google Shape;483;p36"/>
          <p:cNvSpPr txBox="1"/>
          <p:nvPr/>
        </p:nvSpPr>
        <p:spPr>
          <a:xfrm>
            <a:off x="6163425" y="23583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  <p:sp>
        <p:nvSpPr>
          <p:cNvPr id="484" name="Google Shape;484;p36"/>
          <p:cNvSpPr txBox="1"/>
          <p:nvPr/>
        </p:nvSpPr>
        <p:spPr>
          <a:xfrm>
            <a:off x="7481875" y="23583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sp>
        <p:nvSpPr>
          <p:cNvPr id="485" name="Google Shape;485;p36"/>
          <p:cNvSpPr txBox="1"/>
          <p:nvPr/>
        </p:nvSpPr>
        <p:spPr>
          <a:xfrm>
            <a:off x="7007875" y="3496050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Tree Based Methods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1" name="Google Shape;491;p3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the 1963 paper, splits at each node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were decided based on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node impurity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which was simply defined as an error metric: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92" name="Google Shape;492;p3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93" name="Google Shape;493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4250" y="2979599"/>
            <a:ext cx="4679950" cy="93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Tree Based Methods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0" name="Google Shape;500;p3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1972: Robert Messenger and Lewis Mandell publish first classification tree algorithm with “</a:t>
            </a: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model search technique for predictive nominal scale multivariate analysis.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”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Split condition was named Theta Automatic Interaction Detection (THAID)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01" name="Google Shape;501;p3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02" name="Google Shape;502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Tree Based Methods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8" name="Google Shape;508;p3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1980: Gordon Kass publishes CHAID decision tree technique. 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Based on further work built on top of THAID algorithm from 1970s.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CHAID: Chi-square automatic interaction detection 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09" name="Google Shape;509;p3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10" name="Google Shape;510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Tree Based Methods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6" name="Google Shape;516;p4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1970s: Leo Breiman and Charles Stone from Berkeley and Jerome Friedman and Richard Olshen from Stanford started developing the Classification and Regression tree (CART) based algorithms.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17" name="Google Shape;517;p4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18" name="Google Shape;518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Tree Based Methods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4" name="Google Shape;524;p4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1984: The CART book (Breiman et al.) is officially published, including a software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implementation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CART was a huge leap forward in the practical usage of decision tree algorithm.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CART based methods quickly became a standard (including scikit-learn!)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25" name="Google Shape;525;p4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26" name="Google Shape;526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Tree Based Methods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2" name="Google Shape;532;p4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CART introduces many concepts: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Cross validation of Trees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Pruning Trees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Surrogate Splits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Variable Importance Scores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Search for Linear Splits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33" name="Google Shape;533;p4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34" name="Google Shape;534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44925" y="1974050"/>
            <a:ext cx="1642700" cy="267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Tree Based Methods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1" name="Google Shape;541;p4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1986: John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Ross Quinlan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developed ID3 decision tree algorithm based on the “gain ratio”.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1990s: Improved on ID3 with C4.5 (still very popular).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2000s: Released highly optimized commercial version C5.0 with various improvements.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42" name="Google Shape;542;p4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43" name="Google Shape;543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Tree Based Methods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9" name="Google Shape;549;p4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Many of these improvements of basic decision trees were incorporated to other tree based methods such as random forests and gradient boosted trees.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move on to understanding the fundamental ideas behind a decision tree!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0" name="Google Shape;550;p4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51" name="Google Shape;551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7" name="Google Shape;557;p4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Theory and Intuition: Decision Tree Basics</a:t>
            </a:r>
            <a:endParaRPr/>
          </a:p>
        </p:txBody>
      </p:sp>
      <p:pic>
        <p:nvPicPr>
          <p:cNvPr descr="watermark.jpg" id="558" name="Google Shape;558;p4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59" name="Google Shape;559;p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5" name="Google Shape;565;p4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begin understanding a decision tree, we first need to review some terminology about the decision tree components.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66" name="Google Shape;566;p4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7" name="Google Shape;567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3" name="Google Shape;573;p4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Recall our simple regression tree: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74" name="Google Shape;574;p4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5" name="Google Shape;575;p4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47"/>
          <p:cNvSpPr/>
          <p:nvPr/>
        </p:nvSpPr>
        <p:spPr>
          <a:xfrm>
            <a:off x="936625" y="2070475"/>
            <a:ext cx="2992500" cy="2188200"/>
          </a:xfrm>
          <a:prstGeom prst="rect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47"/>
          <p:cNvSpPr txBox="1"/>
          <p:nvPr/>
        </p:nvSpPr>
        <p:spPr>
          <a:xfrm>
            <a:off x="2167375" y="4521550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b="1"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8" name="Google Shape;578;p47"/>
          <p:cNvSpPr txBox="1"/>
          <p:nvPr/>
        </p:nvSpPr>
        <p:spPr>
          <a:xfrm>
            <a:off x="152400" y="2888500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Y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9" name="Google Shape;579;p47"/>
          <p:cNvSpPr/>
          <p:nvPr/>
        </p:nvSpPr>
        <p:spPr>
          <a:xfrm>
            <a:off x="1151150" y="3534600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47"/>
          <p:cNvSpPr/>
          <p:nvPr/>
        </p:nvSpPr>
        <p:spPr>
          <a:xfrm>
            <a:off x="1421525" y="3182875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47"/>
          <p:cNvSpPr/>
          <p:nvPr/>
        </p:nvSpPr>
        <p:spPr>
          <a:xfrm>
            <a:off x="1654350" y="3427500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47"/>
          <p:cNvSpPr/>
          <p:nvPr/>
        </p:nvSpPr>
        <p:spPr>
          <a:xfrm>
            <a:off x="2025500" y="2781388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47"/>
          <p:cNvSpPr/>
          <p:nvPr/>
        </p:nvSpPr>
        <p:spPr>
          <a:xfrm>
            <a:off x="2322700" y="3030338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47"/>
          <p:cNvSpPr/>
          <p:nvPr/>
        </p:nvSpPr>
        <p:spPr>
          <a:xfrm>
            <a:off x="2737900" y="2759063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7"/>
          <p:cNvSpPr/>
          <p:nvPr/>
        </p:nvSpPr>
        <p:spPr>
          <a:xfrm>
            <a:off x="3029750" y="3289963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7"/>
          <p:cNvSpPr/>
          <p:nvPr/>
        </p:nvSpPr>
        <p:spPr>
          <a:xfrm>
            <a:off x="3466400" y="3220463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47"/>
          <p:cNvSpPr/>
          <p:nvPr/>
        </p:nvSpPr>
        <p:spPr>
          <a:xfrm>
            <a:off x="3466400" y="3534588"/>
            <a:ext cx="107100" cy="1071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47"/>
          <p:cNvSpPr/>
          <p:nvPr/>
        </p:nvSpPr>
        <p:spPr>
          <a:xfrm>
            <a:off x="6562825" y="1798050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 ≤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9" name="Google Shape;589;p47"/>
          <p:cNvSpPr txBox="1"/>
          <p:nvPr/>
        </p:nvSpPr>
        <p:spPr>
          <a:xfrm>
            <a:off x="671125" y="4205050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0" name="Google Shape;590;p47"/>
          <p:cNvSpPr txBox="1"/>
          <p:nvPr/>
        </p:nvSpPr>
        <p:spPr>
          <a:xfrm>
            <a:off x="1654350" y="42586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1" name="Google Shape;591;p47"/>
          <p:cNvSpPr txBox="1"/>
          <p:nvPr/>
        </p:nvSpPr>
        <p:spPr>
          <a:xfrm>
            <a:off x="2658975" y="42586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92" name="Google Shape;592;p47"/>
          <p:cNvCxnSpPr/>
          <p:nvPr/>
        </p:nvCxnSpPr>
        <p:spPr>
          <a:xfrm>
            <a:off x="936625" y="4205050"/>
            <a:ext cx="0" cy="1233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3" name="Google Shape;593;p47"/>
          <p:cNvCxnSpPr/>
          <p:nvPr/>
        </p:nvCxnSpPr>
        <p:spPr>
          <a:xfrm>
            <a:off x="1919850" y="4205050"/>
            <a:ext cx="0" cy="1233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4" name="Google Shape;594;p47"/>
          <p:cNvCxnSpPr/>
          <p:nvPr/>
        </p:nvCxnSpPr>
        <p:spPr>
          <a:xfrm>
            <a:off x="2924975" y="4205050"/>
            <a:ext cx="0" cy="1233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5" name="Google Shape;595;p47"/>
          <p:cNvCxnSpPr/>
          <p:nvPr/>
        </p:nvCxnSpPr>
        <p:spPr>
          <a:xfrm>
            <a:off x="3929125" y="4205050"/>
            <a:ext cx="0" cy="1233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6" name="Google Shape;596;p47"/>
          <p:cNvSpPr txBox="1"/>
          <p:nvPr/>
        </p:nvSpPr>
        <p:spPr>
          <a:xfrm>
            <a:off x="3663600" y="42586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97" name="Google Shape;597;p47"/>
          <p:cNvCxnSpPr/>
          <p:nvPr/>
        </p:nvCxnSpPr>
        <p:spPr>
          <a:xfrm rot="10800000">
            <a:off x="844825" y="3740750"/>
            <a:ext cx="183600" cy="30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8" name="Google Shape;598;p47"/>
          <p:cNvCxnSpPr/>
          <p:nvPr/>
        </p:nvCxnSpPr>
        <p:spPr>
          <a:xfrm rot="10800000">
            <a:off x="844825" y="3045250"/>
            <a:ext cx="183600" cy="30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9" name="Google Shape;599;p47"/>
          <p:cNvCxnSpPr/>
          <p:nvPr/>
        </p:nvCxnSpPr>
        <p:spPr>
          <a:xfrm rot="10800000">
            <a:off x="844825" y="2495100"/>
            <a:ext cx="183600" cy="30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0" name="Google Shape;600;p47"/>
          <p:cNvSpPr txBox="1"/>
          <p:nvPr/>
        </p:nvSpPr>
        <p:spPr>
          <a:xfrm>
            <a:off x="465975" y="35467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1" name="Google Shape;601;p47"/>
          <p:cNvSpPr txBox="1"/>
          <p:nvPr/>
        </p:nvSpPr>
        <p:spPr>
          <a:xfrm>
            <a:off x="465975" y="28641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2" name="Google Shape;602;p47"/>
          <p:cNvSpPr txBox="1"/>
          <p:nvPr/>
        </p:nvSpPr>
        <p:spPr>
          <a:xfrm>
            <a:off x="465975" y="2292175"/>
            <a:ext cx="531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03" name="Google Shape;603;p47"/>
          <p:cNvCxnSpPr>
            <a:stCxn id="588" idx="2"/>
            <a:endCxn id="604" idx="0"/>
          </p:cNvCxnSpPr>
          <p:nvPr/>
        </p:nvCxnSpPr>
        <p:spPr>
          <a:xfrm flipH="1">
            <a:off x="5986975" y="2370750"/>
            <a:ext cx="1020900" cy="50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4" name="Google Shape;604;p47"/>
          <p:cNvSpPr/>
          <p:nvPr/>
        </p:nvSpPr>
        <p:spPr>
          <a:xfrm>
            <a:off x="5541925" y="2878225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Y=1.5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05" name="Google Shape;605;p47"/>
          <p:cNvCxnSpPr>
            <a:stCxn id="588" idx="2"/>
            <a:endCxn id="606" idx="0"/>
          </p:cNvCxnSpPr>
          <p:nvPr/>
        </p:nvCxnSpPr>
        <p:spPr>
          <a:xfrm>
            <a:off x="7007875" y="2370750"/>
            <a:ext cx="766200" cy="50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6" name="Google Shape;606;p47"/>
          <p:cNvSpPr/>
          <p:nvPr/>
        </p:nvSpPr>
        <p:spPr>
          <a:xfrm>
            <a:off x="7328888" y="2878213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 ≤ 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07" name="Google Shape;607;p47"/>
          <p:cNvCxnSpPr>
            <a:stCxn id="606" idx="2"/>
            <a:endCxn id="608" idx="0"/>
          </p:cNvCxnSpPr>
          <p:nvPr/>
        </p:nvCxnSpPr>
        <p:spPr>
          <a:xfrm>
            <a:off x="7773938" y="3450913"/>
            <a:ext cx="617400" cy="43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9" name="Google Shape;609;p47"/>
          <p:cNvSpPr/>
          <p:nvPr/>
        </p:nvSpPr>
        <p:spPr>
          <a:xfrm>
            <a:off x="6622650" y="3889125"/>
            <a:ext cx="924900" cy="57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Y=2.2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8" name="Google Shape;608;p47"/>
          <p:cNvSpPr/>
          <p:nvPr/>
        </p:nvSpPr>
        <p:spPr>
          <a:xfrm>
            <a:off x="7928875" y="3889125"/>
            <a:ext cx="924900" cy="57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Y=1.5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10" name="Google Shape;610;p47"/>
          <p:cNvCxnSpPr>
            <a:stCxn id="606" idx="2"/>
            <a:endCxn id="609" idx="0"/>
          </p:cNvCxnSpPr>
          <p:nvPr/>
        </p:nvCxnSpPr>
        <p:spPr>
          <a:xfrm flipH="1">
            <a:off x="7085138" y="3450913"/>
            <a:ext cx="688800" cy="43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1" name="Google Shape;611;p47"/>
          <p:cNvCxnSpPr/>
          <p:nvPr/>
        </p:nvCxnSpPr>
        <p:spPr>
          <a:xfrm>
            <a:off x="925900" y="3400500"/>
            <a:ext cx="986700" cy="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2" name="Google Shape;612;p47"/>
          <p:cNvCxnSpPr/>
          <p:nvPr/>
        </p:nvCxnSpPr>
        <p:spPr>
          <a:xfrm>
            <a:off x="1916500" y="2943300"/>
            <a:ext cx="1009800" cy="15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3" name="Google Shape;613;p47"/>
          <p:cNvCxnSpPr/>
          <p:nvPr/>
        </p:nvCxnSpPr>
        <p:spPr>
          <a:xfrm>
            <a:off x="2907100" y="3400500"/>
            <a:ext cx="986700" cy="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4" name="Google Shape;614;p47"/>
          <p:cNvCxnSpPr/>
          <p:nvPr/>
        </p:nvCxnSpPr>
        <p:spPr>
          <a:xfrm rot="10800000">
            <a:off x="1919850" y="2931325"/>
            <a:ext cx="0" cy="4665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5" name="Google Shape;615;p47"/>
          <p:cNvCxnSpPr/>
          <p:nvPr/>
        </p:nvCxnSpPr>
        <p:spPr>
          <a:xfrm rot="10800000">
            <a:off x="2924475" y="2931325"/>
            <a:ext cx="0" cy="4665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6" name="Google Shape;616;p47"/>
          <p:cNvSpPr txBox="1"/>
          <p:nvPr/>
        </p:nvSpPr>
        <p:spPr>
          <a:xfrm>
            <a:off x="8270725" y="3534600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sp>
        <p:nvSpPr>
          <p:cNvPr id="617" name="Google Shape;617;p47"/>
          <p:cNvSpPr txBox="1"/>
          <p:nvPr/>
        </p:nvSpPr>
        <p:spPr>
          <a:xfrm>
            <a:off x="6163425" y="23583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  <p:sp>
        <p:nvSpPr>
          <p:cNvPr id="618" name="Google Shape;618;p47"/>
          <p:cNvSpPr txBox="1"/>
          <p:nvPr/>
        </p:nvSpPr>
        <p:spPr>
          <a:xfrm>
            <a:off x="7481875" y="23583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sp>
        <p:nvSpPr>
          <p:cNvPr id="619" name="Google Shape;619;p47"/>
          <p:cNvSpPr txBox="1"/>
          <p:nvPr/>
        </p:nvSpPr>
        <p:spPr>
          <a:xfrm>
            <a:off x="7007875" y="3496050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4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5" name="Google Shape;625;p4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Recall our simple regression tree: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26" name="Google Shape;626;p4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27" name="Google Shape;627;p4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48"/>
          <p:cNvSpPr/>
          <p:nvPr/>
        </p:nvSpPr>
        <p:spPr>
          <a:xfrm>
            <a:off x="3895825" y="2026650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 ≤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29" name="Google Shape;629;p48"/>
          <p:cNvCxnSpPr>
            <a:stCxn id="628" idx="2"/>
            <a:endCxn id="630" idx="0"/>
          </p:cNvCxnSpPr>
          <p:nvPr/>
        </p:nvCxnSpPr>
        <p:spPr>
          <a:xfrm flipH="1">
            <a:off x="3319975" y="2599350"/>
            <a:ext cx="1020900" cy="50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0" name="Google Shape;630;p48"/>
          <p:cNvSpPr/>
          <p:nvPr/>
        </p:nvSpPr>
        <p:spPr>
          <a:xfrm>
            <a:off x="2874925" y="3106825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Y=1.5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31" name="Google Shape;631;p48"/>
          <p:cNvCxnSpPr>
            <a:stCxn id="628" idx="2"/>
            <a:endCxn id="632" idx="0"/>
          </p:cNvCxnSpPr>
          <p:nvPr/>
        </p:nvCxnSpPr>
        <p:spPr>
          <a:xfrm>
            <a:off x="4340875" y="2599350"/>
            <a:ext cx="766200" cy="50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2" name="Google Shape;632;p48"/>
          <p:cNvSpPr/>
          <p:nvPr/>
        </p:nvSpPr>
        <p:spPr>
          <a:xfrm>
            <a:off x="4661888" y="3106813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 ≤ 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33" name="Google Shape;633;p48"/>
          <p:cNvCxnSpPr>
            <a:stCxn id="632" idx="2"/>
            <a:endCxn id="634" idx="0"/>
          </p:cNvCxnSpPr>
          <p:nvPr/>
        </p:nvCxnSpPr>
        <p:spPr>
          <a:xfrm>
            <a:off x="5106938" y="3679513"/>
            <a:ext cx="617400" cy="43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5" name="Google Shape;635;p48"/>
          <p:cNvSpPr/>
          <p:nvPr/>
        </p:nvSpPr>
        <p:spPr>
          <a:xfrm>
            <a:off x="3955650" y="4117725"/>
            <a:ext cx="924900" cy="57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Y=2.2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4" name="Google Shape;634;p48"/>
          <p:cNvSpPr/>
          <p:nvPr/>
        </p:nvSpPr>
        <p:spPr>
          <a:xfrm>
            <a:off x="5261875" y="4117725"/>
            <a:ext cx="924900" cy="57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Y=1.5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36" name="Google Shape;636;p48"/>
          <p:cNvCxnSpPr>
            <a:stCxn id="632" idx="2"/>
            <a:endCxn id="635" idx="0"/>
          </p:cNvCxnSpPr>
          <p:nvPr/>
        </p:nvCxnSpPr>
        <p:spPr>
          <a:xfrm flipH="1">
            <a:off x="4418138" y="3679513"/>
            <a:ext cx="688800" cy="43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7" name="Google Shape;637;p48"/>
          <p:cNvSpPr txBox="1"/>
          <p:nvPr/>
        </p:nvSpPr>
        <p:spPr>
          <a:xfrm>
            <a:off x="5603725" y="3763200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sp>
        <p:nvSpPr>
          <p:cNvPr id="638" name="Google Shape;638;p48"/>
          <p:cNvSpPr txBox="1"/>
          <p:nvPr/>
        </p:nvSpPr>
        <p:spPr>
          <a:xfrm>
            <a:off x="3496425" y="25869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  <p:sp>
        <p:nvSpPr>
          <p:cNvPr id="639" name="Google Shape;639;p48"/>
          <p:cNvSpPr txBox="1"/>
          <p:nvPr/>
        </p:nvSpPr>
        <p:spPr>
          <a:xfrm>
            <a:off x="4814875" y="25869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sp>
        <p:nvSpPr>
          <p:cNvPr id="640" name="Google Shape;640;p48"/>
          <p:cNvSpPr txBox="1"/>
          <p:nvPr/>
        </p:nvSpPr>
        <p:spPr>
          <a:xfrm>
            <a:off x="4340875" y="3724650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4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6" name="Google Shape;646;p4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Splitting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7" name="Google Shape;647;p4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8" name="Google Shape;648;p4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49"/>
          <p:cNvSpPr/>
          <p:nvPr/>
        </p:nvSpPr>
        <p:spPr>
          <a:xfrm>
            <a:off x="3895825" y="2026650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 ≤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50" name="Google Shape;650;p49"/>
          <p:cNvCxnSpPr>
            <a:stCxn id="649" idx="2"/>
            <a:endCxn id="651" idx="0"/>
          </p:cNvCxnSpPr>
          <p:nvPr/>
        </p:nvCxnSpPr>
        <p:spPr>
          <a:xfrm flipH="1">
            <a:off x="3319975" y="2599350"/>
            <a:ext cx="1020900" cy="50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1" name="Google Shape;651;p49"/>
          <p:cNvSpPr/>
          <p:nvPr/>
        </p:nvSpPr>
        <p:spPr>
          <a:xfrm>
            <a:off x="2874925" y="3106825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Y=1.5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52" name="Google Shape;652;p49"/>
          <p:cNvCxnSpPr>
            <a:stCxn id="649" idx="2"/>
            <a:endCxn id="653" idx="0"/>
          </p:cNvCxnSpPr>
          <p:nvPr/>
        </p:nvCxnSpPr>
        <p:spPr>
          <a:xfrm>
            <a:off x="4340875" y="2599350"/>
            <a:ext cx="766200" cy="50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3" name="Google Shape;653;p49"/>
          <p:cNvSpPr/>
          <p:nvPr/>
        </p:nvSpPr>
        <p:spPr>
          <a:xfrm>
            <a:off x="4661888" y="3106813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 ≤ 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54" name="Google Shape;654;p49"/>
          <p:cNvCxnSpPr>
            <a:stCxn id="653" idx="2"/>
            <a:endCxn id="655" idx="0"/>
          </p:cNvCxnSpPr>
          <p:nvPr/>
        </p:nvCxnSpPr>
        <p:spPr>
          <a:xfrm>
            <a:off x="5106938" y="3679513"/>
            <a:ext cx="617400" cy="43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6" name="Google Shape;656;p49"/>
          <p:cNvSpPr/>
          <p:nvPr/>
        </p:nvSpPr>
        <p:spPr>
          <a:xfrm>
            <a:off x="3955650" y="4117725"/>
            <a:ext cx="924900" cy="57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Y=2.2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5" name="Google Shape;655;p49"/>
          <p:cNvSpPr/>
          <p:nvPr/>
        </p:nvSpPr>
        <p:spPr>
          <a:xfrm>
            <a:off x="5261875" y="4117725"/>
            <a:ext cx="924900" cy="57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Y=1.5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57" name="Google Shape;657;p49"/>
          <p:cNvCxnSpPr>
            <a:stCxn id="653" idx="2"/>
            <a:endCxn id="656" idx="0"/>
          </p:cNvCxnSpPr>
          <p:nvPr/>
        </p:nvCxnSpPr>
        <p:spPr>
          <a:xfrm flipH="1">
            <a:off x="4418138" y="3679513"/>
            <a:ext cx="688800" cy="43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8" name="Google Shape;658;p49"/>
          <p:cNvSpPr txBox="1"/>
          <p:nvPr/>
        </p:nvSpPr>
        <p:spPr>
          <a:xfrm>
            <a:off x="5603725" y="3763200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sp>
        <p:nvSpPr>
          <p:cNvPr id="659" name="Google Shape;659;p49"/>
          <p:cNvSpPr txBox="1"/>
          <p:nvPr/>
        </p:nvSpPr>
        <p:spPr>
          <a:xfrm>
            <a:off x="3496425" y="25869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  <p:sp>
        <p:nvSpPr>
          <p:cNvPr id="660" name="Google Shape;660;p49"/>
          <p:cNvSpPr txBox="1"/>
          <p:nvPr/>
        </p:nvSpPr>
        <p:spPr>
          <a:xfrm>
            <a:off x="4814875" y="25869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sp>
        <p:nvSpPr>
          <p:cNvPr id="661" name="Google Shape;661;p49"/>
          <p:cNvSpPr txBox="1"/>
          <p:nvPr/>
        </p:nvSpPr>
        <p:spPr>
          <a:xfrm>
            <a:off x="4340875" y="3724650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5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Splitting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68" name="Google Shape;668;p5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69" name="Google Shape;669;p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/>
          <p:nvPr/>
        </p:nvSpPr>
        <p:spPr>
          <a:xfrm>
            <a:off x="3895825" y="2026650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 ≤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71" name="Google Shape;671;p50"/>
          <p:cNvCxnSpPr>
            <a:stCxn id="670" idx="2"/>
            <a:endCxn id="672" idx="0"/>
          </p:cNvCxnSpPr>
          <p:nvPr/>
        </p:nvCxnSpPr>
        <p:spPr>
          <a:xfrm flipH="1">
            <a:off x="3319975" y="2599350"/>
            <a:ext cx="1020900" cy="507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2" name="Google Shape;672;p50"/>
          <p:cNvSpPr/>
          <p:nvPr/>
        </p:nvSpPr>
        <p:spPr>
          <a:xfrm>
            <a:off x="2874925" y="3106825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Y=1.5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73" name="Google Shape;673;p50"/>
          <p:cNvCxnSpPr>
            <a:stCxn id="670" idx="2"/>
            <a:endCxn id="674" idx="0"/>
          </p:cNvCxnSpPr>
          <p:nvPr/>
        </p:nvCxnSpPr>
        <p:spPr>
          <a:xfrm>
            <a:off x="4340875" y="2599350"/>
            <a:ext cx="766200" cy="507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4" name="Google Shape;674;p50"/>
          <p:cNvSpPr/>
          <p:nvPr/>
        </p:nvSpPr>
        <p:spPr>
          <a:xfrm>
            <a:off x="4661888" y="3106813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 ≤ 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75" name="Google Shape;675;p50"/>
          <p:cNvCxnSpPr>
            <a:stCxn id="674" idx="2"/>
            <a:endCxn id="676" idx="0"/>
          </p:cNvCxnSpPr>
          <p:nvPr/>
        </p:nvCxnSpPr>
        <p:spPr>
          <a:xfrm>
            <a:off x="5106938" y="3679513"/>
            <a:ext cx="617400" cy="438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7" name="Google Shape;677;p50"/>
          <p:cNvSpPr/>
          <p:nvPr/>
        </p:nvSpPr>
        <p:spPr>
          <a:xfrm>
            <a:off x="3955650" y="4117725"/>
            <a:ext cx="924900" cy="57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Y=2.2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6" name="Google Shape;676;p50"/>
          <p:cNvSpPr/>
          <p:nvPr/>
        </p:nvSpPr>
        <p:spPr>
          <a:xfrm>
            <a:off x="5261875" y="4117725"/>
            <a:ext cx="924900" cy="57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Y=1.5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78" name="Google Shape;678;p50"/>
          <p:cNvCxnSpPr>
            <a:stCxn id="674" idx="2"/>
            <a:endCxn id="677" idx="0"/>
          </p:cNvCxnSpPr>
          <p:nvPr/>
        </p:nvCxnSpPr>
        <p:spPr>
          <a:xfrm flipH="1">
            <a:off x="4418138" y="3679513"/>
            <a:ext cx="688800" cy="438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9" name="Google Shape;679;p50"/>
          <p:cNvSpPr txBox="1"/>
          <p:nvPr/>
        </p:nvSpPr>
        <p:spPr>
          <a:xfrm>
            <a:off x="5603725" y="3763200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sp>
        <p:nvSpPr>
          <p:cNvPr id="680" name="Google Shape;680;p50"/>
          <p:cNvSpPr txBox="1"/>
          <p:nvPr/>
        </p:nvSpPr>
        <p:spPr>
          <a:xfrm>
            <a:off x="3496425" y="25869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  <p:sp>
        <p:nvSpPr>
          <p:cNvPr id="681" name="Google Shape;681;p50"/>
          <p:cNvSpPr txBox="1"/>
          <p:nvPr/>
        </p:nvSpPr>
        <p:spPr>
          <a:xfrm>
            <a:off x="4814875" y="25869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sp>
        <p:nvSpPr>
          <p:cNvPr id="682" name="Google Shape;682;p50"/>
          <p:cNvSpPr txBox="1"/>
          <p:nvPr/>
        </p:nvSpPr>
        <p:spPr>
          <a:xfrm>
            <a:off x="4340875" y="3724650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5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8" name="Google Shape;688;p5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Nodes: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89" name="Google Shape;689;p5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90" name="Google Shape;690;p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1"/>
          <p:cNvSpPr/>
          <p:nvPr/>
        </p:nvSpPr>
        <p:spPr>
          <a:xfrm>
            <a:off x="3895825" y="2026650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 ≤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92" name="Google Shape;692;p51"/>
          <p:cNvCxnSpPr>
            <a:stCxn id="691" idx="2"/>
            <a:endCxn id="693" idx="0"/>
          </p:cNvCxnSpPr>
          <p:nvPr/>
        </p:nvCxnSpPr>
        <p:spPr>
          <a:xfrm flipH="1">
            <a:off x="3319975" y="2599350"/>
            <a:ext cx="1020900" cy="50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3" name="Google Shape;693;p51"/>
          <p:cNvSpPr/>
          <p:nvPr/>
        </p:nvSpPr>
        <p:spPr>
          <a:xfrm>
            <a:off x="2874925" y="3106825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Y=1.5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94" name="Google Shape;694;p51"/>
          <p:cNvCxnSpPr>
            <a:stCxn id="691" idx="2"/>
            <a:endCxn id="695" idx="0"/>
          </p:cNvCxnSpPr>
          <p:nvPr/>
        </p:nvCxnSpPr>
        <p:spPr>
          <a:xfrm>
            <a:off x="4340875" y="2599350"/>
            <a:ext cx="766200" cy="50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5" name="Google Shape;695;p51"/>
          <p:cNvSpPr/>
          <p:nvPr/>
        </p:nvSpPr>
        <p:spPr>
          <a:xfrm>
            <a:off x="4661888" y="3106813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 ≤ 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96" name="Google Shape;696;p51"/>
          <p:cNvCxnSpPr>
            <a:stCxn id="695" idx="2"/>
            <a:endCxn id="697" idx="0"/>
          </p:cNvCxnSpPr>
          <p:nvPr/>
        </p:nvCxnSpPr>
        <p:spPr>
          <a:xfrm>
            <a:off x="5106938" y="3679513"/>
            <a:ext cx="617400" cy="43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8" name="Google Shape;698;p51"/>
          <p:cNvSpPr/>
          <p:nvPr/>
        </p:nvSpPr>
        <p:spPr>
          <a:xfrm>
            <a:off x="3955650" y="4117725"/>
            <a:ext cx="924900" cy="57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Y=2.2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7" name="Google Shape;697;p51"/>
          <p:cNvSpPr/>
          <p:nvPr/>
        </p:nvSpPr>
        <p:spPr>
          <a:xfrm>
            <a:off x="5261875" y="4117725"/>
            <a:ext cx="924900" cy="57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Y=1.5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99" name="Google Shape;699;p51"/>
          <p:cNvCxnSpPr>
            <a:stCxn id="695" idx="2"/>
            <a:endCxn id="698" idx="0"/>
          </p:cNvCxnSpPr>
          <p:nvPr/>
        </p:nvCxnSpPr>
        <p:spPr>
          <a:xfrm flipH="1">
            <a:off x="4418138" y="3679513"/>
            <a:ext cx="688800" cy="43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0" name="Google Shape;700;p51"/>
          <p:cNvSpPr txBox="1"/>
          <p:nvPr/>
        </p:nvSpPr>
        <p:spPr>
          <a:xfrm>
            <a:off x="5603725" y="3763200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sp>
        <p:nvSpPr>
          <p:cNvPr id="701" name="Google Shape;701;p51"/>
          <p:cNvSpPr txBox="1"/>
          <p:nvPr/>
        </p:nvSpPr>
        <p:spPr>
          <a:xfrm>
            <a:off x="3496425" y="25869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  <p:sp>
        <p:nvSpPr>
          <p:cNvPr id="702" name="Google Shape;702;p51"/>
          <p:cNvSpPr txBox="1"/>
          <p:nvPr/>
        </p:nvSpPr>
        <p:spPr>
          <a:xfrm>
            <a:off x="4814875" y="25869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sp>
        <p:nvSpPr>
          <p:cNvPr id="703" name="Google Shape;703;p51"/>
          <p:cNvSpPr txBox="1"/>
          <p:nvPr/>
        </p:nvSpPr>
        <p:spPr>
          <a:xfrm>
            <a:off x="4340875" y="3724650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5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9" name="Google Shape;709;p5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Nodes: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0" name="Google Shape;710;p5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11" name="Google Shape;711;p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52"/>
          <p:cNvSpPr/>
          <p:nvPr/>
        </p:nvSpPr>
        <p:spPr>
          <a:xfrm>
            <a:off x="3895825" y="2026650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 ≤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13" name="Google Shape;713;p52"/>
          <p:cNvCxnSpPr>
            <a:stCxn id="712" idx="2"/>
            <a:endCxn id="714" idx="0"/>
          </p:cNvCxnSpPr>
          <p:nvPr/>
        </p:nvCxnSpPr>
        <p:spPr>
          <a:xfrm flipH="1">
            <a:off x="3319975" y="2599350"/>
            <a:ext cx="1020900" cy="50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4" name="Google Shape;714;p52"/>
          <p:cNvSpPr/>
          <p:nvPr/>
        </p:nvSpPr>
        <p:spPr>
          <a:xfrm>
            <a:off x="2874925" y="3106825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Y=1.5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15" name="Google Shape;715;p52"/>
          <p:cNvCxnSpPr>
            <a:stCxn id="712" idx="2"/>
            <a:endCxn id="716" idx="0"/>
          </p:cNvCxnSpPr>
          <p:nvPr/>
        </p:nvCxnSpPr>
        <p:spPr>
          <a:xfrm>
            <a:off x="4340875" y="2599350"/>
            <a:ext cx="766200" cy="50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6" name="Google Shape;716;p52"/>
          <p:cNvSpPr/>
          <p:nvPr/>
        </p:nvSpPr>
        <p:spPr>
          <a:xfrm>
            <a:off x="4661888" y="3106813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 ≤ 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17" name="Google Shape;717;p52"/>
          <p:cNvCxnSpPr>
            <a:stCxn id="716" idx="2"/>
            <a:endCxn id="718" idx="0"/>
          </p:cNvCxnSpPr>
          <p:nvPr/>
        </p:nvCxnSpPr>
        <p:spPr>
          <a:xfrm>
            <a:off x="5106938" y="3679513"/>
            <a:ext cx="617400" cy="43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9" name="Google Shape;719;p52"/>
          <p:cNvSpPr/>
          <p:nvPr/>
        </p:nvSpPr>
        <p:spPr>
          <a:xfrm>
            <a:off x="3955650" y="4117725"/>
            <a:ext cx="9249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Y=2.2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8" name="Google Shape;718;p52"/>
          <p:cNvSpPr/>
          <p:nvPr/>
        </p:nvSpPr>
        <p:spPr>
          <a:xfrm>
            <a:off x="5261875" y="4117725"/>
            <a:ext cx="9249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Y=1.5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20" name="Google Shape;720;p52"/>
          <p:cNvCxnSpPr>
            <a:stCxn id="716" idx="2"/>
            <a:endCxn id="719" idx="0"/>
          </p:cNvCxnSpPr>
          <p:nvPr/>
        </p:nvCxnSpPr>
        <p:spPr>
          <a:xfrm flipH="1">
            <a:off x="4418138" y="3679513"/>
            <a:ext cx="688800" cy="43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1" name="Google Shape;721;p52"/>
          <p:cNvSpPr txBox="1"/>
          <p:nvPr/>
        </p:nvSpPr>
        <p:spPr>
          <a:xfrm>
            <a:off x="5603725" y="3763200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sp>
        <p:nvSpPr>
          <p:cNvPr id="722" name="Google Shape;722;p52"/>
          <p:cNvSpPr txBox="1"/>
          <p:nvPr/>
        </p:nvSpPr>
        <p:spPr>
          <a:xfrm>
            <a:off x="3496425" y="25869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  <p:sp>
        <p:nvSpPr>
          <p:cNvPr id="723" name="Google Shape;723;p52"/>
          <p:cNvSpPr txBox="1"/>
          <p:nvPr/>
        </p:nvSpPr>
        <p:spPr>
          <a:xfrm>
            <a:off x="4814875" y="25869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sp>
        <p:nvSpPr>
          <p:cNvPr id="724" name="Google Shape;724;p52"/>
          <p:cNvSpPr txBox="1"/>
          <p:nvPr/>
        </p:nvSpPr>
        <p:spPr>
          <a:xfrm>
            <a:off x="4340875" y="3724650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0" name="Google Shape;730;p5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Root Node: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31" name="Google Shape;731;p5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2" name="Google Shape;732;p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33" name="Google Shape;733;p53"/>
          <p:cNvSpPr/>
          <p:nvPr/>
        </p:nvSpPr>
        <p:spPr>
          <a:xfrm>
            <a:off x="3895825" y="2026650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 ≤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34" name="Google Shape;734;p53"/>
          <p:cNvCxnSpPr>
            <a:stCxn id="733" idx="2"/>
            <a:endCxn id="735" idx="0"/>
          </p:cNvCxnSpPr>
          <p:nvPr/>
        </p:nvCxnSpPr>
        <p:spPr>
          <a:xfrm flipH="1">
            <a:off x="3319975" y="2599350"/>
            <a:ext cx="1020900" cy="50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5" name="Google Shape;735;p53"/>
          <p:cNvSpPr/>
          <p:nvPr/>
        </p:nvSpPr>
        <p:spPr>
          <a:xfrm>
            <a:off x="2874925" y="3106825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Y=1.5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36" name="Google Shape;736;p53"/>
          <p:cNvCxnSpPr>
            <a:stCxn id="733" idx="2"/>
            <a:endCxn id="737" idx="0"/>
          </p:cNvCxnSpPr>
          <p:nvPr/>
        </p:nvCxnSpPr>
        <p:spPr>
          <a:xfrm>
            <a:off x="4340875" y="2599350"/>
            <a:ext cx="766200" cy="50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7" name="Google Shape;737;p53"/>
          <p:cNvSpPr/>
          <p:nvPr/>
        </p:nvSpPr>
        <p:spPr>
          <a:xfrm>
            <a:off x="4661888" y="3106813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 ≤ 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38" name="Google Shape;738;p53"/>
          <p:cNvCxnSpPr>
            <a:stCxn id="737" idx="2"/>
            <a:endCxn id="739" idx="0"/>
          </p:cNvCxnSpPr>
          <p:nvPr/>
        </p:nvCxnSpPr>
        <p:spPr>
          <a:xfrm>
            <a:off x="5106938" y="3679513"/>
            <a:ext cx="617400" cy="43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0" name="Google Shape;740;p53"/>
          <p:cNvSpPr/>
          <p:nvPr/>
        </p:nvSpPr>
        <p:spPr>
          <a:xfrm>
            <a:off x="3955650" y="4117725"/>
            <a:ext cx="924900" cy="57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Y=2.2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9" name="Google Shape;739;p53"/>
          <p:cNvSpPr/>
          <p:nvPr/>
        </p:nvSpPr>
        <p:spPr>
          <a:xfrm>
            <a:off x="5261875" y="4117725"/>
            <a:ext cx="924900" cy="57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Y=1.5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41" name="Google Shape;741;p53"/>
          <p:cNvCxnSpPr>
            <a:stCxn id="737" idx="2"/>
            <a:endCxn id="740" idx="0"/>
          </p:cNvCxnSpPr>
          <p:nvPr/>
        </p:nvCxnSpPr>
        <p:spPr>
          <a:xfrm flipH="1">
            <a:off x="4418138" y="3679513"/>
            <a:ext cx="688800" cy="43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2" name="Google Shape;742;p53"/>
          <p:cNvSpPr txBox="1"/>
          <p:nvPr/>
        </p:nvSpPr>
        <p:spPr>
          <a:xfrm>
            <a:off x="5603725" y="3763200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sp>
        <p:nvSpPr>
          <p:cNvPr id="743" name="Google Shape;743;p53"/>
          <p:cNvSpPr txBox="1"/>
          <p:nvPr/>
        </p:nvSpPr>
        <p:spPr>
          <a:xfrm>
            <a:off x="3496425" y="25869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  <p:sp>
        <p:nvSpPr>
          <p:cNvPr id="744" name="Google Shape;744;p53"/>
          <p:cNvSpPr txBox="1"/>
          <p:nvPr/>
        </p:nvSpPr>
        <p:spPr>
          <a:xfrm>
            <a:off x="4814875" y="25869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sp>
        <p:nvSpPr>
          <p:cNvPr id="745" name="Google Shape;745;p53"/>
          <p:cNvSpPr txBox="1"/>
          <p:nvPr/>
        </p:nvSpPr>
        <p:spPr>
          <a:xfrm>
            <a:off x="4340875" y="3724650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5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1" name="Google Shape;751;p5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Leaf (Terminal) Nodes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52" name="Google Shape;752;p5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53" name="Google Shape;753;p5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54"/>
          <p:cNvSpPr/>
          <p:nvPr/>
        </p:nvSpPr>
        <p:spPr>
          <a:xfrm>
            <a:off x="3895825" y="2026650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 ≤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55" name="Google Shape;755;p54"/>
          <p:cNvCxnSpPr>
            <a:stCxn id="754" idx="2"/>
            <a:endCxn id="756" idx="0"/>
          </p:cNvCxnSpPr>
          <p:nvPr/>
        </p:nvCxnSpPr>
        <p:spPr>
          <a:xfrm flipH="1">
            <a:off x="3319975" y="2599350"/>
            <a:ext cx="1020900" cy="50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6" name="Google Shape;756;p54"/>
          <p:cNvSpPr/>
          <p:nvPr/>
        </p:nvSpPr>
        <p:spPr>
          <a:xfrm>
            <a:off x="2874925" y="3106825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Y=1.5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57" name="Google Shape;757;p54"/>
          <p:cNvCxnSpPr>
            <a:stCxn id="754" idx="2"/>
            <a:endCxn id="758" idx="0"/>
          </p:cNvCxnSpPr>
          <p:nvPr/>
        </p:nvCxnSpPr>
        <p:spPr>
          <a:xfrm>
            <a:off x="4340875" y="2599350"/>
            <a:ext cx="766200" cy="50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8" name="Google Shape;758;p54"/>
          <p:cNvSpPr/>
          <p:nvPr/>
        </p:nvSpPr>
        <p:spPr>
          <a:xfrm>
            <a:off x="4661888" y="3106813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 ≤ 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59" name="Google Shape;759;p54"/>
          <p:cNvCxnSpPr>
            <a:stCxn id="758" idx="2"/>
            <a:endCxn id="760" idx="0"/>
          </p:cNvCxnSpPr>
          <p:nvPr/>
        </p:nvCxnSpPr>
        <p:spPr>
          <a:xfrm>
            <a:off x="5106938" y="3679513"/>
            <a:ext cx="617400" cy="43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1" name="Google Shape;761;p54"/>
          <p:cNvSpPr/>
          <p:nvPr/>
        </p:nvSpPr>
        <p:spPr>
          <a:xfrm>
            <a:off x="3955650" y="4117725"/>
            <a:ext cx="9249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Y=2.2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0" name="Google Shape;760;p54"/>
          <p:cNvSpPr/>
          <p:nvPr/>
        </p:nvSpPr>
        <p:spPr>
          <a:xfrm>
            <a:off x="5261875" y="4117725"/>
            <a:ext cx="9249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Y=1.5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62" name="Google Shape;762;p54"/>
          <p:cNvCxnSpPr>
            <a:stCxn id="758" idx="2"/>
            <a:endCxn id="761" idx="0"/>
          </p:cNvCxnSpPr>
          <p:nvPr/>
        </p:nvCxnSpPr>
        <p:spPr>
          <a:xfrm flipH="1">
            <a:off x="4418138" y="3679513"/>
            <a:ext cx="688800" cy="43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3" name="Google Shape;763;p54"/>
          <p:cNvSpPr txBox="1"/>
          <p:nvPr/>
        </p:nvSpPr>
        <p:spPr>
          <a:xfrm>
            <a:off x="5603725" y="3763200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sp>
        <p:nvSpPr>
          <p:cNvPr id="764" name="Google Shape;764;p54"/>
          <p:cNvSpPr txBox="1"/>
          <p:nvPr/>
        </p:nvSpPr>
        <p:spPr>
          <a:xfrm>
            <a:off x="3496425" y="25869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  <p:sp>
        <p:nvSpPr>
          <p:cNvPr id="765" name="Google Shape;765;p54"/>
          <p:cNvSpPr txBox="1"/>
          <p:nvPr/>
        </p:nvSpPr>
        <p:spPr>
          <a:xfrm>
            <a:off x="4814875" y="25869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sp>
        <p:nvSpPr>
          <p:cNvPr id="766" name="Google Shape;766;p54"/>
          <p:cNvSpPr txBox="1"/>
          <p:nvPr/>
        </p:nvSpPr>
        <p:spPr>
          <a:xfrm>
            <a:off x="4340875" y="3724650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5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2" name="Google Shape;772;p5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Parent and Children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Nodes: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73" name="Google Shape;773;p5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74" name="Google Shape;774;p5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55"/>
          <p:cNvSpPr/>
          <p:nvPr/>
        </p:nvSpPr>
        <p:spPr>
          <a:xfrm>
            <a:off x="3895825" y="2026650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 ≤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76" name="Google Shape;776;p55"/>
          <p:cNvCxnSpPr>
            <a:stCxn id="775" idx="2"/>
            <a:endCxn id="777" idx="0"/>
          </p:cNvCxnSpPr>
          <p:nvPr/>
        </p:nvCxnSpPr>
        <p:spPr>
          <a:xfrm flipH="1">
            <a:off x="3319975" y="2599350"/>
            <a:ext cx="1020900" cy="50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7" name="Google Shape;777;p55"/>
          <p:cNvSpPr/>
          <p:nvPr/>
        </p:nvSpPr>
        <p:spPr>
          <a:xfrm>
            <a:off x="2874925" y="3106825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Y=1.5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78" name="Google Shape;778;p55"/>
          <p:cNvCxnSpPr>
            <a:stCxn id="775" idx="2"/>
            <a:endCxn id="779" idx="0"/>
          </p:cNvCxnSpPr>
          <p:nvPr/>
        </p:nvCxnSpPr>
        <p:spPr>
          <a:xfrm>
            <a:off x="4340875" y="2599350"/>
            <a:ext cx="766200" cy="50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9" name="Google Shape;779;p55"/>
          <p:cNvSpPr/>
          <p:nvPr/>
        </p:nvSpPr>
        <p:spPr>
          <a:xfrm>
            <a:off x="4661888" y="3106813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 ≤ 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80" name="Google Shape;780;p55"/>
          <p:cNvCxnSpPr>
            <a:stCxn id="779" idx="2"/>
            <a:endCxn id="781" idx="0"/>
          </p:cNvCxnSpPr>
          <p:nvPr/>
        </p:nvCxnSpPr>
        <p:spPr>
          <a:xfrm>
            <a:off x="5106938" y="3679513"/>
            <a:ext cx="617400" cy="43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2" name="Google Shape;782;p55"/>
          <p:cNvSpPr/>
          <p:nvPr/>
        </p:nvSpPr>
        <p:spPr>
          <a:xfrm>
            <a:off x="3955650" y="4117725"/>
            <a:ext cx="924900" cy="57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Y=2.2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1" name="Google Shape;781;p55"/>
          <p:cNvSpPr/>
          <p:nvPr/>
        </p:nvSpPr>
        <p:spPr>
          <a:xfrm>
            <a:off x="5261875" y="4117725"/>
            <a:ext cx="924900" cy="57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Y=1.5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83" name="Google Shape;783;p55"/>
          <p:cNvCxnSpPr>
            <a:stCxn id="779" idx="2"/>
            <a:endCxn id="782" idx="0"/>
          </p:cNvCxnSpPr>
          <p:nvPr/>
        </p:nvCxnSpPr>
        <p:spPr>
          <a:xfrm flipH="1">
            <a:off x="4418138" y="3679513"/>
            <a:ext cx="688800" cy="43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4" name="Google Shape;784;p55"/>
          <p:cNvSpPr txBox="1"/>
          <p:nvPr/>
        </p:nvSpPr>
        <p:spPr>
          <a:xfrm>
            <a:off x="5603725" y="3763200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sp>
        <p:nvSpPr>
          <p:cNvPr id="785" name="Google Shape;785;p55"/>
          <p:cNvSpPr txBox="1"/>
          <p:nvPr/>
        </p:nvSpPr>
        <p:spPr>
          <a:xfrm>
            <a:off x="3496425" y="25869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  <p:sp>
        <p:nvSpPr>
          <p:cNvPr id="786" name="Google Shape;786;p55"/>
          <p:cNvSpPr txBox="1"/>
          <p:nvPr/>
        </p:nvSpPr>
        <p:spPr>
          <a:xfrm>
            <a:off x="4814875" y="25869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sp>
        <p:nvSpPr>
          <p:cNvPr id="787" name="Google Shape;787;p55"/>
          <p:cNvSpPr txBox="1"/>
          <p:nvPr/>
        </p:nvSpPr>
        <p:spPr>
          <a:xfrm>
            <a:off x="4340875" y="3724650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5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3" name="Google Shape;793;p5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Parent and Children Nodes: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94" name="Google Shape;794;p5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95" name="Google Shape;795;p5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56"/>
          <p:cNvSpPr/>
          <p:nvPr/>
        </p:nvSpPr>
        <p:spPr>
          <a:xfrm>
            <a:off x="3895825" y="2026650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 ≤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97" name="Google Shape;797;p56"/>
          <p:cNvCxnSpPr>
            <a:stCxn id="796" idx="2"/>
            <a:endCxn id="798" idx="0"/>
          </p:cNvCxnSpPr>
          <p:nvPr/>
        </p:nvCxnSpPr>
        <p:spPr>
          <a:xfrm flipH="1">
            <a:off x="3319975" y="2599350"/>
            <a:ext cx="1020900" cy="507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8" name="Google Shape;798;p56"/>
          <p:cNvSpPr/>
          <p:nvPr/>
        </p:nvSpPr>
        <p:spPr>
          <a:xfrm>
            <a:off x="2874925" y="3106825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Y=1.5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99" name="Google Shape;799;p56"/>
          <p:cNvCxnSpPr>
            <a:stCxn id="796" idx="2"/>
            <a:endCxn id="800" idx="0"/>
          </p:cNvCxnSpPr>
          <p:nvPr/>
        </p:nvCxnSpPr>
        <p:spPr>
          <a:xfrm>
            <a:off x="4340875" y="2599350"/>
            <a:ext cx="766200" cy="507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0" name="Google Shape;800;p56"/>
          <p:cNvSpPr/>
          <p:nvPr/>
        </p:nvSpPr>
        <p:spPr>
          <a:xfrm>
            <a:off x="4661888" y="3106813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 ≤ 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01" name="Google Shape;801;p56"/>
          <p:cNvCxnSpPr>
            <a:stCxn id="800" idx="2"/>
            <a:endCxn id="802" idx="0"/>
          </p:cNvCxnSpPr>
          <p:nvPr/>
        </p:nvCxnSpPr>
        <p:spPr>
          <a:xfrm>
            <a:off x="5106938" y="3679513"/>
            <a:ext cx="617400" cy="43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3" name="Google Shape;803;p56"/>
          <p:cNvSpPr/>
          <p:nvPr/>
        </p:nvSpPr>
        <p:spPr>
          <a:xfrm>
            <a:off x="3955650" y="4117725"/>
            <a:ext cx="924900" cy="57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Y=2.2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2" name="Google Shape;802;p56"/>
          <p:cNvSpPr/>
          <p:nvPr/>
        </p:nvSpPr>
        <p:spPr>
          <a:xfrm>
            <a:off x="5261875" y="4117725"/>
            <a:ext cx="924900" cy="57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Y=1.5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04" name="Google Shape;804;p56"/>
          <p:cNvCxnSpPr>
            <a:stCxn id="800" idx="2"/>
            <a:endCxn id="803" idx="0"/>
          </p:cNvCxnSpPr>
          <p:nvPr/>
        </p:nvCxnSpPr>
        <p:spPr>
          <a:xfrm flipH="1">
            <a:off x="4418138" y="3679513"/>
            <a:ext cx="688800" cy="43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5" name="Google Shape;805;p56"/>
          <p:cNvSpPr txBox="1"/>
          <p:nvPr/>
        </p:nvSpPr>
        <p:spPr>
          <a:xfrm>
            <a:off x="5603725" y="3763200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sp>
        <p:nvSpPr>
          <p:cNvPr id="806" name="Google Shape;806;p56"/>
          <p:cNvSpPr txBox="1"/>
          <p:nvPr/>
        </p:nvSpPr>
        <p:spPr>
          <a:xfrm>
            <a:off x="3496425" y="25869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  <p:sp>
        <p:nvSpPr>
          <p:cNvPr id="807" name="Google Shape;807;p56"/>
          <p:cNvSpPr txBox="1"/>
          <p:nvPr/>
        </p:nvSpPr>
        <p:spPr>
          <a:xfrm>
            <a:off x="4814875" y="25869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sp>
        <p:nvSpPr>
          <p:cNvPr id="808" name="Google Shape;808;p56"/>
          <p:cNvSpPr txBox="1"/>
          <p:nvPr/>
        </p:nvSpPr>
        <p:spPr>
          <a:xfrm>
            <a:off x="4340875" y="3724650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5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4" name="Google Shape;814;p5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Parent and Children Nodes: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15" name="Google Shape;815;p5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6" name="Google Shape;816;p5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57"/>
          <p:cNvSpPr/>
          <p:nvPr/>
        </p:nvSpPr>
        <p:spPr>
          <a:xfrm>
            <a:off x="3895825" y="2026650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 ≤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18" name="Google Shape;818;p57"/>
          <p:cNvCxnSpPr>
            <a:stCxn id="817" idx="2"/>
            <a:endCxn id="819" idx="0"/>
          </p:cNvCxnSpPr>
          <p:nvPr/>
        </p:nvCxnSpPr>
        <p:spPr>
          <a:xfrm flipH="1">
            <a:off x="3319975" y="2599350"/>
            <a:ext cx="1020900" cy="50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9" name="Google Shape;819;p57"/>
          <p:cNvSpPr/>
          <p:nvPr/>
        </p:nvSpPr>
        <p:spPr>
          <a:xfrm>
            <a:off x="2874925" y="3106825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Y=1.5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20" name="Google Shape;820;p57"/>
          <p:cNvCxnSpPr>
            <a:stCxn id="817" idx="2"/>
            <a:endCxn id="821" idx="0"/>
          </p:cNvCxnSpPr>
          <p:nvPr/>
        </p:nvCxnSpPr>
        <p:spPr>
          <a:xfrm>
            <a:off x="4340875" y="2599350"/>
            <a:ext cx="766200" cy="50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1" name="Google Shape;821;p57"/>
          <p:cNvSpPr/>
          <p:nvPr/>
        </p:nvSpPr>
        <p:spPr>
          <a:xfrm>
            <a:off x="4661888" y="3106813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 ≤ 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22" name="Google Shape;822;p57"/>
          <p:cNvCxnSpPr>
            <a:stCxn id="821" idx="2"/>
            <a:endCxn id="823" idx="0"/>
          </p:cNvCxnSpPr>
          <p:nvPr/>
        </p:nvCxnSpPr>
        <p:spPr>
          <a:xfrm>
            <a:off x="5106938" y="3679513"/>
            <a:ext cx="617400" cy="438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4" name="Google Shape;824;p57"/>
          <p:cNvSpPr/>
          <p:nvPr/>
        </p:nvSpPr>
        <p:spPr>
          <a:xfrm>
            <a:off x="3955650" y="4117725"/>
            <a:ext cx="924900" cy="5727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Y=2.2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3" name="Google Shape;823;p57"/>
          <p:cNvSpPr/>
          <p:nvPr/>
        </p:nvSpPr>
        <p:spPr>
          <a:xfrm>
            <a:off x="5261875" y="4117725"/>
            <a:ext cx="924900" cy="5727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Y=1.5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25" name="Google Shape;825;p57"/>
          <p:cNvCxnSpPr>
            <a:stCxn id="821" idx="2"/>
            <a:endCxn id="824" idx="0"/>
          </p:cNvCxnSpPr>
          <p:nvPr/>
        </p:nvCxnSpPr>
        <p:spPr>
          <a:xfrm flipH="1">
            <a:off x="4418138" y="3679513"/>
            <a:ext cx="688800" cy="438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6" name="Google Shape;826;p57"/>
          <p:cNvSpPr txBox="1"/>
          <p:nvPr/>
        </p:nvSpPr>
        <p:spPr>
          <a:xfrm>
            <a:off x="5603725" y="3763200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sp>
        <p:nvSpPr>
          <p:cNvPr id="827" name="Google Shape;827;p57"/>
          <p:cNvSpPr txBox="1"/>
          <p:nvPr/>
        </p:nvSpPr>
        <p:spPr>
          <a:xfrm>
            <a:off x="3496425" y="25869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  <p:sp>
        <p:nvSpPr>
          <p:cNvPr id="828" name="Google Shape;828;p57"/>
          <p:cNvSpPr txBox="1"/>
          <p:nvPr/>
        </p:nvSpPr>
        <p:spPr>
          <a:xfrm>
            <a:off x="4814875" y="25869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sp>
        <p:nvSpPr>
          <p:cNvPr id="829" name="Google Shape;829;p57"/>
          <p:cNvSpPr txBox="1"/>
          <p:nvPr/>
        </p:nvSpPr>
        <p:spPr>
          <a:xfrm>
            <a:off x="4340875" y="3724650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5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5" name="Google Shape;835;p5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Tree Branches (Sub Trees)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36" name="Google Shape;836;p5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37" name="Google Shape;837;p5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58"/>
          <p:cNvSpPr/>
          <p:nvPr/>
        </p:nvSpPr>
        <p:spPr>
          <a:xfrm>
            <a:off x="3895825" y="2026650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 ≤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39" name="Google Shape;839;p58"/>
          <p:cNvCxnSpPr>
            <a:stCxn id="838" idx="2"/>
            <a:endCxn id="840" idx="0"/>
          </p:cNvCxnSpPr>
          <p:nvPr/>
        </p:nvCxnSpPr>
        <p:spPr>
          <a:xfrm flipH="1">
            <a:off x="3319975" y="2599350"/>
            <a:ext cx="1020900" cy="50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0" name="Google Shape;840;p58"/>
          <p:cNvSpPr/>
          <p:nvPr/>
        </p:nvSpPr>
        <p:spPr>
          <a:xfrm>
            <a:off x="2874925" y="3106825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Y=1.5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41" name="Google Shape;841;p58"/>
          <p:cNvCxnSpPr>
            <a:stCxn id="838" idx="2"/>
            <a:endCxn id="842" idx="0"/>
          </p:cNvCxnSpPr>
          <p:nvPr/>
        </p:nvCxnSpPr>
        <p:spPr>
          <a:xfrm>
            <a:off x="4340875" y="2599350"/>
            <a:ext cx="766200" cy="50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2" name="Google Shape;842;p58"/>
          <p:cNvSpPr/>
          <p:nvPr/>
        </p:nvSpPr>
        <p:spPr>
          <a:xfrm>
            <a:off x="4661888" y="3106813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 ≤ 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43" name="Google Shape;843;p58"/>
          <p:cNvCxnSpPr>
            <a:stCxn id="842" idx="2"/>
            <a:endCxn id="844" idx="0"/>
          </p:cNvCxnSpPr>
          <p:nvPr/>
        </p:nvCxnSpPr>
        <p:spPr>
          <a:xfrm>
            <a:off x="5106938" y="3679513"/>
            <a:ext cx="617400" cy="43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5" name="Google Shape;845;p58"/>
          <p:cNvSpPr/>
          <p:nvPr/>
        </p:nvSpPr>
        <p:spPr>
          <a:xfrm>
            <a:off x="3955650" y="4117725"/>
            <a:ext cx="924900" cy="57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Y=2.2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4" name="Google Shape;844;p58"/>
          <p:cNvSpPr/>
          <p:nvPr/>
        </p:nvSpPr>
        <p:spPr>
          <a:xfrm>
            <a:off x="5261875" y="4117725"/>
            <a:ext cx="924900" cy="57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Y=1.5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46" name="Google Shape;846;p58"/>
          <p:cNvCxnSpPr>
            <a:stCxn id="842" idx="2"/>
            <a:endCxn id="845" idx="0"/>
          </p:cNvCxnSpPr>
          <p:nvPr/>
        </p:nvCxnSpPr>
        <p:spPr>
          <a:xfrm flipH="1">
            <a:off x="4418138" y="3679513"/>
            <a:ext cx="688800" cy="43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7" name="Google Shape;847;p58"/>
          <p:cNvSpPr txBox="1"/>
          <p:nvPr/>
        </p:nvSpPr>
        <p:spPr>
          <a:xfrm>
            <a:off x="5603725" y="3763200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sp>
        <p:nvSpPr>
          <p:cNvPr id="848" name="Google Shape;848;p58"/>
          <p:cNvSpPr txBox="1"/>
          <p:nvPr/>
        </p:nvSpPr>
        <p:spPr>
          <a:xfrm>
            <a:off x="3496425" y="25869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  <p:sp>
        <p:nvSpPr>
          <p:cNvPr id="849" name="Google Shape;849;p58"/>
          <p:cNvSpPr txBox="1"/>
          <p:nvPr/>
        </p:nvSpPr>
        <p:spPr>
          <a:xfrm>
            <a:off x="4814875" y="25869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sp>
        <p:nvSpPr>
          <p:cNvPr id="850" name="Google Shape;850;p58"/>
          <p:cNvSpPr txBox="1"/>
          <p:nvPr/>
        </p:nvSpPr>
        <p:spPr>
          <a:xfrm>
            <a:off x="4340875" y="3724650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5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6" name="Google Shape;856;p5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Tree Branches (Sub Trees):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57" name="Google Shape;857;p5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58" name="Google Shape;858;p5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p59"/>
          <p:cNvSpPr/>
          <p:nvPr/>
        </p:nvSpPr>
        <p:spPr>
          <a:xfrm>
            <a:off x="3895825" y="2026650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 ≤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60" name="Google Shape;860;p59"/>
          <p:cNvCxnSpPr>
            <a:stCxn id="859" idx="2"/>
            <a:endCxn id="861" idx="0"/>
          </p:cNvCxnSpPr>
          <p:nvPr/>
        </p:nvCxnSpPr>
        <p:spPr>
          <a:xfrm flipH="1">
            <a:off x="3319975" y="2599350"/>
            <a:ext cx="1020900" cy="50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1" name="Google Shape;861;p59"/>
          <p:cNvSpPr/>
          <p:nvPr/>
        </p:nvSpPr>
        <p:spPr>
          <a:xfrm>
            <a:off x="2874925" y="3106825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Y=1.5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62" name="Google Shape;862;p59"/>
          <p:cNvCxnSpPr>
            <a:stCxn id="859" idx="2"/>
            <a:endCxn id="863" idx="0"/>
          </p:cNvCxnSpPr>
          <p:nvPr/>
        </p:nvCxnSpPr>
        <p:spPr>
          <a:xfrm>
            <a:off x="4340875" y="2599350"/>
            <a:ext cx="766200" cy="507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3" name="Google Shape;863;p59"/>
          <p:cNvSpPr/>
          <p:nvPr/>
        </p:nvSpPr>
        <p:spPr>
          <a:xfrm>
            <a:off x="4661888" y="3106813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 ≤ 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64" name="Google Shape;864;p59"/>
          <p:cNvCxnSpPr>
            <a:stCxn id="863" idx="2"/>
            <a:endCxn id="865" idx="0"/>
          </p:cNvCxnSpPr>
          <p:nvPr/>
        </p:nvCxnSpPr>
        <p:spPr>
          <a:xfrm>
            <a:off x="5106938" y="3679513"/>
            <a:ext cx="617400" cy="438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6" name="Google Shape;866;p59"/>
          <p:cNvSpPr/>
          <p:nvPr/>
        </p:nvSpPr>
        <p:spPr>
          <a:xfrm>
            <a:off x="3955650" y="4117725"/>
            <a:ext cx="924900" cy="5727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Y=2.2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5" name="Google Shape;865;p59"/>
          <p:cNvSpPr/>
          <p:nvPr/>
        </p:nvSpPr>
        <p:spPr>
          <a:xfrm>
            <a:off x="5261875" y="4117725"/>
            <a:ext cx="924900" cy="5727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Y=1.5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67" name="Google Shape;867;p59"/>
          <p:cNvCxnSpPr>
            <a:stCxn id="863" idx="2"/>
            <a:endCxn id="866" idx="0"/>
          </p:cNvCxnSpPr>
          <p:nvPr/>
        </p:nvCxnSpPr>
        <p:spPr>
          <a:xfrm flipH="1">
            <a:off x="4418138" y="3679513"/>
            <a:ext cx="688800" cy="438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8" name="Google Shape;868;p59"/>
          <p:cNvSpPr txBox="1"/>
          <p:nvPr/>
        </p:nvSpPr>
        <p:spPr>
          <a:xfrm>
            <a:off x="5603725" y="3763200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sp>
        <p:nvSpPr>
          <p:cNvPr id="869" name="Google Shape;869;p59"/>
          <p:cNvSpPr txBox="1"/>
          <p:nvPr/>
        </p:nvSpPr>
        <p:spPr>
          <a:xfrm>
            <a:off x="3496425" y="25869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  <p:sp>
        <p:nvSpPr>
          <p:cNvPr id="870" name="Google Shape;870;p59"/>
          <p:cNvSpPr txBox="1"/>
          <p:nvPr/>
        </p:nvSpPr>
        <p:spPr>
          <a:xfrm>
            <a:off x="4814875" y="25869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sp>
        <p:nvSpPr>
          <p:cNvPr id="871" name="Google Shape;871;p59"/>
          <p:cNvSpPr txBox="1"/>
          <p:nvPr/>
        </p:nvSpPr>
        <p:spPr>
          <a:xfrm>
            <a:off x="4340875" y="3724650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6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7" name="Google Shape;877;p6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Pruning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78" name="Google Shape;878;p6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79" name="Google Shape;879;p6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p60"/>
          <p:cNvSpPr/>
          <p:nvPr/>
        </p:nvSpPr>
        <p:spPr>
          <a:xfrm>
            <a:off x="3895825" y="2026650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 ≤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81" name="Google Shape;881;p60"/>
          <p:cNvCxnSpPr>
            <a:stCxn id="880" idx="2"/>
            <a:endCxn id="882" idx="0"/>
          </p:cNvCxnSpPr>
          <p:nvPr/>
        </p:nvCxnSpPr>
        <p:spPr>
          <a:xfrm flipH="1">
            <a:off x="3319975" y="2599350"/>
            <a:ext cx="1020900" cy="50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2" name="Google Shape;882;p60"/>
          <p:cNvSpPr/>
          <p:nvPr/>
        </p:nvSpPr>
        <p:spPr>
          <a:xfrm>
            <a:off x="2874925" y="3106825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Y=1.5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83" name="Google Shape;883;p60"/>
          <p:cNvCxnSpPr>
            <a:stCxn id="880" idx="2"/>
            <a:endCxn id="884" idx="0"/>
          </p:cNvCxnSpPr>
          <p:nvPr/>
        </p:nvCxnSpPr>
        <p:spPr>
          <a:xfrm>
            <a:off x="4340875" y="2599350"/>
            <a:ext cx="766200" cy="50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4" name="Google Shape;884;p60"/>
          <p:cNvSpPr/>
          <p:nvPr/>
        </p:nvSpPr>
        <p:spPr>
          <a:xfrm>
            <a:off x="4661888" y="3106813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 ≤ 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85" name="Google Shape;885;p60"/>
          <p:cNvCxnSpPr>
            <a:stCxn id="884" idx="2"/>
            <a:endCxn id="886" idx="0"/>
          </p:cNvCxnSpPr>
          <p:nvPr/>
        </p:nvCxnSpPr>
        <p:spPr>
          <a:xfrm>
            <a:off x="5106938" y="3679513"/>
            <a:ext cx="617400" cy="43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7" name="Google Shape;887;p60"/>
          <p:cNvSpPr/>
          <p:nvPr/>
        </p:nvSpPr>
        <p:spPr>
          <a:xfrm>
            <a:off x="3955650" y="4117725"/>
            <a:ext cx="924900" cy="57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Y=2.2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6" name="Google Shape;886;p60"/>
          <p:cNvSpPr/>
          <p:nvPr/>
        </p:nvSpPr>
        <p:spPr>
          <a:xfrm>
            <a:off x="5261875" y="4117725"/>
            <a:ext cx="924900" cy="57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Y=1.5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88" name="Google Shape;888;p60"/>
          <p:cNvCxnSpPr>
            <a:stCxn id="884" idx="2"/>
            <a:endCxn id="887" idx="0"/>
          </p:cNvCxnSpPr>
          <p:nvPr/>
        </p:nvCxnSpPr>
        <p:spPr>
          <a:xfrm flipH="1">
            <a:off x="4418138" y="3679513"/>
            <a:ext cx="688800" cy="43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9" name="Google Shape;889;p60"/>
          <p:cNvSpPr txBox="1"/>
          <p:nvPr/>
        </p:nvSpPr>
        <p:spPr>
          <a:xfrm>
            <a:off x="5603725" y="3763200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sp>
        <p:nvSpPr>
          <p:cNvPr id="890" name="Google Shape;890;p60"/>
          <p:cNvSpPr txBox="1"/>
          <p:nvPr/>
        </p:nvSpPr>
        <p:spPr>
          <a:xfrm>
            <a:off x="3496425" y="25869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  <p:sp>
        <p:nvSpPr>
          <p:cNvPr id="891" name="Google Shape;891;p60"/>
          <p:cNvSpPr txBox="1"/>
          <p:nvPr/>
        </p:nvSpPr>
        <p:spPr>
          <a:xfrm>
            <a:off x="4814875" y="25869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sp>
        <p:nvSpPr>
          <p:cNvPr id="892" name="Google Shape;892;p60"/>
          <p:cNvSpPr txBox="1"/>
          <p:nvPr/>
        </p:nvSpPr>
        <p:spPr>
          <a:xfrm>
            <a:off x="4340875" y="3724650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7" name="Google Shape;897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5659294" y="2826106"/>
            <a:ext cx="1291625" cy="1291625"/>
          </a:xfrm>
          <a:prstGeom prst="rect">
            <a:avLst/>
          </a:prstGeom>
          <a:noFill/>
          <a:ln>
            <a:noFill/>
          </a:ln>
        </p:spPr>
      </p:pic>
      <p:sp>
        <p:nvSpPr>
          <p:cNvPr id="898" name="Google Shape;898;p6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9" name="Google Shape;899;p61"/>
          <p:cNvSpPr txBox="1"/>
          <p:nvPr>
            <p:ph idx="1" type="body"/>
          </p:nvPr>
        </p:nvSpPr>
        <p:spPr>
          <a:xfrm>
            <a:off x="311700" y="1152475"/>
            <a:ext cx="8684100" cy="83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Pruning: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00" name="Google Shape;900;p61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01" name="Google Shape;901;p61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Google Shape;902;p61"/>
          <p:cNvSpPr/>
          <p:nvPr/>
        </p:nvSpPr>
        <p:spPr>
          <a:xfrm>
            <a:off x="3895825" y="2026650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 ≤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03" name="Google Shape;903;p61"/>
          <p:cNvCxnSpPr>
            <a:stCxn id="902" idx="2"/>
            <a:endCxn id="904" idx="0"/>
          </p:cNvCxnSpPr>
          <p:nvPr/>
        </p:nvCxnSpPr>
        <p:spPr>
          <a:xfrm flipH="1">
            <a:off x="3319975" y="2599350"/>
            <a:ext cx="1020900" cy="50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4" name="Google Shape;904;p61"/>
          <p:cNvSpPr/>
          <p:nvPr/>
        </p:nvSpPr>
        <p:spPr>
          <a:xfrm>
            <a:off x="2874925" y="3106825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Y=1.5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05" name="Google Shape;905;p61"/>
          <p:cNvCxnSpPr>
            <a:stCxn id="902" idx="2"/>
            <a:endCxn id="906" idx="0"/>
          </p:cNvCxnSpPr>
          <p:nvPr/>
        </p:nvCxnSpPr>
        <p:spPr>
          <a:xfrm>
            <a:off x="4340875" y="2599350"/>
            <a:ext cx="766200" cy="50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6" name="Google Shape;906;p61"/>
          <p:cNvSpPr/>
          <p:nvPr/>
        </p:nvSpPr>
        <p:spPr>
          <a:xfrm>
            <a:off x="4661888" y="3106813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 ≤ 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07" name="Google Shape;907;p61"/>
          <p:cNvCxnSpPr>
            <a:stCxn id="906" idx="2"/>
            <a:endCxn id="908" idx="0"/>
          </p:cNvCxnSpPr>
          <p:nvPr/>
        </p:nvCxnSpPr>
        <p:spPr>
          <a:xfrm>
            <a:off x="5106938" y="3679513"/>
            <a:ext cx="617400" cy="43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09" name="Google Shape;909;p61"/>
          <p:cNvSpPr/>
          <p:nvPr/>
        </p:nvSpPr>
        <p:spPr>
          <a:xfrm>
            <a:off x="3955650" y="4117725"/>
            <a:ext cx="924900" cy="57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Y=2.2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8" name="Google Shape;908;p61"/>
          <p:cNvSpPr/>
          <p:nvPr/>
        </p:nvSpPr>
        <p:spPr>
          <a:xfrm>
            <a:off x="5261875" y="4117725"/>
            <a:ext cx="924900" cy="57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Y=1.5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10" name="Google Shape;910;p61"/>
          <p:cNvCxnSpPr>
            <a:stCxn id="906" idx="2"/>
            <a:endCxn id="909" idx="0"/>
          </p:cNvCxnSpPr>
          <p:nvPr/>
        </p:nvCxnSpPr>
        <p:spPr>
          <a:xfrm flipH="1">
            <a:off x="4418138" y="3679513"/>
            <a:ext cx="688800" cy="43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11" name="Google Shape;911;p61"/>
          <p:cNvSpPr txBox="1"/>
          <p:nvPr/>
        </p:nvSpPr>
        <p:spPr>
          <a:xfrm>
            <a:off x="5603725" y="3763200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sp>
        <p:nvSpPr>
          <p:cNvPr id="912" name="Google Shape;912;p61"/>
          <p:cNvSpPr txBox="1"/>
          <p:nvPr/>
        </p:nvSpPr>
        <p:spPr>
          <a:xfrm>
            <a:off x="3496425" y="25869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  <p:sp>
        <p:nvSpPr>
          <p:cNvPr id="913" name="Google Shape;913;p61"/>
          <p:cNvSpPr txBox="1"/>
          <p:nvPr/>
        </p:nvSpPr>
        <p:spPr>
          <a:xfrm>
            <a:off x="4814875" y="25869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sp>
        <p:nvSpPr>
          <p:cNvPr id="914" name="Google Shape;914;p61"/>
          <p:cNvSpPr txBox="1"/>
          <p:nvPr/>
        </p:nvSpPr>
        <p:spPr>
          <a:xfrm>
            <a:off x="4340875" y="3724650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6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0" name="Google Shape;920;p62"/>
          <p:cNvSpPr txBox="1"/>
          <p:nvPr>
            <p:ph idx="1" type="body"/>
          </p:nvPr>
        </p:nvSpPr>
        <p:spPr>
          <a:xfrm>
            <a:off x="311700" y="1152475"/>
            <a:ext cx="8684100" cy="83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Pruning: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21" name="Google Shape;921;p6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22" name="Google Shape;922;p6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p62"/>
          <p:cNvSpPr/>
          <p:nvPr/>
        </p:nvSpPr>
        <p:spPr>
          <a:xfrm>
            <a:off x="3895825" y="2026650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 ≤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24" name="Google Shape;924;p62"/>
          <p:cNvCxnSpPr>
            <a:stCxn id="923" idx="2"/>
            <a:endCxn id="925" idx="0"/>
          </p:cNvCxnSpPr>
          <p:nvPr/>
        </p:nvCxnSpPr>
        <p:spPr>
          <a:xfrm flipH="1">
            <a:off x="3319975" y="2599350"/>
            <a:ext cx="1020900" cy="50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5" name="Google Shape;925;p62"/>
          <p:cNvSpPr/>
          <p:nvPr/>
        </p:nvSpPr>
        <p:spPr>
          <a:xfrm>
            <a:off x="2874925" y="3106825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Y=1.5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26" name="Google Shape;926;p62"/>
          <p:cNvCxnSpPr>
            <a:stCxn id="923" idx="2"/>
            <a:endCxn id="927" idx="0"/>
          </p:cNvCxnSpPr>
          <p:nvPr/>
        </p:nvCxnSpPr>
        <p:spPr>
          <a:xfrm>
            <a:off x="4340875" y="2599350"/>
            <a:ext cx="766200" cy="50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7" name="Google Shape;927;p62"/>
          <p:cNvSpPr/>
          <p:nvPr/>
        </p:nvSpPr>
        <p:spPr>
          <a:xfrm>
            <a:off x="4661888" y="3106813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Y=1.9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8" name="Google Shape;928;p62"/>
          <p:cNvSpPr txBox="1"/>
          <p:nvPr/>
        </p:nvSpPr>
        <p:spPr>
          <a:xfrm>
            <a:off x="3496425" y="25869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  <p:sp>
        <p:nvSpPr>
          <p:cNvPr id="929" name="Google Shape;929;p62"/>
          <p:cNvSpPr txBox="1"/>
          <p:nvPr/>
        </p:nvSpPr>
        <p:spPr>
          <a:xfrm>
            <a:off x="4814875" y="25869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pic>
        <p:nvPicPr>
          <p:cNvPr id="930" name="Google Shape;930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5659294" y="2826106"/>
            <a:ext cx="1291625" cy="129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6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6" name="Google Shape;936;p6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now move on to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constructing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 tree!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37" name="Google Shape;937;p6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38" name="Google Shape;938;p6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939" name="Google Shape;939;p63"/>
          <p:cNvSpPr/>
          <p:nvPr/>
        </p:nvSpPr>
        <p:spPr>
          <a:xfrm>
            <a:off x="3895825" y="2026650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 ≤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40" name="Google Shape;940;p63"/>
          <p:cNvCxnSpPr>
            <a:stCxn id="939" idx="2"/>
            <a:endCxn id="941" idx="0"/>
          </p:cNvCxnSpPr>
          <p:nvPr/>
        </p:nvCxnSpPr>
        <p:spPr>
          <a:xfrm flipH="1">
            <a:off x="3319975" y="2599350"/>
            <a:ext cx="1020900" cy="50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1" name="Google Shape;941;p63"/>
          <p:cNvSpPr/>
          <p:nvPr/>
        </p:nvSpPr>
        <p:spPr>
          <a:xfrm>
            <a:off x="2874925" y="3106825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Y=1.5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42" name="Google Shape;942;p63"/>
          <p:cNvCxnSpPr>
            <a:stCxn id="939" idx="2"/>
            <a:endCxn id="943" idx="0"/>
          </p:cNvCxnSpPr>
          <p:nvPr/>
        </p:nvCxnSpPr>
        <p:spPr>
          <a:xfrm>
            <a:off x="4340875" y="2599350"/>
            <a:ext cx="766200" cy="50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3" name="Google Shape;943;p63"/>
          <p:cNvSpPr/>
          <p:nvPr/>
        </p:nvSpPr>
        <p:spPr>
          <a:xfrm>
            <a:off x="4661888" y="3106813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 ≤ 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44" name="Google Shape;944;p63"/>
          <p:cNvCxnSpPr>
            <a:stCxn id="943" idx="2"/>
            <a:endCxn id="945" idx="0"/>
          </p:cNvCxnSpPr>
          <p:nvPr/>
        </p:nvCxnSpPr>
        <p:spPr>
          <a:xfrm>
            <a:off x="5106938" y="3679513"/>
            <a:ext cx="617400" cy="43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6" name="Google Shape;946;p63"/>
          <p:cNvSpPr/>
          <p:nvPr/>
        </p:nvSpPr>
        <p:spPr>
          <a:xfrm>
            <a:off x="3955650" y="4117725"/>
            <a:ext cx="924900" cy="57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Y=2.2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5" name="Google Shape;945;p63"/>
          <p:cNvSpPr/>
          <p:nvPr/>
        </p:nvSpPr>
        <p:spPr>
          <a:xfrm>
            <a:off x="5261875" y="4117725"/>
            <a:ext cx="924900" cy="57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Y=1.5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47" name="Google Shape;947;p63"/>
          <p:cNvCxnSpPr>
            <a:stCxn id="943" idx="2"/>
            <a:endCxn id="946" idx="0"/>
          </p:cNvCxnSpPr>
          <p:nvPr/>
        </p:nvCxnSpPr>
        <p:spPr>
          <a:xfrm flipH="1">
            <a:off x="4418138" y="3679513"/>
            <a:ext cx="688800" cy="43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8" name="Google Shape;948;p63"/>
          <p:cNvSpPr txBox="1"/>
          <p:nvPr/>
        </p:nvSpPr>
        <p:spPr>
          <a:xfrm>
            <a:off x="5603725" y="3763200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sp>
        <p:nvSpPr>
          <p:cNvPr id="949" name="Google Shape;949;p63"/>
          <p:cNvSpPr txBox="1"/>
          <p:nvPr/>
        </p:nvSpPr>
        <p:spPr>
          <a:xfrm>
            <a:off x="3496425" y="25869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  <p:sp>
        <p:nvSpPr>
          <p:cNvPr id="950" name="Google Shape;950;p63"/>
          <p:cNvSpPr txBox="1"/>
          <p:nvPr/>
        </p:nvSpPr>
        <p:spPr>
          <a:xfrm>
            <a:off x="4814875" y="25869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sp>
        <p:nvSpPr>
          <p:cNvPr id="951" name="Google Shape;951;p63"/>
          <p:cNvSpPr txBox="1"/>
          <p:nvPr/>
        </p:nvSpPr>
        <p:spPr>
          <a:xfrm>
            <a:off x="4340875" y="3724650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6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7" name="Google Shape;957;p6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Theory and Intuition: Gini Impurity</a:t>
            </a:r>
            <a:endParaRPr/>
          </a:p>
        </p:txBody>
      </p:sp>
      <p:pic>
        <p:nvPicPr>
          <p:cNvPr descr="watermark.jpg" id="958" name="Google Shape;958;p6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59" name="Google Shape;959;p6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6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Gini Impurity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5" name="Google Shape;965;p6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Before we explore how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splitting criterion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is used in constructing decision trees, let’s explore the most common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information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measurement for decision trees,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gini impurity.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66" name="Google Shape;966;p6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67" name="Google Shape;967;p6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6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Gini Impurity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3" name="Google Shape;973;p6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ini impurity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is a mathematical measurement of how “pure” the information in a data set is.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regards to classification, we can think of this as a measurement of class uniformity.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see how this relates to the simplest case of two classes...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74" name="Google Shape;974;p6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5" name="Google Shape;975;p6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6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Gini Impurity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1" name="Google Shape;981;p6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Gini Impurity for Classification: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a set of classes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a given dataset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Q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b="1" baseline="-25000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82" name="Google Shape;982;p6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83" name="Google Shape;983;p6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4" name="Google Shape;984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4049" y="2850474"/>
            <a:ext cx="4056076" cy="123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6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Gini Impurity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0" name="Google Shape;990;p6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Gini Impurity for Classification: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a set of classes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a given dataset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Q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b="1" baseline="-25000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is probability of class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91" name="Google Shape;991;p6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92" name="Google Shape;992;p6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3" name="Google Shape;993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4049" y="2850474"/>
            <a:ext cx="4056076" cy="123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4" name="Google Shape;994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8800" y="2798299"/>
            <a:ext cx="3545518" cy="123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9" name="Google Shape;999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9725" y="1694000"/>
            <a:ext cx="2619250" cy="79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4849" y="2340099"/>
            <a:ext cx="5014300" cy="260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1" name="Google Shape;1001;p6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Gini Impurity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2" name="Google Shape;1002;p6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Gini Impurity for Classification: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03" name="Google Shape;1003;p69"/>
          <p:cNvPicPr preferRelativeResize="0"/>
          <p:nvPr/>
        </p:nvPicPr>
        <p:blipFill rotWithShape="1">
          <a:blip r:embed="rId5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04" name="Google Shape;1004;p69"/>
          <p:cNvPicPr preferRelativeResize="0"/>
          <p:nvPr/>
        </p:nvPicPr>
        <p:blipFill rotWithShape="1">
          <a:blip r:embed="rId5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9" name="Google Shape;1009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9725" y="1694000"/>
            <a:ext cx="2619250" cy="79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0" name="Google Shape;1010;p7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Gini Impurity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1" name="Google Shape;1011;p7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Gini Impurity for Classification: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12" name="Google Shape;1012;p70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13" name="Google Shape;1013;p70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14" name="Google Shape;1014;p70"/>
          <p:cNvSpPr/>
          <p:nvPr/>
        </p:nvSpPr>
        <p:spPr>
          <a:xfrm>
            <a:off x="3122400" y="2762200"/>
            <a:ext cx="2899200" cy="1663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15" name="Google Shape;1015;p70"/>
          <p:cNvCxnSpPr>
            <a:stCxn id="1014" idx="2"/>
          </p:cNvCxnSpPr>
          <p:nvPr/>
        </p:nvCxnSpPr>
        <p:spPr>
          <a:xfrm flipH="1">
            <a:off x="3363900" y="4425700"/>
            <a:ext cx="1208100" cy="51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016" name="Google Shape;1016;p70"/>
          <p:cNvCxnSpPr>
            <a:stCxn id="1014" idx="2"/>
          </p:cNvCxnSpPr>
          <p:nvPr/>
        </p:nvCxnSpPr>
        <p:spPr>
          <a:xfrm>
            <a:off x="4572000" y="4425700"/>
            <a:ext cx="1152600" cy="528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1" name="Google Shape;1021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9725" y="1694000"/>
            <a:ext cx="2619250" cy="79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2" name="Google Shape;1022;p7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Gini Impurity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3" name="Google Shape;1023;p7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Gini Impurity for Classification: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24" name="Google Shape;1024;p71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25" name="Google Shape;1025;p71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26" name="Google Shape;1026;p71"/>
          <p:cNvSpPr/>
          <p:nvPr/>
        </p:nvSpPr>
        <p:spPr>
          <a:xfrm>
            <a:off x="3122400" y="2762200"/>
            <a:ext cx="2899200" cy="1663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27" name="Google Shape;1027;p71"/>
          <p:cNvCxnSpPr>
            <a:stCxn id="1026" idx="2"/>
          </p:cNvCxnSpPr>
          <p:nvPr/>
        </p:nvCxnSpPr>
        <p:spPr>
          <a:xfrm flipH="1">
            <a:off x="3363900" y="4425700"/>
            <a:ext cx="1208100" cy="51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028" name="Google Shape;1028;p71"/>
          <p:cNvCxnSpPr>
            <a:stCxn id="1026" idx="2"/>
          </p:cNvCxnSpPr>
          <p:nvPr/>
        </p:nvCxnSpPr>
        <p:spPr>
          <a:xfrm>
            <a:off x="4572000" y="4425700"/>
            <a:ext cx="1152600" cy="528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029" name="Google Shape;1029;p71"/>
          <p:cNvSpPr/>
          <p:nvPr/>
        </p:nvSpPr>
        <p:spPr>
          <a:xfrm>
            <a:off x="3852075" y="2915800"/>
            <a:ext cx="496500" cy="4965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71"/>
          <p:cNvSpPr/>
          <p:nvPr/>
        </p:nvSpPr>
        <p:spPr>
          <a:xfrm>
            <a:off x="3852075" y="3659178"/>
            <a:ext cx="496500" cy="4965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71"/>
          <p:cNvSpPr/>
          <p:nvPr/>
        </p:nvSpPr>
        <p:spPr>
          <a:xfrm>
            <a:off x="4765275" y="2915788"/>
            <a:ext cx="496500" cy="4965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71"/>
          <p:cNvSpPr/>
          <p:nvPr/>
        </p:nvSpPr>
        <p:spPr>
          <a:xfrm>
            <a:off x="4765275" y="3659165"/>
            <a:ext cx="496500" cy="4965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7" name="Google Shape;1037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9725" y="1694000"/>
            <a:ext cx="2619250" cy="79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7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Gini Impurity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9" name="Google Shape;1039;p7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Gini Impurity for Classification: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40" name="Google Shape;1040;p72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41" name="Google Shape;1041;p72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42" name="Google Shape;1042;p72"/>
          <p:cNvSpPr/>
          <p:nvPr/>
        </p:nvSpPr>
        <p:spPr>
          <a:xfrm>
            <a:off x="3122400" y="2762200"/>
            <a:ext cx="2899200" cy="1663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43" name="Google Shape;1043;p72"/>
          <p:cNvCxnSpPr>
            <a:stCxn id="1042" idx="2"/>
          </p:cNvCxnSpPr>
          <p:nvPr/>
        </p:nvCxnSpPr>
        <p:spPr>
          <a:xfrm flipH="1">
            <a:off x="3363900" y="4425700"/>
            <a:ext cx="1208100" cy="51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044" name="Google Shape;1044;p72"/>
          <p:cNvCxnSpPr>
            <a:stCxn id="1042" idx="2"/>
          </p:cNvCxnSpPr>
          <p:nvPr/>
        </p:nvCxnSpPr>
        <p:spPr>
          <a:xfrm>
            <a:off x="4572000" y="4425700"/>
            <a:ext cx="1152600" cy="528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045" name="Google Shape;1045;p72"/>
          <p:cNvSpPr/>
          <p:nvPr/>
        </p:nvSpPr>
        <p:spPr>
          <a:xfrm>
            <a:off x="3852075" y="2915800"/>
            <a:ext cx="496500" cy="4965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72"/>
          <p:cNvSpPr/>
          <p:nvPr/>
        </p:nvSpPr>
        <p:spPr>
          <a:xfrm>
            <a:off x="3852075" y="3659178"/>
            <a:ext cx="496500" cy="4965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72"/>
          <p:cNvSpPr/>
          <p:nvPr/>
        </p:nvSpPr>
        <p:spPr>
          <a:xfrm>
            <a:off x="4765275" y="2915788"/>
            <a:ext cx="496500" cy="4965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72"/>
          <p:cNvSpPr/>
          <p:nvPr/>
        </p:nvSpPr>
        <p:spPr>
          <a:xfrm>
            <a:off x="4765275" y="3659165"/>
            <a:ext cx="496500" cy="4965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72"/>
          <p:cNvSpPr/>
          <p:nvPr/>
        </p:nvSpPr>
        <p:spPr>
          <a:xfrm>
            <a:off x="6521900" y="2228850"/>
            <a:ext cx="2424000" cy="6441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Class Red        (2/4)(1 - 2/4) = 0.25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" name="Google Shape;1054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9725" y="1694000"/>
            <a:ext cx="2619250" cy="79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5" name="Google Shape;1055;p7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Gini Impurity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6" name="Google Shape;1056;p7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Gini Impurity for Classification: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57" name="Google Shape;1057;p73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8" name="Google Shape;1058;p73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59" name="Google Shape;1059;p73"/>
          <p:cNvSpPr/>
          <p:nvPr/>
        </p:nvSpPr>
        <p:spPr>
          <a:xfrm>
            <a:off x="3122400" y="2762200"/>
            <a:ext cx="2899200" cy="1663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60" name="Google Shape;1060;p73"/>
          <p:cNvCxnSpPr>
            <a:stCxn id="1059" idx="2"/>
          </p:cNvCxnSpPr>
          <p:nvPr/>
        </p:nvCxnSpPr>
        <p:spPr>
          <a:xfrm flipH="1">
            <a:off x="3363900" y="4425700"/>
            <a:ext cx="1208100" cy="51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061" name="Google Shape;1061;p73"/>
          <p:cNvCxnSpPr>
            <a:stCxn id="1059" idx="2"/>
          </p:cNvCxnSpPr>
          <p:nvPr/>
        </p:nvCxnSpPr>
        <p:spPr>
          <a:xfrm>
            <a:off x="4572000" y="4425700"/>
            <a:ext cx="1152600" cy="528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062" name="Google Shape;1062;p73"/>
          <p:cNvSpPr/>
          <p:nvPr/>
        </p:nvSpPr>
        <p:spPr>
          <a:xfrm>
            <a:off x="3852075" y="2915800"/>
            <a:ext cx="496500" cy="4965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73"/>
          <p:cNvSpPr/>
          <p:nvPr/>
        </p:nvSpPr>
        <p:spPr>
          <a:xfrm>
            <a:off x="3852075" y="3659178"/>
            <a:ext cx="496500" cy="4965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73"/>
          <p:cNvSpPr/>
          <p:nvPr/>
        </p:nvSpPr>
        <p:spPr>
          <a:xfrm>
            <a:off x="4765275" y="2915788"/>
            <a:ext cx="496500" cy="4965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73"/>
          <p:cNvSpPr/>
          <p:nvPr/>
        </p:nvSpPr>
        <p:spPr>
          <a:xfrm>
            <a:off x="4765275" y="3659165"/>
            <a:ext cx="496500" cy="4965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73"/>
          <p:cNvSpPr/>
          <p:nvPr/>
        </p:nvSpPr>
        <p:spPr>
          <a:xfrm>
            <a:off x="6521900" y="2228850"/>
            <a:ext cx="2376300" cy="6441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Class Red        (½)(1-½) = 0.5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7" name="Google Shape;1067;p73"/>
          <p:cNvSpPr/>
          <p:nvPr/>
        </p:nvSpPr>
        <p:spPr>
          <a:xfrm>
            <a:off x="6521900" y="2228850"/>
            <a:ext cx="2424000" cy="6441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Class Red        (2/4)(1 - 2/4) = 0.25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8" name="Google Shape;1068;p73"/>
          <p:cNvSpPr/>
          <p:nvPr/>
        </p:nvSpPr>
        <p:spPr>
          <a:xfrm>
            <a:off x="6521900" y="3219450"/>
            <a:ext cx="2424000" cy="6441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Class Blue        (2/4)(1 - 2/4) = 0.25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9725" y="1694000"/>
            <a:ext cx="2619250" cy="79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7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Gini Impurity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5" name="Google Shape;1075;p7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Gini Impurity for Classification: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76" name="Google Shape;1076;p74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77" name="Google Shape;1077;p74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78" name="Google Shape;1078;p74"/>
          <p:cNvSpPr/>
          <p:nvPr/>
        </p:nvSpPr>
        <p:spPr>
          <a:xfrm>
            <a:off x="3122400" y="2762200"/>
            <a:ext cx="2899200" cy="1663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79" name="Google Shape;1079;p74"/>
          <p:cNvCxnSpPr>
            <a:stCxn id="1078" idx="2"/>
          </p:cNvCxnSpPr>
          <p:nvPr/>
        </p:nvCxnSpPr>
        <p:spPr>
          <a:xfrm flipH="1">
            <a:off x="3363900" y="4425700"/>
            <a:ext cx="1208100" cy="51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080" name="Google Shape;1080;p74"/>
          <p:cNvCxnSpPr>
            <a:stCxn id="1078" idx="2"/>
          </p:cNvCxnSpPr>
          <p:nvPr/>
        </p:nvCxnSpPr>
        <p:spPr>
          <a:xfrm>
            <a:off x="4572000" y="4425700"/>
            <a:ext cx="1152600" cy="528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081" name="Google Shape;1081;p74"/>
          <p:cNvSpPr/>
          <p:nvPr/>
        </p:nvSpPr>
        <p:spPr>
          <a:xfrm>
            <a:off x="3852075" y="2915800"/>
            <a:ext cx="496500" cy="4965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74"/>
          <p:cNvSpPr/>
          <p:nvPr/>
        </p:nvSpPr>
        <p:spPr>
          <a:xfrm>
            <a:off x="3852075" y="3659178"/>
            <a:ext cx="496500" cy="4965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74"/>
          <p:cNvSpPr/>
          <p:nvPr/>
        </p:nvSpPr>
        <p:spPr>
          <a:xfrm>
            <a:off x="4765275" y="2915788"/>
            <a:ext cx="496500" cy="4965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74"/>
          <p:cNvSpPr/>
          <p:nvPr/>
        </p:nvSpPr>
        <p:spPr>
          <a:xfrm>
            <a:off x="4765275" y="3659165"/>
            <a:ext cx="496500" cy="4965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74"/>
          <p:cNvSpPr/>
          <p:nvPr/>
        </p:nvSpPr>
        <p:spPr>
          <a:xfrm>
            <a:off x="6521900" y="2228850"/>
            <a:ext cx="2376300" cy="6441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Class Red        (½)(1-½) = 0.5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6" name="Google Shape;1086;p74"/>
          <p:cNvSpPr/>
          <p:nvPr/>
        </p:nvSpPr>
        <p:spPr>
          <a:xfrm>
            <a:off x="6521900" y="2228850"/>
            <a:ext cx="2424000" cy="6441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Class Red        (2/4)(1 - 2/4) = 0.25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7" name="Google Shape;1087;p74"/>
          <p:cNvSpPr/>
          <p:nvPr/>
        </p:nvSpPr>
        <p:spPr>
          <a:xfrm>
            <a:off x="6521900" y="3219450"/>
            <a:ext cx="2424000" cy="6441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Class Blue        (2/4)(1 - 2/4) = 0.25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8" name="Google Shape;1088;p74"/>
          <p:cNvSpPr/>
          <p:nvPr/>
        </p:nvSpPr>
        <p:spPr>
          <a:xfrm>
            <a:off x="6521900" y="4210050"/>
            <a:ext cx="2424000" cy="6441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Gini Impurity</a:t>
            </a: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       0.25 + 0.25 = 0.5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9" name="Google Shape;1089;p74"/>
          <p:cNvSpPr/>
          <p:nvPr/>
        </p:nvSpPr>
        <p:spPr>
          <a:xfrm>
            <a:off x="7586000" y="2915800"/>
            <a:ext cx="248100" cy="221700"/>
          </a:xfrm>
          <a:prstGeom prst="mathPlus">
            <a:avLst>
              <a:gd fmla="val 23520" name="adj1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74"/>
          <p:cNvSpPr/>
          <p:nvPr/>
        </p:nvSpPr>
        <p:spPr>
          <a:xfrm>
            <a:off x="7636100" y="3913050"/>
            <a:ext cx="147900" cy="24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" name="Google Shape;1095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9725" y="1694000"/>
            <a:ext cx="2619250" cy="79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6" name="Google Shape;1096;p7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Gini Impurity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7" name="Google Shape;1097;p7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“Maximum” Impurity Possible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98" name="Google Shape;1098;p75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99" name="Google Shape;1099;p75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75"/>
          <p:cNvSpPr/>
          <p:nvPr/>
        </p:nvSpPr>
        <p:spPr>
          <a:xfrm>
            <a:off x="3122400" y="2762200"/>
            <a:ext cx="2899200" cy="1663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01" name="Google Shape;1101;p75"/>
          <p:cNvCxnSpPr>
            <a:stCxn id="1100" idx="2"/>
          </p:cNvCxnSpPr>
          <p:nvPr/>
        </p:nvCxnSpPr>
        <p:spPr>
          <a:xfrm flipH="1">
            <a:off x="3363900" y="4425700"/>
            <a:ext cx="1208100" cy="51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102" name="Google Shape;1102;p75"/>
          <p:cNvCxnSpPr>
            <a:stCxn id="1100" idx="2"/>
          </p:cNvCxnSpPr>
          <p:nvPr/>
        </p:nvCxnSpPr>
        <p:spPr>
          <a:xfrm>
            <a:off x="4572000" y="4425700"/>
            <a:ext cx="1152600" cy="528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103" name="Google Shape;1103;p75"/>
          <p:cNvSpPr/>
          <p:nvPr/>
        </p:nvSpPr>
        <p:spPr>
          <a:xfrm>
            <a:off x="3852075" y="2915800"/>
            <a:ext cx="496500" cy="4965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75"/>
          <p:cNvSpPr/>
          <p:nvPr/>
        </p:nvSpPr>
        <p:spPr>
          <a:xfrm>
            <a:off x="3852075" y="3659178"/>
            <a:ext cx="496500" cy="4965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75"/>
          <p:cNvSpPr/>
          <p:nvPr/>
        </p:nvSpPr>
        <p:spPr>
          <a:xfrm>
            <a:off x="4765275" y="2915788"/>
            <a:ext cx="496500" cy="4965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p75"/>
          <p:cNvSpPr/>
          <p:nvPr/>
        </p:nvSpPr>
        <p:spPr>
          <a:xfrm>
            <a:off x="4765275" y="3659165"/>
            <a:ext cx="496500" cy="4965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75"/>
          <p:cNvSpPr/>
          <p:nvPr/>
        </p:nvSpPr>
        <p:spPr>
          <a:xfrm>
            <a:off x="6521900" y="2228850"/>
            <a:ext cx="2376300" cy="6441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Class Red        (½)(1-½) = 0.5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8" name="Google Shape;1108;p75"/>
          <p:cNvSpPr/>
          <p:nvPr/>
        </p:nvSpPr>
        <p:spPr>
          <a:xfrm>
            <a:off x="6521900" y="2228850"/>
            <a:ext cx="2424000" cy="6441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Class Red        (2/4)(1 - 2/4) = 0.25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9" name="Google Shape;1109;p75"/>
          <p:cNvSpPr/>
          <p:nvPr/>
        </p:nvSpPr>
        <p:spPr>
          <a:xfrm>
            <a:off x="6521900" y="3219450"/>
            <a:ext cx="2424000" cy="6441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Class Blue        (2/4)(1 - 2/4) = 0.25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0" name="Google Shape;1110;p75"/>
          <p:cNvSpPr/>
          <p:nvPr/>
        </p:nvSpPr>
        <p:spPr>
          <a:xfrm>
            <a:off x="6521900" y="4210050"/>
            <a:ext cx="2424000" cy="6441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Gini Impurity        0.25 + 0.25 = 0.5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1" name="Google Shape;1111;p75"/>
          <p:cNvSpPr/>
          <p:nvPr/>
        </p:nvSpPr>
        <p:spPr>
          <a:xfrm>
            <a:off x="7586000" y="2915800"/>
            <a:ext cx="248100" cy="221700"/>
          </a:xfrm>
          <a:prstGeom prst="mathPlus">
            <a:avLst>
              <a:gd fmla="val 23520" name="adj1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75"/>
          <p:cNvSpPr/>
          <p:nvPr/>
        </p:nvSpPr>
        <p:spPr>
          <a:xfrm>
            <a:off x="7636100" y="3913050"/>
            <a:ext cx="147900" cy="24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7" name="Google Shape;1117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9725" y="1694000"/>
            <a:ext cx="2619250" cy="79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8" name="Google Shape;1118;p7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Gini Impurity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9" name="Google Shape;1119;p7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Data is more “pure” (less impurity)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20" name="Google Shape;1120;p76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21" name="Google Shape;1121;p76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p76"/>
          <p:cNvSpPr/>
          <p:nvPr/>
        </p:nvSpPr>
        <p:spPr>
          <a:xfrm>
            <a:off x="3122400" y="2762200"/>
            <a:ext cx="2899200" cy="1663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23" name="Google Shape;1123;p76"/>
          <p:cNvCxnSpPr>
            <a:stCxn id="1122" idx="2"/>
          </p:cNvCxnSpPr>
          <p:nvPr/>
        </p:nvCxnSpPr>
        <p:spPr>
          <a:xfrm flipH="1">
            <a:off x="3363900" y="4425700"/>
            <a:ext cx="1208100" cy="51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124" name="Google Shape;1124;p76"/>
          <p:cNvCxnSpPr>
            <a:stCxn id="1122" idx="2"/>
          </p:cNvCxnSpPr>
          <p:nvPr/>
        </p:nvCxnSpPr>
        <p:spPr>
          <a:xfrm>
            <a:off x="4572000" y="4425700"/>
            <a:ext cx="1152600" cy="528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125" name="Google Shape;1125;p76"/>
          <p:cNvSpPr/>
          <p:nvPr/>
        </p:nvSpPr>
        <p:spPr>
          <a:xfrm>
            <a:off x="3852075" y="2915800"/>
            <a:ext cx="496500" cy="4965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76"/>
          <p:cNvSpPr/>
          <p:nvPr/>
        </p:nvSpPr>
        <p:spPr>
          <a:xfrm>
            <a:off x="3852075" y="3659178"/>
            <a:ext cx="496500" cy="4965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76"/>
          <p:cNvSpPr/>
          <p:nvPr/>
        </p:nvSpPr>
        <p:spPr>
          <a:xfrm>
            <a:off x="4765275" y="2915788"/>
            <a:ext cx="496500" cy="4965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76"/>
          <p:cNvSpPr/>
          <p:nvPr/>
        </p:nvSpPr>
        <p:spPr>
          <a:xfrm>
            <a:off x="4765275" y="3659165"/>
            <a:ext cx="496500" cy="4965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76"/>
          <p:cNvSpPr/>
          <p:nvPr/>
        </p:nvSpPr>
        <p:spPr>
          <a:xfrm>
            <a:off x="6521900" y="2228850"/>
            <a:ext cx="2376300" cy="6441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Class Red        (½)(1-½) = 0.5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0" name="Google Shape;1130;p76"/>
          <p:cNvSpPr/>
          <p:nvPr/>
        </p:nvSpPr>
        <p:spPr>
          <a:xfrm>
            <a:off x="6521900" y="2228850"/>
            <a:ext cx="2424000" cy="6441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Class Red        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(1/4)(1 - 1/4) = </a:t>
            </a: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0.1875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1" name="Google Shape;1131;p76"/>
          <p:cNvSpPr/>
          <p:nvPr/>
        </p:nvSpPr>
        <p:spPr>
          <a:xfrm>
            <a:off x="6521900" y="3219450"/>
            <a:ext cx="2424000" cy="6441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Class Blue        (3/4)(1 - 3/4) =</a:t>
            </a: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0.1875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2" name="Google Shape;1132;p76"/>
          <p:cNvSpPr/>
          <p:nvPr/>
        </p:nvSpPr>
        <p:spPr>
          <a:xfrm>
            <a:off x="6521900" y="4210050"/>
            <a:ext cx="2424000" cy="6441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Gini Impurity        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0.1875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+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0.1875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 = 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0.375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3" name="Google Shape;1133;p76"/>
          <p:cNvSpPr/>
          <p:nvPr/>
        </p:nvSpPr>
        <p:spPr>
          <a:xfrm>
            <a:off x="7586000" y="2915800"/>
            <a:ext cx="248100" cy="221700"/>
          </a:xfrm>
          <a:prstGeom prst="mathPlus">
            <a:avLst>
              <a:gd fmla="val 23520" name="adj1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76"/>
          <p:cNvSpPr/>
          <p:nvPr/>
        </p:nvSpPr>
        <p:spPr>
          <a:xfrm>
            <a:off x="7636100" y="3913050"/>
            <a:ext cx="147900" cy="24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9" name="Google Shape;1139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9725" y="1694000"/>
            <a:ext cx="2619250" cy="79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0" name="Google Shape;1140;p7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Gini Impurity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1" name="Google Shape;1141;p7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Data is completely “pure” (no impurity)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42" name="Google Shape;1142;p77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43" name="Google Shape;1143;p77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44" name="Google Shape;1144;p77"/>
          <p:cNvSpPr/>
          <p:nvPr/>
        </p:nvSpPr>
        <p:spPr>
          <a:xfrm>
            <a:off x="3122400" y="2762200"/>
            <a:ext cx="2899200" cy="1663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45" name="Google Shape;1145;p77"/>
          <p:cNvCxnSpPr>
            <a:stCxn id="1144" idx="2"/>
          </p:cNvCxnSpPr>
          <p:nvPr/>
        </p:nvCxnSpPr>
        <p:spPr>
          <a:xfrm flipH="1">
            <a:off x="3363900" y="4425700"/>
            <a:ext cx="1208100" cy="51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146" name="Google Shape;1146;p77"/>
          <p:cNvCxnSpPr>
            <a:stCxn id="1144" idx="2"/>
          </p:cNvCxnSpPr>
          <p:nvPr/>
        </p:nvCxnSpPr>
        <p:spPr>
          <a:xfrm>
            <a:off x="4572000" y="4425700"/>
            <a:ext cx="1152600" cy="528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147" name="Google Shape;1147;p77"/>
          <p:cNvSpPr/>
          <p:nvPr/>
        </p:nvSpPr>
        <p:spPr>
          <a:xfrm>
            <a:off x="3852075" y="2915800"/>
            <a:ext cx="496500" cy="4965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77"/>
          <p:cNvSpPr/>
          <p:nvPr/>
        </p:nvSpPr>
        <p:spPr>
          <a:xfrm>
            <a:off x="3852075" y="3659178"/>
            <a:ext cx="496500" cy="4965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77"/>
          <p:cNvSpPr/>
          <p:nvPr/>
        </p:nvSpPr>
        <p:spPr>
          <a:xfrm>
            <a:off x="4765275" y="2915788"/>
            <a:ext cx="496500" cy="4965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77"/>
          <p:cNvSpPr/>
          <p:nvPr/>
        </p:nvSpPr>
        <p:spPr>
          <a:xfrm>
            <a:off x="4765275" y="3659165"/>
            <a:ext cx="496500" cy="4965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77"/>
          <p:cNvSpPr/>
          <p:nvPr/>
        </p:nvSpPr>
        <p:spPr>
          <a:xfrm>
            <a:off x="6521900" y="2228850"/>
            <a:ext cx="2376300" cy="6441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Class Red        (½)(1-½) = 0.5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2" name="Google Shape;1152;p77"/>
          <p:cNvSpPr/>
          <p:nvPr/>
        </p:nvSpPr>
        <p:spPr>
          <a:xfrm>
            <a:off x="6521900" y="2228850"/>
            <a:ext cx="2424000" cy="6441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Class Red        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(0/4)(1 - 0/4) = 0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3" name="Google Shape;1153;p77"/>
          <p:cNvSpPr/>
          <p:nvPr/>
        </p:nvSpPr>
        <p:spPr>
          <a:xfrm>
            <a:off x="6521900" y="3219450"/>
            <a:ext cx="2424000" cy="6441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Class Blue        (4/4)(1 - 4/4) = 0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4" name="Google Shape;1154;p77"/>
          <p:cNvSpPr/>
          <p:nvPr/>
        </p:nvSpPr>
        <p:spPr>
          <a:xfrm>
            <a:off x="6521900" y="4210050"/>
            <a:ext cx="2424000" cy="6441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Gini Impurity        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0 + 0 = 0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5" name="Google Shape;1155;p77"/>
          <p:cNvSpPr/>
          <p:nvPr/>
        </p:nvSpPr>
        <p:spPr>
          <a:xfrm>
            <a:off x="7586000" y="2915800"/>
            <a:ext cx="248100" cy="221700"/>
          </a:xfrm>
          <a:prstGeom prst="mathPlus">
            <a:avLst>
              <a:gd fmla="val 23520" name="adj1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77"/>
          <p:cNvSpPr/>
          <p:nvPr/>
        </p:nvSpPr>
        <p:spPr>
          <a:xfrm>
            <a:off x="7636100" y="3913050"/>
            <a:ext cx="147900" cy="24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7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Gini Impurity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2" name="Google Shape;1162;p7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the goal of a decision tree is to separate out classes, we can use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gini impurity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to decide on data split values.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want to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minimize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the gini impurity at leaf nodes.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Minimized impurity at leaf nodes means we are separating classes effectively!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63" name="Google Shape;1163;p7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64" name="Google Shape;1164;p7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7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Gini Impurity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0" name="Google Shape;1170;p7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the next lecture we will construct a basic example of using gini impurity from a data set to calculate feature gini impurity.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Afterwards, we’ll explore splitting various feature types and deciding which feature should be the root node.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71" name="Google Shape;1171;p7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72" name="Google Shape;1172;p7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8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8" name="Google Shape;1178;p8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Theory and Intuition: Gini Impurity in Trees</a:t>
            </a:r>
            <a:endParaRPr/>
          </a:p>
        </p:txBody>
      </p:sp>
      <p:pic>
        <p:nvPicPr>
          <p:cNvPr descr="watermark.jpg" id="1179" name="Google Shape;1179;p8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80" name="Google Shape;1180;p8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8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6" name="Google Shape;1186;p8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begin to understand how the ordering of nodes is decided and how splits are conducted within a tree.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We’ll start by exploring how a decision tree is constructed from a training data set using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gini impurity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87" name="Google Shape;1187;p8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88" name="Google Shape;1188;p8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8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4" name="Google Shape;1194;p8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When first constructing a tree, we need to decide what feature will be used as the root node.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use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gini impurity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to compare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information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contained within features for the training data.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this concept further...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95" name="Google Shape;1195;p8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96" name="Google Shape;1196;p8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8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2" name="Google Shape;1202;p8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Gini Impurity for Classification: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a set of classes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a given dataset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Q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b="1" baseline="-25000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03" name="Google Shape;1203;p8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04" name="Google Shape;1204;p8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5" name="Google Shape;1205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4049" y="2850474"/>
            <a:ext cx="4056076" cy="123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8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1" name="Google Shape;1211;p8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Gini Impurity for Classification: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a set of classes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a given dataset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Q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b="1" baseline="-25000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is probability of class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12" name="Google Shape;1212;p8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13" name="Google Shape;1213;p8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4" name="Google Shape;1214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4049" y="2850474"/>
            <a:ext cx="4056076" cy="123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5" name="Google Shape;1215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8800" y="2798299"/>
            <a:ext cx="3545518" cy="123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8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1" name="Google Shape;1221;p8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Gini Impurity for Classification: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a set of classes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a given dataset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Q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b="1" baseline="-25000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is probability of class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22" name="Google Shape;1222;p8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23" name="Google Shape;1223;p8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4" name="Google Shape;1224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4049" y="2850474"/>
            <a:ext cx="4056076" cy="123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5" name="Google Shape;1225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8800" y="2798299"/>
            <a:ext cx="3545518" cy="123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6" name="Google Shape;1226;p85"/>
          <p:cNvSpPr/>
          <p:nvPr/>
        </p:nvSpPr>
        <p:spPr>
          <a:xfrm>
            <a:off x="1125750" y="2944950"/>
            <a:ext cx="2798700" cy="1051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85"/>
          <p:cNvSpPr/>
          <p:nvPr/>
        </p:nvSpPr>
        <p:spPr>
          <a:xfrm>
            <a:off x="6485425" y="3097350"/>
            <a:ext cx="424800" cy="572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85"/>
          <p:cNvSpPr/>
          <p:nvPr/>
        </p:nvSpPr>
        <p:spPr>
          <a:xfrm>
            <a:off x="7726150" y="3176050"/>
            <a:ext cx="362100" cy="425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29" name="Google Shape;1229;p85"/>
          <p:cNvCxnSpPr>
            <a:stCxn id="1225" idx="2"/>
            <a:endCxn id="1227" idx="2"/>
          </p:cNvCxnSpPr>
          <p:nvPr/>
        </p:nvCxnSpPr>
        <p:spPr>
          <a:xfrm rot="-5400000">
            <a:off x="4242109" y="1579449"/>
            <a:ext cx="365100" cy="4546200"/>
          </a:xfrm>
          <a:prstGeom prst="curvedConnector3">
            <a:avLst>
              <a:gd fmla="val -164887" name="adj1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0" name="Google Shape;1230;p85"/>
          <p:cNvCxnSpPr>
            <a:stCxn id="1225" idx="2"/>
            <a:endCxn id="1228" idx="2"/>
          </p:cNvCxnSpPr>
          <p:nvPr/>
        </p:nvCxnSpPr>
        <p:spPr>
          <a:xfrm rot="-5400000">
            <a:off x="4812409" y="940449"/>
            <a:ext cx="433800" cy="5755500"/>
          </a:xfrm>
          <a:prstGeom prst="curvedConnector3">
            <a:avLst>
              <a:gd fmla="val -204069" name="adj1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8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6" name="Google Shape;1236;p8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take a look at this data set: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37" name="Google Shape;1237;p8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38" name="Google Shape;1238;p8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39" name="Google Shape;1239;p86"/>
          <p:cNvGraphicFramePr/>
          <p:nvPr/>
        </p:nvGraphicFramePr>
        <p:xfrm>
          <a:off x="679450" y="167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{C8394794-0641-439A-A705-68315A265B27}</a:tableStyleId>
              </a:tblPr>
              <a:tblGrid>
                <a:gridCol w="1850900"/>
                <a:gridCol w="1850900"/>
              </a:tblGrid>
              <a:tr h="35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 - URL Link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Y-Spam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5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1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8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5" name="Google Shape;1245;p8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a decision tree to predict spam.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46" name="Google Shape;1246;p8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47" name="Google Shape;1247;p8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48" name="Google Shape;1248;p87"/>
          <p:cNvGraphicFramePr/>
          <p:nvPr/>
        </p:nvGraphicFramePr>
        <p:xfrm>
          <a:off x="679450" y="167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{C8394794-0641-439A-A705-68315A265B27}</a:tableStyleId>
              </a:tblPr>
              <a:tblGrid>
                <a:gridCol w="1850900"/>
                <a:gridCol w="1850900"/>
              </a:tblGrid>
              <a:tr h="35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 - URL Link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Y-Spam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5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1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8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4" name="Google Shape;1254;p8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Only one X feature to use for a node.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55" name="Google Shape;1255;p8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56" name="Google Shape;1256;p8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57" name="Google Shape;1257;p88"/>
          <p:cNvGraphicFramePr/>
          <p:nvPr/>
        </p:nvGraphicFramePr>
        <p:xfrm>
          <a:off x="679450" y="167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{C8394794-0641-439A-A705-68315A265B27}</a:tableStyleId>
              </a:tblPr>
              <a:tblGrid>
                <a:gridCol w="1850900"/>
                <a:gridCol w="1850900"/>
              </a:tblGrid>
              <a:tr h="35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 - URL Link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Y-Spam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5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1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58" name="Google Shape;1258;p88"/>
          <p:cNvSpPr/>
          <p:nvPr/>
        </p:nvSpPr>
        <p:spPr>
          <a:xfrm>
            <a:off x="6410425" y="1874250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URL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8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4" name="Google Shape;1264;p8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Predict if email is spam if it contains a URL: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65" name="Google Shape;1265;p8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66" name="Google Shape;1266;p8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67" name="Google Shape;1267;p89"/>
          <p:cNvGraphicFramePr/>
          <p:nvPr/>
        </p:nvGraphicFramePr>
        <p:xfrm>
          <a:off x="679450" y="167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{C8394794-0641-439A-A705-68315A265B27}</a:tableStyleId>
              </a:tblPr>
              <a:tblGrid>
                <a:gridCol w="1850900"/>
                <a:gridCol w="1850900"/>
              </a:tblGrid>
              <a:tr h="35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 - URL Link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Y-Spam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5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1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68" name="Google Shape;1268;p89"/>
          <p:cNvSpPr/>
          <p:nvPr/>
        </p:nvSpPr>
        <p:spPr>
          <a:xfrm>
            <a:off x="6410425" y="1874250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URL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69" name="Google Shape;1269;p89"/>
          <p:cNvCxnSpPr/>
          <p:nvPr/>
        </p:nvCxnSpPr>
        <p:spPr>
          <a:xfrm flipH="1">
            <a:off x="5896675" y="2446950"/>
            <a:ext cx="958800" cy="6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0" name="Google Shape;1270;p89"/>
          <p:cNvSpPr txBox="1"/>
          <p:nvPr/>
        </p:nvSpPr>
        <p:spPr>
          <a:xfrm>
            <a:off x="6011025" y="24345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  <p:cxnSp>
        <p:nvCxnSpPr>
          <p:cNvPr id="1271" name="Google Shape;1271;p89"/>
          <p:cNvCxnSpPr/>
          <p:nvPr/>
        </p:nvCxnSpPr>
        <p:spPr>
          <a:xfrm>
            <a:off x="6855475" y="2446950"/>
            <a:ext cx="1431000" cy="6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2" name="Google Shape;1272;p89"/>
          <p:cNvSpPr txBox="1"/>
          <p:nvPr/>
        </p:nvSpPr>
        <p:spPr>
          <a:xfrm>
            <a:off x="7523275" y="24345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9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8" name="Google Shape;1278;p9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Predict if email is spam if it contains a URL: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79" name="Google Shape;1279;p9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80" name="Google Shape;1280;p9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81" name="Google Shape;1281;p90"/>
          <p:cNvGraphicFramePr/>
          <p:nvPr/>
        </p:nvGraphicFramePr>
        <p:xfrm>
          <a:off x="679450" y="167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{C8394794-0641-439A-A705-68315A265B27}</a:tableStyleId>
              </a:tblPr>
              <a:tblGrid>
                <a:gridCol w="1850900"/>
                <a:gridCol w="1850900"/>
              </a:tblGrid>
              <a:tr h="35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 - URL Link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Y-Spam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5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306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0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1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sp>
        <p:nvSpPr>
          <p:cNvPr id="1282" name="Google Shape;1282;p90"/>
          <p:cNvSpPr/>
          <p:nvPr/>
        </p:nvSpPr>
        <p:spPr>
          <a:xfrm>
            <a:off x="6410425" y="1874250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URL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83" name="Google Shape;1283;p90"/>
          <p:cNvCxnSpPr>
            <a:stCxn id="1282" idx="2"/>
            <a:endCxn id="1284" idx="0"/>
          </p:cNvCxnSpPr>
          <p:nvPr/>
        </p:nvCxnSpPr>
        <p:spPr>
          <a:xfrm flipH="1">
            <a:off x="5896675" y="2446950"/>
            <a:ext cx="958800" cy="6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84" name="Google Shape;1284;p90"/>
          <p:cNvSpPr/>
          <p:nvPr/>
        </p:nvSpPr>
        <p:spPr>
          <a:xfrm>
            <a:off x="5180950" y="3051325"/>
            <a:ext cx="1431300" cy="9597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Spam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Yes: 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No: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5" name="Google Shape;1285;p90"/>
          <p:cNvSpPr txBox="1"/>
          <p:nvPr/>
        </p:nvSpPr>
        <p:spPr>
          <a:xfrm>
            <a:off x="6011025" y="24345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9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1" name="Google Shape;1291;p9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Predict if email is spam if it contains a URL: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92" name="Google Shape;1292;p9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93" name="Google Shape;1293;p9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94" name="Google Shape;1294;p91"/>
          <p:cNvGraphicFramePr/>
          <p:nvPr/>
        </p:nvGraphicFramePr>
        <p:xfrm>
          <a:off x="679450" y="167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{C8394794-0641-439A-A705-68315A265B27}</a:tableStyleId>
              </a:tblPr>
              <a:tblGrid>
                <a:gridCol w="1850900"/>
                <a:gridCol w="1850900"/>
              </a:tblGrid>
              <a:tr h="35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 - URL Link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Y-Spam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5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307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61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95" name="Google Shape;1295;p91"/>
          <p:cNvSpPr/>
          <p:nvPr/>
        </p:nvSpPr>
        <p:spPr>
          <a:xfrm>
            <a:off x="6410425" y="1874250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URL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96" name="Google Shape;1296;p91"/>
          <p:cNvCxnSpPr>
            <a:stCxn id="1295" idx="2"/>
            <a:endCxn id="1297" idx="0"/>
          </p:cNvCxnSpPr>
          <p:nvPr/>
        </p:nvCxnSpPr>
        <p:spPr>
          <a:xfrm flipH="1">
            <a:off x="5896675" y="2446950"/>
            <a:ext cx="958800" cy="6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97" name="Google Shape;1297;p91"/>
          <p:cNvSpPr/>
          <p:nvPr/>
        </p:nvSpPr>
        <p:spPr>
          <a:xfrm>
            <a:off x="5180950" y="3051325"/>
            <a:ext cx="1431300" cy="9597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Spam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Yes: 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No: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8" name="Google Shape;1298;p91"/>
          <p:cNvSpPr txBox="1"/>
          <p:nvPr/>
        </p:nvSpPr>
        <p:spPr>
          <a:xfrm>
            <a:off x="6011025" y="24345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  <p:cxnSp>
        <p:nvCxnSpPr>
          <p:cNvPr id="1299" name="Google Shape;1299;p91"/>
          <p:cNvCxnSpPr/>
          <p:nvPr/>
        </p:nvCxnSpPr>
        <p:spPr>
          <a:xfrm>
            <a:off x="6855475" y="2446950"/>
            <a:ext cx="1431000" cy="6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00" name="Google Shape;1300;p91"/>
          <p:cNvSpPr txBox="1"/>
          <p:nvPr/>
        </p:nvSpPr>
        <p:spPr>
          <a:xfrm>
            <a:off x="7523275" y="24345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sp>
        <p:nvSpPr>
          <p:cNvPr id="1301" name="Google Shape;1301;p91"/>
          <p:cNvSpPr/>
          <p:nvPr/>
        </p:nvSpPr>
        <p:spPr>
          <a:xfrm>
            <a:off x="7570675" y="3051325"/>
            <a:ext cx="1431300" cy="915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Spam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Yes: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No: 3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9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7" name="Google Shape;1307;p9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Predict if email is spam if it contains a URL: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08" name="Google Shape;1308;p9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09" name="Google Shape;1309;p9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10" name="Google Shape;1310;p92"/>
          <p:cNvGraphicFramePr/>
          <p:nvPr/>
        </p:nvGraphicFramePr>
        <p:xfrm>
          <a:off x="679450" y="167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{C8394794-0641-439A-A705-68315A265B27}</a:tableStyleId>
              </a:tblPr>
              <a:tblGrid>
                <a:gridCol w="1850900"/>
                <a:gridCol w="1850900"/>
              </a:tblGrid>
              <a:tr h="35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 - URL Link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Y-Spam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5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1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11" name="Google Shape;1311;p92"/>
          <p:cNvSpPr/>
          <p:nvPr/>
        </p:nvSpPr>
        <p:spPr>
          <a:xfrm>
            <a:off x="6410425" y="1874250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URL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12" name="Google Shape;1312;p92"/>
          <p:cNvCxnSpPr>
            <a:stCxn id="1311" idx="2"/>
            <a:endCxn id="1313" idx="0"/>
          </p:cNvCxnSpPr>
          <p:nvPr/>
        </p:nvCxnSpPr>
        <p:spPr>
          <a:xfrm flipH="1">
            <a:off x="5896675" y="2446950"/>
            <a:ext cx="958800" cy="6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13" name="Google Shape;1313;p92"/>
          <p:cNvSpPr/>
          <p:nvPr/>
        </p:nvSpPr>
        <p:spPr>
          <a:xfrm>
            <a:off x="5180950" y="3051325"/>
            <a:ext cx="1431300" cy="9597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Spam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Yes: 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No: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4" name="Google Shape;1314;p92"/>
          <p:cNvSpPr txBox="1"/>
          <p:nvPr/>
        </p:nvSpPr>
        <p:spPr>
          <a:xfrm>
            <a:off x="6011025" y="24345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  <p:cxnSp>
        <p:nvCxnSpPr>
          <p:cNvPr id="1315" name="Google Shape;1315;p92"/>
          <p:cNvCxnSpPr/>
          <p:nvPr/>
        </p:nvCxnSpPr>
        <p:spPr>
          <a:xfrm>
            <a:off x="6855475" y="2446950"/>
            <a:ext cx="1431000" cy="6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16" name="Google Shape;1316;p92"/>
          <p:cNvSpPr txBox="1"/>
          <p:nvPr/>
        </p:nvSpPr>
        <p:spPr>
          <a:xfrm>
            <a:off x="7523275" y="24345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sp>
        <p:nvSpPr>
          <p:cNvPr id="1317" name="Google Shape;1317;p92"/>
          <p:cNvSpPr/>
          <p:nvPr/>
        </p:nvSpPr>
        <p:spPr>
          <a:xfrm>
            <a:off x="7570675" y="3051325"/>
            <a:ext cx="1431300" cy="9150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Spam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Yes: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No: 3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9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3" name="Google Shape;1323;p9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Recall the gini impurity formula: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24" name="Google Shape;1324;p9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25" name="Google Shape;1325;p9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26" name="Google Shape;1326;p93"/>
          <p:cNvGraphicFramePr/>
          <p:nvPr/>
        </p:nvGraphicFramePr>
        <p:xfrm>
          <a:off x="679450" y="167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{C8394794-0641-439A-A705-68315A265B27}</a:tableStyleId>
              </a:tblPr>
              <a:tblGrid>
                <a:gridCol w="1850900"/>
                <a:gridCol w="1850900"/>
              </a:tblGrid>
              <a:tr h="35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 - URL Link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Y-Spam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5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1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27" name="Google Shape;1327;p93"/>
          <p:cNvSpPr/>
          <p:nvPr/>
        </p:nvSpPr>
        <p:spPr>
          <a:xfrm>
            <a:off x="6410425" y="1874250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URL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28" name="Google Shape;1328;p93"/>
          <p:cNvCxnSpPr>
            <a:stCxn id="1327" idx="2"/>
            <a:endCxn id="1329" idx="0"/>
          </p:cNvCxnSpPr>
          <p:nvPr/>
        </p:nvCxnSpPr>
        <p:spPr>
          <a:xfrm flipH="1">
            <a:off x="5896675" y="2446950"/>
            <a:ext cx="958800" cy="6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29" name="Google Shape;1329;p93"/>
          <p:cNvSpPr/>
          <p:nvPr/>
        </p:nvSpPr>
        <p:spPr>
          <a:xfrm>
            <a:off x="5180950" y="3051325"/>
            <a:ext cx="1431300" cy="9597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Spam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Yes: 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No: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0" name="Google Shape;1330;p93"/>
          <p:cNvSpPr txBox="1"/>
          <p:nvPr/>
        </p:nvSpPr>
        <p:spPr>
          <a:xfrm>
            <a:off x="6011025" y="24345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  <p:cxnSp>
        <p:nvCxnSpPr>
          <p:cNvPr id="1331" name="Google Shape;1331;p93"/>
          <p:cNvCxnSpPr/>
          <p:nvPr/>
        </p:nvCxnSpPr>
        <p:spPr>
          <a:xfrm>
            <a:off x="6855475" y="2446950"/>
            <a:ext cx="1431000" cy="6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32" name="Google Shape;1332;p93"/>
          <p:cNvSpPr txBox="1"/>
          <p:nvPr/>
        </p:nvSpPr>
        <p:spPr>
          <a:xfrm>
            <a:off x="7523275" y="24345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sp>
        <p:nvSpPr>
          <p:cNvPr id="1333" name="Google Shape;1333;p93"/>
          <p:cNvSpPr/>
          <p:nvPr/>
        </p:nvSpPr>
        <p:spPr>
          <a:xfrm>
            <a:off x="7570675" y="3051325"/>
            <a:ext cx="1431300" cy="9150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Spam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Yes: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No: 3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34" name="Google Shape;1334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5846" y="4057775"/>
            <a:ext cx="3396980" cy="103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9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0" name="Google Shape;1340;p94"/>
          <p:cNvSpPr txBox="1"/>
          <p:nvPr>
            <p:ph idx="1" type="body"/>
          </p:nvPr>
        </p:nvSpPr>
        <p:spPr>
          <a:xfrm>
            <a:off x="311700" y="1152475"/>
            <a:ext cx="86841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Treat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Yes Spam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 Spam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classes: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41" name="Google Shape;1341;p9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42" name="Google Shape;1342;p9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43" name="Google Shape;1343;p94"/>
          <p:cNvSpPr/>
          <p:nvPr/>
        </p:nvSpPr>
        <p:spPr>
          <a:xfrm>
            <a:off x="6410425" y="1874250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URL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44" name="Google Shape;1344;p94"/>
          <p:cNvCxnSpPr>
            <a:stCxn id="1343" idx="2"/>
            <a:endCxn id="1345" idx="0"/>
          </p:cNvCxnSpPr>
          <p:nvPr/>
        </p:nvCxnSpPr>
        <p:spPr>
          <a:xfrm flipH="1">
            <a:off x="5896675" y="2446950"/>
            <a:ext cx="958800" cy="6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45" name="Google Shape;1345;p94"/>
          <p:cNvSpPr/>
          <p:nvPr/>
        </p:nvSpPr>
        <p:spPr>
          <a:xfrm>
            <a:off x="5180950" y="3051325"/>
            <a:ext cx="1431300" cy="959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Spam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Yes: 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No: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46" name="Google Shape;1346;p94"/>
          <p:cNvCxnSpPr>
            <a:stCxn id="1343" idx="2"/>
            <a:endCxn id="1347" idx="0"/>
          </p:cNvCxnSpPr>
          <p:nvPr/>
        </p:nvCxnSpPr>
        <p:spPr>
          <a:xfrm>
            <a:off x="6855475" y="2446950"/>
            <a:ext cx="1431000" cy="6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47" name="Google Shape;1347;p94"/>
          <p:cNvSpPr/>
          <p:nvPr/>
        </p:nvSpPr>
        <p:spPr>
          <a:xfrm>
            <a:off x="7570675" y="3051325"/>
            <a:ext cx="1431300" cy="915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Spam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Yes: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No: 3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8" name="Google Shape;1348;p94"/>
          <p:cNvSpPr txBox="1"/>
          <p:nvPr/>
        </p:nvSpPr>
        <p:spPr>
          <a:xfrm>
            <a:off x="6011025" y="24345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  <p:sp>
        <p:nvSpPr>
          <p:cNvPr id="1349" name="Google Shape;1349;p94"/>
          <p:cNvSpPr txBox="1"/>
          <p:nvPr/>
        </p:nvSpPr>
        <p:spPr>
          <a:xfrm>
            <a:off x="7523275" y="24345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pic>
        <p:nvPicPr>
          <p:cNvPr id="1350" name="Google Shape;1350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5846" y="4057775"/>
            <a:ext cx="3396980" cy="103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1" name="Google Shape;1351;p94"/>
          <p:cNvSpPr txBox="1"/>
          <p:nvPr>
            <p:ph idx="1" type="body"/>
          </p:nvPr>
        </p:nvSpPr>
        <p:spPr>
          <a:xfrm>
            <a:off x="311700" y="1762075"/>
            <a:ext cx="86841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p9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7" name="Google Shape;1357;p95"/>
          <p:cNvSpPr txBox="1"/>
          <p:nvPr>
            <p:ph idx="1" type="body"/>
          </p:nvPr>
        </p:nvSpPr>
        <p:spPr>
          <a:xfrm>
            <a:off x="311700" y="1152475"/>
            <a:ext cx="86841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Treat Yes Spam and No Spam as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classes: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58" name="Google Shape;1358;p9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59" name="Google Shape;1359;p9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60" name="Google Shape;1360;p95"/>
          <p:cNvSpPr/>
          <p:nvPr/>
        </p:nvSpPr>
        <p:spPr>
          <a:xfrm>
            <a:off x="6410425" y="1874250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URL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61" name="Google Shape;1361;p95"/>
          <p:cNvCxnSpPr>
            <a:stCxn id="1360" idx="2"/>
            <a:endCxn id="1362" idx="0"/>
          </p:cNvCxnSpPr>
          <p:nvPr/>
        </p:nvCxnSpPr>
        <p:spPr>
          <a:xfrm flipH="1">
            <a:off x="5896675" y="2446950"/>
            <a:ext cx="958800" cy="6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2" name="Google Shape;1362;p95"/>
          <p:cNvSpPr/>
          <p:nvPr/>
        </p:nvSpPr>
        <p:spPr>
          <a:xfrm>
            <a:off x="5180950" y="3051325"/>
            <a:ext cx="1431300" cy="959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Spam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Yes: 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No: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63" name="Google Shape;1363;p95"/>
          <p:cNvCxnSpPr>
            <a:stCxn id="1360" idx="2"/>
            <a:endCxn id="1364" idx="0"/>
          </p:cNvCxnSpPr>
          <p:nvPr/>
        </p:nvCxnSpPr>
        <p:spPr>
          <a:xfrm>
            <a:off x="6855475" y="2446950"/>
            <a:ext cx="1431000" cy="6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4" name="Google Shape;1364;p95"/>
          <p:cNvSpPr/>
          <p:nvPr/>
        </p:nvSpPr>
        <p:spPr>
          <a:xfrm>
            <a:off x="7570675" y="3051325"/>
            <a:ext cx="1431300" cy="915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Spam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Yes: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No: 3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5" name="Google Shape;1365;p95"/>
          <p:cNvSpPr txBox="1"/>
          <p:nvPr/>
        </p:nvSpPr>
        <p:spPr>
          <a:xfrm>
            <a:off x="6011025" y="24345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  <p:sp>
        <p:nvSpPr>
          <p:cNvPr id="1366" name="Google Shape;1366;p95"/>
          <p:cNvSpPr txBox="1"/>
          <p:nvPr/>
        </p:nvSpPr>
        <p:spPr>
          <a:xfrm>
            <a:off x="7523275" y="24345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pic>
        <p:nvPicPr>
          <p:cNvPr id="1367" name="Google Shape;1367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5846" y="4057775"/>
            <a:ext cx="3396980" cy="103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8" name="Google Shape;1368;p95"/>
          <p:cNvSpPr txBox="1"/>
          <p:nvPr>
            <p:ph idx="1" type="body"/>
          </p:nvPr>
        </p:nvSpPr>
        <p:spPr>
          <a:xfrm>
            <a:off x="311700" y="1762075"/>
            <a:ext cx="86841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Left Leaf Node: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(⅔)(1-⅔)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p9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4" name="Google Shape;1374;p96"/>
          <p:cNvSpPr txBox="1"/>
          <p:nvPr>
            <p:ph idx="1" type="body"/>
          </p:nvPr>
        </p:nvSpPr>
        <p:spPr>
          <a:xfrm>
            <a:off x="311700" y="1152475"/>
            <a:ext cx="86841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Treat Yes Spam and No Spam as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classes: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75" name="Google Shape;1375;p9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76" name="Google Shape;1376;p9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77" name="Google Shape;1377;p96"/>
          <p:cNvSpPr/>
          <p:nvPr/>
        </p:nvSpPr>
        <p:spPr>
          <a:xfrm>
            <a:off x="6410425" y="1874250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URL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78" name="Google Shape;1378;p96"/>
          <p:cNvCxnSpPr>
            <a:stCxn id="1377" idx="2"/>
            <a:endCxn id="1379" idx="0"/>
          </p:cNvCxnSpPr>
          <p:nvPr/>
        </p:nvCxnSpPr>
        <p:spPr>
          <a:xfrm flipH="1">
            <a:off x="5896675" y="2446950"/>
            <a:ext cx="958800" cy="6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9" name="Google Shape;1379;p96"/>
          <p:cNvSpPr/>
          <p:nvPr/>
        </p:nvSpPr>
        <p:spPr>
          <a:xfrm>
            <a:off x="5180950" y="3051325"/>
            <a:ext cx="1431300" cy="959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Spam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Yes: 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No: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80" name="Google Shape;1380;p96"/>
          <p:cNvCxnSpPr>
            <a:stCxn id="1377" idx="2"/>
            <a:endCxn id="1381" idx="0"/>
          </p:cNvCxnSpPr>
          <p:nvPr/>
        </p:nvCxnSpPr>
        <p:spPr>
          <a:xfrm>
            <a:off x="6855475" y="2446950"/>
            <a:ext cx="1431000" cy="6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81" name="Google Shape;1381;p96"/>
          <p:cNvSpPr/>
          <p:nvPr/>
        </p:nvSpPr>
        <p:spPr>
          <a:xfrm>
            <a:off x="7570675" y="3051325"/>
            <a:ext cx="1431300" cy="915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Spam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Yes: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No: 3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2" name="Google Shape;1382;p96"/>
          <p:cNvSpPr txBox="1"/>
          <p:nvPr/>
        </p:nvSpPr>
        <p:spPr>
          <a:xfrm>
            <a:off x="6011025" y="24345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  <p:sp>
        <p:nvSpPr>
          <p:cNvPr id="1383" name="Google Shape;1383;p96"/>
          <p:cNvSpPr txBox="1"/>
          <p:nvPr/>
        </p:nvSpPr>
        <p:spPr>
          <a:xfrm>
            <a:off x="7523275" y="24345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pic>
        <p:nvPicPr>
          <p:cNvPr id="1384" name="Google Shape;1384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5846" y="4057775"/>
            <a:ext cx="3396980" cy="103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5" name="Google Shape;1385;p96"/>
          <p:cNvSpPr txBox="1"/>
          <p:nvPr>
            <p:ph idx="1" type="body"/>
          </p:nvPr>
        </p:nvSpPr>
        <p:spPr>
          <a:xfrm>
            <a:off x="311700" y="1762075"/>
            <a:ext cx="86841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Left Leaf Node: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(⅔)(1-⅔) + (⅓)(1-⅓)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p9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1" name="Google Shape;1391;p97"/>
          <p:cNvSpPr txBox="1"/>
          <p:nvPr>
            <p:ph idx="1" type="body"/>
          </p:nvPr>
        </p:nvSpPr>
        <p:spPr>
          <a:xfrm>
            <a:off x="311700" y="1152475"/>
            <a:ext cx="86841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Treat Yes Spam and No Spam as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classes: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92" name="Google Shape;1392;p9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93" name="Google Shape;1393;p9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94" name="Google Shape;1394;p97"/>
          <p:cNvSpPr/>
          <p:nvPr/>
        </p:nvSpPr>
        <p:spPr>
          <a:xfrm>
            <a:off x="6410425" y="1874250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URL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95" name="Google Shape;1395;p97"/>
          <p:cNvCxnSpPr>
            <a:stCxn id="1394" idx="2"/>
            <a:endCxn id="1396" idx="0"/>
          </p:cNvCxnSpPr>
          <p:nvPr/>
        </p:nvCxnSpPr>
        <p:spPr>
          <a:xfrm flipH="1">
            <a:off x="5896675" y="2446950"/>
            <a:ext cx="958800" cy="6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96" name="Google Shape;1396;p97"/>
          <p:cNvSpPr/>
          <p:nvPr/>
        </p:nvSpPr>
        <p:spPr>
          <a:xfrm>
            <a:off x="5180950" y="3051325"/>
            <a:ext cx="1431300" cy="959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Spam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Yes: 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No: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97" name="Google Shape;1397;p97"/>
          <p:cNvCxnSpPr>
            <a:stCxn id="1394" idx="2"/>
            <a:endCxn id="1398" idx="0"/>
          </p:cNvCxnSpPr>
          <p:nvPr/>
        </p:nvCxnSpPr>
        <p:spPr>
          <a:xfrm>
            <a:off x="6855475" y="2446950"/>
            <a:ext cx="1431000" cy="6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98" name="Google Shape;1398;p97"/>
          <p:cNvSpPr/>
          <p:nvPr/>
        </p:nvSpPr>
        <p:spPr>
          <a:xfrm>
            <a:off x="7570675" y="3051325"/>
            <a:ext cx="1431300" cy="915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Spam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Yes: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No: 3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9" name="Google Shape;1399;p97"/>
          <p:cNvSpPr txBox="1"/>
          <p:nvPr/>
        </p:nvSpPr>
        <p:spPr>
          <a:xfrm>
            <a:off x="6011025" y="24345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  <p:sp>
        <p:nvSpPr>
          <p:cNvPr id="1400" name="Google Shape;1400;p97"/>
          <p:cNvSpPr txBox="1"/>
          <p:nvPr/>
        </p:nvSpPr>
        <p:spPr>
          <a:xfrm>
            <a:off x="7523275" y="24345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pic>
        <p:nvPicPr>
          <p:cNvPr id="1401" name="Google Shape;1401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5846" y="4057775"/>
            <a:ext cx="3396980" cy="103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2" name="Google Shape;1402;p97"/>
          <p:cNvSpPr txBox="1"/>
          <p:nvPr>
            <p:ph idx="1" type="body"/>
          </p:nvPr>
        </p:nvSpPr>
        <p:spPr>
          <a:xfrm>
            <a:off x="311700" y="1762075"/>
            <a:ext cx="86841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Left Leaf Node: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(⅔)(1-⅔) + (⅓)(1-⅓)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Left Leaf Gini=0.44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9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8" name="Google Shape;1408;p98"/>
          <p:cNvSpPr txBox="1"/>
          <p:nvPr>
            <p:ph idx="1" type="body"/>
          </p:nvPr>
        </p:nvSpPr>
        <p:spPr>
          <a:xfrm>
            <a:off x="311700" y="1152475"/>
            <a:ext cx="86841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Treat Yes Spam and No Spam as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classes: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09" name="Google Shape;1409;p9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10" name="Google Shape;1410;p9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411" name="Google Shape;1411;p98"/>
          <p:cNvSpPr/>
          <p:nvPr/>
        </p:nvSpPr>
        <p:spPr>
          <a:xfrm>
            <a:off x="6410425" y="1874250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URL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12" name="Google Shape;1412;p98"/>
          <p:cNvCxnSpPr>
            <a:stCxn id="1411" idx="2"/>
            <a:endCxn id="1413" idx="0"/>
          </p:cNvCxnSpPr>
          <p:nvPr/>
        </p:nvCxnSpPr>
        <p:spPr>
          <a:xfrm flipH="1">
            <a:off x="5896675" y="2446950"/>
            <a:ext cx="958800" cy="6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13" name="Google Shape;1413;p98"/>
          <p:cNvSpPr/>
          <p:nvPr/>
        </p:nvSpPr>
        <p:spPr>
          <a:xfrm>
            <a:off x="5180950" y="3051325"/>
            <a:ext cx="1431300" cy="959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Spam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Yes: 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No: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14" name="Google Shape;1414;p98"/>
          <p:cNvCxnSpPr>
            <a:stCxn id="1411" idx="2"/>
            <a:endCxn id="1415" idx="0"/>
          </p:cNvCxnSpPr>
          <p:nvPr/>
        </p:nvCxnSpPr>
        <p:spPr>
          <a:xfrm>
            <a:off x="6855475" y="2446950"/>
            <a:ext cx="1431000" cy="6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15" name="Google Shape;1415;p98"/>
          <p:cNvSpPr/>
          <p:nvPr/>
        </p:nvSpPr>
        <p:spPr>
          <a:xfrm>
            <a:off x="7570675" y="3051325"/>
            <a:ext cx="1431300" cy="915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Spam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Yes: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No: 3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6" name="Google Shape;1416;p98"/>
          <p:cNvSpPr txBox="1"/>
          <p:nvPr/>
        </p:nvSpPr>
        <p:spPr>
          <a:xfrm>
            <a:off x="6011025" y="24345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  <p:sp>
        <p:nvSpPr>
          <p:cNvPr id="1417" name="Google Shape;1417;p98"/>
          <p:cNvSpPr txBox="1"/>
          <p:nvPr/>
        </p:nvSpPr>
        <p:spPr>
          <a:xfrm>
            <a:off x="7523275" y="24345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pic>
        <p:nvPicPr>
          <p:cNvPr id="1418" name="Google Shape;1418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5846" y="4057775"/>
            <a:ext cx="3396980" cy="103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9" name="Google Shape;1419;p98"/>
          <p:cNvSpPr txBox="1"/>
          <p:nvPr>
            <p:ph idx="1" type="body"/>
          </p:nvPr>
        </p:nvSpPr>
        <p:spPr>
          <a:xfrm>
            <a:off x="311700" y="1762075"/>
            <a:ext cx="86841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Left Leaf Node: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(⅔)(1-⅔) + (⅓)(1-⅓)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Left Leaf Gini=0.44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Right Leaf Node: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(¼)(1-¼) + (¾)(1-¾)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Right Leaf Gini=0.375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p9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5" name="Google Shape;1425;p99"/>
          <p:cNvSpPr txBox="1"/>
          <p:nvPr>
            <p:ph idx="1" type="body"/>
          </p:nvPr>
        </p:nvSpPr>
        <p:spPr>
          <a:xfrm>
            <a:off x="311700" y="1152475"/>
            <a:ext cx="86841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calculate gini impurity of URL feature.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26" name="Google Shape;1426;p9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27" name="Google Shape;1427;p9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99"/>
          <p:cNvSpPr/>
          <p:nvPr/>
        </p:nvSpPr>
        <p:spPr>
          <a:xfrm>
            <a:off x="6410425" y="1874250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URL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29" name="Google Shape;1429;p99"/>
          <p:cNvCxnSpPr>
            <a:stCxn id="1428" idx="2"/>
            <a:endCxn id="1430" idx="0"/>
          </p:cNvCxnSpPr>
          <p:nvPr/>
        </p:nvCxnSpPr>
        <p:spPr>
          <a:xfrm flipH="1">
            <a:off x="5896675" y="2446950"/>
            <a:ext cx="958800" cy="6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0" name="Google Shape;1430;p99"/>
          <p:cNvSpPr/>
          <p:nvPr/>
        </p:nvSpPr>
        <p:spPr>
          <a:xfrm>
            <a:off x="5180950" y="3051325"/>
            <a:ext cx="1431300" cy="959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Spam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Yes: 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No: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31" name="Google Shape;1431;p99"/>
          <p:cNvCxnSpPr>
            <a:stCxn id="1428" idx="2"/>
            <a:endCxn id="1432" idx="0"/>
          </p:cNvCxnSpPr>
          <p:nvPr/>
        </p:nvCxnSpPr>
        <p:spPr>
          <a:xfrm>
            <a:off x="6855475" y="2446950"/>
            <a:ext cx="1431000" cy="6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2" name="Google Shape;1432;p99"/>
          <p:cNvSpPr/>
          <p:nvPr/>
        </p:nvSpPr>
        <p:spPr>
          <a:xfrm>
            <a:off x="7570675" y="3051325"/>
            <a:ext cx="1431300" cy="915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Spam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Yes: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No: 3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3" name="Google Shape;1433;p99"/>
          <p:cNvSpPr txBox="1"/>
          <p:nvPr/>
        </p:nvSpPr>
        <p:spPr>
          <a:xfrm>
            <a:off x="6011025" y="24345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  <p:sp>
        <p:nvSpPr>
          <p:cNvPr id="1434" name="Google Shape;1434;p99"/>
          <p:cNvSpPr txBox="1"/>
          <p:nvPr/>
        </p:nvSpPr>
        <p:spPr>
          <a:xfrm>
            <a:off x="7523275" y="24345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pic>
        <p:nvPicPr>
          <p:cNvPr id="1435" name="Google Shape;1435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5846" y="4057775"/>
            <a:ext cx="3396980" cy="103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99"/>
          <p:cNvSpPr txBox="1"/>
          <p:nvPr>
            <p:ph idx="1" type="body"/>
          </p:nvPr>
        </p:nvSpPr>
        <p:spPr>
          <a:xfrm>
            <a:off x="311700" y="1762075"/>
            <a:ext cx="86841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Weighted Average of both: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Left Leaf Gini=0.44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Right Leaf Gini=0.375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10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2" name="Google Shape;1442;p100"/>
          <p:cNvSpPr txBox="1"/>
          <p:nvPr>
            <p:ph idx="1" type="body"/>
          </p:nvPr>
        </p:nvSpPr>
        <p:spPr>
          <a:xfrm>
            <a:off x="311700" y="1152475"/>
            <a:ext cx="86841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Total Emails: (2+1) + (1+3) = 7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43" name="Google Shape;1443;p10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44" name="Google Shape;1444;p10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445" name="Google Shape;1445;p100"/>
          <p:cNvSpPr/>
          <p:nvPr/>
        </p:nvSpPr>
        <p:spPr>
          <a:xfrm>
            <a:off x="6410425" y="1874250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URL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46" name="Google Shape;1446;p100"/>
          <p:cNvCxnSpPr>
            <a:stCxn id="1445" idx="2"/>
            <a:endCxn id="1447" idx="0"/>
          </p:cNvCxnSpPr>
          <p:nvPr/>
        </p:nvCxnSpPr>
        <p:spPr>
          <a:xfrm flipH="1">
            <a:off x="5896675" y="2446950"/>
            <a:ext cx="958800" cy="6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7" name="Google Shape;1447;p100"/>
          <p:cNvSpPr/>
          <p:nvPr/>
        </p:nvSpPr>
        <p:spPr>
          <a:xfrm>
            <a:off x="5180950" y="3051325"/>
            <a:ext cx="1431300" cy="959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Spam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Yes: 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No: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48" name="Google Shape;1448;p100"/>
          <p:cNvCxnSpPr>
            <a:stCxn id="1445" idx="2"/>
            <a:endCxn id="1449" idx="0"/>
          </p:cNvCxnSpPr>
          <p:nvPr/>
        </p:nvCxnSpPr>
        <p:spPr>
          <a:xfrm>
            <a:off x="6855475" y="2446950"/>
            <a:ext cx="1431000" cy="6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9" name="Google Shape;1449;p100"/>
          <p:cNvSpPr/>
          <p:nvPr/>
        </p:nvSpPr>
        <p:spPr>
          <a:xfrm>
            <a:off x="7570675" y="3051325"/>
            <a:ext cx="1431300" cy="915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Spam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Yes: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No: 3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0" name="Google Shape;1450;p100"/>
          <p:cNvSpPr txBox="1"/>
          <p:nvPr/>
        </p:nvSpPr>
        <p:spPr>
          <a:xfrm>
            <a:off x="6011025" y="24345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  <p:sp>
        <p:nvSpPr>
          <p:cNvPr id="1451" name="Google Shape;1451;p100"/>
          <p:cNvSpPr txBox="1"/>
          <p:nvPr/>
        </p:nvSpPr>
        <p:spPr>
          <a:xfrm>
            <a:off x="7523275" y="24345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pic>
        <p:nvPicPr>
          <p:cNvPr id="1452" name="Google Shape;1452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5846" y="4057775"/>
            <a:ext cx="3396980" cy="103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3" name="Google Shape;1453;p100"/>
          <p:cNvSpPr txBox="1"/>
          <p:nvPr>
            <p:ph idx="1" type="body"/>
          </p:nvPr>
        </p:nvSpPr>
        <p:spPr>
          <a:xfrm>
            <a:off x="311700" y="1762075"/>
            <a:ext cx="86841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Left Leaf Gini=0.44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Right Leaf Gini=0.375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10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9" name="Google Shape;1459;p101"/>
          <p:cNvSpPr txBox="1"/>
          <p:nvPr>
            <p:ph idx="1" type="body"/>
          </p:nvPr>
        </p:nvSpPr>
        <p:spPr>
          <a:xfrm>
            <a:off x="311700" y="1152475"/>
            <a:ext cx="86841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Total Emails: (2+1) + (1+3) = 7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Left Leaf Gini=0.44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Right Leaf Gini=0.375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Left Emails: 3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Right Emails: 4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60" name="Google Shape;1460;p10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61" name="Google Shape;1461;p10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462" name="Google Shape;1462;p101"/>
          <p:cNvSpPr/>
          <p:nvPr/>
        </p:nvSpPr>
        <p:spPr>
          <a:xfrm>
            <a:off x="6410425" y="1874250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URL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63" name="Google Shape;1463;p101"/>
          <p:cNvCxnSpPr>
            <a:stCxn id="1462" idx="2"/>
            <a:endCxn id="1464" idx="0"/>
          </p:cNvCxnSpPr>
          <p:nvPr/>
        </p:nvCxnSpPr>
        <p:spPr>
          <a:xfrm flipH="1">
            <a:off x="5896675" y="2446950"/>
            <a:ext cx="958800" cy="6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4" name="Google Shape;1464;p101"/>
          <p:cNvSpPr/>
          <p:nvPr/>
        </p:nvSpPr>
        <p:spPr>
          <a:xfrm>
            <a:off x="5180950" y="3051325"/>
            <a:ext cx="1431300" cy="959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Spam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Yes: 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No: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65" name="Google Shape;1465;p101"/>
          <p:cNvCxnSpPr>
            <a:stCxn id="1462" idx="2"/>
            <a:endCxn id="1466" idx="0"/>
          </p:cNvCxnSpPr>
          <p:nvPr/>
        </p:nvCxnSpPr>
        <p:spPr>
          <a:xfrm>
            <a:off x="6855475" y="2446950"/>
            <a:ext cx="1431000" cy="6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6" name="Google Shape;1466;p101"/>
          <p:cNvSpPr/>
          <p:nvPr/>
        </p:nvSpPr>
        <p:spPr>
          <a:xfrm>
            <a:off x="7570675" y="3051325"/>
            <a:ext cx="1431300" cy="915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Spam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Yes: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No: 3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7" name="Google Shape;1467;p101"/>
          <p:cNvSpPr txBox="1"/>
          <p:nvPr/>
        </p:nvSpPr>
        <p:spPr>
          <a:xfrm>
            <a:off x="6011025" y="24345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  <p:sp>
        <p:nvSpPr>
          <p:cNvPr id="1468" name="Google Shape;1468;p101"/>
          <p:cNvSpPr txBox="1"/>
          <p:nvPr/>
        </p:nvSpPr>
        <p:spPr>
          <a:xfrm>
            <a:off x="7523275" y="24345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pic>
        <p:nvPicPr>
          <p:cNvPr id="1469" name="Google Shape;1469;p1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5846" y="4057775"/>
            <a:ext cx="3396980" cy="103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10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5" name="Google Shape;1475;p102"/>
          <p:cNvSpPr txBox="1"/>
          <p:nvPr>
            <p:ph idx="1" type="body"/>
          </p:nvPr>
        </p:nvSpPr>
        <p:spPr>
          <a:xfrm>
            <a:off x="311700" y="1152475"/>
            <a:ext cx="86841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Total Emails: (2+1) + (1+3) = 7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Left Leaf Gini=0.44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Right Leaf Gini=0.375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Left Emails: 3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Right Emails: 4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(3/7)*0.44 + (4/7)*0.375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76" name="Google Shape;1476;p10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77" name="Google Shape;1477;p10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478" name="Google Shape;1478;p102"/>
          <p:cNvSpPr/>
          <p:nvPr/>
        </p:nvSpPr>
        <p:spPr>
          <a:xfrm>
            <a:off x="6410425" y="1874250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URL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79" name="Google Shape;1479;p102"/>
          <p:cNvCxnSpPr>
            <a:stCxn id="1478" idx="2"/>
            <a:endCxn id="1480" idx="0"/>
          </p:cNvCxnSpPr>
          <p:nvPr/>
        </p:nvCxnSpPr>
        <p:spPr>
          <a:xfrm flipH="1">
            <a:off x="5896675" y="2446950"/>
            <a:ext cx="958800" cy="6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0" name="Google Shape;1480;p102"/>
          <p:cNvSpPr/>
          <p:nvPr/>
        </p:nvSpPr>
        <p:spPr>
          <a:xfrm>
            <a:off x="5180950" y="3051325"/>
            <a:ext cx="1431300" cy="959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Spam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Yes: 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No: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81" name="Google Shape;1481;p102"/>
          <p:cNvCxnSpPr>
            <a:stCxn id="1478" idx="2"/>
            <a:endCxn id="1482" idx="0"/>
          </p:cNvCxnSpPr>
          <p:nvPr/>
        </p:nvCxnSpPr>
        <p:spPr>
          <a:xfrm>
            <a:off x="6855475" y="2446950"/>
            <a:ext cx="1431000" cy="6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2" name="Google Shape;1482;p102"/>
          <p:cNvSpPr/>
          <p:nvPr/>
        </p:nvSpPr>
        <p:spPr>
          <a:xfrm>
            <a:off x="7570675" y="3051325"/>
            <a:ext cx="1431300" cy="915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Spam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Yes: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No: 3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3" name="Google Shape;1483;p102"/>
          <p:cNvSpPr txBox="1"/>
          <p:nvPr/>
        </p:nvSpPr>
        <p:spPr>
          <a:xfrm>
            <a:off x="6011025" y="24345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  <p:sp>
        <p:nvSpPr>
          <p:cNvPr id="1484" name="Google Shape;1484;p102"/>
          <p:cNvSpPr txBox="1"/>
          <p:nvPr/>
        </p:nvSpPr>
        <p:spPr>
          <a:xfrm>
            <a:off x="7523275" y="24345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pic>
        <p:nvPicPr>
          <p:cNvPr id="1485" name="Google Shape;1485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5846" y="4057775"/>
            <a:ext cx="3396980" cy="103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p10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1" name="Google Shape;1491;p103"/>
          <p:cNvSpPr txBox="1"/>
          <p:nvPr>
            <p:ph idx="1" type="body"/>
          </p:nvPr>
        </p:nvSpPr>
        <p:spPr>
          <a:xfrm>
            <a:off x="311700" y="1152475"/>
            <a:ext cx="86841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Total Emails: (2+1) + (1+3) = 7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Left Leaf Gini=0.44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Right Leaf Gini=0.375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Left Emails: 3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Right Emails: 4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(3/7)*0.44 + (4/7)*0.375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Gini Impurity: 0.403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92" name="Google Shape;1492;p10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93" name="Google Shape;1493;p10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494" name="Google Shape;1494;p103"/>
          <p:cNvSpPr/>
          <p:nvPr/>
        </p:nvSpPr>
        <p:spPr>
          <a:xfrm>
            <a:off x="6410425" y="1874250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URL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95" name="Google Shape;1495;p103"/>
          <p:cNvCxnSpPr>
            <a:stCxn id="1494" idx="2"/>
            <a:endCxn id="1496" idx="0"/>
          </p:cNvCxnSpPr>
          <p:nvPr/>
        </p:nvCxnSpPr>
        <p:spPr>
          <a:xfrm flipH="1">
            <a:off x="5896675" y="2446950"/>
            <a:ext cx="958800" cy="6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96" name="Google Shape;1496;p103"/>
          <p:cNvSpPr/>
          <p:nvPr/>
        </p:nvSpPr>
        <p:spPr>
          <a:xfrm>
            <a:off x="5180950" y="3051325"/>
            <a:ext cx="1431300" cy="959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Spam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Yes: 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No: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97" name="Google Shape;1497;p103"/>
          <p:cNvCxnSpPr>
            <a:stCxn id="1494" idx="2"/>
            <a:endCxn id="1498" idx="0"/>
          </p:cNvCxnSpPr>
          <p:nvPr/>
        </p:nvCxnSpPr>
        <p:spPr>
          <a:xfrm>
            <a:off x="6855475" y="2446950"/>
            <a:ext cx="1431000" cy="6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98" name="Google Shape;1498;p103"/>
          <p:cNvSpPr/>
          <p:nvPr/>
        </p:nvSpPr>
        <p:spPr>
          <a:xfrm>
            <a:off x="7570675" y="3051325"/>
            <a:ext cx="1431300" cy="915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Spam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Yes: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No: 3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9" name="Google Shape;1499;p103"/>
          <p:cNvSpPr txBox="1"/>
          <p:nvPr/>
        </p:nvSpPr>
        <p:spPr>
          <a:xfrm>
            <a:off x="6011025" y="24345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  <p:sp>
        <p:nvSpPr>
          <p:cNvPr id="1500" name="Google Shape;1500;p103"/>
          <p:cNvSpPr txBox="1"/>
          <p:nvPr/>
        </p:nvSpPr>
        <p:spPr>
          <a:xfrm>
            <a:off x="7523275" y="24345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pic>
        <p:nvPicPr>
          <p:cNvPr id="1501" name="Google Shape;1501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5846" y="4057775"/>
            <a:ext cx="3396980" cy="103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p10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7" name="Google Shape;1507;p104"/>
          <p:cNvSpPr txBox="1"/>
          <p:nvPr>
            <p:ph idx="1" type="body"/>
          </p:nvPr>
        </p:nvSpPr>
        <p:spPr>
          <a:xfrm>
            <a:off x="311700" y="1152475"/>
            <a:ext cx="86841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Gini Impurity for URL feature: 0.403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08" name="Google Shape;1508;p10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09" name="Google Shape;1509;p10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10" name="Google Shape;1510;p104"/>
          <p:cNvSpPr/>
          <p:nvPr/>
        </p:nvSpPr>
        <p:spPr>
          <a:xfrm>
            <a:off x="6410425" y="1874250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URL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11" name="Google Shape;1511;p104"/>
          <p:cNvCxnSpPr>
            <a:stCxn id="1510" idx="2"/>
            <a:endCxn id="1512" idx="0"/>
          </p:cNvCxnSpPr>
          <p:nvPr/>
        </p:nvCxnSpPr>
        <p:spPr>
          <a:xfrm flipH="1">
            <a:off x="5896675" y="2446950"/>
            <a:ext cx="958800" cy="6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12" name="Google Shape;1512;p104"/>
          <p:cNvSpPr/>
          <p:nvPr/>
        </p:nvSpPr>
        <p:spPr>
          <a:xfrm>
            <a:off x="5180950" y="3051325"/>
            <a:ext cx="1431300" cy="959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Spam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Yes: 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No: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13" name="Google Shape;1513;p104"/>
          <p:cNvCxnSpPr>
            <a:stCxn id="1510" idx="2"/>
            <a:endCxn id="1514" idx="0"/>
          </p:cNvCxnSpPr>
          <p:nvPr/>
        </p:nvCxnSpPr>
        <p:spPr>
          <a:xfrm>
            <a:off x="6855475" y="2446950"/>
            <a:ext cx="1431000" cy="6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14" name="Google Shape;1514;p104"/>
          <p:cNvSpPr/>
          <p:nvPr/>
        </p:nvSpPr>
        <p:spPr>
          <a:xfrm>
            <a:off x="7570675" y="3051325"/>
            <a:ext cx="1431300" cy="915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Spam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Yes: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No: 3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5" name="Google Shape;1515;p104"/>
          <p:cNvSpPr txBox="1"/>
          <p:nvPr/>
        </p:nvSpPr>
        <p:spPr>
          <a:xfrm>
            <a:off x="6011025" y="24345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  <p:sp>
        <p:nvSpPr>
          <p:cNvPr id="1516" name="Google Shape;1516;p104"/>
          <p:cNvSpPr txBox="1"/>
          <p:nvPr/>
        </p:nvSpPr>
        <p:spPr>
          <a:xfrm>
            <a:off x="7523275" y="24345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pic>
        <p:nvPicPr>
          <p:cNvPr id="1517" name="Google Shape;1517;p1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5846" y="4057775"/>
            <a:ext cx="3396980" cy="103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p10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3" name="Google Shape;1523;p105"/>
          <p:cNvSpPr txBox="1"/>
          <p:nvPr>
            <p:ph idx="1" type="body"/>
          </p:nvPr>
        </p:nvSpPr>
        <p:spPr>
          <a:xfrm>
            <a:off x="311700" y="1152475"/>
            <a:ext cx="86841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But what if we had multiple features?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24" name="Google Shape;1524;p10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25" name="Google Shape;1525;p10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26" name="Google Shape;1526;p105"/>
          <p:cNvSpPr/>
          <p:nvPr/>
        </p:nvSpPr>
        <p:spPr>
          <a:xfrm>
            <a:off x="6410425" y="1874250"/>
            <a:ext cx="890100" cy="5727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URL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27" name="Google Shape;1527;p105"/>
          <p:cNvCxnSpPr>
            <a:stCxn id="1526" idx="2"/>
            <a:endCxn id="1528" idx="0"/>
          </p:cNvCxnSpPr>
          <p:nvPr/>
        </p:nvCxnSpPr>
        <p:spPr>
          <a:xfrm flipH="1">
            <a:off x="5896675" y="2446950"/>
            <a:ext cx="958800" cy="6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8" name="Google Shape;1528;p105"/>
          <p:cNvSpPr/>
          <p:nvPr/>
        </p:nvSpPr>
        <p:spPr>
          <a:xfrm>
            <a:off x="5180950" y="3051325"/>
            <a:ext cx="1431300" cy="959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Spam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Yes: 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No: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29" name="Google Shape;1529;p105"/>
          <p:cNvCxnSpPr>
            <a:stCxn id="1526" idx="2"/>
            <a:endCxn id="1530" idx="0"/>
          </p:cNvCxnSpPr>
          <p:nvPr/>
        </p:nvCxnSpPr>
        <p:spPr>
          <a:xfrm>
            <a:off x="6855475" y="2446950"/>
            <a:ext cx="1431000" cy="6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30" name="Google Shape;1530;p105"/>
          <p:cNvSpPr/>
          <p:nvPr/>
        </p:nvSpPr>
        <p:spPr>
          <a:xfrm>
            <a:off x="7570675" y="3051325"/>
            <a:ext cx="1431300" cy="915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Spam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Yes: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No: 3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1" name="Google Shape;1531;p105"/>
          <p:cNvSpPr txBox="1"/>
          <p:nvPr/>
        </p:nvSpPr>
        <p:spPr>
          <a:xfrm>
            <a:off x="6011025" y="24345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endParaRPr b="1"/>
          </a:p>
        </p:txBody>
      </p:sp>
      <p:sp>
        <p:nvSpPr>
          <p:cNvPr id="1532" name="Google Shape;1532;p105"/>
          <p:cNvSpPr txBox="1"/>
          <p:nvPr/>
        </p:nvSpPr>
        <p:spPr>
          <a:xfrm>
            <a:off x="7523275" y="2434525"/>
            <a:ext cx="24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endParaRPr b="1"/>
          </a:p>
        </p:txBody>
      </p:sp>
      <p:pic>
        <p:nvPicPr>
          <p:cNvPr id="1533" name="Google Shape;1533;p1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5846" y="4057775"/>
            <a:ext cx="3396980" cy="103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10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9" name="Google Shape;1539;p106"/>
          <p:cNvSpPr txBox="1"/>
          <p:nvPr>
            <p:ph idx="1" type="body"/>
          </p:nvPr>
        </p:nvSpPr>
        <p:spPr>
          <a:xfrm>
            <a:off x="311700" y="1152475"/>
            <a:ext cx="8684100" cy="30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still have more issues to consider: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Multiple Features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Continuous Features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Multi-categorical Features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incorporate the gini impurity to each of these issues to solve for best root nodes and best split parameters for leaves.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40" name="Google Shape;1540;p10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41" name="Google Shape;1541;p10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5" name="Shape 1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Google Shape;1546;p10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7" name="Google Shape;1547;p10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Theory and Intuition: Gini Impurity Part Two</a:t>
            </a:r>
            <a:endParaRPr/>
          </a:p>
        </p:txBody>
      </p:sp>
      <p:pic>
        <p:nvPicPr>
          <p:cNvPr descr="watermark.jpg" id="1548" name="Google Shape;1548;p10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49" name="Google Shape;1549;p10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p10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5" name="Google Shape;1555;p10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explored how to calculate gini impurity for a binary categorical feature (only consisting of two categories).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let’s explore the following: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Continuous numeric features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Multi-categorical features (N&gt;2)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Choosing a root node feature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56" name="Google Shape;1556;p10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57" name="Google Shape;1557;p10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p10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3" name="Google Shape;1563;p10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Imagine a continuous feature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64" name="Google Shape;1564;p10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65" name="Google Shape;1565;p10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66" name="Google Shape;1566;p109"/>
          <p:cNvGraphicFramePr/>
          <p:nvPr/>
        </p:nvGraphicFramePr>
        <p:xfrm>
          <a:off x="679450" y="2056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{C8394794-0641-439A-A705-68315A265B27}</a:tableStyleId>
              </a:tblPr>
              <a:tblGrid>
                <a:gridCol w="1850900"/>
                <a:gridCol w="1850900"/>
              </a:tblGrid>
              <a:tr h="35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 - Words in Email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Y-Spam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5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0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p11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2" name="Google Shape;1572;p11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calculate the feature gini impurity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73" name="Google Shape;1573;p11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74" name="Google Shape;1574;p11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75" name="Google Shape;1575;p110"/>
          <p:cNvGraphicFramePr/>
          <p:nvPr/>
        </p:nvGraphicFramePr>
        <p:xfrm>
          <a:off x="679450" y="2056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{C8394794-0641-439A-A705-68315A265B27}</a:tableStyleId>
              </a:tblPr>
              <a:tblGrid>
                <a:gridCol w="1850900"/>
                <a:gridCol w="1850900"/>
              </a:tblGrid>
              <a:tr h="35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 - Words in Email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Y-Spam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5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p11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1" name="Google Shape;1581;p11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First sort data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82" name="Google Shape;1582;p11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83" name="Google Shape;1583;p11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84" name="Google Shape;1584;p111"/>
          <p:cNvGraphicFramePr/>
          <p:nvPr/>
        </p:nvGraphicFramePr>
        <p:xfrm>
          <a:off x="679450" y="2056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{C8394794-0641-439A-A705-68315A265B27}</a:tableStyleId>
              </a:tblPr>
              <a:tblGrid>
                <a:gridCol w="1850900"/>
                <a:gridCol w="1850900"/>
              </a:tblGrid>
              <a:tr h="35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 - Words in Email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Y-Spam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5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8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p11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0" name="Google Shape;1590;p11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First sort data: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91" name="Google Shape;1591;p11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92" name="Google Shape;1592;p11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93" name="Google Shape;1593;p112"/>
          <p:cNvGraphicFramePr/>
          <p:nvPr/>
        </p:nvGraphicFramePr>
        <p:xfrm>
          <a:off x="679450" y="2056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{C8394794-0641-439A-A705-68315A265B27}</a:tableStyleId>
              </a:tblPr>
              <a:tblGrid>
                <a:gridCol w="1850900"/>
                <a:gridCol w="1850900"/>
              </a:tblGrid>
              <a:tr h="35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 - Words in Email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Y-Spam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5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7" name="Shape 1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Google Shape;1598;p11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9" name="Google Shape;1599;p11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Calculate potential split values for node: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00" name="Google Shape;1600;p1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01" name="Google Shape;1601;p1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02" name="Google Shape;1602;p113"/>
          <p:cNvGraphicFramePr/>
          <p:nvPr/>
        </p:nvGraphicFramePr>
        <p:xfrm>
          <a:off x="679450" y="2056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{C8394794-0641-439A-A705-68315A265B27}</a:tableStyleId>
              </a:tblPr>
              <a:tblGrid>
                <a:gridCol w="1850900"/>
                <a:gridCol w="1850900"/>
              </a:tblGrid>
              <a:tr h="35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 - Words in Email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Y-Spam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5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6" name="Shape 1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Google Shape;1607;p1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8" name="Google Shape;1608;p1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Calculate potential split values for node: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09" name="Google Shape;1609;p1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10" name="Google Shape;1610;p1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11" name="Google Shape;1611;p114"/>
          <p:cNvGraphicFramePr/>
          <p:nvPr/>
        </p:nvGraphicFramePr>
        <p:xfrm>
          <a:off x="679450" y="2056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{C8394794-0641-439A-A705-68315A265B27}</a:tableStyleId>
              </a:tblPr>
              <a:tblGrid>
                <a:gridCol w="1850900"/>
                <a:gridCol w="1850900"/>
              </a:tblGrid>
              <a:tr h="35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 - Words in Email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Y-Spam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5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12" name="Google Shape;1612;p114"/>
          <p:cNvSpPr/>
          <p:nvPr/>
        </p:nvSpPr>
        <p:spPr>
          <a:xfrm>
            <a:off x="6115225" y="1748300"/>
            <a:ext cx="1605300" cy="6987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Words ≤ N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6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Google Shape;1617;p1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8" name="Google Shape;1618;p1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 averages between rows as values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19" name="Google Shape;1619;p1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20" name="Google Shape;1620;p1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21" name="Google Shape;1621;p115"/>
          <p:cNvGraphicFramePr/>
          <p:nvPr/>
        </p:nvGraphicFramePr>
        <p:xfrm>
          <a:off x="679450" y="2056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{C8394794-0641-439A-A705-68315A265B27}</a:tableStyleId>
              </a:tblPr>
              <a:tblGrid>
                <a:gridCol w="1850900"/>
                <a:gridCol w="1850900"/>
              </a:tblGrid>
              <a:tr h="35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 - Words in Email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Y-Spam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5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22" name="Google Shape;1622;p115"/>
          <p:cNvSpPr/>
          <p:nvPr/>
        </p:nvSpPr>
        <p:spPr>
          <a:xfrm>
            <a:off x="871425" y="3062425"/>
            <a:ext cx="459300" cy="284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3" name="Google Shape;1623;p115"/>
          <p:cNvSpPr/>
          <p:nvPr/>
        </p:nvSpPr>
        <p:spPr>
          <a:xfrm>
            <a:off x="871425" y="2643325"/>
            <a:ext cx="459300" cy="284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15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4" name="Google Shape;1624;p115"/>
          <p:cNvSpPr/>
          <p:nvPr/>
        </p:nvSpPr>
        <p:spPr>
          <a:xfrm>
            <a:off x="871425" y="3481525"/>
            <a:ext cx="459300" cy="284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5" name="Google Shape;1625;p115"/>
          <p:cNvSpPr/>
          <p:nvPr/>
        </p:nvSpPr>
        <p:spPr>
          <a:xfrm>
            <a:off x="871425" y="3862525"/>
            <a:ext cx="459300" cy="284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6" name="Google Shape;1626;p115"/>
          <p:cNvSpPr/>
          <p:nvPr/>
        </p:nvSpPr>
        <p:spPr>
          <a:xfrm>
            <a:off x="6115225" y="1748300"/>
            <a:ext cx="1605300" cy="6987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Words ≤ N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0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p1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2" name="Google Shape;1632;p1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Perform each potential split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33" name="Google Shape;1633;p1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34" name="Google Shape;1634;p1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35" name="Google Shape;1635;p116"/>
          <p:cNvGraphicFramePr/>
          <p:nvPr/>
        </p:nvGraphicFramePr>
        <p:xfrm>
          <a:off x="679450" y="2056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{C8394794-0641-439A-A705-68315A265B27}</a:tableStyleId>
              </a:tblPr>
              <a:tblGrid>
                <a:gridCol w="1850900"/>
                <a:gridCol w="1850900"/>
              </a:tblGrid>
              <a:tr h="35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 - Words in Email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Y-Spam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5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36" name="Google Shape;1636;p116"/>
          <p:cNvSpPr/>
          <p:nvPr/>
        </p:nvSpPr>
        <p:spPr>
          <a:xfrm>
            <a:off x="6115225" y="1748300"/>
            <a:ext cx="1605300" cy="6987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Words ≤ 15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7" name="Google Shape;1637;p116"/>
          <p:cNvSpPr/>
          <p:nvPr/>
        </p:nvSpPr>
        <p:spPr>
          <a:xfrm>
            <a:off x="871425" y="3062425"/>
            <a:ext cx="459300" cy="284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25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8" name="Google Shape;1638;p116"/>
          <p:cNvSpPr/>
          <p:nvPr/>
        </p:nvSpPr>
        <p:spPr>
          <a:xfrm>
            <a:off x="871425" y="2643325"/>
            <a:ext cx="459300" cy="2841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15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9" name="Google Shape;1639;p116"/>
          <p:cNvSpPr/>
          <p:nvPr/>
        </p:nvSpPr>
        <p:spPr>
          <a:xfrm>
            <a:off x="871425" y="3481525"/>
            <a:ext cx="459300" cy="284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35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0" name="Google Shape;1640;p116"/>
          <p:cNvSpPr/>
          <p:nvPr/>
        </p:nvSpPr>
        <p:spPr>
          <a:xfrm>
            <a:off x="871425" y="3862525"/>
            <a:ext cx="459300" cy="284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45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4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Google Shape;1645;p1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6" name="Google Shape;1646;p1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Calculate gini impurity for each split: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47" name="Google Shape;1647;p1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48" name="Google Shape;1648;p1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49" name="Google Shape;1649;p117"/>
          <p:cNvGraphicFramePr/>
          <p:nvPr/>
        </p:nvGraphicFramePr>
        <p:xfrm>
          <a:off x="679450" y="2056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{C8394794-0641-439A-A705-68315A265B27}</a:tableStyleId>
              </a:tblPr>
              <a:tblGrid>
                <a:gridCol w="1850900"/>
                <a:gridCol w="1850900"/>
              </a:tblGrid>
              <a:tr h="35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 - Words in Email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Y-Spam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5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50" name="Google Shape;1650;p117"/>
          <p:cNvSpPr/>
          <p:nvPr/>
        </p:nvSpPr>
        <p:spPr>
          <a:xfrm>
            <a:off x="6115225" y="1748300"/>
            <a:ext cx="1605300" cy="6987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Words ≤ 15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1" name="Google Shape;1651;p117"/>
          <p:cNvSpPr/>
          <p:nvPr/>
        </p:nvSpPr>
        <p:spPr>
          <a:xfrm>
            <a:off x="871425" y="2643325"/>
            <a:ext cx="459300" cy="2841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15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5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p1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7" name="Google Shape;1657;p1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alculate gini impurity for each split: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58" name="Google Shape;1658;p11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59" name="Google Shape;1659;p1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60" name="Google Shape;1660;p118"/>
          <p:cNvGraphicFramePr/>
          <p:nvPr/>
        </p:nvGraphicFramePr>
        <p:xfrm>
          <a:off x="679450" y="2056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{C8394794-0641-439A-A705-68315A265B27}</a:tableStyleId>
              </a:tblPr>
              <a:tblGrid>
                <a:gridCol w="1850900"/>
                <a:gridCol w="1850900"/>
              </a:tblGrid>
              <a:tr h="35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 - Words in Email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Y-Spam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5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306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20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</a:tbl>
          </a:graphicData>
        </a:graphic>
      </p:graphicFrame>
      <p:sp>
        <p:nvSpPr>
          <p:cNvPr id="1661" name="Google Shape;1661;p118"/>
          <p:cNvSpPr/>
          <p:nvPr/>
        </p:nvSpPr>
        <p:spPr>
          <a:xfrm>
            <a:off x="6115225" y="1748300"/>
            <a:ext cx="1605300" cy="6987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Words ≤ 15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2" name="Google Shape;1662;p118"/>
          <p:cNvSpPr/>
          <p:nvPr/>
        </p:nvSpPr>
        <p:spPr>
          <a:xfrm>
            <a:off x="871425" y="2643325"/>
            <a:ext cx="459300" cy="2841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15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6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Google Shape;1667;p1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8" name="Google Shape;1668;p1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Calculate gini impurity for each split: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69" name="Google Shape;1669;p1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70" name="Google Shape;1670;p1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71" name="Google Shape;1671;p119"/>
          <p:cNvGraphicFramePr/>
          <p:nvPr/>
        </p:nvGraphicFramePr>
        <p:xfrm>
          <a:off x="679450" y="2056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{C8394794-0641-439A-A705-68315A265B27}</a:tableStyleId>
              </a:tblPr>
              <a:tblGrid>
                <a:gridCol w="1850900"/>
                <a:gridCol w="1850900"/>
              </a:tblGrid>
              <a:tr h="35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 - Words in Email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Y-Spam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5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306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20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</a:tbl>
          </a:graphicData>
        </a:graphic>
      </p:graphicFrame>
      <p:sp>
        <p:nvSpPr>
          <p:cNvPr id="1672" name="Google Shape;1672;p119"/>
          <p:cNvSpPr/>
          <p:nvPr/>
        </p:nvSpPr>
        <p:spPr>
          <a:xfrm>
            <a:off x="6115225" y="1748300"/>
            <a:ext cx="1605300" cy="6987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Words ≤ 15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3" name="Google Shape;1673;p119"/>
          <p:cNvSpPr/>
          <p:nvPr/>
        </p:nvSpPr>
        <p:spPr>
          <a:xfrm>
            <a:off x="871425" y="2643325"/>
            <a:ext cx="459300" cy="2841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15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74" name="Google Shape;1674;p119"/>
          <p:cNvCxnSpPr>
            <a:stCxn id="1672" idx="2"/>
          </p:cNvCxnSpPr>
          <p:nvPr/>
        </p:nvCxnSpPr>
        <p:spPr>
          <a:xfrm flipH="1">
            <a:off x="6234775" y="2447000"/>
            <a:ext cx="683100" cy="683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5" name="Google Shape;1675;p119"/>
          <p:cNvCxnSpPr>
            <a:stCxn id="1672" idx="2"/>
            <a:endCxn id="1676" idx="0"/>
          </p:cNvCxnSpPr>
          <p:nvPr/>
        </p:nvCxnSpPr>
        <p:spPr>
          <a:xfrm>
            <a:off x="6917875" y="2447000"/>
            <a:ext cx="927900" cy="683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77" name="Google Shape;1677;p119"/>
          <p:cNvSpPr/>
          <p:nvPr/>
        </p:nvSpPr>
        <p:spPr>
          <a:xfrm>
            <a:off x="5137550" y="3130100"/>
            <a:ext cx="1605300" cy="8595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Spam: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Yes: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No: 0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6" name="Google Shape;1676;p119"/>
          <p:cNvSpPr/>
          <p:nvPr/>
        </p:nvSpPr>
        <p:spPr>
          <a:xfrm>
            <a:off x="7043175" y="3130100"/>
            <a:ext cx="1605300" cy="8595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Spam: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Yes: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No: 3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78" name="Google Shape;1678;p119"/>
          <p:cNvPicPr preferRelativeResize="0"/>
          <p:nvPr/>
        </p:nvPicPr>
        <p:blipFill rotWithShape="1">
          <a:blip r:embed="rId4">
            <a:alphaModFix/>
          </a:blip>
          <a:srcRect b="0" l="0" r="1787" t="0"/>
          <a:stretch/>
        </p:blipFill>
        <p:spPr>
          <a:xfrm>
            <a:off x="4447779" y="4029250"/>
            <a:ext cx="3336226" cy="103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1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4" name="Google Shape;1684;p1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alculate gini impurity for each split: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85" name="Google Shape;1685;p1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86" name="Google Shape;1686;p1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87" name="Google Shape;1687;p120"/>
          <p:cNvGraphicFramePr/>
          <p:nvPr/>
        </p:nvGraphicFramePr>
        <p:xfrm>
          <a:off x="679450" y="2056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{C8394794-0641-439A-A705-68315A265B27}</a:tableStyleId>
              </a:tblPr>
              <a:tblGrid>
                <a:gridCol w="1850900"/>
                <a:gridCol w="1850900"/>
              </a:tblGrid>
              <a:tr h="35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 - Words in Email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Y-Spam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5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306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20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</a:tbl>
          </a:graphicData>
        </a:graphic>
      </p:graphicFrame>
      <p:sp>
        <p:nvSpPr>
          <p:cNvPr id="1688" name="Google Shape;1688;p120"/>
          <p:cNvSpPr/>
          <p:nvPr/>
        </p:nvSpPr>
        <p:spPr>
          <a:xfrm>
            <a:off x="6115225" y="1748300"/>
            <a:ext cx="1605300" cy="6987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Words ≤ 15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9" name="Google Shape;1689;p120"/>
          <p:cNvSpPr/>
          <p:nvPr/>
        </p:nvSpPr>
        <p:spPr>
          <a:xfrm>
            <a:off x="871425" y="2643325"/>
            <a:ext cx="459300" cy="2841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15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90" name="Google Shape;1690;p120"/>
          <p:cNvCxnSpPr>
            <a:stCxn id="1688" idx="2"/>
          </p:cNvCxnSpPr>
          <p:nvPr/>
        </p:nvCxnSpPr>
        <p:spPr>
          <a:xfrm flipH="1">
            <a:off x="6234775" y="2447000"/>
            <a:ext cx="683100" cy="683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1" name="Google Shape;1691;p120"/>
          <p:cNvCxnSpPr>
            <a:stCxn id="1688" idx="2"/>
            <a:endCxn id="1692" idx="0"/>
          </p:cNvCxnSpPr>
          <p:nvPr/>
        </p:nvCxnSpPr>
        <p:spPr>
          <a:xfrm>
            <a:off x="6917875" y="2447000"/>
            <a:ext cx="927900" cy="683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93" name="Google Shape;1693;p120"/>
          <p:cNvSpPr/>
          <p:nvPr/>
        </p:nvSpPr>
        <p:spPr>
          <a:xfrm>
            <a:off x="5137550" y="3130100"/>
            <a:ext cx="1605300" cy="8595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Spam: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Yes: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No: 0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2" name="Google Shape;1692;p120"/>
          <p:cNvSpPr/>
          <p:nvPr/>
        </p:nvSpPr>
        <p:spPr>
          <a:xfrm>
            <a:off x="7043175" y="3130100"/>
            <a:ext cx="1605300" cy="8595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Spam: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Yes: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No: 3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94" name="Google Shape;1694;p120"/>
          <p:cNvPicPr preferRelativeResize="0"/>
          <p:nvPr/>
        </p:nvPicPr>
        <p:blipFill rotWithShape="1">
          <a:blip r:embed="rId4">
            <a:alphaModFix/>
          </a:blip>
          <a:srcRect b="0" l="0" r="62509" t="0"/>
          <a:stretch/>
        </p:blipFill>
        <p:spPr>
          <a:xfrm>
            <a:off x="4447772" y="4029238"/>
            <a:ext cx="1273576" cy="103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5" name="Google Shape;1695;p120"/>
          <p:cNvSpPr txBox="1"/>
          <p:nvPr/>
        </p:nvSpPr>
        <p:spPr>
          <a:xfrm>
            <a:off x="5787875" y="4219700"/>
            <a:ext cx="32952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(⅕)(0+0) + (⅘)((¼)(1-¼)+(¾)(1-¾)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9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p1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1" name="Google Shape;1701;p12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alculate gini impurity for each split: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02" name="Google Shape;1702;p12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03" name="Google Shape;1703;p1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04" name="Google Shape;1704;p121"/>
          <p:cNvGraphicFramePr/>
          <p:nvPr/>
        </p:nvGraphicFramePr>
        <p:xfrm>
          <a:off x="679450" y="2056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{C8394794-0641-439A-A705-68315A265B27}</a:tableStyleId>
              </a:tblPr>
              <a:tblGrid>
                <a:gridCol w="1850900"/>
                <a:gridCol w="1850900"/>
              </a:tblGrid>
              <a:tr h="35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 - Words in Email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Y-Spam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5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306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20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</a:tbl>
          </a:graphicData>
        </a:graphic>
      </p:graphicFrame>
      <p:sp>
        <p:nvSpPr>
          <p:cNvPr id="1705" name="Google Shape;1705;p121"/>
          <p:cNvSpPr/>
          <p:nvPr/>
        </p:nvSpPr>
        <p:spPr>
          <a:xfrm>
            <a:off x="6115225" y="1748300"/>
            <a:ext cx="1605300" cy="6987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Words ≤ 15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6" name="Google Shape;1706;p121"/>
          <p:cNvSpPr/>
          <p:nvPr/>
        </p:nvSpPr>
        <p:spPr>
          <a:xfrm>
            <a:off x="871425" y="2643325"/>
            <a:ext cx="459300" cy="2841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15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07" name="Google Shape;1707;p121"/>
          <p:cNvCxnSpPr>
            <a:stCxn id="1705" idx="2"/>
          </p:cNvCxnSpPr>
          <p:nvPr/>
        </p:nvCxnSpPr>
        <p:spPr>
          <a:xfrm flipH="1">
            <a:off x="6234775" y="2447000"/>
            <a:ext cx="683100" cy="683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8" name="Google Shape;1708;p121"/>
          <p:cNvCxnSpPr>
            <a:stCxn id="1705" idx="2"/>
            <a:endCxn id="1709" idx="0"/>
          </p:cNvCxnSpPr>
          <p:nvPr/>
        </p:nvCxnSpPr>
        <p:spPr>
          <a:xfrm>
            <a:off x="6917875" y="2447000"/>
            <a:ext cx="927900" cy="683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10" name="Google Shape;1710;p121"/>
          <p:cNvSpPr/>
          <p:nvPr/>
        </p:nvSpPr>
        <p:spPr>
          <a:xfrm>
            <a:off x="5137550" y="3130100"/>
            <a:ext cx="1605300" cy="8595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Spam: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Yes: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No: 0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9" name="Google Shape;1709;p121"/>
          <p:cNvSpPr/>
          <p:nvPr/>
        </p:nvSpPr>
        <p:spPr>
          <a:xfrm>
            <a:off x="7043175" y="3130100"/>
            <a:ext cx="1605300" cy="8595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Spam: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Yes: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No: 3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11" name="Google Shape;1711;p121"/>
          <p:cNvPicPr preferRelativeResize="0"/>
          <p:nvPr/>
        </p:nvPicPr>
        <p:blipFill rotWithShape="1">
          <a:blip r:embed="rId4">
            <a:alphaModFix/>
          </a:blip>
          <a:srcRect b="0" l="0" r="62509" t="0"/>
          <a:stretch/>
        </p:blipFill>
        <p:spPr>
          <a:xfrm>
            <a:off x="4447772" y="4029238"/>
            <a:ext cx="1273576" cy="103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2" name="Google Shape;1712;p121"/>
          <p:cNvSpPr txBox="1"/>
          <p:nvPr/>
        </p:nvSpPr>
        <p:spPr>
          <a:xfrm>
            <a:off x="5787875" y="4219700"/>
            <a:ext cx="32952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(⅕)(0+0) + (⅘)((¼)(1-¼)+(¾)(1-¾)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13" name="Google Shape;1713;p121"/>
          <p:cNvPicPr preferRelativeResize="0"/>
          <p:nvPr/>
        </p:nvPicPr>
        <p:blipFill rotWithShape="1">
          <a:blip r:embed="rId4">
            <a:alphaModFix/>
          </a:blip>
          <a:srcRect b="43404" l="28434" r="62508" t="29169"/>
          <a:stretch/>
        </p:blipFill>
        <p:spPr>
          <a:xfrm>
            <a:off x="5449900" y="4694977"/>
            <a:ext cx="307675" cy="28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4" name="Google Shape;1714;p121"/>
          <p:cNvSpPr txBox="1"/>
          <p:nvPr/>
        </p:nvSpPr>
        <p:spPr>
          <a:xfrm>
            <a:off x="5757575" y="4590000"/>
            <a:ext cx="817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0.3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" name="Google Shape;1719;p1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0" name="Google Shape;1720;p12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Calculate gini impurity for each split: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21" name="Google Shape;1721;p1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22" name="Google Shape;1722;p1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23" name="Google Shape;1723;p122"/>
          <p:cNvGraphicFramePr/>
          <p:nvPr/>
        </p:nvGraphicFramePr>
        <p:xfrm>
          <a:off x="679450" y="2056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{C8394794-0641-439A-A705-68315A265B27}</a:tableStyleId>
              </a:tblPr>
              <a:tblGrid>
                <a:gridCol w="1850900"/>
                <a:gridCol w="1850900"/>
              </a:tblGrid>
              <a:tr h="35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 - Words in Email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Y-Spam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5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24" name="Google Shape;1724;p122"/>
          <p:cNvSpPr/>
          <p:nvPr/>
        </p:nvSpPr>
        <p:spPr>
          <a:xfrm>
            <a:off x="871425" y="2643325"/>
            <a:ext cx="459300" cy="2841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15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25" name="Google Shape;1725;p122"/>
          <p:cNvCxnSpPr>
            <a:stCxn id="1724" idx="3"/>
          </p:cNvCxnSpPr>
          <p:nvPr/>
        </p:nvCxnSpPr>
        <p:spPr>
          <a:xfrm>
            <a:off x="1330725" y="2785375"/>
            <a:ext cx="3474900" cy="0"/>
          </a:xfrm>
          <a:prstGeom prst="straightConnector1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26" name="Google Shape;1726;p122"/>
          <p:cNvSpPr txBox="1"/>
          <p:nvPr/>
        </p:nvSpPr>
        <p:spPr>
          <a:xfrm>
            <a:off x="4763375" y="2574475"/>
            <a:ext cx="12027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Gini=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0.3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0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p1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2" name="Google Shape;1732;p12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Repeat for all possible splits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33" name="Google Shape;1733;p12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34" name="Google Shape;1734;p1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35" name="Google Shape;1735;p123"/>
          <p:cNvGraphicFramePr/>
          <p:nvPr/>
        </p:nvGraphicFramePr>
        <p:xfrm>
          <a:off x="679450" y="2056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{C8394794-0641-439A-A705-68315A265B27}</a:tableStyleId>
              </a:tblPr>
              <a:tblGrid>
                <a:gridCol w="1850900"/>
                <a:gridCol w="1850900"/>
              </a:tblGrid>
              <a:tr h="35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 - Words in Email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Y-Spam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5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36" name="Google Shape;1736;p123"/>
          <p:cNvSpPr/>
          <p:nvPr/>
        </p:nvSpPr>
        <p:spPr>
          <a:xfrm>
            <a:off x="852063" y="2605450"/>
            <a:ext cx="459300" cy="2841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15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37" name="Google Shape;1737;p123"/>
          <p:cNvCxnSpPr>
            <a:stCxn id="1736" idx="3"/>
          </p:cNvCxnSpPr>
          <p:nvPr/>
        </p:nvCxnSpPr>
        <p:spPr>
          <a:xfrm>
            <a:off x="1311363" y="2747500"/>
            <a:ext cx="3474900" cy="0"/>
          </a:xfrm>
          <a:prstGeom prst="straightConnector1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38" name="Google Shape;1738;p123"/>
          <p:cNvSpPr txBox="1"/>
          <p:nvPr/>
        </p:nvSpPr>
        <p:spPr>
          <a:xfrm>
            <a:off x="4763375" y="2574475"/>
            <a:ext cx="12027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Gini=0.3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9" name="Google Shape;1739;p123"/>
          <p:cNvSpPr/>
          <p:nvPr/>
        </p:nvSpPr>
        <p:spPr>
          <a:xfrm>
            <a:off x="852063" y="3062650"/>
            <a:ext cx="459300" cy="2841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40" name="Google Shape;1740;p123"/>
          <p:cNvCxnSpPr/>
          <p:nvPr/>
        </p:nvCxnSpPr>
        <p:spPr>
          <a:xfrm>
            <a:off x="1311363" y="3204700"/>
            <a:ext cx="3474900" cy="0"/>
          </a:xfrm>
          <a:prstGeom prst="straightConnector1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41" name="Google Shape;1741;p123"/>
          <p:cNvSpPr txBox="1"/>
          <p:nvPr/>
        </p:nvSpPr>
        <p:spPr>
          <a:xfrm>
            <a:off x="4763375" y="2955475"/>
            <a:ext cx="12027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Gini=0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2" name="Google Shape;1742;p123"/>
          <p:cNvSpPr/>
          <p:nvPr/>
        </p:nvSpPr>
        <p:spPr>
          <a:xfrm>
            <a:off x="852063" y="3443650"/>
            <a:ext cx="459300" cy="2841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43" name="Google Shape;1743;p123"/>
          <p:cNvCxnSpPr/>
          <p:nvPr/>
        </p:nvCxnSpPr>
        <p:spPr>
          <a:xfrm>
            <a:off x="1311363" y="3585700"/>
            <a:ext cx="3474900" cy="0"/>
          </a:xfrm>
          <a:prstGeom prst="straightConnector1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44" name="Google Shape;1744;p123"/>
          <p:cNvSpPr txBox="1"/>
          <p:nvPr/>
        </p:nvSpPr>
        <p:spPr>
          <a:xfrm>
            <a:off x="4763375" y="3374800"/>
            <a:ext cx="12027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Gini=0.26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5" name="Google Shape;1745;p123"/>
          <p:cNvSpPr/>
          <p:nvPr/>
        </p:nvSpPr>
        <p:spPr>
          <a:xfrm>
            <a:off x="852063" y="3824650"/>
            <a:ext cx="459300" cy="2841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46" name="Google Shape;1746;p123"/>
          <p:cNvCxnSpPr/>
          <p:nvPr/>
        </p:nvCxnSpPr>
        <p:spPr>
          <a:xfrm>
            <a:off x="1311363" y="3966700"/>
            <a:ext cx="3474900" cy="0"/>
          </a:xfrm>
          <a:prstGeom prst="straightConnector1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47" name="Google Shape;1747;p123"/>
          <p:cNvSpPr txBox="1"/>
          <p:nvPr/>
        </p:nvSpPr>
        <p:spPr>
          <a:xfrm>
            <a:off x="4763375" y="3793675"/>
            <a:ext cx="12027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Gini=0.4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p1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3" name="Google Shape;1753;p12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Choose lowest impurity split value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54" name="Google Shape;1754;p12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55" name="Google Shape;1755;p1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56" name="Google Shape;1756;p124"/>
          <p:cNvGraphicFramePr/>
          <p:nvPr/>
        </p:nvGraphicFramePr>
        <p:xfrm>
          <a:off x="679450" y="2056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{C8394794-0641-439A-A705-68315A265B27}</a:tableStyleId>
              </a:tblPr>
              <a:tblGrid>
                <a:gridCol w="1850900"/>
                <a:gridCol w="1850900"/>
              </a:tblGrid>
              <a:tr h="35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 - Words in Email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Y-Spam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5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57" name="Google Shape;1757;p124"/>
          <p:cNvSpPr/>
          <p:nvPr/>
        </p:nvSpPr>
        <p:spPr>
          <a:xfrm>
            <a:off x="852063" y="3062650"/>
            <a:ext cx="459300" cy="2841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25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58" name="Google Shape;1758;p124"/>
          <p:cNvCxnSpPr/>
          <p:nvPr/>
        </p:nvCxnSpPr>
        <p:spPr>
          <a:xfrm>
            <a:off x="1311363" y="3204700"/>
            <a:ext cx="3474900" cy="0"/>
          </a:xfrm>
          <a:prstGeom prst="straightConnector1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59" name="Google Shape;1759;p124"/>
          <p:cNvSpPr txBox="1"/>
          <p:nvPr/>
        </p:nvSpPr>
        <p:spPr>
          <a:xfrm>
            <a:off x="4763375" y="2955475"/>
            <a:ext cx="12027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Gini=0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0" name="Google Shape;1760;p124"/>
          <p:cNvSpPr/>
          <p:nvPr/>
        </p:nvSpPr>
        <p:spPr>
          <a:xfrm rot="-2425043">
            <a:off x="5512932" y="2611665"/>
            <a:ext cx="780596" cy="327089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4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p1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6" name="Google Shape;1766;p12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Choose this as split value for node.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67" name="Google Shape;1767;p12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68" name="Google Shape;1768;p1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69" name="Google Shape;1769;p125"/>
          <p:cNvGraphicFramePr/>
          <p:nvPr/>
        </p:nvGraphicFramePr>
        <p:xfrm>
          <a:off x="679450" y="2056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{C8394794-0641-439A-A705-68315A265B27}</a:tableStyleId>
              </a:tblPr>
              <a:tblGrid>
                <a:gridCol w="1850900"/>
                <a:gridCol w="1850900"/>
              </a:tblGrid>
              <a:tr h="35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 - Words in Email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Y-Spam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5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70" name="Google Shape;1770;p125"/>
          <p:cNvSpPr/>
          <p:nvPr/>
        </p:nvSpPr>
        <p:spPr>
          <a:xfrm>
            <a:off x="6115225" y="1748300"/>
            <a:ext cx="1605300" cy="6987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Words ≤ 25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1" name="Google Shape;1771;p125"/>
          <p:cNvSpPr/>
          <p:nvPr/>
        </p:nvSpPr>
        <p:spPr>
          <a:xfrm>
            <a:off x="852063" y="3062650"/>
            <a:ext cx="459300" cy="2841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72" name="Google Shape;1772;p125"/>
          <p:cNvCxnSpPr>
            <a:stCxn id="1770" idx="2"/>
          </p:cNvCxnSpPr>
          <p:nvPr/>
        </p:nvCxnSpPr>
        <p:spPr>
          <a:xfrm flipH="1">
            <a:off x="6234775" y="2447000"/>
            <a:ext cx="683100" cy="683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73" name="Google Shape;1773;p125"/>
          <p:cNvCxnSpPr>
            <a:stCxn id="1770" idx="2"/>
            <a:endCxn id="1774" idx="0"/>
          </p:cNvCxnSpPr>
          <p:nvPr/>
        </p:nvCxnSpPr>
        <p:spPr>
          <a:xfrm>
            <a:off x="6917875" y="2447000"/>
            <a:ext cx="927900" cy="683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75" name="Google Shape;1775;p125"/>
          <p:cNvSpPr/>
          <p:nvPr/>
        </p:nvSpPr>
        <p:spPr>
          <a:xfrm>
            <a:off x="5137550" y="3130100"/>
            <a:ext cx="1605300" cy="8595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Spam: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Yes: 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No: 0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4" name="Google Shape;1774;p125"/>
          <p:cNvSpPr/>
          <p:nvPr/>
        </p:nvSpPr>
        <p:spPr>
          <a:xfrm>
            <a:off x="7043175" y="3130100"/>
            <a:ext cx="1605300" cy="8595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Spam: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Yes: 0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No: 3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76" name="Google Shape;1776;p125"/>
          <p:cNvPicPr preferRelativeResize="0"/>
          <p:nvPr/>
        </p:nvPicPr>
        <p:blipFill rotWithShape="1">
          <a:blip r:embed="rId4">
            <a:alphaModFix/>
          </a:blip>
          <a:srcRect b="0" l="0" r="62509" t="0"/>
          <a:stretch/>
        </p:blipFill>
        <p:spPr>
          <a:xfrm>
            <a:off x="4447772" y="4029238"/>
            <a:ext cx="1273576" cy="103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7" name="Google Shape;1777;p125"/>
          <p:cNvSpPr txBox="1"/>
          <p:nvPr/>
        </p:nvSpPr>
        <p:spPr>
          <a:xfrm>
            <a:off x="5734225" y="4104275"/>
            <a:ext cx="32952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sz="31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1" name="Shape 1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" name="Google Shape;1782;p1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3" name="Google Shape;1783;p1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have now calculated gini impurity for features that are: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Binary categories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Continuous numeric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Finally, let’s explore calculating gini impurity for a feature that is multicategorical.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84" name="Google Shape;1784;p12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85" name="Google Shape;1785;p1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9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1790;p1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1" name="Google Shape;1791;p1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Multicategorical feature: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92" name="Google Shape;1792;p12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93" name="Google Shape;1793;p1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94" name="Google Shape;1794;p127"/>
          <p:cNvGraphicFramePr/>
          <p:nvPr/>
        </p:nvGraphicFramePr>
        <p:xfrm>
          <a:off x="679450" y="2056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{C8394794-0641-439A-A705-68315A265B27}</a:tableStyleId>
              </a:tblPr>
              <a:tblGrid>
                <a:gridCol w="1850900"/>
                <a:gridCol w="1850900"/>
              </a:tblGrid>
              <a:tr h="35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 - Sender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Y-Spam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5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Abe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Claire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Abe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8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Google Shape;1799;p1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0" name="Google Shape;1800;p128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Calculate gini impurity for all combinations: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01" name="Google Shape;1801;p12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02" name="Google Shape;1802;p1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03" name="Google Shape;1803;p128"/>
          <p:cNvGraphicFramePr/>
          <p:nvPr/>
        </p:nvGraphicFramePr>
        <p:xfrm>
          <a:off x="679450" y="2056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{C8394794-0641-439A-A705-68315A265B27}</a:tableStyleId>
              </a:tblPr>
              <a:tblGrid>
                <a:gridCol w="1850900"/>
                <a:gridCol w="1850900"/>
              </a:tblGrid>
              <a:tr h="35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 - Sender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Y-Spam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5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Abe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Claire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Abe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7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Google Shape;1808;p1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9" name="Google Shape;1809;p129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Calculate gini impurity for all combinations: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10" name="Google Shape;1810;p12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11" name="Google Shape;1811;p1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12" name="Google Shape;1812;p129"/>
          <p:cNvGraphicFramePr/>
          <p:nvPr/>
        </p:nvGraphicFramePr>
        <p:xfrm>
          <a:off x="679450" y="2056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{C8394794-0641-439A-A705-68315A265B27}</a:tableStyleId>
              </a:tblPr>
              <a:tblGrid>
                <a:gridCol w="1850900"/>
                <a:gridCol w="1850900"/>
              </a:tblGrid>
              <a:tr h="35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 - Sender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Y-Spam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5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Abe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306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20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Claire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Abe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</a:tbl>
          </a:graphicData>
        </a:graphic>
      </p:graphicFrame>
      <p:sp>
        <p:nvSpPr>
          <p:cNvPr id="1813" name="Google Shape;1813;p129"/>
          <p:cNvSpPr/>
          <p:nvPr/>
        </p:nvSpPr>
        <p:spPr>
          <a:xfrm>
            <a:off x="5808325" y="1928950"/>
            <a:ext cx="2147100" cy="5100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Sender == Abe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14" name="Google Shape;1814;p129"/>
          <p:cNvCxnSpPr/>
          <p:nvPr/>
        </p:nvCxnSpPr>
        <p:spPr>
          <a:xfrm flipH="1">
            <a:off x="6234775" y="2447000"/>
            <a:ext cx="683100" cy="683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5" name="Google Shape;1815;p129"/>
          <p:cNvCxnSpPr>
            <a:endCxn id="1816" idx="0"/>
          </p:cNvCxnSpPr>
          <p:nvPr/>
        </p:nvCxnSpPr>
        <p:spPr>
          <a:xfrm>
            <a:off x="6917925" y="2447000"/>
            <a:ext cx="927900" cy="683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17" name="Google Shape;1817;p129"/>
          <p:cNvSpPr/>
          <p:nvPr/>
        </p:nvSpPr>
        <p:spPr>
          <a:xfrm>
            <a:off x="5137550" y="3130100"/>
            <a:ext cx="1605300" cy="8595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Spam: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Yes: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No: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6" name="Google Shape;1816;p129"/>
          <p:cNvSpPr/>
          <p:nvPr/>
        </p:nvSpPr>
        <p:spPr>
          <a:xfrm>
            <a:off x="7043175" y="3130100"/>
            <a:ext cx="1605300" cy="8595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Spam: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Yes: 1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No: 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1" name="Shape 1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" name="Google Shape;1822;p1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3" name="Google Shape;1823;p130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Calculate gini impurity for all combinations: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24" name="Google Shape;1824;p13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25" name="Google Shape;1825;p1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26" name="Google Shape;1826;p130"/>
          <p:cNvGraphicFramePr/>
          <p:nvPr/>
        </p:nvGraphicFramePr>
        <p:xfrm>
          <a:off x="679450" y="2056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{C8394794-0641-439A-A705-68315A265B27}</a:tableStyleId>
              </a:tblPr>
              <a:tblGrid>
                <a:gridCol w="1850900"/>
                <a:gridCol w="1850900"/>
              </a:tblGrid>
              <a:tr h="35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 - Sender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Y-Spam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5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Abe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Claire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Abe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27" name="Google Shape;1827;p130"/>
          <p:cNvSpPr/>
          <p:nvPr/>
        </p:nvSpPr>
        <p:spPr>
          <a:xfrm>
            <a:off x="5808325" y="1928950"/>
            <a:ext cx="2147100" cy="5100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Sender == Abe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28" name="Google Shape;1828;p130"/>
          <p:cNvCxnSpPr>
            <a:stCxn id="1827" idx="2"/>
            <a:endCxn id="1829" idx="0"/>
          </p:cNvCxnSpPr>
          <p:nvPr/>
        </p:nvCxnSpPr>
        <p:spPr>
          <a:xfrm flipH="1">
            <a:off x="6443575" y="2438950"/>
            <a:ext cx="438300" cy="15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0" name="Google Shape;1830;p130"/>
          <p:cNvCxnSpPr>
            <a:stCxn id="1827" idx="2"/>
            <a:endCxn id="1831" idx="0"/>
          </p:cNvCxnSpPr>
          <p:nvPr/>
        </p:nvCxnSpPr>
        <p:spPr>
          <a:xfrm>
            <a:off x="6881875" y="2438950"/>
            <a:ext cx="514500" cy="15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29" name="Google Shape;1829;p130"/>
          <p:cNvSpPr/>
          <p:nvPr/>
        </p:nvSpPr>
        <p:spPr>
          <a:xfrm>
            <a:off x="6160975" y="2594150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1" name="Google Shape;1831;p130"/>
          <p:cNvSpPr/>
          <p:nvPr/>
        </p:nvSpPr>
        <p:spPr>
          <a:xfrm>
            <a:off x="7127600" y="2594150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5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p1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7" name="Google Shape;1837;p131"/>
          <p:cNvSpPr txBox="1"/>
          <p:nvPr>
            <p:ph idx="1" type="body"/>
          </p:nvPr>
        </p:nvSpPr>
        <p:spPr>
          <a:xfrm>
            <a:off x="311700" y="1152475"/>
            <a:ext cx="8832300" cy="6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Calculate gini impurity for all combinations: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38" name="Google Shape;1838;p13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39" name="Google Shape;1839;p1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40" name="Google Shape;1840;p131"/>
          <p:cNvGraphicFramePr/>
          <p:nvPr/>
        </p:nvGraphicFramePr>
        <p:xfrm>
          <a:off x="679450" y="2056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{C8394794-0641-439A-A705-68315A265B27}</a:tableStyleId>
              </a:tblPr>
              <a:tblGrid>
                <a:gridCol w="1850900"/>
                <a:gridCol w="1850900"/>
              </a:tblGrid>
              <a:tr h="35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 - Sender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Y-Spam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5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Abe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Claire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Abe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41" name="Google Shape;1841;p131"/>
          <p:cNvSpPr/>
          <p:nvPr/>
        </p:nvSpPr>
        <p:spPr>
          <a:xfrm>
            <a:off x="4512925" y="1852750"/>
            <a:ext cx="2147100" cy="5100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Sender == Abe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42" name="Google Shape;1842;p131"/>
          <p:cNvCxnSpPr>
            <a:stCxn id="1841" idx="2"/>
            <a:endCxn id="1843" idx="0"/>
          </p:cNvCxnSpPr>
          <p:nvPr/>
        </p:nvCxnSpPr>
        <p:spPr>
          <a:xfrm flipH="1">
            <a:off x="5148175" y="2362750"/>
            <a:ext cx="438300" cy="15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4" name="Google Shape;1844;p131"/>
          <p:cNvCxnSpPr>
            <a:stCxn id="1841" idx="2"/>
            <a:endCxn id="1845" idx="0"/>
          </p:cNvCxnSpPr>
          <p:nvPr/>
        </p:nvCxnSpPr>
        <p:spPr>
          <a:xfrm>
            <a:off x="5586475" y="2362750"/>
            <a:ext cx="514500" cy="15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43" name="Google Shape;1843;p131"/>
          <p:cNvSpPr/>
          <p:nvPr/>
        </p:nvSpPr>
        <p:spPr>
          <a:xfrm>
            <a:off x="4865575" y="2517950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5" name="Google Shape;1845;p131"/>
          <p:cNvSpPr/>
          <p:nvPr/>
        </p:nvSpPr>
        <p:spPr>
          <a:xfrm>
            <a:off x="5832200" y="2517950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6" name="Google Shape;1846;p131"/>
          <p:cNvSpPr/>
          <p:nvPr/>
        </p:nvSpPr>
        <p:spPr>
          <a:xfrm>
            <a:off x="4589125" y="2995750"/>
            <a:ext cx="2147100" cy="5100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Sender == Bob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47" name="Google Shape;1847;p131"/>
          <p:cNvCxnSpPr>
            <a:stCxn id="1846" idx="2"/>
            <a:endCxn id="1848" idx="0"/>
          </p:cNvCxnSpPr>
          <p:nvPr/>
        </p:nvCxnSpPr>
        <p:spPr>
          <a:xfrm flipH="1">
            <a:off x="5224375" y="3505750"/>
            <a:ext cx="438300" cy="15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9" name="Google Shape;1849;p131"/>
          <p:cNvCxnSpPr>
            <a:stCxn id="1846" idx="2"/>
            <a:endCxn id="1850" idx="0"/>
          </p:cNvCxnSpPr>
          <p:nvPr/>
        </p:nvCxnSpPr>
        <p:spPr>
          <a:xfrm>
            <a:off x="5662675" y="3505750"/>
            <a:ext cx="514500" cy="15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48" name="Google Shape;1848;p131"/>
          <p:cNvSpPr/>
          <p:nvPr/>
        </p:nvSpPr>
        <p:spPr>
          <a:xfrm>
            <a:off x="4941775" y="3660950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0" name="Google Shape;1850;p131"/>
          <p:cNvSpPr/>
          <p:nvPr/>
        </p:nvSpPr>
        <p:spPr>
          <a:xfrm>
            <a:off x="5908400" y="3660950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1" name="Google Shape;1851;p131"/>
          <p:cNvSpPr/>
          <p:nvPr/>
        </p:nvSpPr>
        <p:spPr>
          <a:xfrm>
            <a:off x="4505475" y="4085425"/>
            <a:ext cx="2315700" cy="5100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Sender == Claire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52" name="Google Shape;1852;p131"/>
          <p:cNvCxnSpPr>
            <a:stCxn id="1851" idx="2"/>
            <a:endCxn id="1853" idx="0"/>
          </p:cNvCxnSpPr>
          <p:nvPr/>
        </p:nvCxnSpPr>
        <p:spPr>
          <a:xfrm flipH="1">
            <a:off x="5255325" y="4595425"/>
            <a:ext cx="408000" cy="15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4" name="Google Shape;1854;p131"/>
          <p:cNvCxnSpPr>
            <a:stCxn id="1851" idx="2"/>
            <a:endCxn id="1855" idx="0"/>
          </p:cNvCxnSpPr>
          <p:nvPr/>
        </p:nvCxnSpPr>
        <p:spPr>
          <a:xfrm>
            <a:off x="5663325" y="4595425"/>
            <a:ext cx="545100" cy="15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53" name="Google Shape;1853;p131"/>
          <p:cNvSpPr/>
          <p:nvPr/>
        </p:nvSpPr>
        <p:spPr>
          <a:xfrm>
            <a:off x="4972850" y="4750625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5" name="Google Shape;1855;p131"/>
          <p:cNvSpPr/>
          <p:nvPr/>
        </p:nvSpPr>
        <p:spPr>
          <a:xfrm>
            <a:off x="5939475" y="4750625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9" name="Shape 1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0" name="Google Shape;1860;p1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1" name="Google Shape;1861;p132"/>
          <p:cNvSpPr txBox="1"/>
          <p:nvPr>
            <p:ph idx="1" type="body"/>
          </p:nvPr>
        </p:nvSpPr>
        <p:spPr>
          <a:xfrm>
            <a:off x="311700" y="1152475"/>
            <a:ext cx="8832300" cy="6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Calculate gini impurity for all combinations: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62" name="Google Shape;1862;p13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63" name="Google Shape;1863;p1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64" name="Google Shape;1864;p132"/>
          <p:cNvGraphicFramePr/>
          <p:nvPr/>
        </p:nvGraphicFramePr>
        <p:xfrm>
          <a:off x="679450" y="2056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{C8394794-0641-439A-A705-68315A265B27}</a:tableStyleId>
              </a:tblPr>
              <a:tblGrid>
                <a:gridCol w="1850900"/>
                <a:gridCol w="1850900"/>
              </a:tblGrid>
              <a:tr h="35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 - Sender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Y-Spam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5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Abe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Claire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Abe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65" name="Google Shape;1865;p132"/>
          <p:cNvSpPr/>
          <p:nvPr/>
        </p:nvSpPr>
        <p:spPr>
          <a:xfrm>
            <a:off x="4512925" y="1852750"/>
            <a:ext cx="2147100" cy="5100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Sender == Abe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66" name="Google Shape;1866;p132"/>
          <p:cNvCxnSpPr>
            <a:stCxn id="1865" idx="2"/>
            <a:endCxn id="1867" idx="0"/>
          </p:cNvCxnSpPr>
          <p:nvPr/>
        </p:nvCxnSpPr>
        <p:spPr>
          <a:xfrm flipH="1">
            <a:off x="5148175" y="2362750"/>
            <a:ext cx="438300" cy="15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8" name="Google Shape;1868;p132"/>
          <p:cNvCxnSpPr>
            <a:stCxn id="1865" idx="2"/>
            <a:endCxn id="1869" idx="0"/>
          </p:cNvCxnSpPr>
          <p:nvPr/>
        </p:nvCxnSpPr>
        <p:spPr>
          <a:xfrm>
            <a:off x="5586475" y="2362750"/>
            <a:ext cx="514500" cy="15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67" name="Google Shape;1867;p132"/>
          <p:cNvSpPr/>
          <p:nvPr/>
        </p:nvSpPr>
        <p:spPr>
          <a:xfrm>
            <a:off x="4865575" y="2517950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9" name="Google Shape;1869;p132"/>
          <p:cNvSpPr/>
          <p:nvPr/>
        </p:nvSpPr>
        <p:spPr>
          <a:xfrm>
            <a:off x="5832200" y="2517950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0" name="Google Shape;1870;p132"/>
          <p:cNvSpPr/>
          <p:nvPr/>
        </p:nvSpPr>
        <p:spPr>
          <a:xfrm>
            <a:off x="4589125" y="2995750"/>
            <a:ext cx="2147100" cy="5100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Sender == Bob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71" name="Google Shape;1871;p132"/>
          <p:cNvCxnSpPr>
            <a:stCxn id="1870" idx="2"/>
            <a:endCxn id="1872" idx="0"/>
          </p:cNvCxnSpPr>
          <p:nvPr/>
        </p:nvCxnSpPr>
        <p:spPr>
          <a:xfrm flipH="1">
            <a:off x="5224375" y="3505750"/>
            <a:ext cx="438300" cy="15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3" name="Google Shape;1873;p132"/>
          <p:cNvCxnSpPr>
            <a:stCxn id="1870" idx="2"/>
            <a:endCxn id="1874" idx="0"/>
          </p:cNvCxnSpPr>
          <p:nvPr/>
        </p:nvCxnSpPr>
        <p:spPr>
          <a:xfrm>
            <a:off x="5662675" y="3505750"/>
            <a:ext cx="514500" cy="15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72" name="Google Shape;1872;p132"/>
          <p:cNvSpPr/>
          <p:nvPr/>
        </p:nvSpPr>
        <p:spPr>
          <a:xfrm>
            <a:off x="4941775" y="3660950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4" name="Google Shape;1874;p132"/>
          <p:cNvSpPr/>
          <p:nvPr/>
        </p:nvSpPr>
        <p:spPr>
          <a:xfrm>
            <a:off x="5908400" y="3660950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5" name="Google Shape;1875;p132"/>
          <p:cNvSpPr/>
          <p:nvPr/>
        </p:nvSpPr>
        <p:spPr>
          <a:xfrm>
            <a:off x="4505475" y="4085425"/>
            <a:ext cx="2315700" cy="5100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Sender == Claire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76" name="Google Shape;1876;p132"/>
          <p:cNvCxnSpPr>
            <a:stCxn id="1875" idx="2"/>
            <a:endCxn id="1877" idx="0"/>
          </p:cNvCxnSpPr>
          <p:nvPr/>
        </p:nvCxnSpPr>
        <p:spPr>
          <a:xfrm flipH="1">
            <a:off x="5255325" y="4595425"/>
            <a:ext cx="408000" cy="15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8" name="Google Shape;1878;p132"/>
          <p:cNvCxnSpPr>
            <a:stCxn id="1875" idx="2"/>
            <a:endCxn id="1879" idx="0"/>
          </p:cNvCxnSpPr>
          <p:nvPr/>
        </p:nvCxnSpPr>
        <p:spPr>
          <a:xfrm>
            <a:off x="5663325" y="4595425"/>
            <a:ext cx="545100" cy="15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77" name="Google Shape;1877;p132"/>
          <p:cNvSpPr/>
          <p:nvPr/>
        </p:nvSpPr>
        <p:spPr>
          <a:xfrm>
            <a:off x="4972850" y="4750625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9" name="Google Shape;1879;p132"/>
          <p:cNvSpPr/>
          <p:nvPr/>
        </p:nvSpPr>
        <p:spPr>
          <a:xfrm>
            <a:off x="5939475" y="4750625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0" name="Google Shape;1880;p132"/>
          <p:cNvSpPr/>
          <p:nvPr/>
        </p:nvSpPr>
        <p:spPr>
          <a:xfrm>
            <a:off x="6875125" y="1852750"/>
            <a:ext cx="2147100" cy="5100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Sender == 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Abe or Bob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81" name="Google Shape;1881;p132"/>
          <p:cNvCxnSpPr>
            <a:stCxn id="1880" idx="2"/>
            <a:endCxn id="1882" idx="0"/>
          </p:cNvCxnSpPr>
          <p:nvPr/>
        </p:nvCxnSpPr>
        <p:spPr>
          <a:xfrm flipH="1">
            <a:off x="7510375" y="2362750"/>
            <a:ext cx="438300" cy="15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3" name="Google Shape;1883;p132"/>
          <p:cNvCxnSpPr>
            <a:stCxn id="1880" idx="2"/>
            <a:endCxn id="1884" idx="0"/>
          </p:cNvCxnSpPr>
          <p:nvPr/>
        </p:nvCxnSpPr>
        <p:spPr>
          <a:xfrm>
            <a:off x="7948675" y="2362750"/>
            <a:ext cx="514500" cy="15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82" name="Google Shape;1882;p132"/>
          <p:cNvSpPr/>
          <p:nvPr/>
        </p:nvSpPr>
        <p:spPr>
          <a:xfrm>
            <a:off x="7227775" y="2517950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4" name="Google Shape;1884;p132"/>
          <p:cNvSpPr/>
          <p:nvPr/>
        </p:nvSpPr>
        <p:spPr>
          <a:xfrm>
            <a:off x="8194400" y="2517950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5" name="Google Shape;1885;p132"/>
          <p:cNvSpPr/>
          <p:nvPr/>
        </p:nvSpPr>
        <p:spPr>
          <a:xfrm>
            <a:off x="6875125" y="2995750"/>
            <a:ext cx="2147100" cy="5100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Sender == 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Claire or Bob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86" name="Google Shape;1886;p132"/>
          <p:cNvCxnSpPr>
            <a:stCxn id="1885" idx="2"/>
            <a:endCxn id="1887" idx="0"/>
          </p:cNvCxnSpPr>
          <p:nvPr/>
        </p:nvCxnSpPr>
        <p:spPr>
          <a:xfrm flipH="1">
            <a:off x="7510375" y="3505750"/>
            <a:ext cx="438300" cy="15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8" name="Google Shape;1888;p132"/>
          <p:cNvCxnSpPr>
            <a:stCxn id="1885" idx="2"/>
            <a:endCxn id="1889" idx="0"/>
          </p:cNvCxnSpPr>
          <p:nvPr/>
        </p:nvCxnSpPr>
        <p:spPr>
          <a:xfrm>
            <a:off x="7948675" y="3505750"/>
            <a:ext cx="514500" cy="15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87" name="Google Shape;1887;p132"/>
          <p:cNvSpPr/>
          <p:nvPr/>
        </p:nvSpPr>
        <p:spPr>
          <a:xfrm>
            <a:off x="7227775" y="3660950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9" name="Google Shape;1889;p132"/>
          <p:cNvSpPr/>
          <p:nvPr/>
        </p:nvSpPr>
        <p:spPr>
          <a:xfrm>
            <a:off x="8194400" y="3660950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0" name="Google Shape;1890;p132"/>
          <p:cNvSpPr/>
          <p:nvPr/>
        </p:nvSpPr>
        <p:spPr>
          <a:xfrm>
            <a:off x="6875125" y="4062550"/>
            <a:ext cx="2147100" cy="5100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Sender == 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Abe or Claire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91" name="Google Shape;1891;p132"/>
          <p:cNvCxnSpPr>
            <a:stCxn id="1890" idx="2"/>
            <a:endCxn id="1892" idx="0"/>
          </p:cNvCxnSpPr>
          <p:nvPr/>
        </p:nvCxnSpPr>
        <p:spPr>
          <a:xfrm flipH="1">
            <a:off x="7510375" y="4572550"/>
            <a:ext cx="438300" cy="15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3" name="Google Shape;1893;p132"/>
          <p:cNvCxnSpPr>
            <a:stCxn id="1890" idx="2"/>
            <a:endCxn id="1894" idx="0"/>
          </p:cNvCxnSpPr>
          <p:nvPr/>
        </p:nvCxnSpPr>
        <p:spPr>
          <a:xfrm>
            <a:off x="7948675" y="4572550"/>
            <a:ext cx="514500" cy="15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92" name="Google Shape;1892;p132"/>
          <p:cNvSpPr/>
          <p:nvPr/>
        </p:nvSpPr>
        <p:spPr>
          <a:xfrm>
            <a:off x="7227775" y="4727750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4" name="Google Shape;1894;p132"/>
          <p:cNvSpPr/>
          <p:nvPr/>
        </p:nvSpPr>
        <p:spPr>
          <a:xfrm>
            <a:off x="8194400" y="4727750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8" name="Shape 1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9" name="Google Shape;1899;p1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0" name="Google Shape;1900;p133"/>
          <p:cNvSpPr txBox="1"/>
          <p:nvPr>
            <p:ph idx="1" type="body"/>
          </p:nvPr>
        </p:nvSpPr>
        <p:spPr>
          <a:xfrm>
            <a:off x="311700" y="1152475"/>
            <a:ext cx="8832300" cy="6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Choose lowest impurity split combination.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01" name="Google Shape;1901;p13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02" name="Google Shape;1902;p1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03" name="Google Shape;1903;p133"/>
          <p:cNvGraphicFramePr/>
          <p:nvPr/>
        </p:nvGraphicFramePr>
        <p:xfrm>
          <a:off x="679450" y="2056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{C8394794-0641-439A-A705-68315A265B27}</a:tableStyleId>
              </a:tblPr>
              <a:tblGrid>
                <a:gridCol w="1850900"/>
                <a:gridCol w="1850900"/>
              </a:tblGrid>
              <a:tr h="35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 - Sender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Y-Spam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5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Abe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Claire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Abe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04" name="Google Shape;1904;p133"/>
          <p:cNvSpPr/>
          <p:nvPr/>
        </p:nvSpPr>
        <p:spPr>
          <a:xfrm>
            <a:off x="4512925" y="1852750"/>
            <a:ext cx="2147100" cy="5100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Sender == Abe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905" name="Google Shape;1905;p133"/>
          <p:cNvCxnSpPr>
            <a:stCxn id="1904" idx="2"/>
            <a:endCxn id="1906" idx="0"/>
          </p:cNvCxnSpPr>
          <p:nvPr/>
        </p:nvCxnSpPr>
        <p:spPr>
          <a:xfrm flipH="1">
            <a:off x="5148175" y="2362750"/>
            <a:ext cx="438300" cy="15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07" name="Google Shape;1907;p133"/>
          <p:cNvCxnSpPr>
            <a:stCxn id="1904" idx="2"/>
            <a:endCxn id="1908" idx="0"/>
          </p:cNvCxnSpPr>
          <p:nvPr/>
        </p:nvCxnSpPr>
        <p:spPr>
          <a:xfrm>
            <a:off x="5586475" y="2362750"/>
            <a:ext cx="514500" cy="15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06" name="Google Shape;1906;p133"/>
          <p:cNvSpPr/>
          <p:nvPr/>
        </p:nvSpPr>
        <p:spPr>
          <a:xfrm>
            <a:off x="4865575" y="2517950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8" name="Google Shape;1908;p133"/>
          <p:cNvSpPr/>
          <p:nvPr/>
        </p:nvSpPr>
        <p:spPr>
          <a:xfrm>
            <a:off x="5832200" y="2517950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9" name="Google Shape;1909;p133"/>
          <p:cNvSpPr/>
          <p:nvPr/>
        </p:nvSpPr>
        <p:spPr>
          <a:xfrm>
            <a:off x="4589125" y="2995750"/>
            <a:ext cx="2147100" cy="5100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Sender == Bob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910" name="Google Shape;1910;p133"/>
          <p:cNvCxnSpPr>
            <a:stCxn id="1909" idx="2"/>
            <a:endCxn id="1911" idx="0"/>
          </p:cNvCxnSpPr>
          <p:nvPr/>
        </p:nvCxnSpPr>
        <p:spPr>
          <a:xfrm flipH="1">
            <a:off x="5224375" y="3505750"/>
            <a:ext cx="438300" cy="15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2" name="Google Shape;1912;p133"/>
          <p:cNvCxnSpPr>
            <a:stCxn id="1909" idx="2"/>
            <a:endCxn id="1913" idx="0"/>
          </p:cNvCxnSpPr>
          <p:nvPr/>
        </p:nvCxnSpPr>
        <p:spPr>
          <a:xfrm>
            <a:off x="5662675" y="3505750"/>
            <a:ext cx="514500" cy="15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11" name="Google Shape;1911;p133"/>
          <p:cNvSpPr/>
          <p:nvPr/>
        </p:nvSpPr>
        <p:spPr>
          <a:xfrm>
            <a:off x="4941775" y="3660950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3" name="Google Shape;1913;p133"/>
          <p:cNvSpPr/>
          <p:nvPr/>
        </p:nvSpPr>
        <p:spPr>
          <a:xfrm>
            <a:off x="5908400" y="3660950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4" name="Google Shape;1914;p133"/>
          <p:cNvSpPr/>
          <p:nvPr/>
        </p:nvSpPr>
        <p:spPr>
          <a:xfrm>
            <a:off x="4505475" y="4085425"/>
            <a:ext cx="2315700" cy="5100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Sender == Claire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915" name="Google Shape;1915;p133"/>
          <p:cNvCxnSpPr>
            <a:stCxn id="1914" idx="2"/>
            <a:endCxn id="1916" idx="0"/>
          </p:cNvCxnSpPr>
          <p:nvPr/>
        </p:nvCxnSpPr>
        <p:spPr>
          <a:xfrm flipH="1">
            <a:off x="5255325" y="4595425"/>
            <a:ext cx="408000" cy="15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7" name="Google Shape;1917;p133"/>
          <p:cNvCxnSpPr>
            <a:stCxn id="1914" idx="2"/>
            <a:endCxn id="1918" idx="0"/>
          </p:cNvCxnSpPr>
          <p:nvPr/>
        </p:nvCxnSpPr>
        <p:spPr>
          <a:xfrm>
            <a:off x="5663325" y="4595425"/>
            <a:ext cx="545100" cy="15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16" name="Google Shape;1916;p133"/>
          <p:cNvSpPr/>
          <p:nvPr/>
        </p:nvSpPr>
        <p:spPr>
          <a:xfrm>
            <a:off x="4972850" y="4750625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8" name="Google Shape;1918;p133"/>
          <p:cNvSpPr/>
          <p:nvPr/>
        </p:nvSpPr>
        <p:spPr>
          <a:xfrm>
            <a:off x="5939475" y="4750625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9" name="Google Shape;1919;p133"/>
          <p:cNvSpPr/>
          <p:nvPr/>
        </p:nvSpPr>
        <p:spPr>
          <a:xfrm>
            <a:off x="6875125" y="1852750"/>
            <a:ext cx="2147100" cy="5100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Sender == 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Abe or Bob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920" name="Google Shape;1920;p133"/>
          <p:cNvCxnSpPr>
            <a:stCxn id="1919" idx="2"/>
            <a:endCxn id="1921" idx="0"/>
          </p:cNvCxnSpPr>
          <p:nvPr/>
        </p:nvCxnSpPr>
        <p:spPr>
          <a:xfrm flipH="1">
            <a:off x="7510375" y="2362750"/>
            <a:ext cx="438300" cy="15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2" name="Google Shape;1922;p133"/>
          <p:cNvCxnSpPr>
            <a:stCxn id="1919" idx="2"/>
            <a:endCxn id="1923" idx="0"/>
          </p:cNvCxnSpPr>
          <p:nvPr/>
        </p:nvCxnSpPr>
        <p:spPr>
          <a:xfrm>
            <a:off x="7948675" y="2362750"/>
            <a:ext cx="514500" cy="15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21" name="Google Shape;1921;p133"/>
          <p:cNvSpPr/>
          <p:nvPr/>
        </p:nvSpPr>
        <p:spPr>
          <a:xfrm>
            <a:off x="7227775" y="2517950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3" name="Google Shape;1923;p133"/>
          <p:cNvSpPr/>
          <p:nvPr/>
        </p:nvSpPr>
        <p:spPr>
          <a:xfrm>
            <a:off x="8194400" y="2517950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4" name="Google Shape;1924;p133"/>
          <p:cNvSpPr/>
          <p:nvPr/>
        </p:nvSpPr>
        <p:spPr>
          <a:xfrm>
            <a:off x="6875125" y="2995750"/>
            <a:ext cx="2147100" cy="5100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Sender == 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Claire or Bob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925" name="Google Shape;1925;p133"/>
          <p:cNvCxnSpPr>
            <a:stCxn id="1924" idx="2"/>
            <a:endCxn id="1926" idx="0"/>
          </p:cNvCxnSpPr>
          <p:nvPr/>
        </p:nvCxnSpPr>
        <p:spPr>
          <a:xfrm flipH="1">
            <a:off x="7510375" y="3505750"/>
            <a:ext cx="438300" cy="15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7" name="Google Shape;1927;p133"/>
          <p:cNvCxnSpPr>
            <a:stCxn id="1924" idx="2"/>
            <a:endCxn id="1928" idx="0"/>
          </p:cNvCxnSpPr>
          <p:nvPr/>
        </p:nvCxnSpPr>
        <p:spPr>
          <a:xfrm>
            <a:off x="7948675" y="3505750"/>
            <a:ext cx="514500" cy="15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26" name="Google Shape;1926;p133"/>
          <p:cNvSpPr/>
          <p:nvPr/>
        </p:nvSpPr>
        <p:spPr>
          <a:xfrm>
            <a:off x="7227775" y="3660950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8" name="Google Shape;1928;p133"/>
          <p:cNvSpPr/>
          <p:nvPr/>
        </p:nvSpPr>
        <p:spPr>
          <a:xfrm>
            <a:off x="8194400" y="3660950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9" name="Google Shape;1929;p133"/>
          <p:cNvSpPr/>
          <p:nvPr/>
        </p:nvSpPr>
        <p:spPr>
          <a:xfrm>
            <a:off x="6875125" y="4062550"/>
            <a:ext cx="2147100" cy="5100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Sender == 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Abe or Claire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930" name="Google Shape;1930;p133"/>
          <p:cNvCxnSpPr>
            <a:stCxn id="1929" idx="2"/>
            <a:endCxn id="1931" idx="0"/>
          </p:cNvCxnSpPr>
          <p:nvPr/>
        </p:nvCxnSpPr>
        <p:spPr>
          <a:xfrm flipH="1">
            <a:off x="7510375" y="4572550"/>
            <a:ext cx="438300" cy="15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2" name="Google Shape;1932;p133"/>
          <p:cNvCxnSpPr>
            <a:stCxn id="1929" idx="2"/>
            <a:endCxn id="1933" idx="0"/>
          </p:cNvCxnSpPr>
          <p:nvPr/>
        </p:nvCxnSpPr>
        <p:spPr>
          <a:xfrm>
            <a:off x="7948675" y="4572550"/>
            <a:ext cx="514500" cy="15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31" name="Google Shape;1931;p133"/>
          <p:cNvSpPr/>
          <p:nvPr/>
        </p:nvSpPr>
        <p:spPr>
          <a:xfrm>
            <a:off x="7227775" y="4727750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3" name="Google Shape;1933;p133"/>
          <p:cNvSpPr/>
          <p:nvPr/>
        </p:nvSpPr>
        <p:spPr>
          <a:xfrm>
            <a:off x="8194400" y="4727750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7" name="Shape 1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8" name="Google Shape;1938;p1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9" name="Google Shape;1939;p13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we can split any type of feature.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 does the decision tree decide on the root node of a multi-feature dataset?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Calculate the gini impurity values of each feature and choose the lowest impurity value to split on first.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40" name="Google Shape;1940;p13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41" name="Google Shape;1941;p1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5" name="Shape 1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p1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7" name="Google Shape;1947;p13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By choosing the feature with the lowest resulting gini impurity in its leaf nodes, we are choosing the feature that best splits the data into “pure” classes.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48" name="Google Shape;1948;p13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49" name="Google Shape;1949;p1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3" name="Shape 1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4" name="Google Shape;1954;p1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5" name="Google Shape;1955;p13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should also note, by using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gini impurity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as a measurement of the effectiveness of a node split, we can perform automatic feature selection by mandating an impurity threshold for an additional feature based split to occur.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56" name="Google Shape;1956;p13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57" name="Google Shape;1957;p1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1" name="Shape 1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2" name="Google Shape;1962;p1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3" name="Google Shape;1963;p137"/>
          <p:cNvSpPr txBox="1"/>
          <p:nvPr>
            <p:ph idx="1" type="body"/>
          </p:nvPr>
        </p:nvSpPr>
        <p:spPr>
          <a:xfrm>
            <a:off x="311700" y="1152475"/>
            <a:ext cx="868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large overfitted tree: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64" name="Google Shape;1964;p13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65" name="Google Shape;1965;p1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966" name="Google Shape;1966;p137"/>
          <p:cNvSpPr/>
          <p:nvPr/>
        </p:nvSpPr>
        <p:spPr>
          <a:xfrm>
            <a:off x="4041050" y="191005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967" name="Google Shape;1967;p137"/>
          <p:cNvCxnSpPr>
            <a:stCxn id="1966" idx="2"/>
            <a:endCxn id="1968" idx="0"/>
          </p:cNvCxnSpPr>
          <p:nvPr/>
        </p:nvCxnSpPr>
        <p:spPr>
          <a:xfrm flipH="1">
            <a:off x="3718550" y="2294050"/>
            <a:ext cx="591300" cy="264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9" name="Google Shape;1969;p137"/>
          <p:cNvCxnSpPr>
            <a:stCxn id="1966" idx="2"/>
            <a:endCxn id="1970" idx="0"/>
          </p:cNvCxnSpPr>
          <p:nvPr/>
        </p:nvCxnSpPr>
        <p:spPr>
          <a:xfrm>
            <a:off x="4309850" y="2294050"/>
            <a:ext cx="705600" cy="295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68" name="Google Shape;1968;p137"/>
          <p:cNvSpPr/>
          <p:nvPr/>
        </p:nvSpPr>
        <p:spPr>
          <a:xfrm>
            <a:off x="3449625" y="255835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0" name="Google Shape;1970;p137"/>
          <p:cNvSpPr/>
          <p:nvPr/>
        </p:nvSpPr>
        <p:spPr>
          <a:xfrm>
            <a:off x="4746775" y="2589425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1" name="Google Shape;1971;p137"/>
          <p:cNvSpPr/>
          <p:nvPr/>
        </p:nvSpPr>
        <p:spPr>
          <a:xfrm>
            <a:off x="2541075" y="324825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2" name="Google Shape;1972;p137"/>
          <p:cNvSpPr/>
          <p:nvPr/>
        </p:nvSpPr>
        <p:spPr>
          <a:xfrm>
            <a:off x="3606125" y="328460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3" name="Google Shape;1973;p137"/>
          <p:cNvSpPr/>
          <p:nvPr/>
        </p:nvSpPr>
        <p:spPr>
          <a:xfrm>
            <a:off x="4887450" y="328460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4" name="Google Shape;1974;p137"/>
          <p:cNvSpPr/>
          <p:nvPr/>
        </p:nvSpPr>
        <p:spPr>
          <a:xfrm>
            <a:off x="4579438" y="401510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5" name="Google Shape;1975;p137"/>
          <p:cNvSpPr/>
          <p:nvPr/>
        </p:nvSpPr>
        <p:spPr>
          <a:xfrm>
            <a:off x="5425050" y="401510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6" name="Google Shape;1976;p137"/>
          <p:cNvSpPr/>
          <p:nvPr/>
        </p:nvSpPr>
        <p:spPr>
          <a:xfrm>
            <a:off x="3170050" y="401085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7" name="Google Shape;1977;p137"/>
          <p:cNvSpPr/>
          <p:nvPr/>
        </p:nvSpPr>
        <p:spPr>
          <a:xfrm>
            <a:off x="3874750" y="401085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8" name="Google Shape;1978;p137"/>
          <p:cNvSpPr/>
          <p:nvPr/>
        </p:nvSpPr>
        <p:spPr>
          <a:xfrm>
            <a:off x="1597950" y="401085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9" name="Google Shape;1979;p137"/>
          <p:cNvSpPr/>
          <p:nvPr/>
        </p:nvSpPr>
        <p:spPr>
          <a:xfrm>
            <a:off x="2473100" y="401085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980" name="Google Shape;1980;p137"/>
          <p:cNvCxnSpPr>
            <a:stCxn id="1970" idx="2"/>
            <a:endCxn id="1973" idx="0"/>
          </p:cNvCxnSpPr>
          <p:nvPr/>
        </p:nvCxnSpPr>
        <p:spPr>
          <a:xfrm>
            <a:off x="5015575" y="2973425"/>
            <a:ext cx="140700" cy="31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1" name="Google Shape;1981;p137"/>
          <p:cNvCxnSpPr>
            <a:stCxn id="1973" idx="2"/>
            <a:endCxn id="1975" idx="0"/>
          </p:cNvCxnSpPr>
          <p:nvPr/>
        </p:nvCxnSpPr>
        <p:spPr>
          <a:xfrm>
            <a:off x="5156250" y="3668600"/>
            <a:ext cx="537600" cy="346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2" name="Google Shape;1982;p137"/>
          <p:cNvCxnSpPr>
            <a:stCxn id="1973" idx="2"/>
            <a:endCxn id="1974" idx="0"/>
          </p:cNvCxnSpPr>
          <p:nvPr/>
        </p:nvCxnSpPr>
        <p:spPr>
          <a:xfrm flipH="1">
            <a:off x="4848150" y="3668600"/>
            <a:ext cx="308100" cy="346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3" name="Google Shape;1983;p137"/>
          <p:cNvCxnSpPr>
            <a:stCxn id="1968" idx="2"/>
            <a:endCxn id="1972" idx="0"/>
          </p:cNvCxnSpPr>
          <p:nvPr/>
        </p:nvCxnSpPr>
        <p:spPr>
          <a:xfrm>
            <a:off x="3718425" y="2942350"/>
            <a:ext cx="156600" cy="34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4" name="Google Shape;1984;p137"/>
          <p:cNvCxnSpPr>
            <a:stCxn id="1968" idx="2"/>
            <a:endCxn id="1971" idx="0"/>
          </p:cNvCxnSpPr>
          <p:nvPr/>
        </p:nvCxnSpPr>
        <p:spPr>
          <a:xfrm flipH="1">
            <a:off x="2810025" y="2942350"/>
            <a:ext cx="908400" cy="306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5" name="Google Shape;1985;p137"/>
          <p:cNvCxnSpPr>
            <a:stCxn id="1971" idx="2"/>
            <a:endCxn id="1978" idx="0"/>
          </p:cNvCxnSpPr>
          <p:nvPr/>
        </p:nvCxnSpPr>
        <p:spPr>
          <a:xfrm flipH="1">
            <a:off x="1866675" y="3632250"/>
            <a:ext cx="943200" cy="378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6" name="Google Shape;1986;p137"/>
          <p:cNvCxnSpPr>
            <a:stCxn id="1971" idx="2"/>
            <a:endCxn id="1979" idx="0"/>
          </p:cNvCxnSpPr>
          <p:nvPr/>
        </p:nvCxnSpPr>
        <p:spPr>
          <a:xfrm flipH="1">
            <a:off x="2741775" y="3632250"/>
            <a:ext cx="68100" cy="378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7" name="Google Shape;1987;p137"/>
          <p:cNvCxnSpPr>
            <a:stCxn id="1972" idx="2"/>
            <a:endCxn id="1976" idx="0"/>
          </p:cNvCxnSpPr>
          <p:nvPr/>
        </p:nvCxnSpPr>
        <p:spPr>
          <a:xfrm flipH="1">
            <a:off x="3438725" y="3668600"/>
            <a:ext cx="436200" cy="34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8" name="Google Shape;1988;p137"/>
          <p:cNvCxnSpPr>
            <a:stCxn id="1972" idx="2"/>
            <a:endCxn id="1977" idx="0"/>
          </p:cNvCxnSpPr>
          <p:nvPr/>
        </p:nvCxnSpPr>
        <p:spPr>
          <a:xfrm>
            <a:off x="3874925" y="3668600"/>
            <a:ext cx="268500" cy="34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89" name="Google Shape;1989;p137"/>
          <p:cNvSpPr/>
          <p:nvPr/>
        </p:nvSpPr>
        <p:spPr>
          <a:xfrm>
            <a:off x="6110525" y="328460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990" name="Google Shape;1990;p137"/>
          <p:cNvCxnSpPr>
            <a:endCxn id="1989" idx="0"/>
          </p:cNvCxnSpPr>
          <p:nvPr/>
        </p:nvCxnSpPr>
        <p:spPr>
          <a:xfrm>
            <a:off x="5015525" y="2973500"/>
            <a:ext cx="1363800" cy="31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4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Google Shape;1995;p13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6" name="Google Shape;1996;p138"/>
          <p:cNvSpPr txBox="1"/>
          <p:nvPr>
            <p:ph idx="1" type="body"/>
          </p:nvPr>
        </p:nvSpPr>
        <p:spPr>
          <a:xfrm>
            <a:off x="311700" y="1152475"/>
            <a:ext cx="868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Add minimum gini impurity decrease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97" name="Google Shape;1997;p13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98" name="Google Shape;1998;p1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999" name="Google Shape;1999;p138"/>
          <p:cNvSpPr/>
          <p:nvPr/>
        </p:nvSpPr>
        <p:spPr>
          <a:xfrm>
            <a:off x="4041050" y="191005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00" name="Google Shape;2000;p138"/>
          <p:cNvCxnSpPr>
            <a:stCxn id="1999" idx="2"/>
            <a:endCxn id="2001" idx="0"/>
          </p:cNvCxnSpPr>
          <p:nvPr/>
        </p:nvCxnSpPr>
        <p:spPr>
          <a:xfrm flipH="1">
            <a:off x="3718550" y="2294050"/>
            <a:ext cx="591300" cy="264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2" name="Google Shape;2002;p138"/>
          <p:cNvCxnSpPr>
            <a:stCxn id="1999" idx="2"/>
            <a:endCxn id="2003" idx="0"/>
          </p:cNvCxnSpPr>
          <p:nvPr/>
        </p:nvCxnSpPr>
        <p:spPr>
          <a:xfrm>
            <a:off x="4309850" y="2294050"/>
            <a:ext cx="705600" cy="295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01" name="Google Shape;2001;p138"/>
          <p:cNvSpPr/>
          <p:nvPr/>
        </p:nvSpPr>
        <p:spPr>
          <a:xfrm>
            <a:off x="3449625" y="255835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3" name="Google Shape;2003;p138"/>
          <p:cNvSpPr/>
          <p:nvPr/>
        </p:nvSpPr>
        <p:spPr>
          <a:xfrm>
            <a:off x="4746775" y="2589425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4" name="Google Shape;2004;p138"/>
          <p:cNvSpPr/>
          <p:nvPr/>
        </p:nvSpPr>
        <p:spPr>
          <a:xfrm>
            <a:off x="2541075" y="324825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5" name="Google Shape;2005;p138"/>
          <p:cNvSpPr/>
          <p:nvPr/>
        </p:nvSpPr>
        <p:spPr>
          <a:xfrm>
            <a:off x="3606125" y="328460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6" name="Google Shape;2006;p138"/>
          <p:cNvSpPr/>
          <p:nvPr/>
        </p:nvSpPr>
        <p:spPr>
          <a:xfrm>
            <a:off x="4887450" y="328460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7" name="Google Shape;2007;p138"/>
          <p:cNvSpPr/>
          <p:nvPr/>
        </p:nvSpPr>
        <p:spPr>
          <a:xfrm>
            <a:off x="4579438" y="401510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8" name="Google Shape;2008;p138"/>
          <p:cNvSpPr/>
          <p:nvPr/>
        </p:nvSpPr>
        <p:spPr>
          <a:xfrm>
            <a:off x="5425050" y="401510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9" name="Google Shape;2009;p138"/>
          <p:cNvSpPr/>
          <p:nvPr/>
        </p:nvSpPr>
        <p:spPr>
          <a:xfrm>
            <a:off x="3170050" y="401085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10" name="Google Shape;2010;p138"/>
          <p:cNvSpPr/>
          <p:nvPr/>
        </p:nvSpPr>
        <p:spPr>
          <a:xfrm>
            <a:off x="3874750" y="401085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11" name="Google Shape;2011;p138"/>
          <p:cNvSpPr/>
          <p:nvPr/>
        </p:nvSpPr>
        <p:spPr>
          <a:xfrm>
            <a:off x="1597950" y="401085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12" name="Google Shape;2012;p138"/>
          <p:cNvSpPr/>
          <p:nvPr/>
        </p:nvSpPr>
        <p:spPr>
          <a:xfrm>
            <a:off x="2473100" y="401085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13" name="Google Shape;2013;p138"/>
          <p:cNvCxnSpPr>
            <a:stCxn id="2003" idx="2"/>
            <a:endCxn id="2006" idx="0"/>
          </p:cNvCxnSpPr>
          <p:nvPr/>
        </p:nvCxnSpPr>
        <p:spPr>
          <a:xfrm>
            <a:off x="5015575" y="2973425"/>
            <a:ext cx="140700" cy="31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4" name="Google Shape;2014;p138"/>
          <p:cNvCxnSpPr>
            <a:stCxn id="2006" idx="2"/>
            <a:endCxn id="2008" idx="0"/>
          </p:cNvCxnSpPr>
          <p:nvPr/>
        </p:nvCxnSpPr>
        <p:spPr>
          <a:xfrm>
            <a:off x="5156250" y="3668600"/>
            <a:ext cx="537600" cy="346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5" name="Google Shape;2015;p138"/>
          <p:cNvCxnSpPr>
            <a:stCxn id="2006" idx="2"/>
            <a:endCxn id="2007" idx="0"/>
          </p:cNvCxnSpPr>
          <p:nvPr/>
        </p:nvCxnSpPr>
        <p:spPr>
          <a:xfrm flipH="1">
            <a:off x="4848150" y="3668600"/>
            <a:ext cx="308100" cy="346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6" name="Google Shape;2016;p138"/>
          <p:cNvCxnSpPr>
            <a:stCxn id="2001" idx="2"/>
            <a:endCxn id="2005" idx="0"/>
          </p:cNvCxnSpPr>
          <p:nvPr/>
        </p:nvCxnSpPr>
        <p:spPr>
          <a:xfrm>
            <a:off x="3718425" y="2942350"/>
            <a:ext cx="156600" cy="34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7" name="Google Shape;2017;p138"/>
          <p:cNvCxnSpPr>
            <a:stCxn id="2001" idx="2"/>
            <a:endCxn id="2004" idx="0"/>
          </p:cNvCxnSpPr>
          <p:nvPr/>
        </p:nvCxnSpPr>
        <p:spPr>
          <a:xfrm flipH="1">
            <a:off x="2810025" y="2942350"/>
            <a:ext cx="908400" cy="306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8" name="Google Shape;2018;p138"/>
          <p:cNvCxnSpPr>
            <a:stCxn id="2004" idx="2"/>
            <a:endCxn id="2011" idx="0"/>
          </p:cNvCxnSpPr>
          <p:nvPr/>
        </p:nvCxnSpPr>
        <p:spPr>
          <a:xfrm flipH="1">
            <a:off x="1866675" y="3632250"/>
            <a:ext cx="943200" cy="378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9" name="Google Shape;2019;p138"/>
          <p:cNvCxnSpPr>
            <a:stCxn id="2004" idx="2"/>
            <a:endCxn id="2012" idx="0"/>
          </p:cNvCxnSpPr>
          <p:nvPr/>
        </p:nvCxnSpPr>
        <p:spPr>
          <a:xfrm flipH="1">
            <a:off x="2741775" y="3632250"/>
            <a:ext cx="68100" cy="378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20" name="Google Shape;2020;p138"/>
          <p:cNvCxnSpPr>
            <a:stCxn id="2005" idx="2"/>
            <a:endCxn id="2009" idx="0"/>
          </p:cNvCxnSpPr>
          <p:nvPr/>
        </p:nvCxnSpPr>
        <p:spPr>
          <a:xfrm flipH="1">
            <a:off x="3438725" y="3668600"/>
            <a:ext cx="436200" cy="34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21" name="Google Shape;2021;p138"/>
          <p:cNvCxnSpPr>
            <a:stCxn id="2005" idx="2"/>
            <a:endCxn id="2010" idx="0"/>
          </p:cNvCxnSpPr>
          <p:nvPr/>
        </p:nvCxnSpPr>
        <p:spPr>
          <a:xfrm>
            <a:off x="3874925" y="3668600"/>
            <a:ext cx="268500" cy="34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22" name="Google Shape;2022;p138"/>
          <p:cNvSpPr/>
          <p:nvPr/>
        </p:nvSpPr>
        <p:spPr>
          <a:xfrm>
            <a:off x="6110525" y="328460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23" name="Google Shape;2023;p138"/>
          <p:cNvCxnSpPr>
            <a:endCxn id="2022" idx="0"/>
          </p:cNvCxnSpPr>
          <p:nvPr/>
        </p:nvCxnSpPr>
        <p:spPr>
          <a:xfrm>
            <a:off x="5015525" y="2973500"/>
            <a:ext cx="1363800" cy="31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7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8" name="Google Shape;2028;p1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9" name="Google Shape;2029;p139"/>
          <p:cNvSpPr txBox="1"/>
          <p:nvPr>
            <p:ph idx="1" type="body"/>
          </p:nvPr>
        </p:nvSpPr>
        <p:spPr>
          <a:xfrm>
            <a:off x="311700" y="1152475"/>
            <a:ext cx="868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Add minimum gini impurity decrease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30" name="Google Shape;2030;p13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31" name="Google Shape;2031;p1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32" name="Google Shape;2032;p139"/>
          <p:cNvSpPr/>
          <p:nvPr/>
        </p:nvSpPr>
        <p:spPr>
          <a:xfrm>
            <a:off x="4041050" y="191005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33" name="Google Shape;2033;p139"/>
          <p:cNvCxnSpPr>
            <a:stCxn id="2032" idx="2"/>
            <a:endCxn id="2034" idx="0"/>
          </p:cNvCxnSpPr>
          <p:nvPr/>
        </p:nvCxnSpPr>
        <p:spPr>
          <a:xfrm flipH="1">
            <a:off x="3718550" y="2294050"/>
            <a:ext cx="591300" cy="264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35" name="Google Shape;2035;p139"/>
          <p:cNvCxnSpPr>
            <a:stCxn id="2032" idx="2"/>
            <a:endCxn id="2036" idx="0"/>
          </p:cNvCxnSpPr>
          <p:nvPr/>
        </p:nvCxnSpPr>
        <p:spPr>
          <a:xfrm>
            <a:off x="4309850" y="2294050"/>
            <a:ext cx="705600" cy="295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34" name="Google Shape;2034;p139"/>
          <p:cNvSpPr/>
          <p:nvPr/>
        </p:nvSpPr>
        <p:spPr>
          <a:xfrm>
            <a:off x="3449625" y="255835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6" name="Google Shape;2036;p139"/>
          <p:cNvSpPr/>
          <p:nvPr/>
        </p:nvSpPr>
        <p:spPr>
          <a:xfrm>
            <a:off x="4746775" y="2589425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7" name="Google Shape;2037;p139"/>
          <p:cNvSpPr/>
          <p:nvPr/>
        </p:nvSpPr>
        <p:spPr>
          <a:xfrm>
            <a:off x="2541075" y="324825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8" name="Google Shape;2038;p139"/>
          <p:cNvSpPr/>
          <p:nvPr/>
        </p:nvSpPr>
        <p:spPr>
          <a:xfrm>
            <a:off x="3606125" y="328460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9" name="Google Shape;2039;p139"/>
          <p:cNvSpPr/>
          <p:nvPr/>
        </p:nvSpPr>
        <p:spPr>
          <a:xfrm>
            <a:off x="4887450" y="328460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0" name="Google Shape;2040;p139"/>
          <p:cNvSpPr/>
          <p:nvPr/>
        </p:nvSpPr>
        <p:spPr>
          <a:xfrm>
            <a:off x="6110525" y="328460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1" name="Google Shape;2041;p139"/>
          <p:cNvSpPr/>
          <p:nvPr/>
        </p:nvSpPr>
        <p:spPr>
          <a:xfrm>
            <a:off x="4579438" y="401510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2" name="Google Shape;2042;p139"/>
          <p:cNvSpPr/>
          <p:nvPr/>
        </p:nvSpPr>
        <p:spPr>
          <a:xfrm>
            <a:off x="5425050" y="401510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3" name="Google Shape;2043;p139"/>
          <p:cNvSpPr/>
          <p:nvPr/>
        </p:nvSpPr>
        <p:spPr>
          <a:xfrm>
            <a:off x="3170050" y="401085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4" name="Google Shape;2044;p139"/>
          <p:cNvSpPr/>
          <p:nvPr/>
        </p:nvSpPr>
        <p:spPr>
          <a:xfrm>
            <a:off x="3874750" y="401085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5" name="Google Shape;2045;p139"/>
          <p:cNvSpPr/>
          <p:nvPr/>
        </p:nvSpPr>
        <p:spPr>
          <a:xfrm>
            <a:off x="1597950" y="401085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6" name="Google Shape;2046;p139"/>
          <p:cNvSpPr/>
          <p:nvPr/>
        </p:nvSpPr>
        <p:spPr>
          <a:xfrm>
            <a:off x="2473100" y="401085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47" name="Google Shape;2047;p139"/>
          <p:cNvCxnSpPr>
            <a:stCxn id="2036" idx="2"/>
            <a:endCxn id="2040" idx="0"/>
          </p:cNvCxnSpPr>
          <p:nvPr/>
        </p:nvCxnSpPr>
        <p:spPr>
          <a:xfrm>
            <a:off x="5015575" y="2973425"/>
            <a:ext cx="1363800" cy="31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8" name="Google Shape;2048;p139"/>
          <p:cNvCxnSpPr>
            <a:stCxn id="2036" idx="2"/>
            <a:endCxn id="2039" idx="0"/>
          </p:cNvCxnSpPr>
          <p:nvPr/>
        </p:nvCxnSpPr>
        <p:spPr>
          <a:xfrm>
            <a:off x="5015575" y="2973425"/>
            <a:ext cx="140700" cy="31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9" name="Google Shape;2049;p139"/>
          <p:cNvCxnSpPr>
            <a:stCxn id="2039" idx="2"/>
            <a:endCxn id="2042" idx="0"/>
          </p:cNvCxnSpPr>
          <p:nvPr/>
        </p:nvCxnSpPr>
        <p:spPr>
          <a:xfrm>
            <a:off x="5156250" y="3668600"/>
            <a:ext cx="537600" cy="346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0" name="Google Shape;2050;p139"/>
          <p:cNvCxnSpPr>
            <a:stCxn id="2039" idx="2"/>
            <a:endCxn id="2041" idx="0"/>
          </p:cNvCxnSpPr>
          <p:nvPr/>
        </p:nvCxnSpPr>
        <p:spPr>
          <a:xfrm flipH="1">
            <a:off x="4848150" y="3668600"/>
            <a:ext cx="308100" cy="346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1" name="Google Shape;2051;p139"/>
          <p:cNvCxnSpPr>
            <a:stCxn id="2034" idx="2"/>
            <a:endCxn id="2038" idx="0"/>
          </p:cNvCxnSpPr>
          <p:nvPr/>
        </p:nvCxnSpPr>
        <p:spPr>
          <a:xfrm>
            <a:off x="3718425" y="2942350"/>
            <a:ext cx="156600" cy="34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2" name="Google Shape;2052;p139"/>
          <p:cNvCxnSpPr>
            <a:stCxn id="2034" idx="2"/>
            <a:endCxn id="2037" idx="0"/>
          </p:cNvCxnSpPr>
          <p:nvPr/>
        </p:nvCxnSpPr>
        <p:spPr>
          <a:xfrm flipH="1">
            <a:off x="2810025" y="2942350"/>
            <a:ext cx="908400" cy="306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3" name="Google Shape;2053;p139"/>
          <p:cNvCxnSpPr>
            <a:stCxn id="2037" idx="2"/>
            <a:endCxn id="2045" idx="0"/>
          </p:cNvCxnSpPr>
          <p:nvPr/>
        </p:nvCxnSpPr>
        <p:spPr>
          <a:xfrm flipH="1">
            <a:off x="1866675" y="3632250"/>
            <a:ext cx="943200" cy="378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4" name="Google Shape;2054;p139"/>
          <p:cNvCxnSpPr>
            <a:stCxn id="2037" idx="2"/>
            <a:endCxn id="2046" idx="0"/>
          </p:cNvCxnSpPr>
          <p:nvPr/>
        </p:nvCxnSpPr>
        <p:spPr>
          <a:xfrm flipH="1">
            <a:off x="2741775" y="3632250"/>
            <a:ext cx="68100" cy="378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5" name="Google Shape;2055;p139"/>
          <p:cNvCxnSpPr>
            <a:stCxn id="2038" idx="2"/>
            <a:endCxn id="2043" idx="0"/>
          </p:cNvCxnSpPr>
          <p:nvPr/>
        </p:nvCxnSpPr>
        <p:spPr>
          <a:xfrm flipH="1">
            <a:off x="3438725" y="3668600"/>
            <a:ext cx="436200" cy="34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6" name="Google Shape;2056;p139"/>
          <p:cNvCxnSpPr>
            <a:stCxn id="2038" idx="2"/>
            <a:endCxn id="2044" idx="0"/>
          </p:cNvCxnSpPr>
          <p:nvPr/>
        </p:nvCxnSpPr>
        <p:spPr>
          <a:xfrm>
            <a:off x="3874925" y="3668600"/>
            <a:ext cx="268500" cy="34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57" name="Google Shape;2057;p139"/>
          <p:cNvSpPr/>
          <p:nvPr/>
        </p:nvSpPr>
        <p:spPr>
          <a:xfrm>
            <a:off x="1435000" y="3033700"/>
            <a:ext cx="1695900" cy="1530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8" name="Google Shape;2058;p139"/>
          <p:cNvSpPr/>
          <p:nvPr/>
        </p:nvSpPr>
        <p:spPr>
          <a:xfrm>
            <a:off x="4514750" y="3207775"/>
            <a:ext cx="1541400" cy="1407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2" name="Shape 2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3" name="Google Shape;2063;p1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4" name="Google Shape;2064;p140"/>
          <p:cNvSpPr txBox="1"/>
          <p:nvPr>
            <p:ph idx="1" type="body"/>
          </p:nvPr>
        </p:nvSpPr>
        <p:spPr>
          <a:xfrm>
            <a:off x="311700" y="1152475"/>
            <a:ext cx="868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Add minimum gini impurity decrease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65" name="Google Shape;2065;p14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66" name="Google Shape;2066;p1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67" name="Google Shape;2067;p140"/>
          <p:cNvSpPr/>
          <p:nvPr/>
        </p:nvSpPr>
        <p:spPr>
          <a:xfrm>
            <a:off x="4041050" y="191005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68" name="Google Shape;2068;p140"/>
          <p:cNvCxnSpPr>
            <a:stCxn id="2067" idx="2"/>
            <a:endCxn id="2069" idx="0"/>
          </p:cNvCxnSpPr>
          <p:nvPr/>
        </p:nvCxnSpPr>
        <p:spPr>
          <a:xfrm flipH="1">
            <a:off x="3718550" y="2294050"/>
            <a:ext cx="591300" cy="264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0" name="Google Shape;2070;p140"/>
          <p:cNvCxnSpPr>
            <a:stCxn id="2067" idx="2"/>
            <a:endCxn id="2071" idx="0"/>
          </p:cNvCxnSpPr>
          <p:nvPr/>
        </p:nvCxnSpPr>
        <p:spPr>
          <a:xfrm>
            <a:off x="4309850" y="2294050"/>
            <a:ext cx="705600" cy="295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69" name="Google Shape;2069;p140"/>
          <p:cNvSpPr/>
          <p:nvPr/>
        </p:nvSpPr>
        <p:spPr>
          <a:xfrm>
            <a:off x="3449625" y="255835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1" name="Google Shape;2071;p140"/>
          <p:cNvSpPr/>
          <p:nvPr/>
        </p:nvSpPr>
        <p:spPr>
          <a:xfrm>
            <a:off x="4746775" y="2589425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2" name="Google Shape;2072;p140"/>
          <p:cNvSpPr/>
          <p:nvPr/>
        </p:nvSpPr>
        <p:spPr>
          <a:xfrm>
            <a:off x="2541075" y="324825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3" name="Google Shape;2073;p140"/>
          <p:cNvSpPr/>
          <p:nvPr/>
        </p:nvSpPr>
        <p:spPr>
          <a:xfrm>
            <a:off x="3606125" y="328460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4" name="Google Shape;2074;p140"/>
          <p:cNvSpPr/>
          <p:nvPr/>
        </p:nvSpPr>
        <p:spPr>
          <a:xfrm>
            <a:off x="4887450" y="328460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5" name="Google Shape;2075;p140"/>
          <p:cNvSpPr/>
          <p:nvPr/>
        </p:nvSpPr>
        <p:spPr>
          <a:xfrm>
            <a:off x="6110525" y="328460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6" name="Google Shape;2076;p140"/>
          <p:cNvSpPr/>
          <p:nvPr/>
        </p:nvSpPr>
        <p:spPr>
          <a:xfrm>
            <a:off x="3170050" y="401085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7" name="Google Shape;2077;p140"/>
          <p:cNvSpPr/>
          <p:nvPr/>
        </p:nvSpPr>
        <p:spPr>
          <a:xfrm>
            <a:off x="3874750" y="401085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78" name="Google Shape;2078;p140"/>
          <p:cNvCxnSpPr>
            <a:stCxn id="2071" idx="2"/>
            <a:endCxn id="2075" idx="0"/>
          </p:cNvCxnSpPr>
          <p:nvPr/>
        </p:nvCxnSpPr>
        <p:spPr>
          <a:xfrm>
            <a:off x="5015575" y="2973425"/>
            <a:ext cx="1363800" cy="31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9" name="Google Shape;2079;p140"/>
          <p:cNvCxnSpPr>
            <a:stCxn id="2071" idx="2"/>
            <a:endCxn id="2074" idx="0"/>
          </p:cNvCxnSpPr>
          <p:nvPr/>
        </p:nvCxnSpPr>
        <p:spPr>
          <a:xfrm>
            <a:off x="5015575" y="2973425"/>
            <a:ext cx="140700" cy="31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80" name="Google Shape;2080;p140"/>
          <p:cNvCxnSpPr>
            <a:stCxn id="2069" idx="2"/>
            <a:endCxn id="2073" idx="0"/>
          </p:cNvCxnSpPr>
          <p:nvPr/>
        </p:nvCxnSpPr>
        <p:spPr>
          <a:xfrm>
            <a:off x="3718425" y="2942350"/>
            <a:ext cx="156600" cy="34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81" name="Google Shape;2081;p140"/>
          <p:cNvCxnSpPr>
            <a:stCxn id="2069" idx="2"/>
            <a:endCxn id="2072" idx="0"/>
          </p:cNvCxnSpPr>
          <p:nvPr/>
        </p:nvCxnSpPr>
        <p:spPr>
          <a:xfrm flipH="1">
            <a:off x="2810025" y="2942350"/>
            <a:ext cx="908400" cy="306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82" name="Google Shape;2082;p140"/>
          <p:cNvCxnSpPr>
            <a:stCxn id="2073" idx="2"/>
            <a:endCxn id="2076" idx="0"/>
          </p:cNvCxnSpPr>
          <p:nvPr/>
        </p:nvCxnSpPr>
        <p:spPr>
          <a:xfrm flipH="1">
            <a:off x="3438725" y="3668600"/>
            <a:ext cx="436200" cy="34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83" name="Google Shape;2083;p140"/>
          <p:cNvCxnSpPr>
            <a:stCxn id="2073" idx="2"/>
            <a:endCxn id="2077" idx="0"/>
          </p:cNvCxnSpPr>
          <p:nvPr/>
        </p:nvCxnSpPr>
        <p:spPr>
          <a:xfrm>
            <a:off x="3874925" y="3668600"/>
            <a:ext cx="268500" cy="34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7" name="Shape 2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" name="Google Shape;2088;p1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89" name="Google Shape;2089;p141"/>
          <p:cNvSpPr txBox="1"/>
          <p:nvPr>
            <p:ph idx="1" type="body"/>
          </p:nvPr>
        </p:nvSpPr>
        <p:spPr>
          <a:xfrm>
            <a:off x="311700" y="1152475"/>
            <a:ext cx="868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also mandate a max depth: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90" name="Google Shape;2090;p14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91" name="Google Shape;2091;p1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92" name="Google Shape;2092;p141"/>
          <p:cNvSpPr/>
          <p:nvPr/>
        </p:nvSpPr>
        <p:spPr>
          <a:xfrm>
            <a:off x="4041050" y="191005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93" name="Google Shape;2093;p141"/>
          <p:cNvCxnSpPr>
            <a:stCxn id="2092" idx="2"/>
            <a:endCxn id="2094" idx="0"/>
          </p:cNvCxnSpPr>
          <p:nvPr/>
        </p:nvCxnSpPr>
        <p:spPr>
          <a:xfrm flipH="1">
            <a:off x="3718550" y="2294050"/>
            <a:ext cx="591300" cy="264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5" name="Google Shape;2095;p141"/>
          <p:cNvCxnSpPr>
            <a:stCxn id="2092" idx="2"/>
            <a:endCxn id="2096" idx="0"/>
          </p:cNvCxnSpPr>
          <p:nvPr/>
        </p:nvCxnSpPr>
        <p:spPr>
          <a:xfrm>
            <a:off x="4309850" y="2294050"/>
            <a:ext cx="705600" cy="295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94" name="Google Shape;2094;p141"/>
          <p:cNvSpPr/>
          <p:nvPr/>
        </p:nvSpPr>
        <p:spPr>
          <a:xfrm>
            <a:off x="3449625" y="255835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96" name="Google Shape;2096;p141"/>
          <p:cNvSpPr/>
          <p:nvPr/>
        </p:nvSpPr>
        <p:spPr>
          <a:xfrm>
            <a:off x="4746775" y="2589425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97" name="Google Shape;2097;p141"/>
          <p:cNvSpPr/>
          <p:nvPr/>
        </p:nvSpPr>
        <p:spPr>
          <a:xfrm>
            <a:off x="2541075" y="324825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98" name="Google Shape;2098;p141"/>
          <p:cNvSpPr/>
          <p:nvPr/>
        </p:nvSpPr>
        <p:spPr>
          <a:xfrm>
            <a:off x="3606125" y="328460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99" name="Google Shape;2099;p141"/>
          <p:cNvSpPr/>
          <p:nvPr/>
        </p:nvSpPr>
        <p:spPr>
          <a:xfrm>
            <a:off x="4887450" y="328460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0" name="Google Shape;2100;p141"/>
          <p:cNvSpPr/>
          <p:nvPr/>
        </p:nvSpPr>
        <p:spPr>
          <a:xfrm>
            <a:off x="4579438" y="401510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1" name="Google Shape;2101;p141"/>
          <p:cNvSpPr/>
          <p:nvPr/>
        </p:nvSpPr>
        <p:spPr>
          <a:xfrm>
            <a:off x="5425050" y="401510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2" name="Google Shape;2102;p141"/>
          <p:cNvSpPr/>
          <p:nvPr/>
        </p:nvSpPr>
        <p:spPr>
          <a:xfrm>
            <a:off x="3170050" y="401085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3" name="Google Shape;2103;p141"/>
          <p:cNvSpPr/>
          <p:nvPr/>
        </p:nvSpPr>
        <p:spPr>
          <a:xfrm>
            <a:off x="3874750" y="401085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4" name="Google Shape;2104;p141"/>
          <p:cNvSpPr/>
          <p:nvPr/>
        </p:nvSpPr>
        <p:spPr>
          <a:xfrm>
            <a:off x="1597950" y="401085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5" name="Google Shape;2105;p141"/>
          <p:cNvSpPr/>
          <p:nvPr/>
        </p:nvSpPr>
        <p:spPr>
          <a:xfrm>
            <a:off x="2473100" y="401085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06" name="Google Shape;2106;p141"/>
          <p:cNvCxnSpPr>
            <a:stCxn id="2096" idx="2"/>
            <a:endCxn id="2099" idx="0"/>
          </p:cNvCxnSpPr>
          <p:nvPr/>
        </p:nvCxnSpPr>
        <p:spPr>
          <a:xfrm>
            <a:off x="5015575" y="2973425"/>
            <a:ext cx="140700" cy="31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7" name="Google Shape;2107;p141"/>
          <p:cNvCxnSpPr>
            <a:stCxn id="2099" idx="2"/>
            <a:endCxn id="2101" idx="0"/>
          </p:cNvCxnSpPr>
          <p:nvPr/>
        </p:nvCxnSpPr>
        <p:spPr>
          <a:xfrm>
            <a:off x="5156250" y="3668600"/>
            <a:ext cx="537600" cy="346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8" name="Google Shape;2108;p141"/>
          <p:cNvCxnSpPr>
            <a:stCxn id="2099" idx="2"/>
            <a:endCxn id="2100" idx="0"/>
          </p:cNvCxnSpPr>
          <p:nvPr/>
        </p:nvCxnSpPr>
        <p:spPr>
          <a:xfrm flipH="1">
            <a:off x="4848150" y="3668600"/>
            <a:ext cx="308100" cy="346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9" name="Google Shape;2109;p141"/>
          <p:cNvCxnSpPr>
            <a:stCxn id="2094" idx="2"/>
            <a:endCxn id="2098" idx="0"/>
          </p:cNvCxnSpPr>
          <p:nvPr/>
        </p:nvCxnSpPr>
        <p:spPr>
          <a:xfrm>
            <a:off x="3718425" y="2942350"/>
            <a:ext cx="156600" cy="34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0" name="Google Shape;2110;p141"/>
          <p:cNvCxnSpPr>
            <a:stCxn id="2094" idx="2"/>
            <a:endCxn id="2097" idx="0"/>
          </p:cNvCxnSpPr>
          <p:nvPr/>
        </p:nvCxnSpPr>
        <p:spPr>
          <a:xfrm flipH="1">
            <a:off x="2810025" y="2942350"/>
            <a:ext cx="908400" cy="306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1" name="Google Shape;2111;p141"/>
          <p:cNvCxnSpPr>
            <a:stCxn id="2097" idx="2"/>
            <a:endCxn id="2104" idx="0"/>
          </p:cNvCxnSpPr>
          <p:nvPr/>
        </p:nvCxnSpPr>
        <p:spPr>
          <a:xfrm flipH="1">
            <a:off x="1866675" y="3632250"/>
            <a:ext cx="943200" cy="378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2" name="Google Shape;2112;p141"/>
          <p:cNvCxnSpPr>
            <a:stCxn id="2097" idx="2"/>
            <a:endCxn id="2105" idx="0"/>
          </p:cNvCxnSpPr>
          <p:nvPr/>
        </p:nvCxnSpPr>
        <p:spPr>
          <a:xfrm flipH="1">
            <a:off x="2741775" y="3632250"/>
            <a:ext cx="68100" cy="378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3" name="Google Shape;2113;p141"/>
          <p:cNvCxnSpPr>
            <a:stCxn id="2098" idx="2"/>
            <a:endCxn id="2102" idx="0"/>
          </p:cNvCxnSpPr>
          <p:nvPr/>
        </p:nvCxnSpPr>
        <p:spPr>
          <a:xfrm flipH="1">
            <a:off x="3438725" y="3668600"/>
            <a:ext cx="436200" cy="34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4" name="Google Shape;2114;p141"/>
          <p:cNvCxnSpPr>
            <a:stCxn id="2098" idx="2"/>
            <a:endCxn id="2103" idx="0"/>
          </p:cNvCxnSpPr>
          <p:nvPr/>
        </p:nvCxnSpPr>
        <p:spPr>
          <a:xfrm>
            <a:off x="3874925" y="3668600"/>
            <a:ext cx="268500" cy="34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15" name="Google Shape;2115;p141"/>
          <p:cNvSpPr/>
          <p:nvPr/>
        </p:nvSpPr>
        <p:spPr>
          <a:xfrm>
            <a:off x="6110525" y="328460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16" name="Google Shape;2116;p141"/>
          <p:cNvCxnSpPr>
            <a:endCxn id="2115" idx="0"/>
          </p:cNvCxnSpPr>
          <p:nvPr/>
        </p:nvCxnSpPr>
        <p:spPr>
          <a:xfrm>
            <a:off x="5015525" y="2973500"/>
            <a:ext cx="1363800" cy="31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0" name="Shape 2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1" name="Google Shape;2121;p1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2" name="Google Shape;2122;p142"/>
          <p:cNvSpPr txBox="1"/>
          <p:nvPr>
            <p:ph idx="1" type="body"/>
          </p:nvPr>
        </p:nvSpPr>
        <p:spPr>
          <a:xfrm>
            <a:off x="311700" y="1152475"/>
            <a:ext cx="868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also mandate a max depth: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23" name="Google Shape;2123;p14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24" name="Google Shape;2124;p1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125" name="Google Shape;2125;p142"/>
          <p:cNvSpPr/>
          <p:nvPr/>
        </p:nvSpPr>
        <p:spPr>
          <a:xfrm>
            <a:off x="4041050" y="191005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26" name="Google Shape;2126;p142"/>
          <p:cNvCxnSpPr>
            <a:stCxn id="2125" idx="2"/>
            <a:endCxn id="2127" idx="0"/>
          </p:cNvCxnSpPr>
          <p:nvPr/>
        </p:nvCxnSpPr>
        <p:spPr>
          <a:xfrm flipH="1">
            <a:off x="3718550" y="2294050"/>
            <a:ext cx="591300" cy="264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28" name="Google Shape;2128;p142"/>
          <p:cNvCxnSpPr>
            <a:stCxn id="2125" idx="2"/>
            <a:endCxn id="2129" idx="0"/>
          </p:cNvCxnSpPr>
          <p:nvPr/>
        </p:nvCxnSpPr>
        <p:spPr>
          <a:xfrm>
            <a:off x="4309850" y="2294050"/>
            <a:ext cx="705600" cy="295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27" name="Google Shape;2127;p142"/>
          <p:cNvSpPr/>
          <p:nvPr/>
        </p:nvSpPr>
        <p:spPr>
          <a:xfrm>
            <a:off x="3449625" y="255835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9" name="Google Shape;2129;p142"/>
          <p:cNvSpPr/>
          <p:nvPr/>
        </p:nvSpPr>
        <p:spPr>
          <a:xfrm>
            <a:off x="4746775" y="2589425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0" name="Google Shape;2130;p142"/>
          <p:cNvSpPr/>
          <p:nvPr/>
        </p:nvSpPr>
        <p:spPr>
          <a:xfrm>
            <a:off x="2541075" y="324825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1" name="Google Shape;2131;p142"/>
          <p:cNvSpPr/>
          <p:nvPr/>
        </p:nvSpPr>
        <p:spPr>
          <a:xfrm>
            <a:off x="3606125" y="328460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2" name="Google Shape;2132;p142"/>
          <p:cNvSpPr/>
          <p:nvPr/>
        </p:nvSpPr>
        <p:spPr>
          <a:xfrm>
            <a:off x="4887450" y="328460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3" name="Google Shape;2133;p142"/>
          <p:cNvSpPr/>
          <p:nvPr/>
        </p:nvSpPr>
        <p:spPr>
          <a:xfrm>
            <a:off x="4579438" y="401510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4" name="Google Shape;2134;p142"/>
          <p:cNvSpPr/>
          <p:nvPr/>
        </p:nvSpPr>
        <p:spPr>
          <a:xfrm>
            <a:off x="5425050" y="401510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5" name="Google Shape;2135;p142"/>
          <p:cNvSpPr/>
          <p:nvPr/>
        </p:nvSpPr>
        <p:spPr>
          <a:xfrm>
            <a:off x="3170050" y="401085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6" name="Google Shape;2136;p142"/>
          <p:cNvSpPr/>
          <p:nvPr/>
        </p:nvSpPr>
        <p:spPr>
          <a:xfrm>
            <a:off x="3874750" y="401085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7" name="Google Shape;2137;p142"/>
          <p:cNvSpPr/>
          <p:nvPr/>
        </p:nvSpPr>
        <p:spPr>
          <a:xfrm>
            <a:off x="1597950" y="401085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8" name="Google Shape;2138;p142"/>
          <p:cNvSpPr/>
          <p:nvPr/>
        </p:nvSpPr>
        <p:spPr>
          <a:xfrm>
            <a:off x="2473100" y="401085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39" name="Google Shape;2139;p142"/>
          <p:cNvCxnSpPr>
            <a:stCxn id="2129" idx="2"/>
            <a:endCxn id="2132" idx="0"/>
          </p:cNvCxnSpPr>
          <p:nvPr/>
        </p:nvCxnSpPr>
        <p:spPr>
          <a:xfrm>
            <a:off x="5015575" y="2973425"/>
            <a:ext cx="140700" cy="31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0" name="Google Shape;2140;p142"/>
          <p:cNvCxnSpPr>
            <a:stCxn id="2132" idx="2"/>
            <a:endCxn id="2134" idx="0"/>
          </p:cNvCxnSpPr>
          <p:nvPr/>
        </p:nvCxnSpPr>
        <p:spPr>
          <a:xfrm>
            <a:off x="5156250" y="3668600"/>
            <a:ext cx="537600" cy="346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1" name="Google Shape;2141;p142"/>
          <p:cNvCxnSpPr>
            <a:stCxn id="2132" idx="2"/>
            <a:endCxn id="2133" idx="0"/>
          </p:cNvCxnSpPr>
          <p:nvPr/>
        </p:nvCxnSpPr>
        <p:spPr>
          <a:xfrm flipH="1">
            <a:off x="4848150" y="3668600"/>
            <a:ext cx="308100" cy="346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2" name="Google Shape;2142;p142"/>
          <p:cNvCxnSpPr>
            <a:stCxn id="2127" idx="2"/>
            <a:endCxn id="2131" idx="0"/>
          </p:cNvCxnSpPr>
          <p:nvPr/>
        </p:nvCxnSpPr>
        <p:spPr>
          <a:xfrm>
            <a:off x="3718425" y="2942350"/>
            <a:ext cx="156600" cy="34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3" name="Google Shape;2143;p142"/>
          <p:cNvCxnSpPr>
            <a:stCxn id="2127" idx="2"/>
            <a:endCxn id="2130" idx="0"/>
          </p:cNvCxnSpPr>
          <p:nvPr/>
        </p:nvCxnSpPr>
        <p:spPr>
          <a:xfrm flipH="1">
            <a:off x="2810025" y="2942350"/>
            <a:ext cx="908400" cy="306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4" name="Google Shape;2144;p142"/>
          <p:cNvCxnSpPr>
            <a:stCxn id="2130" idx="2"/>
            <a:endCxn id="2137" idx="0"/>
          </p:cNvCxnSpPr>
          <p:nvPr/>
        </p:nvCxnSpPr>
        <p:spPr>
          <a:xfrm flipH="1">
            <a:off x="1866675" y="3632250"/>
            <a:ext cx="943200" cy="378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5" name="Google Shape;2145;p142"/>
          <p:cNvCxnSpPr>
            <a:stCxn id="2130" idx="2"/>
            <a:endCxn id="2138" idx="0"/>
          </p:cNvCxnSpPr>
          <p:nvPr/>
        </p:nvCxnSpPr>
        <p:spPr>
          <a:xfrm flipH="1">
            <a:off x="2741775" y="3632250"/>
            <a:ext cx="68100" cy="378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6" name="Google Shape;2146;p142"/>
          <p:cNvCxnSpPr>
            <a:stCxn id="2131" idx="2"/>
            <a:endCxn id="2135" idx="0"/>
          </p:cNvCxnSpPr>
          <p:nvPr/>
        </p:nvCxnSpPr>
        <p:spPr>
          <a:xfrm flipH="1">
            <a:off x="3438725" y="3668600"/>
            <a:ext cx="436200" cy="34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7" name="Google Shape;2147;p142"/>
          <p:cNvCxnSpPr>
            <a:stCxn id="2131" idx="2"/>
            <a:endCxn id="2136" idx="0"/>
          </p:cNvCxnSpPr>
          <p:nvPr/>
        </p:nvCxnSpPr>
        <p:spPr>
          <a:xfrm>
            <a:off x="3874925" y="3668600"/>
            <a:ext cx="268500" cy="34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48" name="Google Shape;2148;p142"/>
          <p:cNvSpPr/>
          <p:nvPr/>
        </p:nvSpPr>
        <p:spPr>
          <a:xfrm>
            <a:off x="6110525" y="328460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49" name="Google Shape;2149;p142"/>
          <p:cNvCxnSpPr>
            <a:endCxn id="2148" idx="0"/>
          </p:cNvCxnSpPr>
          <p:nvPr/>
        </p:nvCxnSpPr>
        <p:spPr>
          <a:xfrm>
            <a:off x="5015525" y="2973500"/>
            <a:ext cx="1363800" cy="31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50" name="Google Shape;2150;p142"/>
          <p:cNvCxnSpPr/>
          <p:nvPr/>
        </p:nvCxnSpPr>
        <p:spPr>
          <a:xfrm>
            <a:off x="427425" y="3777525"/>
            <a:ext cx="8377200" cy="0"/>
          </a:xfrm>
          <a:prstGeom prst="straightConnector1">
            <a:avLst/>
          </a:prstGeom>
          <a:noFill/>
          <a:ln cap="flat" cmpd="sng" w="28575">
            <a:solidFill>
              <a:srgbClr val="E06666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4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1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6" name="Google Shape;2156;p143"/>
          <p:cNvSpPr txBox="1"/>
          <p:nvPr>
            <p:ph idx="1" type="body"/>
          </p:nvPr>
        </p:nvSpPr>
        <p:spPr>
          <a:xfrm>
            <a:off x="311700" y="1152475"/>
            <a:ext cx="868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also mandate a max depth: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57" name="Google Shape;2157;p14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58" name="Google Shape;2158;p1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159" name="Google Shape;2159;p143"/>
          <p:cNvSpPr/>
          <p:nvPr/>
        </p:nvSpPr>
        <p:spPr>
          <a:xfrm>
            <a:off x="4041050" y="191005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60" name="Google Shape;2160;p143"/>
          <p:cNvCxnSpPr>
            <a:stCxn id="2159" idx="2"/>
            <a:endCxn id="2161" idx="0"/>
          </p:cNvCxnSpPr>
          <p:nvPr/>
        </p:nvCxnSpPr>
        <p:spPr>
          <a:xfrm flipH="1">
            <a:off x="3718550" y="2294050"/>
            <a:ext cx="591300" cy="264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62" name="Google Shape;2162;p143"/>
          <p:cNvCxnSpPr>
            <a:stCxn id="2159" idx="2"/>
            <a:endCxn id="2163" idx="0"/>
          </p:cNvCxnSpPr>
          <p:nvPr/>
        </p:nvCxnSpPr>
        <p:spPr>
          <a:xfrm>
            <a:off x="4309850" y="2294050"/>
            <a:ext cx="705600" cy="295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61" name="Google Shape;2161;p143"/>
          <p:cNvSpPr/>
          <p:nvPr/>
        </p:nvSpPr>
        <p:spPr>
          <a:xfrm>
            <a:off x="3449625" y="255835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63" name="Google Shape;2163;p143"/>
          <p:cNvSpPr/>
          <p:nvPr/>
        </p:nvSpPr>
        <p:spPr>
          <a:xfrm>
            <a:off x="4746775" y="2589425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64" name="Google Shape;2164;p143"/>
          <p:cNvSpPr/>
          <p:nvPr/>
        </p:nvSpPr>
        <p:spPr>
          <a:xfrm>
            <a:off x="2541075" y="324825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65" name="Google Shape;2165;p143"/>
          <p:cNvSpPr/>
          <p:nvPr/>
        </p:nvSpPr>
        <p:spPr>
          <a:xfrm>
            <a:off x="3606125" y="328460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66" name="Google Shape;2166;p143"/>
          <p:cNvSpPr/>
          <p:nvPr/>
        </p:nvSpPr>
        <p:spPr>
          <a:xfrm>
            <a:off x="4887450" y="328460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67" name="Google Shape;2167;p143"/>
          <p:cNvCxnSpPr>
            <a:stCxn id="2163" idx="2"/>
            <a:endCxn id="2166" idx="0"/>
          </p:cNvCxnSpPr>
          <p:nvPr/>
        </p:nvCxnSpPr>
        <p:spPr>
          <a:xfrm>
            <a:off x="5015575" y="2973425"/>
            <a:ext cx="140700" cy="31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68" name="Google Shape;2168;p143"/>
          <p:cNvCxnSpPr>
            <a:stCxn id="2161" idx="2"/>
            <a:endCxn id="2165" idx="0"/>
          </p:cNvCxnSpPr>
          <p:nvPr/>
        </p:nvCxnSpPr>
        <p:spPr>
          <a:xfrm>
            <a:off x="3718425" y="2942350"/>
            <a:ext cx="156600" cy="34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69" name="Google Shape;2169;p143"/>
          <p:cNvCxnSpPr>
            <a:stCxn id="2161" idx="2"/>
            <a:endCxn id="2164" idx="0"/>
          </p:cNvCxnSpPr>
          <p:nvPr/>
        </p:nvCxnSpPr>
        <p:spPr>
          <a:xfrm flipH="1">
            <a:off x="2810025" y="2942350"/>
            <a:ext cx="908400" cy="306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70" name="Google Shape;2170;p143"/>
          <p:cNvSpPr/>
          <p:nvPr/>
        </p:nvSpPr>
        <p:spPr>
          <a:xfrm>
            <a:off x="6110525" y="3284600"/>
            <a:ext cx="537600" cy="384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71" name="Google Shape;2171;p143"/>
          <p:cNvCxnSpPr>
            <a:endCxn id="2170" idx="0"/>
          </p:cNvCxnSpPr>
          <p:nvPr/>
        </p:nvCxnSpPr>
        <p:spPr>
          <a:xfrm>
            <a:off x="5015525" y="2973500"/>
            <a:ext cx="1363800" cy="31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2" name="Google Shape;2172;p143"/>
          <p:cNvCxnSpPr/>
          <p:nvPr/>
        </p:nvCxnSpPr>
        <p:spPr>
          <a:xfrm>
            <a:off x="427425" y="3777525"/>
            <a:ext cx="8377200" cy="0"/>
          </a:xfrm>
          <a:prstGeom prst="straightConnector1">
            <a:avLst/>
          </a:prstGeom>
          <a:noFill/>
          <a:ln cap="flat" cmpd="sng" w="28575">
            <a:solidFill>
              <a:srgbClr val="E06666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6" name="Shape 2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p1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78" name="Google Shape;2178;p14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begin to explore these various hyperparameters with code!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79" name="Google Shape;2179;p14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80" name="Google Shape;2180;p1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4" name="Shape 2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5" name="Google Shape;2185;p14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6" name="Google Shape;2186;p14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Part One: The Data</a:t>
            </a:r>
            <a:endParaRPr/>
          </a:p>
        </p:txBody>
      </p:sp>
      <p:pic>
        <p:nvPicPr>
          <p:cNvPr descr="watermark.jpg" id="2187" name="Google Shape;2187;p14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88" name="Google Shape;2188;p1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2" name="Shape 2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3" name="Google Shape;2193;p1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4" name="Google Shape;2194;p1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Part Two: Creating the Model</a:t>
            </a:r>
            <a:endParaRPr/>
          </a:p>
        </p:txBody>
      </p:sp>
      <p:pic>
        <p:nvPicPr>
          <p:cNvPr descr="watermark.jpg" id="2195" name="Google Shape;2195;p14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96" name="Google Shape;2196;p1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