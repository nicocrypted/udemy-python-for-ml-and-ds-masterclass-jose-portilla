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</p:sldIdLst>
  <p:sldSz cy="5143500" cx="9144000"/>
  <p:notesSz cx="6858000" cy="9144000"/>
  <p:embeddedFontLst>
    <p:embeddedFont>
      <p:font typeface="Montserrat"/>
      <p:regular r:id="rId236"/>
      <p:bold r:id="rId237"/>
      <p:italic r:id="rId238"/>
      <p:boldItalic r:id="rId2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9605CC-4D93-4D02-BE6F-7ACD973ADDAD}">
  <a:tblStyle styleId="{209605CC-4D93-4D02-BE6F-7ACD973ADD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228" Type="http://schemas.openxmlformats.org/officeDocument/2006/relationships/slide" Target="slides/slide223.xml"/><Relationship Id="rId106" Type="http://schemas.openxmlformats.org/officeDocument/2006/relationships/slide" Target="slides/slide101.xml"/><Relationship Id="rId227" Type="http://schemas.openxmlformats.org/officeDocument/2006/relationships/slide" Target="slides/slide222.xml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9" Type="http://schemas.openxmlformats.org/officeDocument/2006/relationships/slide" Target="slides/slide224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239" Type="http://schemas.openxmlformats.org/officeDocument/2006/relationships/font" Target="fonts/Montserrat-boldItalic.fntdata"/><Relationship Id="rId117" Type="http://schemas.openxmlformats.org/officeDocument/2006/relationships/slide" Target="slides/slide112.xml"/><Relationship Id="rId238" Type="http://schemas.openxmlformats.org/officeDocument/2006/relationships/font" Target="fonts/Montserrat-italic.fntdata"/><Relationship Id="rId116" Type="http://schemas.openxmlformats.org/officeDocument/2006/relationships/slide" Target="slides/slide111.xml"/><Relationship Id="rId237" Type="http://schemas.openxmlformats.org/officeDocument/2006/relationships/font" Target="fonts/Montserrat-bold.fntdata"/><Relationship Id="rId115" Type="http://schemas.openxmlformats.org/officeDocument/2006/relationships/slide" Target="slides/slide110.xml"/><Relationship Id="rId236" Type="http://schemas.openxmlformats.org/officeDocument/2006/relationships/font" Target="fonts/Montserrat-regular.fntdata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114" Type="http://schemas.openxmlformats.org/officeDocument/2006/relationships/slide" Target="slides/slide109.xml"/><Relationship Id="rId235" Type="http://schemas.openxmlformats.org/officeDocument/2006/relationships/slide" Target="slides/slide230.xml"/><Relationship Id="rId113" Type="http://schemas.openxmlformats.org/officeDocument/2006/relationships/slide" Target="slides/slide108.xml"/><Relationship Id="rId234" Type="http://schemas.openxmlformats.org/officeDocument/2006/relationships/slide" Target="slides/slide229.xml"/><Relationship Id="rId112" Type="http://schemas.openxmlformats.org/officeDocument/2006/relationships/slide" Target="slides/slide107.xml"/><Relationship Id="rId233" Type="http://schemas.openxmlformats.org/officeDocument/2006/relationships/slide" Target="slides/slide228.xml"/><Relationship Id="rId111" Type="http://schemas.openxmlformats.org/officeDocument/2006/relationships/slide" Target="slides/slide106.xml"/><Relationship Id="rId232" Type="http://schemas.openxmlformats.org/officeDocument/2006/relationships/slide" Target="slides/slide227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8f4dbf5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8f4dbf5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8f4dbf5c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8f4dbf5c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8f4dbf5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8f4dbf5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8f4dbf5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8f4dbf5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8f4dbf5c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8f4dbf5c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8f4dbf5c7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8f4dbf5c7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8f4dbf5c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8f4dbf5c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8f4dbf5c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a8f4dbf5c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8f4dbf5c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8f4dbf5c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8f4dbf5c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8f4dbf5c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8f4dbf5c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8f4dbf5c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8f4dbf5c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8f4dbf5c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8f4dbf5c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8f4dbf5c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8f4dbf5c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8f4dbf5c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a8f4dbf5c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a8f4dbf5c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8f4dbf5c7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8f4dbf5c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8f4dbf5c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a8f4dbf5c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a8f4dbf5c7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a8f4dbf5c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8f4dbf5c7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a8f4dbf5c7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a8f4dbf5c7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a8f4dbf5c7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8f4dbf5c7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8f4dbf5c7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a8f4dbf5c7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a8f4dbf5c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a8f4dbf5c7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a8f4dbf5c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a8f4dbf5c7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a8f4dbf5c7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a8f4dbf5c7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a8f4dbf5c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a8f4dbf5c7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a8f4dbf5c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8f4dbf5c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8f4dbf5c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a8f4dbf5c7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a8f4dbf5c7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a8f4dbf5c7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a8f4dbf5c7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a8f4dbf5c7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a8f4dbf5c7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a8f4dbf5c7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a8f4dbf5c7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a8f4dbf5c7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a8f4dbf5c7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a8f4dbf5c7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a8f4dbf5c7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a8f4dbf5c7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a8f4dbf5c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8f4dbf5c7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8f4dbf5c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a8f4dbf5c7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a8f4dbf5c7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a9d2e4b1d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a9d2e4b1d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a9d2e4b1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a9d2e4b1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a9d2e4b1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a9d2e4b1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a9d2e4b1d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a9d2e4b1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9d2e4b1d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a9d2e4b1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a9d2e4b1d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a9d2e4b1d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a9d2e4b1d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a9d2e4b1d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a9d2e4b1d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a9d2e4b1d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a9d2e4b1d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a9d2e4b1d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a9d2e4b1d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a9d2e4b1d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a9d2e4b1d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a9d2e4b1d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a9d2e4b1d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a9d2e4b1d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a9d2e4b1d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a9d2e4b1d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a9d2e4b1d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a9d2e4b1d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a9d2e4b1d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a9d2e4b1d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a9d2e4b1d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a9d2e4b1d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a9d2e4b1d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a9d2e4b1d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a9d2e4b1d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a9d2e4b1d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a9d2e4b1d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a9d2e4b1d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a9ebe5570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a9ebe5570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a9d2e4b1d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a9d2e4b1d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a9d2e4b1d6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a9d2e4b1d6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a9d2e4b1d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a9d2e4b1d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a8f4dbf5c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a8f4dbf5c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a9d2e4b1d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a9d2e4b1d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a9d2e4b1d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a9d2e4b1d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a9d2e4b1d6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a9d2e4b1d6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a9d2e4b1d6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a9d2e4b1d6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a9d2e4b1d6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a9d2e4b1d6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a9d2e4b1d6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a9d2e4b1d6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a9d2e4b1d6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a9d2e4b1d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a9d2e4b1d6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a9d2e4b1d6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a9d2e4b1d6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a9d2e4b1d6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a9d2e4b1d6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a9d2e4b1d6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a9d2e4b1d6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a9d2e4b1d6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a9d2e4b1d6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a9d2e4b1d6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a9d2e4b1d6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a9d2e4b1d6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a9d2e4b1d6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a9d2e4b1d6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a9d2e4b1d6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a9d2e4b1d6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a9ebe557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a9ebe557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a9ebe5570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a9ebe5570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a9ebe5570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a9ebe5570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a9ebe5570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a9ebe5570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a9ebe5570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a9ebe5570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a9ebe5570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a9ebe5570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a9ebe5570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a9ebe5570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a9ebe5570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a9ebe5570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a9ebe5570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a9ebe5570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a9ebe5570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a9ebe5570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a9ebe55702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a9ebe5570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a9ebe5570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a9ebe5570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a9ebe55702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a9ebe55702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a9ebe55702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a9ebe5570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a9ebe55702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a9ebe5570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a9ebe5570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a9ebe5570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a9ebe5570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a9ebe5570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a9ebe55702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a9ebe55702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a9ebe55702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a9ebe5570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a9ebe5570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a9ebe5570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a9d2e4b1d6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a9d2e4b1d6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a9ebe55702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a9ebe55702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a9ebe557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a9ebe557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a9d2e4b1d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a9d2e4b1d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a9d2e4b1d6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a9d2e4b1d6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a9ebe55702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a9ebe55702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a9ebe55702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a9ebe55702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a9ebe5570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a9ebe5570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a9ebe55702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a9ebe55702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a9ebe55702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a9ebe55702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a9ebe55702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a9ebe55702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a9ebe5570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a9ebe5570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a9ebe55702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a9ebe55702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a9ebe55702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a9ebe55702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a9ebe55702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a9ebe55702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a9ebe55702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a9ebe55702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a9ebe55702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a9ebe55702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a9ebe55702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a9ebe55702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a9ebe55702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a9ebe55702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a9ebe55702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a9ebe55702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a9ebe55702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a9ebe55702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a9ebe55702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a9ebe55702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a9ebe55702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a9ebe55702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a9ebe55702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a9ebe55702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a9ebe55702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a9ebe55702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a9ebe55702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a9ebe55702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a9ebe55702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a9ebe55702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a9ebe55702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a9ebe55702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a9ebe55702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a9ebe55702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a9ebe55702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a9ebe55702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a9ebe55702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a9ebe55702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a9ebe55702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a9ebe55702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a9ebe55702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a9ebe55702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a9ebe55702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a9ebe55702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a9ebe55702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a9ebe55702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a9ebe55702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a9ebe55702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a9ebe55702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a9ebe55702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a9ebe55702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a9ebe55702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a9ebe55702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a9ebe55702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a9ebe55702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a9ebe55702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a9ebe55702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a9ebe55702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a9ebe55702_0_1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a9ebe55702_0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a9ebe55702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8" name="Google Shape;2138;ga9ebe55702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a9ebe55702_0_1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a9ebe55702_0_1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a9ebe55702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a9ebe55702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a8f4dbf5c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3" name="Google Shape;2163;ga8f4dbf5c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a8f4dbf5c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1" name="Google Shape;2171;ga8f4dbf5c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a8f4dbf5c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a8f4dbf5c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a8f4dbf5c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a8f4dbf5c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a8f4dbf5c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a8f4dbf5c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a9ebe55702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a9ebe55702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a9ebe55702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a9ebe55702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ga9ebe55702_0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8" name="Google Shape;2218;ga9ebe55702_0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a9ebe55702_0_1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6" name="Google Shape;2226;ga9ebe55702_0_1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a9ebe55702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a9ebe55702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a9ebe55702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a9ebe55702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ga9ebe55702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1" name="Google Shape;2251;ga9ebe55702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a9ebe55702_0_1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a9ebe55702_0_1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a9ebe55702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a9ebe55702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a9ebe55702_0_1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a9ebe55702_0_1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a9ebe55702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a9ebe55702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a9ebe55702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a9ebe55702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a9ebe55702_0_1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a9ebe55702_0_1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a9ebe55702_0_1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a9ebe55702_0_1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ga9ebe55702_0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3" name="Google Shape;2323;ga9ebe55702_0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a9ebe55702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a9ebe55702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a9ebe55702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a9ebe55702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ga9ebe55702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3" name="Google Shape;2353;ga9ebe55702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a9ebe55702_0_1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a9ebe55702_0_1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a9ebe55702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a9ebe55702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a9ebe55702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a9ebe55702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ga9ebe55702_0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3" name="Google Shape;2393;ga9ebe55702_0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a9ebe55702_0_1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a9ebe55702_0_1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a9ebe55702_0_1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a9ebe55702_0_1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ga9ebe55702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0" name="Google Shape;2420;ga9ebe55702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ga9ebe55702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8" name="Google Shape;2428;ga9ebe55702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ga9ebe55702_0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6" name="Google Shape;2436;ga9ebe55702_0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a8f4dbf5c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a8f4dbf5c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a8f4dbf5c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2" name="Google Shape;2452;ga8f4dbf5c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a9ebe55702_0_1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a9ebe55702_0_1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ga9ebe55702_0_1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0" name="Google Shape;2470;ga9ebe55702_0_1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a9ebe55702_0_1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1" name="Google Shape;2481;ga9ebe55702_0_1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a9ebe55702_0_1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a9ebe55702_0_1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a9ebe55702_0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5" name="Google Shape;2505;ga9ebe55702_0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a9ebe55702_0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6" name="Google Shape;2516;ga9ebe55702_0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a9ebe55702_0_1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7" name="Google Shape;2527;ga9ebe55702_0_1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ga9ebe55702_0_1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8" name="Google Shape;2538;ga9ebe55702_0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ga9ebe55702_0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9" name="Google Shape;2549;ga9ebe55702_0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ga9ebe55702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0" name="Google Shape;2560;ga9ebe55702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a9ebe55702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a9ebe55702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ga9ebe55702_0_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4" name="Google Shape;2584;ga9ebe55702_0_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ga9ebe55702_0_1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6" name="Google Shape;2596;ga9ebe55702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ga9ebe55702_0_1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8" name="Google Shape;2608;ga9ebe55702_0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ga9ebe55702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9" name="Google Shape;2619;ga9ebe55702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8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ga9ebe55702_0_1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0" name="Google Shape;2630;ga9ebe55702_0_1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a9ebe55702_0_1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a9ebe55702_0_1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a9ebe55702_0_1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a9ebe55702_0_1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ga9ebe55702_0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9" name="Google Shape;2659;ga9ebe55702_0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ga9ebe55702_0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8" name="Google Shape;2668;ga9ebe55702_0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ga9ebe55702_0_1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7" name="Google Shape;2677;ga9ebe55702_0_1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3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ga8f4dbf5c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5" name="Google Shape;2685;ga8f4dbf5c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a8f4dbf5c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a8f4dbf5c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a9ebe55702_0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" name="Google Shape;2702;ga9ebe55702_0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ga9ebe55702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1" name="Google Shape;2711;ga9ebe55702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a9ebe55702_0_2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a9ebe55702_0_2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ga9ebe55702_0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4" name="Google Shape;2734;ga9ebe55702_0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ga9ebe55702_0_2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7" name="Google Shape;2747;ga9ebe55702_0_2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8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Google Shape;2759;ga9ebe55702_0_2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0" name="Google Shape;2760;ga9ebe55702_0_2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Google Shape;2768;ga9ebe55702_0_2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9" name="Google Shape;2769;ga9ebe55702_0_2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4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ga9ebe55702_0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6" name="Google Shape;2796;ga9ebe55702_0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ga9ebe55702_0_2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4" name="Google Shape;2824;ga9ebe55702_0_2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8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ga9ebe55702_0_2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0" name="Google Shape;2860;ga9ebe55702_0_2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7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ga9ebe55702_0_2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9" name="Google Shape;2899;ga9ebe55702_0_2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a9ebe55702_0_2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8" name="Google Shape;2938;ga9ebe55702_0_2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ga9ebe55702_0_2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7" name="Google Shape;2977;ga9ebe55702_0_2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ga9ebe55702_0_2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0" name="Google Shape;3020;ga9ebe55702_0_2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ga9ebe55702_0_2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3" name="Google Shape;3063;ga9ebe55702_0_2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2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ga9ebe55702_0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4" name="Google Shape;3104;ga9ebe55702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a9ebe55702_0_2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a9ebe55702_0_2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ga9ebe55702_0_2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4" name="Google Shape;3184;ga9ebe55702_0_2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ga9ebe55702_0_2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6" name="Google Shape;3226;ga9ebe55702_0_2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2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ga9ebe55702_0_2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4" name="Google Shape;3234;ga9ebe55702_0_2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a9ebe55702_0_2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6" name="Google Shape;3276;ga9ebe55702_0_2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ga9ebe55702_0_2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3" name="Google Shape;3293;ga9ebe55702_0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ga9ebe55702_0_2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1" name="Google Shape;3311;ga9ebe55702_0_2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" name="Google Shape;3328;ga9ebe55702_0_2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9" name="Google Shape;3329;ga9ebe55702_0_2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ga9ebe55702_0_2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8" name="Google Shape;3338;ga9ebe55702_0_2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ga9ebe55702_0_2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8" name="Google Shape;3348;ga9ebe55702_0_2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ga8f4dbf5c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7" name="Google Shape;3357;ga8f4dbf5c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3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ga8f4dbf5c7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5" name="Google Shape;3365;ga8f4dbf5c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ga8f4dbf5c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3" name="Google Shape;3373;ga8f4dbf5c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ga8f4dbf5c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1" name="Google Shape;3381;ga8f4dbf5c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ga8f4dbf5c7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8" name="Google Shape;3388;ga8f4dbf5c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Relationship Id="rId4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Relationship Id="rId4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.png"/><Relationship Id="rId4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Relationship Id="rId4" Type="http://schemas.openxmlformats.org/officeDocument/2006/relationships/image" Target="../media/image1.jpg"/><Relationship Id="rId5" Type="http://schemas.openxmlformats.org/officeDocument/2006/relationships/image" Target="../media/image1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png"/><Relationship Id="rId4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Relationship Id="rId4" Type="http://schemas.openxmlformats.org/officeDocument/2006/relationships/image" Target="../media/image2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Relationship Id="rId4" Type="http://schemas.openxmlformats.org/officeDocument/2006/relationships/image" Target="../media/image2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Relationship Id="rId4" Type="http://schemas.openxmlformats.org/officeDocument/2006/relationships/image" Target="../media/image2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Relationship Id="rId4" Type="http://schemas.openxmlformats.org/officeDocument/2006/relationships/image" Target="../media/image22.png"/><Relationship Id="rId5" Type="http://schemas.openxmlformats.org/officeDocument/2006/relationships/image" Target="../media/image2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3.png"/><Relationship Id="rId4" Type="http://schemas.openxmlformats.org/officeDocument/2006/relationships/image" Target="../media/image1.jpg"/><Relationship Id="rId5" Type="http://schemas.openxmlformats.org/officeDocument/2006/relationships/image" Target="../media/image2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.png"/><Relationship Id="rId4" Type="http://schemas.openxmlformats.org/officeDocument/2006/relationships/image" Target="../media/image1.jpg"/><Relationship Id="rId5" Type="http://schemas.openxmlformats.org/officeDocument/2006/relationships/image" Target="../media/image2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3.png"/><Relationship Id="rId4" Type="http://schemas.openxmlformats.org/officeDocument/2006/relationships/image" Target="../media/image1.jp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Relationship Id="rId4" Type="http://schemas.openxmlformats.org/officeDocument/2006/relationships/image" Target="../media/image30.png"/><Relationship Id="rId5" Type="http://schemas.openxmlformats.org/officeDocument/2006/relationships/image" Target="../media/image2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jpg"/><Relationship Id="rId4" Type="http://schemas.openxmlformats.org/officeDocument/2006/relationships/image" Target="../media/image32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6.png"/><Relationship Id="rId4" Type="http://schemas.openxmlformats.org/officeDocument/2006/relationships/image" Target="../media/image1.jpg"/><Relationship Id="rId5" Type="http://schemas.openxmlformats.org/officeDocument/2006/relationships/image" Target="../media/image1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36.png"/><Relationship Id="rId4" Type="http://schemas.openxmlformats.org/officeDocument/2006/relationships/image" Target="../media/image1.jpg"/><Relationship Id="rId5" Type="http://schemas.openxmlformats.org/officeDocument/2006/relationships/image" Target="../media/image13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.jpg"/><Relationship Id="rId4" Type="http://schemas.openxmlformats.org/officeDocument/2006/relationships/image" Target="../media/image36.png"/><Relationship Id="rId5" Type="http://schemas.openxmlformats.org/officeDocument/2006/relationships/image" Target="../media/image39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9.png"/><Relationship Id="rId4" Type="http://schemas.openxmlformats.org/officeDocument/2006/relationships/image" Target="../media/image1.jpg"/><Relationship Id="rId5" Type="http://schemas.openxmlformats.org/officeDocument/2006/relationships/image" Target="../media/image36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39.png"/><Relationship Id="rId4" Type="http://schemas.openxmlformats.org/officeDocument/2006/relationships/image" Target="../media/image1.jpg"/><Relationship Id="rId5" Type="http://schemas.openxmlformats.org/officeDocument/2006/relationships/image" Target="../media/image36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9.png"/><Relationship Id="rId4" Type="http://schemas.openxmlformats.org/officeDocument/2006/relationships/image" Target="../media/image1.jpg"/><Relationship Id="rId5" Type="http://schemas.openxmlformats.org/officeDocument/2006/relationships/image" Target="../media/image36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39.png"/><Relationship Id="rId4" Type="http://schemas.openxmlformats.org/officeDocument/2006/relationships/image" Target="../media/image1.jp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.jpg"/><Relationship Id="rId4" Type="http://schemas.openxmlformats.org/officeDocument/2006/relationships/image" Target="../media/image38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.jpg"/><Relationship Id="rId4" Type="http://schemas.openxmlformats.org/officeDocument/2006/relationships/image" Target="../media/image38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.jp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.jp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.jp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.jp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.jp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.jp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.jp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.jp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.jp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.jp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.jp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.jp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.jp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.jp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.jp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.jp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.jp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.jp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.jp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.jp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jp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.jp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.jpg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.jp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.jp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.jp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.jp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.jpg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1.jp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.jpg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.jp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1.jp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.jp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.jp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.jp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.jpg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.jp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.jp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.jp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.jp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.jp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.jp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.jpg"/><Relationship Id="rId4" Type="http://schemas.openxmlformats.org/officeDocument/2006/relationships/image" Target="../media/image40.pn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.jpg"/><Relationship Id="rId4" Type="http://schemas.openxmlformats.org/officeDocument/2006/relationships/image" Target="../media/image40.pn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46.png"/><Relationship Id="rId4" Type="http://schemas.openxmlformats.org/officeDocument/2006/relationships/image" Target="../media/image1.jpg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.jpg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.jpg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.jpg"/><Relationship Id="rId4" Type="http://schemas.openxmlformats.org/officeDocument/2006/relationships/image" Target="../media/image44.pn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1.jpg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1.jp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.jpg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1.jpg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1.jpg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1.jpg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1.jpg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1.jpg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1.jpg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1.jpg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1.jpg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1.jpg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1.jpg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1.jpg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1.jpg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1.jpg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1.jpg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1.jpg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1.jpg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.jpg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.jpg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.jpg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.jpg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.jpg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.jpg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explored how to use Linear Regression and its many variations to predict a continuous label.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how can we predict a categorical label?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explored how to use Linear Regression and its many variations to predict a continuous label.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how can we predict a categorical label?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be confused by the use of the term “regression” in its name!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is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algorithm designed to predict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target labels.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Linear Regression to Logistic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Mathematical Theory behind Logistic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Implementation of Logistic Regression for Classification Problem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Interpreting Results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Odds Ratio and Coefficients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ROC Curves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Multiclass Classification with Logistic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Project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Project Solutions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will allow us to predict a categorical label based on historical feature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categorical target column is two or more discrete class labels.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algorithms predict a class or category label: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0: Car Image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1: Street Image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2: Bridge Image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not have realized you are helping Google label class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3237" y="2149175"/>
            <a:ext cx="2017525" cy="29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any continuous target can be converted into categories through discretization.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0: House Price $0-100k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1: House Price $100k-200k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2: House Price &lt;$200k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algorithms also often produce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probability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prediction of belonging to a class: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0: 10% Probability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1: 85% Probability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2: 5% Probability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" name="Google Shape;146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86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algorithms also often produce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probability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prediction of belonging to a class: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0: 10% Probability - Car Image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1: 85% Probability - Street Image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2: 5% Probability - Bridge Image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reports back prediction of Class 1, image is a street.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4" name="Google Shape;154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note our prediction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will be a category, meaning we won’t be able to calculate a difference based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y-ŷ.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 Image - Street Image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not make sense.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discover a completely different set of error metrics and performance evaluation!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ctrTitle"/>
          </p:nvPr>
        </p:nvSpPr>
        <p:spPr>
          <a:xfrm>
            <a:off x="0" y="9731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Theory and Intuition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8"/>
          <p:cNvSpPr txBox="1"/>
          <p:nvPr>
            <p:ph idx="1" type="subTitle"/>
          </p:nvPr>
        </p:nvSpPr>
        <p:spPr>
          <a:xfrm>
            <a:off x="311700" y="3138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Montserrat"/>
                <a:ea typeface="Montserrat"/>
                <a:cs typeface="Montserrat"/>
                <a:sym typeface="Montserrat"/>
              </a:rPr>
              <a:t>Part One: The Logistic Function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8" name="Google Shape;17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works by transforming a Linear Regression into a classification model through the use of the logistic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6" name="Google Shape;18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722" y="2686922"/>
            <a:ext cx="3978050" cy="19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by understanding the history and motivation behind the logistic function (a.k.a the sigmoid function):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4" name="Google Shape;194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5" name="Google Shape;195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722" y="2686922"/>
            <a:ext cx="3978050" cy="19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722" y="2686922"/>
            <a:ext cx="3978050" cy="19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now, we’re only referring to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function itself, not the logistic regression model!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4" name="Google Shape;204;p3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5" name="Google Shape;205;p3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1830-1850: Under guidance of Adolphe Quetelet, Pierre François Verhulst developed the logistic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722" y="2686922"/>
            <a:ext cx="3978050" cy="19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9225" y="2457550"/>
            <a:ext cx="1568775" cy="242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6375" y="2457544"/>
            <a:ext cx="1423250" cy="229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1883: Logistic function was independently developed in chemistry as a model of autocatalysis by Wilhelm Ostwald.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" name="Google Shape;223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" name="Google Shape;22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722" y="2686922"/>
            <a:ext cx="3978050" cy="19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0275" y="2486025"/>
            <a:ext cx="1797400" cy="239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1830-1850: Under guidance of Adolphe Quetelet, Pierre François Verhulst developed the logistic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3" name="Google Shape;233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" name="Google Shape;23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722" y="2686922"/>
            <a:ext cx="3978050" cy="19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9225" y="2457550"/>
            <a:ext cx="1568775" cy="242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6375" y="2457544"/>
            <a:ext cx="1423250" cy="229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1830-1850: Developed for the purposes of modeling population growth.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9225" y="2457550"/>
            <a:ext cx="1568775" cy="242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375" y="2457544"/>
            <a:ext cx="1423250" cy="229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5"/>
          <p:cNvPicPr preferRelativeResize="0"/>
          <p:nvPr/>
        </p:nvPicPr>
        <p:blipFill rotWithShape="1">
          <a:blip r:embed="rId6">
            <a:alphaModFix/>
          </a:blip>
          <a:srcRect b="6254" l="3100" r="3529" t="5039"/>
          <a:stretch/>
        </p:blipFill>
        <p:spPr>
          <a:xfrm rot="2">
            <a:off x="3354475" y="2223901"/>
            <a:ext cx="2474276" cy="289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the need for a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function versus a logarithmic function?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9225" y="2457550"/>
            <a:ext cx="1568775" cy="242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375" y="2457544"/>
            <a:ext cx="1423250" cy="229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/>
          <p:cNvPicPr preferRelativeResize="0"/>
          <p:nvPr/>
        </p:nvPicPr>
        <p:blipFill rotWithShape="1">
          <a:blip r:embed="rId6">
            <a:alphaModFix/>
          </a:blip>
          <a:srcRect b="6254" l="3100" r="3529" t="5039"/>
          <a:stretch/>
        </p:blipFill>
        <p:spPr>
          <a:xfrm rot="2">
            <a:off x="3354475" y="2223901"/>
            <a:ext cx="2474276" cy="289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the need for a logistic function versus a logarithmic function?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6" name="Google Shape;266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7" name="Google Shape;267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713" y="2749946"/>
            <a:ext cx="4586074" cy="23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6775" y="3380075"/>
            <a:ext cx="1527349" cy="7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9238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There is a “family” of logistic functions.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25" y="2124000"/>
            <a:ext cx="5201850" cy="26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713" y="2749946"/>
            <a:ext cx="4586074" cy="23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6775" y="3380075"/>
            <a:ext cx="1527349" cy="7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9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the “leveling off” behavior of the curve.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4" name="Google Shape;294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5" name="Google Shape;295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713" y="2749946"/>
            <a:ext cx="4586074" cy="23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6775" y="3380075"/>
            <a:ext cx="1527349" cy="7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notice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value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will have an output range between 0 and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41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natural real world systems have a “carrying capacity” or a natural limiting factor.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713" y="2749946"/>
            <a:ext cx="4586074" cy="23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6775" y="3380075"/>
            <a:ext cx="1527349" cy="7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42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natural real world systems have a “carrying capacity” or a natural limiting factor.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5" name="Google Shape;315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6" name="Google Shape;316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575" y="2368100"/>
            <a:ext cx="3826850" cy="267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3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natural real world systems have a “carrying capacity” or a natural limiting factor.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4" name="Google Shape;324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5" name="Google Shape;32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7625" y="2300075"/>
            <a:ext cx="3632250" cy="271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4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1940s: Using the logistic function for statistical modeling was developed by Joseph Berkson.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3" name="Google Shape;333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4" name="Google Shape;33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9273" y="2475150"/>
            <a:ext cx="1853400" cy="24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1350" y="2706987"/>
            <a:ext cx="3752987" cy="194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4327" y="3222652"/>
            <a:ext cx="1249898" cy="602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1944: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“Application of the logistic function to bio-assay”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Journal of the American Statistical Association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9273" y="2475150"/>
            <a:ext cx="1853400" cy="24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1350" y="2706987"/>
            <a:ext cx="3752987" cy="194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4327" y="3222652"/>
            <a:ext cx="1249898" cy="602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46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Quirky fact: Berkson was a prominent opponent of the idea that cigarette smoking causes cancer.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5" name="Google Shape;355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6" name="Google Shape;35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1137" y="2573300"/>
            <a:ext cx="3652375" cy="24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47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Life magazine, Berkson: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...very doubtful that smoking causes cancer of the lung.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4" name="Google Shape;364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5" name="Google Shape;36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562" y="2118975"/>
            <a:ext cx="2620867" cy="297622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7"/>
          <p:cNvSpPr/>
          <p:nvPr/>
        </p:nvSpPr>
        <p:spPr>
          <a:xfrm>
            <a:off x="4551875" y="2348375"/>
            <a:ext cx="1330500" cy="187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8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we now know smoking is clearly bad for you, we still haven’t learned how to convert a linear regression to a logistic regression!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on by seeing how a linear regression is unable to solve classification problems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effectively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how the logistic function can fix this!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>
            <p:ph type="ctrTitle"/>
          </p:nvPr>
        </p:nvSpPr>
        <p:spPr>
          <a:xfrm>
            <a:off x="0" y="9731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Theory and Intuition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9"/>
          <p:cNvSpPr txBox="1"/>
          <p:nvPr>
            <p:ph idx="1" type="subTitle"/>
          </p:nvPr>
        </p:nvSpPr>
        <p:spPr>
          <a:xfrm>
            <a:off x="311700" y="3138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Montserrat"/>
                <a:ea typeface="Montserrat"/>
                <a:cs typeface="Montserrat"/>
                <a:sym typeface="Montserrat"/>
              </a:rPr>
              <a:t>Part Two: 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Montserrat"/>
                <a:ea typeface="Montserrat"/>
                <a:cs typeface="Montserrat"/>
                <a:sym typeface="Montserrat"/>
              </a:rPr>
              <a:t>Linear to Logistic Intuition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50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convert a Linear Regression model used for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regression task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into a Logistic Regression model used for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task.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dataset with a single feature (previous year’s income) and a single target label (loan default)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51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8" name="Google Shape;398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9" name="Google Shape;399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0" name="Google Shape;400;p51"/>
          <p:cNvGraphicFramePr/>
          <p:nvPr/>
        </p:nvGraphicFramePr>
        <p:xfrm>
          <a:off x="3501425" y="12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380925"/>
                <a:gridCol w="1380925"/>
              </a:tblGrid>
              <a:tr h="36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Income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Loan Paid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12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-5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-4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-2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52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by plotting income versus default: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7" name="Google Shape;407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8" name="Google Shape;408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4525" y="2343950"/>
            <a:ext cx="5238448" cy="2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53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Notice that people with negative income tend to default on their loans.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4525" y="2343950"/>
            <a:ext cx="5238448" cy="2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had to predict default status given someone’s income?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5" name="Google Shape;425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6" name="Google Shape;426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4525" y="2343950"/>
            <a:ext cx="5238448" cy="2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525" y="2343950"/>
            <a:ext cx="5238448" cy="27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55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Fitting a Linear Regression would not work (recall Anscombe’s quartet):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5" name="Google Shape;435;p5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6" name="Google Shape;436;p5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55"/>
          <p:cNvCxnSpPr/>
          <p:nvPr/>
        </p:nvCxnSpPr>
        <p:spPr>
          <a:xfrm flipH="1" rot="10800000">
            <a:off x="2601925" y="3326375"/>
            <a:ext cx="4533900" cy="1273800"/>
          </a:xfrm>
          <a:prstGeom prst="straightConnector1">
            <a:avLst/>
          </a:prstGeom>
          <a:noFill/>
          <a:ln cap="flat" cmpd="sng" w="3810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525" y="2343950"/>
            <a:ext cx="5238448" cy="27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56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easily distorted by only having 0 and 1 as possible y training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5" name="Google Shape;445;p5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6" name="Google Shape;446;p5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56"/>
          <p:cNvCxnSpPr/>
          <p:nvPr/>
        </p:nvCxnSpPr>
        <p:spPr>
          <a:xfrm flipH="1" rot="10800000">
            <a:off x="2601925" y="3326375"/>
            <a:ext cx="4533900" cy="1273800"/>
          </a:xfrm>
          <a:prstGeom prst="straightConnector1">
            <a:avLst/>
          </a:prstGeom>
          <a:noFill/>
          <a:ln cap="flat" cmpd="sng" w="3810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525" y="2343950"/>
            <a:ext cx="5238448" cy="27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57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would be unclear how to interpret predicted y values between 0 and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5" name="Google Shape;455;p5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6" name="Google Shape;456;p5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57"/>
          <p:cNvCxnSpPr/>
          <p:nvPr/>
        </p:nvCxnSpPr>
        <p:spPr>
          <a:xfrm flipH="1" rot="10800000">
            <a:off x="2601925" y="3326375"/>
            <a:ext cx="4533900" cy="1273800"/>
          </a:xfrm>
          <a:prstGeom prst="straightConnector1">
            <a:avLst/>
          </a:prstGeom>
          <a:noFill/>
          <a:ln cap="flat" cmpd="sng" w="3810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25" y="2501200"/>
            <a:ext cx="3676449" cy="21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58"/>
          <p:cNvSpPr txBox="1"/>
          <p:nvPr>
            <p:ph idx="1" type="body"/>
          </p:nvPr>
        </p:nvSpPr>
        <p:spPr>
          <a:xfrm>
            <a:off x="311700" y="1152475"/>
            <a:ext cx="86841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make use of the Logistic Function for a conversion!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5" name="Google Shape;465;p5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6" name="Google Shape;466;p5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58"/>
          <p:cNvCxnSpPr/>
          <p:nvPr/>
        </p:nvCxnSpPr>
        <p:spPr>
          <a:xfrm flipH="1" rot="10800000">
            <a:off x="766538" y="3242246"/>
            <a:ext cx="3182100" cy="9603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68" name="Google Shape;46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175" y="2501200"/>
            <a:ext cx="4018951" cy="2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8"/>
          <p:cNvSpPr/>
          <p:nvPr/>
        </p:nvSpPr>
        <p:spPr>
          <a:xfrm>
            <a:off x="4239963" y="3242250"/>
            <a:ext cx="471000" cy="28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59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first focus on what this Logistic Regression would look like.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7" name="Google Shape;477;p5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8" name="Google Shape;478;p5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60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 the y-axis as a probability of belonging to a class: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6" name="Google Shape;486;p6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7" name="Google Shape;487;p6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0"/>
          <p:cNvSpPr/>
          <p:nvPr/>
        </p:nvSpPr>
        <p:spPr>
          <a:xfrm>
            <a:off x="1267100" y="2390650"/>
            <a:ext cx="1134900" cy="222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60"/>
          <p:cNvSpPr txBox="1"/>
          <p:nvPr/>
        </p:nvSpPr>
        <p:spPr>
          <a:xfrm>
            <a:off x="408225" y="3249375"/>
            <a:ext cx="890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P(y=1)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61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Treating P(y=1) &gt;= 0.5 as a cut-off for classification: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7" name="Google Shape;497;p6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8" name="Google Shape;498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1"/>
          <p:cNvSpPr/>
          <p:nvPr/>
        </p:nvSpPr>
        <p:spPr>
          <a:xfrm>
            <a:off x="1267100" y="2390650"/>
            <a:ext cx="1134900" cy="222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1"/>
          <p:cNvSpPr txBox="1"/>
          <p:nvPr/>
        </p:nvSpPr>
        <p:spPr>
          <a:xfrm>
            <a:off x="408225" y="3249375"/>
            <a:ext cx="890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P(y=1)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1" name="Google Shape;501;p61"/>
          <p:cNvCxnSpPr/>
          <p:nvPr/>
        </p:nvCxnSpPr>
        <p:spPr>
          <a:xfrm>
            <a:off x="2867550" y="3507475"/>
            <a:ext cx="4624200" cy="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61"/>
          <p:cNvSpPr txBox="1"/>
          <p:nvPr/>
        </p:nvSpPr>
        <p:spPr>
          <a:xfrm>
            <a:off x="7491750" y="3249375"/>
            <a:ext cx="1652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P(y=1) = 0.5</a:t>
            </a:r>
            <a:endParaRPr sz="18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62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new person with an income of 1: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0" name="Google Shape;510;p62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1" name="Google Shape;511;p6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2"/>
          <p:cNvSpPr/>
          <p:nvPr/>
        </p:nvSpPr>
        <p:spPr>
          <a:xfrm>
            <a:off x="1267100" y="2390650"/>
            <a:ext cx="1134900" cy="222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2"/>
          <p:cNvSpPr txBox="1"/>
          <p:nvPr/>
        </p:nvSpPr>
        <p:spPr>
          <a:xfrm>
            <a:off x="408225" y="3249375"/>
            <a:ext cx="890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P(y=1)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4" name="Google Shape;514;p62"/>
          <p:cNvCxnSpPr/>
          <p:nvPr/>
        </p:nvCxnSpPr>
        <p:spPr>
          <a:xfrm>
            <a:off x="2867550" y="3507475"/>
            <a:ext cx="4624200" cy="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62"/>
          <p:cNvSpPr txBox="1"/>
          <p:nvPr/>
        </p:nvSpPr>
        <p:spPr>
          <a:xfrm>
            <a:off x="7491750" y="3249375"/>
            <a:ext cx="1652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P(y=1) = 0.5</a:t>
            </a:r>
            <a:endParaRPr sz="18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62"/>
          <p:cNvSpPr/>
          <p:nvPr/>
        </p:nvSpPr>
        <p:spPr>
          <a:xfrm>
            <a:off x="5475525" y="4638475"/>
            <a:ext cx="162900" cy="162900"/>
          </a:xfrm>
          <a:prstGeom prst="triangle">
            <a:avLst>
              <a:gd fmla="val 50000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63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new person with an income of 1: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4" name="Google Shape;524;p6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5" name="Google Shape;525;p6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3"/>
          <p:cNvSpPr/>
          <p:nvPr/>
        </p:nvSpPr>
        <p:spPr>
          <a:xfrm>
            <a:off x="1267100" y="2390650"/>
            <a:ext cx="1134900" cy="222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3"/>
          <p:cNvSpPr txBox="1"/>
          <p:nvPr/>
        </p:nvSpPr>
        <p:spPr>
          <a:xfrm>
            <a:off x="408225" y="3249375"/>
            <a:ext cx="890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P(y=1)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8" name="Google Shape;528;p63"/>
          <p:cNvCxnSpPr/>
          <p:nvPr/>
        </p:nvCxnSpPr>
        <p:spPr>
          <a:xfrm>
            <a:off x="2867550" y="3507475"/>
            <a:ext cx="4624200" cy="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63"/>
          <p:cNvSpPr txBox="1"/>
          <p:nvPr/>
        </p:nvSpPr>
        <p:spPr>
          <a:xfrm>
            <a:off x="7491750" y="3249375"/>
            <a:ext cx="1652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P(y=1) = 0.5</a:t>
            </a:r>
            <a:endParaRPr sz="18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63"/>
          <p:cNvSpPr/>
          <p:nvPr/>
        </p:nvSpPr>
        <p:spPr>
          <a:xfrm>
            <a:off x="5475525" y="4638475"/>
            <a:ext cx="162900" cy="162900"/>
          </a:xfrm>
          <a:prstGeom prst="triangle">
            <a:avLst>
              <a:gd fmla="val 50000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" name="Google Shape;531;p63"/>
          <p:cNvCxnSpPr>
            <a:stCxn id="530" idx="0"/>
          </p:cNvCxnSpPr>
          <p:nvPr/>
        </p:nvCxnSpPr>
        <p:spPr>
          <a:xfrm rot="10800000">
            <a:off x="5556975" y="2722675"/>
            <a:ext cx="0" cy="19158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64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Predict a 90% probability of paying off loan, return prediction of Loan Paid =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9" name="Google Shape;539;p6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0" name="Google Shape;540;p6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4"/>
          <p:cNvSpPr/>
          <p:nvPr/>
        </p:nvSpPr>
        <p:spPr>
          <a:xfrm>
            <a:off x="1267100" y="2390650"/>
            <a:ext cx="1134900" cy="222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4"/>
          <p:cNvSpPr txBox="1"/>
          <p:nvPr/>
        </p:nvSpPr>
        <p:spPr>
          <a:xfrm>
            <a:off x="408225" y="3249375"/>
            <a:ext cx="890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P(y=1)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3" name="Google Shape;543;p64"/>
          <p:cNvCxnSpPr/>
          <p:nvPr/>
        </p:nvCxnSpPr>
        <p:spPr>
          <a:xfrm>
            <a:off x="2867550" y="3507475"/>
            <a:ext cx="4624200" cy="0"/>
          </a:xfrm>
          <a:prstGeom prst="straightConnector1">
            <a:avLst/>
          </a:prstGeom>
          <a:noFill/>
          <a:ln cap="flat" cmpd="sng" w="28575">
            <a:solidFill>
              <a:srgbClr val="A64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64"/>
          <p:cNvSpPr txBox="1"/>
          <p:nvPr/>
        </p:nvSpPr>
        <p:spPr>
          <a:xfrm>
            <a:off x="7491750" y="3249375"/>
            <a:ext cx="1652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P(y=1) = 0.5</a:t>
            </a:r>
            <a:endParaRPr sz="18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64"/>
          <p:cNvSpPr/>
          <p:nvPr/>
        </p:nvSpPr>
        <p:spPr>
          <a:xfrm>
            <a:off x="5475525" y="4638475"/>
            <a:ext cx="162900" cy="162900"/>
          </a:xfrm>
          <a:prstGeom prst="triangle">
            <a:avLst>
              <a:gd fmla="val 50000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6" name="Google Shape;546;p64"/>
          <p:cNvCxnSpPr>
            <a:stCxn id="545" idx="0"/>
          </p:cNvCxnSpPr>
          <p:nvPr/>
        </p:nvCxnSpPr>
        <p:spPr>
          <a:xfrm rot="10800000">
            <a:off x="5556975" y="2722675"/>
            <a:ext cx="0" cy="19158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64"/>
          <p:cNvCxnSpPr/>
          <p:nvPr/>
        </p:nvCxnSpPr>
        <p:spPr>
          <a:xfrm>
            <a:off x="2879625" y="2686450"/>
            <a:ext cx="26805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65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how do we actually create this line?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4" name="Google Shape;554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5" name="Google Shape;555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5938" y="2277520"/>
            <a:ext cx="5362774" cy="28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66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Fortunately, the mathematics of the conversion are quite simple!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3" name="Google Shape;563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4" name="Google Shape;564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25" y="2501200"/>
            <a:ext cx="3676449" cy="211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66"/>
          <p:cNvCxnSpPr/>
          <p:nvPr/>
        </p:nvCxnSpPr>
        <p:spPr>
          <a:xfrm flipH="1" rot="10800000">
            <a:off x="766538" y="3242246"/>
            <a:ext cx="3182100" cy="9603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67" name="Google Shape;56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175" y="2501200"/>
            <a:ext cx="4018951" cy="2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6"/>
          <p:cNvSpPr/>
          <p:nvPr/>
        </p:nvSpPr>
        <p:spPr>
          <a:xfrm>
            <a:off x="4239963" y="3242250"/>
            <a:ext cx="471000" cy="28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67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lecture we will go through the mathematical process of this conversion.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5" name="Google Shape;575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6" name="Google Shape;576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25" y="2501200"/>
            <a:ext cx="3676449" cy="211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67"/>
          <p:cNvCxnSpPr/>
          <p:nvPr/>
        </p:nvCxnSpPr>
        <p:spPr>
          <a:xfrm flipH="1" rot="10800000">
            <a:off x="766538" y="3242246"/>
            <a:ext cx="3182100" cy="9603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9" name="Google Shape;57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175" y="2501200"/>
            <a:ext cx="4018951" cy="2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7"/>
          <p:cNvSpPr/>
          <p:nvPr/>
        </p:nvSpPr>
        <p:spPr>
          <a:xfrm>
            <a:off x="4239963" y="3242250"/>
            <a:ext cx="471000" cy="28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8"/>
          <p:cNvSpPr txBox="1"/>
          <p:nvPr>
            <p:ph type="ctrTitle"/>
          </p:nvPr>
        </p:nvSpPr>
        <p:spPr>
          <a:xfrm>
            <a:off x="0" y="9731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Theory and Intuition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68"/>
          <p:cNvSpPr txBox="1"/>
          <p:nvPr>
            <p:ph idx="1" type="subTitle"/>
          </p:nvPr>
        </p:nvSpPr>
        <p:spPr>
          <a:xfrm>
            <a:off x="311700" y="3138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Montserrat"/>
                <a:ea typeface="Montserrat"/>
                <a:cs typeface="Montserrat"/>
                <a:sym typeface="Montserrat"/>
              </a:rPr>
              <a:t>Part Two: Linear to Logistic Math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7" name="Google Shape;587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8" name="Google Shape;588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69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the math of converting Linear Regression to Logistic Regression.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5" name="Google Shape;595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6" name="Google Shape;596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25" y="2501200"/>
            <a:ext cx="3676449" cy="211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8" name="Google Shape;598;p69"/>
          <p:cNvCxnSpPr/>
          <p:nvPr/>
        </p:nvCxnSpPr>
        <p:spPr>
          <a:xfrm flipH="1" rot="10800000">
            <a:off x="766538" y="3242246"/>
            <a:ext cx="3182100" cy="9603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99" name="Google Shape;59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175" y="2501200"/>
            <a:ext cx="4018951" cy="2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9"/>
          <p:cNvSpPr/>
          <p:nvPr/>
        </p:nvSpPr>
        <p:spPr>
          <a:xfrm>
            <a:off x="4239963" y="3242250"/>
            <a:ext cx="471000" cy="28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70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Relevant ISLR Reading: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4.3 Logistic Regression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7" name="Google Shape;607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8" name="Google Shape;60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325" y="2501200"/>
            <a:ext cx="3676449" cy="211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0" name="Google Shape;610;p70"/>
          <p:cNvCxnSpPr/>
          <p:nvPr/>
        </p:nvCxnSpPr>
        <p:spPr>
          <a:xfrm flipH="1" rot="10800000">
            <a:off x="766538" y="3242246"/>
            <a:ext cx="3182100" cy="9603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1" name="Google Shape;61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175" y="2501200"/>
            <a:ext cx="4018951" cy="2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0"/>
          <p:cNvSpPr/>
          <p:nvPr/>
        </p:nvSpPr>
        <p:spPr>
          <a:xfrm>
            <a:off x="4239963" y="3242250"/>
            <a:ext cx="471000" cy="28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100" y="2202518"/>
            <a:ext cx="4701800" cy="2366357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71"/>
          <p:cNvSpPr txBox="1"/>
          <p:nvPr>
            <p:ph idx="1" type="body"/>
          </p:nvPr>
        </p:nvSpPr>
        <p:spPr>
          <a:xfrm>
            <a:off x="311700" y="1152475"/>
            <a:ext cx="86841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the Linear Regression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0" name="Google Shape;620;p7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1" name="Google Shape;621;p7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72"/>
          <p:cNvSpPr txBox="1"/>
          <p:nvPr>
            <p:ph idx="1" type="body"/>
          </p:nvPr>
        </p:nvSpPr>
        <p:spPr>
          <a:xfrm>
            <a:off x="311700" y="1152475"/>
            <a:ext cx="8832300" cy="28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also know the Logistic function transforms any input to be between 0 and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075" y="2467325"/>
            <a:ext cx="4151550" cy="18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73"/>
          <p:cNvSpPr txBox="1"/>
          <p:nvPr>
            <p:ph idx="1" type="body"/>
          </p:nvPr>
        </p:nvSpPr>
        <p:spPr>
          <a:xfrm>
            <a:off x="311700" y="1152475"/>
            <a:ext cx="8832300" cy="28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we need to do is plug the Linear Regression equation into the Logistic function to create a Logistic Regression!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7" name="Google Shape;637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8" name="Google Shape;638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900" y="2994350"/>
            <a:ext cx="2954825" cy="134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300" y="2697925"/>
            <a:ext cx="3741424" cy="18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73"/>
          <p:cNvSpPr/>
          <p:nvPr/>
        </p:nvSpPr>
        <p:spPr>
          <a:xfrm>
            <a:off x="1418700" y="3429000"/>
            <a:ext cx="1400700" cy="10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2" name="Google Shape;642;p73"/>
          <p:cNvCxnSpPr>
            <a:stCxn id="641" idx="2"/>
          </p:cNvCxnSpPr>
          <p:nvPr/>
        </p:nvCxnSpPr>
        <p:spPr>
          <a:xfrm rot="-5400000">
            <a:off x="3413850" y="2647200"/>
            <a:ext cx="579600" cy="3169200"/>
          </a:xfrm>
          <a:prstGeom prst="curvedConnector4">
            <a:avLst>
              <a:gd fmla="val -80219" name="adj1"/>
              <a:gd fmla="val 94480" name="adj2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put in terms of the logistic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9" name="Google Shape;649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0" name="Google Shape;650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1095" y="2319695"/>
            <a:ext cx="4701801" cy="22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Writing it out fully: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8" name="Google Shape;658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9" name="Google Shape;659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838" y="2363875"/>
            <a:ext cx="4930325" cy="17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6" name="Google Shape;666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 we interpret the coefficients and their relation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ŷ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7" name="Google Shape;667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8" name="Google Shape;668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838" y="2363875"/>
            <a:ext cx="4930325" cy="17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76"/>
          <p:cNvSpPr/>
          <p:nvPr/>
        </p:nvSpPr>
        <p:spPr>
          <a:xfrm>
            <a:off x="6085275" y="3302900"/>
            <a:ext cx="368100" cy="57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we need to understand the term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odds.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term you may be familiar with from gambling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odds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7" name="Google Shape;677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8" name="Google Shape;678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875" y="2841325"/>
            <a:ext cx="3874400" cy="1960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gambling odds are often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referred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in the sense of N to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where does this actually come from?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6" name="Google Shape;686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7" name="Google Shape;687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875" y="2841325"/>
            <a:ext cx="3874400" cy="1960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odds of an event with probability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defined as the chance of the event happening divided by the chance of the event not happening: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5" name="Google Shape;695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6" name="Google Shape;696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1020" y="3191145"/>
            <a:ext cx="1438625" cy="12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an event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probability of occuring. This 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0.5/1-0.5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which is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0.5/0.5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, the same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1/1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 to 1 odds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occurring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4" name="Google Shape;704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5" name="Google Shape;705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1020" y="3191145"/>
            <a:ext cx="1438625" cy="12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2" name="Google Shape;712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Taking the formula below, we can rearrange it to show that it is equivalent to modelling the log of the odds as a linear combination of the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3" name="Google Shape;713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4" name="Google Shape;714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178" y="3203850"/>
            <a:ext cx="3771150" cy="13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1" name="Google Shape;721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will allow us to solve for the coefficients and feature x in terms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2" name="Google Shape;722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3" name="Google Shape;723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178" y="3203850"/>
            <a:ext cx="3771150" cy="13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1" name="Google Shape;731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2" name="Google Shape;732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428" y="1773075"/>
            <a:ext cx="3771150" cy="13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0" name="Google Shape;740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1" name="Google Shape;741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428" y="1773075"/>
            <a:ext cx="3771150" cy="136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7500" y="3238875"/>
            <a:ext cx="3851600" cy="6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0" name="Google Shape;750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1" name="Google Shape;751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500" y="2172075"/>
            <a:ext cx="3851600" cy="6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9" name="Google Shape;759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0" name="Google Shape;76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500" y="2172075"/>
            <a:ext cx="3851600" cy="6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7125" y="2831300"/>
            <a:ext cx="3698100" cy="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9" name="Google Shape;769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0" name="Google Shape;770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500" y="2172075"/>
            <a:ext cx="3851600" cy="6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7125" y="2831300"/>
            <a:ext cx="3698100" cy="7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5475" y="3515225"/>
            <a:ext cx="3463150" cy="12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0" name="Google Shape;780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1" name="Google Shape;781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475" y="1838825"/>
            <a:ext cx="3463150" cy="12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Solving 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 odds: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9" name="Google Shape;789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0" name="Google Shape;790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475" y="1838825"/>
            <a:ext cx="3463150" cy="12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8175" y="3196725"/>
            <a:ext cx="4260274" cy="12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8" name="Google Shape;798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the function curve look like in terms of log odds?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9" name="Google Shape;799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0" name="Google Shape;800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612" y="2357575"/>
            <a:ext cx="4260274" cy="12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91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the function curve look like in terms of log odds?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9" name="Google Shape;809;p9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0" name="Google Shape;810;p9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91"/>
          <p:cNvSpPr/>
          <p:nvPr/>
        </p:nvSpPr>
        <p:spPr>
          <a:xfrm>
            <a:off x="2185375" y="2215575"/>
            <a:ext cx="754500" cy="2529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2" name="Google Shape;812;p91"/>
          <p:cNvPicPr preferRelativeResize="0"/>
          <p:nvPr/>
        </p:nvPicPr>
        <p:blipFill rotWithShape="1">
          <a:blip r:embed="rId5">
            <a:alphaModFix/>
          </a:blip>
          <a:srcRect b="51905" l="26813" r="62971" t="0"/>
          <a:stretch/>
        </p:blipFill>
        <p:spPr>
          <a:xfrm>
            <a:off x="1811076" y="3260813"/>
            <a:ext cx="245550" cy="3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9" name="Google Shape;819;p92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would the function curve look like in terms of log odds?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0" name="Google Shape;820;p92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1" name="Google Shape;821;p9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92"/>
          <p:cNvSpPr/>
          <p:nvPr/>
        </p:nvSpPr>
        <p:spPr>
          <a:xfrm>
            <a:off x="2185375" y="2215575"/>
            <a:ext cx="754500" cy="2529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3" name="Google Shape;823;p92"/>
          <p:cNvPicPr preferRelativeResize="0"/>
          <p:nvPr/>
        </p:nvPicPr>
        <p:blipFill rotWithShape="1">
          <a:blip r:embed="rId5">
            <a:alphaModFix/>
          </a:blip>
          <a:srcRect b="0" l="0" r="47006" t="0"/>
          <a:stretch/>
        </p:blipFill>
        <p:spPr>
          <a:xfrm>
            <a:off x="3" y="3076200"/>
            <a:ext cx="1273649" cy="7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92"/>
          <p:cNvPicPr preferRelativeResize="0"/>
          <p:nvPr/>
        </p:nvPicPr>
        <p:blipFill rotWithShape="1">
          <a:blip r:embed="rId5">
            <a:alphaModFix/>
          </a:blip>
          <a:srcRect b="51905" l="26813" r="62971" t="0"/>
          <a:stretch/>
        </p:blipFill>
        <p:spPr>
          <a:xfrm>
            <a:off x="1811076" y="3260813"/>
            <a:ext cx="245550" cy="3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92"/>
          <p:cNvSpPr/>
          <p:nvPr/>
        </p:nvSpPr>
        <p:spPr>
          <a:xfrm>
            <a:off x="1343163" y="3341475"/>
            <a:ext cx="398400" cy="277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63" y="2303413"/>
            <a:ext cx="5391726" cy="2881462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93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p=0.5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3" name="Google Shape;833;p9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4" name="Google Shape;834;p9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93"/>
          <p:cNvSpPr/>
          <p:nvPr/>
        </p:nvSpPr>
        <p:spPr>
          <a:xfrm>
            <a:off x="2185375" y="2215575"/>
            <a:ext cx="754500" cy="2529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6" name="Google Shape;83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247" y="3123365"/>
            <a:ext cx="1583250" cy="66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7" name="Google Shape;837;p93"/>
          <p:cNvCxnSpPr/>
          <p:nvPr/>
        </p:nvCxnSpPr>
        <p:spPr>
          <a:xfrm>
            <a:off x="2813225" y="3561825"/>
            <a:ext cx="4678500" cy="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838" name="Google Shape;838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600" y="3178842"/>
            <a:ext cx="1583250" cy="62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94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p=0.5, halfway point now at 0.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5" name="Google Shape;845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6" name="Google Shape;846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72" y="3060190"/>
            <a:ext cx="1583250" cy="66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8" name="Google Shape;848;p94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94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94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pic>
        <p:nvPicPr>
          <p:cNvPr id="851" name="Google Shape;85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175" y="3082842"/>
            <a:ext cx="1583250" cy="62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7" name="Google Shape;857;p95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p goes to 1 then log odds becomes ∞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8" name="Google Shape;858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9" name="Google Shape;859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0" name="Google Shape;860;p95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95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95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63" name="Google Shape;863;p95"/>
          <p:cNvSpPr txBox="1"/>
          <p:nvPr/>
        </p:nvSpPr>
        <p:spPr>
          <a:xfrm>
            <a:off x="2994250" y="1595200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4" name="Google Shape;86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5" y="3119029"/>
            <a:ext cx="1583250" cy="62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2" y="1836225"/>
            <a:ext cx="2097329" cy="6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1" name="Google Shape;871;p96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p goes to 0 then log odds becomes -∞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2" name="Google Shape;872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3" name="Google Shape;873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96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96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96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77" name="Google Shape;877;p96"/>
          <p:cNvSpPr txBox="1"/>
          <p:nvPr/>
        </p:nvSpPr>
        <p:spPr>
          <a:xfrm>
            <a:off x="2994250" y="1595200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8" name="Google Shape;878;p96"/>
          <p:cNvSpPr txBox="1"/>
          <p:nvPr/>
        </p:nvSpPr>
        <p:spPr>
          <a:xfrm>
            <a:off x="2559575" y="4777225"/>
            <a:ext cx="972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9" name="Google Shape;879;p96"/>
          <p:cNvSpPr txBox="1"/>
          <p:nvPr/>
        </p:nvSpPr>
        <p:spPr>
          <a:xfrm>
            <a:off x="2432800" y="4777225"/>
            <a:ext cx="19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0" name="Google Shape;88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5" y="3119029"/>
            <a:ext cx="1583250" cy="62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2" y="1836225"/>
            <a:ext cx="2097329" cy="6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774" y="4209675"/>
            <a:ext cx="2054764" cy="6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8" name="Google Shape;888;p97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Class points now at infinity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9" name="Google Shape;889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0" name="Google Shape;890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1" name="Google Shape;891;p97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97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97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94" name="Google Shape;894;p97"/>
          <p:cNvSpPr txBox="1"/>
          <p:nvPr/>
        </p:nvSpPr>
        <p:spPr>
          <a:xfrm>
            <a:off x="2994250" y="1595200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97"/>
          <p:cNvSpPr txBox="1"/>
          <p:nvPr/>
        </p:nvSpPr>
        <p:spPr>
          <a:xfrm>
            <a:off x="2559575" y="4777225"/>
            <a:ext cx="972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6" name="Google Shape;896;p97"/>
          <p:cNvSpPr txBox="1"/>
          <p:nvPr/>
        </p:nvSpPr>
        <p:spPr>
          <a:xfrm>
            <a:off x="2432800" y="4777225"/>
            <a:ext cx="19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7" name="Google Shape;89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5" y="3119029"/>
            <a:ext cx="1583250" cy="62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2" y="1836225"/>
            <a:ext cx="2097329" cy="6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774" y="4209675"/>
            <a:ext cx="2054764" cy="6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97"/>
          <p:cNvSpPr/>
          <p:nvPr/>
        </p:nvSpPr>
        <p:spPr>
          <a:xfrm>
            <a:off x="62060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97"/>
          <p:cNvSpPr/>
          <p:nvPr/>
        </p:nvSpPr>
        <p:spPr>
          <a:xfrm>
            <a:off x="66663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97"/>
          <p:cNvSpPr/>
          <p:nvPr/>
        </p:nvSpPr>
        <p:spPr>
          <a:xfrm>
            <a:off x="705417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97"/>
          <p:cNvSpPr/>
          <p:nvPr/>
        </p:nvSpPr>
        <p:spPr>
          <a:xfrm>
            <a:off x="7478250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97"/>
          <p:cNvSpPr/>
          <p:nvPr/>
        </p:nvSpPr>
        <p:spPr>
          <a:xfrm>
            <a:off x="3377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97"/>
          <p:cNvSpPr/>
          <p:nvPr/>
        </p:nvSpPr>
        <p:spPr>
          <a:xfrm>
            <a:off x="38141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97"/>
          <p:cNvSpPr/>
          <p:nvPr/>
        </p:nvSpPr>
        <p:spPr>
          <a:xfrm>
            <a:off x="42925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97"/>
          <p:cNvSpPr/>
          <p:nvPr/>
        </p:nvSpPr>
        <p:spPr>
          <a:xfrm>
            <a:off x="46803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97"/>
          <p:cNvSpPr/>
          <p:nvPr/>
        </p:nvSpPr>
        <p:spPr>
          <a:xfrm>
            <a:off x="5025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98"/>
          <p:cNvSpPr txBox="1"/>
          <p:nvPr>
            <p:ph idx="1" type="body"/>
          </p:nvPr>
        </p:nvSpPr>
        <p:spPr>
          <a:xfrm>
            <a:off x="311700" y="1152475"/>
            <a:ext cx="88323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log scale logistic function is straight line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5" name="Google Shape;915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6" name="Google Shape;916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98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98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98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920" name="Google Shape;920;p98"/>
          <p:cNvSpPr txBox="1"/>
          <p:nvPr/>
        </p:nvSpPr>
        <p:spPr>
          <a:xfrm>
            <a:off x="2994250" y="1595200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1" name="Google Shape;921;p98"/>
          <p:cNvSpPr txBox="1"/>
          <p:nvPr/>
        </p:nvSpPr>
        <p:spPr>
          <a:xfrm>
            <a:off x="2559575" y="4777225"/>
            <a:ext cx="972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2" name="Google Shape;922;p98"/>
          <p:cNvSpPr txBox="1"/>
          <p:nvPr/>
        </p:nvSpPr>
        <p:spPr>
          <a:xfrm>
            <a:off x="2432800" y="4777225"/>
            <a:ext cx="19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3" name="Google Shape;92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5" y="3119029"/>
            <a:ext cx="1583250" cy="62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2" y="1836225"/>
            <a:ext cx="2097329" cy="6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774" y="4209675"/>
            <a:ext cx="2054764" cy="6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98"/>
          <p:cNvSpPr/>
          <p:nvPr/>
        </p:nvSpPr>
        <p:spPr>
          <a:xfrm>
            <a:off x="62060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98"/>
          <p:cNvSpPr/>
          <p:nvPr/>
        </p:nvSpPr>
        <p:spPr>
          <a:xfrm>
            <a:off x="66663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98"/>
          <p:cNvSpPr/>
          <p:nvPr/>
        </p:nvSpPr>
        <p:spPr>
          <a:xfrm>
            <a:off x="705417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98"/>
          <p:cNvSpPr/>
          <p:nvPr/>
        </p:nvSpPr>
        <p:spPr>
          <a:xfrm>
            <a:off x="7478250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98"/>
          <p:cNvSpPr/>
          <p:nvPr/>
        </p:nvSpPr>
        <p:spPr>
          <a:xfrm>
            <a:off x="3377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98"/>
          <p:cNvSpPr/>
          <p:nvPr/>
        </p:nvSpPr>
        <p:spPr>
          <a:xfrm>
            <a:off x="38141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98"/>
          <p:cNvSpPr/>
          <p:nvPr/>
        </p:nvSpPr>
        <p:spPr>
          <a:xfrm>
            <a:off x="42925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98"/>
          <p:cNvSpPr/>
          <p:nvPr/>
        </p:nvSpPr>
        <p:spPr>
          <a:xfrm>
            <a:off x="46803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98"/>
          <p:cNvSpPr/>
          <p:nvPr/>
        </p:nvSpPr>
        <p:spPr>
          <a:xfrm>
            <a:off x="5025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5" name="Google Shape;935;p98"/>
          <p:cNvCxnSpPr/>
          <p:nvPr/>
        </p:nvCxnSpPr>
        <p:spPr>
          <a:xfrm flipH="1" rot="10800000">
            <a:off x="3350525" y="1786825"/>
            <a:ext cx="4479300" cy="2970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99"/>
          <p:cNvSpPr txBox="1"/>
          <p:nvPr>
            <p:ph idx="1" type="body"/>
          </p:nvPr>
        </p:nvSpPr>
        <p:spPr>
          <a:xfrm>
            <a:off x="311700" y="1152475"/>
            <a:ext cx="88323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Coefficients in terms of change in log odds.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2" name="Google Shape;942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3" name="Google Shape;943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4" name="Google Shape;944;p99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99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99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947" name="Google Shape;947;p99"/>
          <p:cNvSpPr txBox="1"/>
          <p:nvPr/>
        </p:nvSpPr>
        <p:spPr>
          <a:xfrm>
            <a:off x="2994250" y="1595200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8" name="Google Shape;948;p99"/>
          <p:cNvSpPr txBox="1"/>
          <p:nvPr/>
        </p:nvSpPr>
        <p:spPr>
          <a:xfrm>
            <a:off x="2559575" y="4777225"/>
            <a:ext cx="972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99"/>
          <p:cNvSpPr txBox="1"/>
          <p:nvPr/>
        </p:nvSpPr>
        <p:spPr>
          <a:xfrm>
            <a:off x="2432800" y="4777225"/>
            <a:ext cx="19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0" name="Google Shape;95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5" y="3119029"/>
            <a:ext cx="1583250" cy="62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2" y="1836225"/>
            <a:ext cx="2097329" cy="6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774" y="4209675"/>
            <a:ext cx="2054764" cy="6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99"/>
          <p:cNvSpPr/>
          <p:nvPr/>
        </p:nvSpPr>
        <p:spPr>
          <a:xfrm>
            <a:off x="62060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99"/>
          <p:cNvSpPr/>
          <p:nvPr/>
        </p:nvSpPr>
        <p:spPr>
          <a:xfrm>
            <a:off x="66663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99"/>
          <p:cNvSpPr/>
          <p:nvPr/>
        </p:nvSpPr>
        <p:spPr>
          <a:xfrm>
            <a:off x="705417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99"/>
          <p:cNvSpPr/>
          <p:nvPr/>
        </p:nvSpPr>
        <p:spPr>
          <a:xfrm>
            <a:off x="7478250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99"/>
          <p:cNvSpPr/>
          <p:nvPr/>
        </p:nvSpPr>
        <p:spPr>
          <a:xfrm>
            <a:off x="3377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99"/>
          <p:cNvSpPr/>
          <p:nvPr/>
        </p:nvSpPr>
        <p:spPr>
          <a:xfrm>
            <a:off x="38141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99"/>
          <p:cNvSpPr/>
          <p:nvPr/>
        </p:nvSpPr>
        <p:spPr>
          <a:xfrm>
            <a:off x="42925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99"/>
          <p:cNvSpPr/>
          <p:nvPr/>
        </p:nvSpPr>
        <p:spPr>
          <a:xfrm>
            <a:off x="46803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99"/>
          <p:cNvSpPr/>
          <p:nvPr/>
        </p:nvSpPr>
        <p:spPr>
          <a:xfrm>
            <a:off x="5025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2" name="Google Shape;962;p99"/>
          <p:cNvCxnSpPr/>
          <p:nvPr/>
        </p:nvCxnSpPr>
        <p:spPr>
          <a:xfrm flipH="1" rot="10800000">
            <a:off x="3350525" y="1786825"/>
            <a:ext cx="4479300" cy="2970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963" name="Google Shape;963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1575" y="2311700"/>
            <a:ext cx="2265750" cy="670600"/>
          </a:xfrm>
          <a:prstGeom prst="rect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100"/>
          <p:cNvSpPr txBox="1"/>
          <p:nvPr>
            <p:ph idx="1" type="body"/>
          </p:nvPr>
        </p:nvSpPr>
        <p:spPr>
          <a:xfrm>
            <a:off x="311700" y="1152475"/>
            <a:ext cx="88323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to interpret? Not really...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0" name="Google Shape;970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1" name="Google Shape;971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2" name="Google Shape;972;p100"/>
          <p:cNvCxnSpPr/>
          <p:nvPr/>
        </p:nvCxnSpPr>
        <p:spPr>
          <a:xfrm>
            <a:off x="3302225" y="1895600"/>
            <a:ext cx="0" cy="306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100"/>
          <p:cNvCxnSpPr/>
          <p:nvPr/>
        </p:nvCxnSpPr>
        <p:spPr>
          <a:xfrm rot="10800000">
            <a:off x="3302225" y="3429050"/>
            <a:ext cx="4986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100"/>
          <p:cNvSpPr txBox="1"/>
          <p:nvPr/>
        </p:nvSpPr>
        <p:spPr>
          <a:xfrm>
            <a:off x="3072725" y="3229775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975" name="Google Shape;975;p100"/>
          <p:cNvSpPr txBox="1"/>
          <p:nvPr/>
        </p:nvSpPr>
        <p:spPr>
          <a:xfrm>
            <a:off x="2994250" y="1595200"/>
            <a:ext cx="229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100"/>
          <p:cNvSpPr txBox="1"/>
          <p:nvPr/>
        </p:nvSpPr>
        <p:spPr>
          <a:xfrm>
            <a:off x="2559575" y="4777225"/>
            <a:ext cx="972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7" name="Google Shape;977;p100"/>
          <p:cNvSpPr txBox="1"/>
          <p:nvPr/>
        </p:nvSpPr>
        <p:spPr>
          <a:xfrm>
            <a:off x="2432800" y="4777225"/>
            <a:ext cx="198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8" name="Google Shape;97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5" y="3119029"/>
            <a:ext cx="1583250" cy="62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2" y="1836225"/>
            <a:ext cx="2097329" cy="6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1774" y="4209675"/>
            <a:ext cx="2054764" cy="6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100"/>
          <p:cNvSpPr/>
          <p:nvPr/>
        </p:nvSpPr>
        <p:spPr>
          <a:xfrm>
            <a:off x="62060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00"/>
          <p:cNvSpPr/>
          <p:nvPr/>
        </p:nvSpPr>
        <p:spPr>
          <a:xfrm>
            <a:off x="666632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00"/>
          <p:cNvSpPr/>
          <p:nvPr/>
        </p:nvSpPr>
        <p:spPr>
          <a:xfrm>
            <a:off x="7054175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00"/>
          <p:cNvSpPr/>
          <p:nvPr/>
        </p:nvSpPr>
        <p:spPr>
          <a:xfrm>
            <a:off x="7478250" y="1742000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00"/>
          <p:cNvSpPr/>
          <p:nvPr/>
        </p:nvSpPr>
        <p:spPr>
          <a:xfrm>
            <a:off x="3377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00"/>
          <p:cNvSpPr/>
          <p:nvPr/>
        </p:nvSpPr>
        <p:spPr>
          <a:xfrm>
            <a:off x="38141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00"/>
          <p:cNvSpPr/>
          <p:nvPr/>
        </p:nvSpPr>
        <p:spPr>
          <a:xfrm>
            <a:off x="429252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00"/>
          <p:cNvSpPr/>
          <p:nvPr/>
        </p:nvSpPr>
        <p:spPr>
          <a:xfrm>
            <a:off x="46803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00"/>
          <p:cNvSpPr/>
          <p:nvPr/>
        </p:nvSpPr>
        <p:spPr>
          <a:xfrm>
            <a:off x="5025975" y="4864575"/>
            <a:ext cx="153600" cy="153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0" name="Google Shape;990;p100"/>
          <p:cNvCxnSpPr/>
          <p:nvPr/>
        </p:nvCxnSpPr>
        <p:spPr>
          <a:xfrm flipH="1" rot="10800000">
            <a:off x="3350525" y="1786825"/>
            <a:ext cx="4479300" cy="2970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991" name="Google Shape;991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1575" y="2311700"/>
            <a:ext cx="2265750" cy="670600"/>
          </a:xfrm>
          <a:prstGeom prst="rect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2" name="Google Shape;992;p100"/>
          <p:cNvSpPr/>
          <p:nvPr/>
        </p:nvSpPr>
        <p:spPr>
          <a:xfrm>
            <a:off x="5342725" y="2505350"/>
            <a:ext cx="1980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1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the log odds scale is nonlinear,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value can not be directly linked to “one unit increase” as it could in Linear Regression.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9" name="Google Shape;999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0" name="Google Shape;1000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612" y="3195775"/>
            <a:ext cx="4260274" cy="12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7" name="Google Shape;1007;p1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some straightforward insights we can gain however...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8" name="Google Shape;1008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9" name="Google Shape;1009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612" y="3195775"/>
            <a:ext cx="4260274" cy="12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6" name="Google Shape;1016;p1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Sign of Coefficient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Positive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indicates an increase in likelihood of belonging to 1 class with increase in associated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Negative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indicates an decrease in likelihood of belonging to 1 class with increase in associated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7" name="Google Shape;1017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8" name="Google Shape;1018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4" name="Google Shape;1024;p1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Magnitude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Coefficient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Harder to directly interpret magnitude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directly, especially when we could have discrete and continuous x feature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however begin to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odds ratio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essentially comparing magnitudes against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5" name="Google Shape;1025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6" name="Google Shape;1026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2" name="Google Shape;1032;p1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Magnitude of Coefficient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Comparing magnitudes of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against each other can lead to insight over which features have the strongest effect on prediction output.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3" name="Google Shape;1033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4" name="Google Shape;1034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0" name="Google Shape;1040;p106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last mathematical topic we need to discuss concerning Logistic Regression is how we actually fit this curve!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1" name="Google Shape;1041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2" name="Google Shape;1042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350" y="2979165"/>
            <a:ext cx="2940924" cy="157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75" y="3003312"/>
            <a:ext cx="2761248" cy="147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1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3075" y="2955311"/>
            <a:ext cx="2940924" cy="15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1" name="Google Shape;1051;p107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discuss the basics of fitting the best curve with maximum likelihood in the next lecture!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2" name="Google Shape;1052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3" name="Google Shape;1053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350" y="2979165"/>
            <a:ext cx="2940924" cy="157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75" y="3003312"/>
            <a:ext cx="2761248" cy="147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3075" y="2955311"/>
            <a:ext cx="2940924" cy="15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08"/>
          <p:cNvSpPr txBox="1"/>
          <p:nvPr>
            <p:ph type="ctrTitle"/>
          </p:nvPr>
        </p:nvSpPr>
        <p:spPr>
          <a:xfrm>
            <a:off x="0" y="973175"/>
            <a:ext cx="9144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Theory and Intuition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108"/>
          <p:cNvSpPr txBox="1"/>
          <p:nvPr>
            <p:ph idx="1" type="subTitle"/>
          </p:nvPr>
        </p:nvSpPr>
        <p:spPr>
          <a:xfrm>
            <a:off x="311700" y="3138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Montserrat"/>
                <a:ea typeface="Montserrat"/>
                <a:cs typeface="Montserrat"/>
                <a:sym typeface="Montserrat"/>
              </a:rPr>
              <a:t>Part Three: Finding the Best Fit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3" name="Google Shape;1063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4" name="Google Shape;1064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109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uses Maximum Likelihood to find the best fitting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lecture will give you an intuition of how this method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then display the cost function and gradient descent that is solved for by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1" name="Google Shape;1071;p1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2" name="Google Shape;1072;p1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1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8" name="Google Shape;1078;p11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 ISLR Section 4.3.2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9" name="Google Shape;1079;p1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0" name="Google Shape;1080;p1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7587" y="1727673"/>
            <a:ext cx="6119475" cy="3073700"/>
          </a:xfrm>
          <a:prstGeom prst="rect">
            <a:avLst/>
          </a:prstGeom>
          <a:noFill/>
          <a:ln>
            <a:noFill/>
          </a:ln>
          <a:effectLst>
            <a:outerShdw blurRad="357188" rotWithShape="0" algn="bl" dir="2940000" dist="123825">
              <a:srgbClr val="6D9EEB">
                <a:alpha val="36000"/>
              </a:srgbClr>
            </a:outerShdw>
          </a:effec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11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 ISLR Section 4.3.2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8" name="Google Shape;1088;p1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9" name="Google Shape;1089;p1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7587" y="1727673"/>
            <a:ext cx="6119475" cy="3073700"/>
          </a:xfrm>
          <a:prstGeom prst="rect">
            <a:avLst/>
          </a:prstGeom>
          <a:noFill/>
          <a:ln>
            <a:noFill/>
          </a:ln>
          <a:effectLst>
            <a:outerShdw blurRad="357188" rotWithShape="0" algn="bl" dir="2940000" dist="123825">
              <a:srgbClr val="6D9EEB">
                <a:alpha val="36000"/>
              </a:srgbClr>
            </a:outerShdw>
          </a:effectLst>
        </p:spPr>
      </p:pic>
      <p:sp>
        <p:nvSpPr>
          <p:cNvPr id="1091" name="Google Shape;1091;p111"/>
          <p:cNvSpPr/>
          <p:nvPr/>
        </p:nvSpPr>
        <p:spPr>
          <a:xfrm>
            <a:off x="3863650" y="4340575"/>
            <a:ext cx="4080900" cy="228300"/>
          </a:xfrm>
          <a:prstGeom prst="roundRect">
            <a:avLst>
              <a:gd fmla="val 16667" name="adj"/>
            </a:avLst>
          </a:prstGeom>
          <a:solidFill>
            <a:srgbClr val="FFE800">
              <a:alpha val="44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111"/>
          <p:cNvSpPr/>
          <p:nvPr/>
        </p:nvSpPr>
        <p:spPr>
          <a:xfrm>
            <a:off x="1877575" y="4568875"/>
            <a:ext cx="2891700" cy="228300"/>
          </a:xfrm>
          <a:prstGeom prst="roundRect">
            <a:avLst>
              <a:gd fmla="val 16667" name="adj"/>
            </a:avLst>
          </a:prstGeom>
          <a:solidFill>
            <a:srgbClr val="FFE800">
              <a:alpha val="44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8" name="Google Shape;1098;p112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see three different Logistic Regression curves with different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β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 we measure which is the best fit?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99" name="Google Shape;1099;p1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0" name="Google Shape;1100;p1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350" y="2979165"/>
            <a:ext cx="2940924" cy="157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75" y="3003312"/>
            <a:ext cx="2761248" cy="147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3075" y="2955311"/>
            <a:ext cx="2940924" cy="15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11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in Linear Regression we seek to minimize the Residual Sum of Squares (RSS).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0" name="Google Shape;1110;p1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1" name="Google Shape;1111;p1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25" y="2738450"/>
            <a:ext cx="5680400" cy="22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3"/>
          <p:cNvSpPr/>
          <p:nvPr/>
        </p:nvSpPr>
        <p:spPr>
          <a:xfrm>
            <a:off x="2989475" y="4568875"/>
            <a:ext cx="103800" cy="1038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13"/>
          <p:cNvSpPr/>
          <p:nvPr/>
        </p:nvSpPr>
        <p:spPr>
          <a:xfrm>
            <a:off x="4162450" y="3751500"/>
            <a:ext cx="103800" cy="1038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13"/>
          <p:cNvSpPr/>
          <p:nvPr/>
        </p:nvSpPr>
        <p:spPr>
          <a:xfrm>
            <a:off x="5969850" y="2919425"/>
            <a:ext cx="103800" cy="1038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13"/>
          <p:cNvSpPr/>
          <p:nvPr/>
        </p:nvSpPr>
        <p:spPr>
          <a:xfrm>
            <a:off x="5552175" y="3998725"/>
            <a:ext cx="103800" cy="1038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7" name="Google Shape;1117;p113"/>
          <p:cNvCxnSpPr/>
          <p:nvPr/>
        </p:nvCxnSpPr>
        <p:spPr>
          <a:xfrm flipH="1" rot="10800000">
            <a:off x="2592075" y="2885500"/>
            <a:ext cx="4899600" cy="18561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113"/>
          <p:cNvCxnSpPr>
            <a:stCxn id="1114" idx="4"/>
          </p:cNvCxnSpPr>
          <p:nvPr/>
        </p:nvCxnSpPr>
        <p:spPr>
          <a:xfrm flipH="1">
            <a:off x="4213150" y="3855300"/>
            <a:ext cx="1200" cy="27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113"/>
          <p:cNvCxnSpPr>
            <a:stCxn id="1115" idx="4"/>
          </p:cNvCxnSpPr>
          <p:nvPr/>
        </p:nvCxnSpPr>
        <p:spPr>
          <a:xfrm flipH="1">
            <a:off x="6015150" y="3023225"/>
            <a:ext cx="6600" cy="4179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113"/>
          <p:cNvCxnSpPr>
            <a:stCxn id="1116" idx="0"/>
          </p:cNvCxnSpPr>
          <p:nvPr/>
        </p:nvCxnSpPr>
        <p:spPr>
          <a:xfrm flipH="1" rot="10800000">
            <a:off x="5604075" y="3621625"/>
            <a:ext cx="9000" cy="3771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6" name="Google Shape;1126;p114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Unfortunately, even in log odds targets are at infinity, making RSS unfeasible.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7" name="Google Shape;1127;p1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8" name="Google Shape;1128;p1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9" name="Google Shape;1129;p114"/>
          <p:cNvCxnSpPr/>
          <p:nvPr/>
        </p:nvCxnSpPr>
        <p:spPr>
          <a:xfrm>
            <a:off x="4117764" y="2426818"/>
            <a:ext cx="0" cy="2565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114"/>
          <p:cNvCxnSpPr/>
          <p:nvPr/>
        </p:nvCxnSpPr>
        <p:spPr>
          <a:xfrm rot="10800000">
            <a:off x="4117625" y="3709460"/>
            <a:ext cx="417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1" name="Google Shape;1131;p114"/>
          <p:cNvSpPr txBox="1"/>
          <p:nvPr/>
        </p:nvSpPr>
        <p:spPr>
          <a:xfrm>
            <a:off x="3925800" y="3542778"/>
            <a:ext cx="192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132" name="Google Shape;1132;p114"/>
          <p:cNvSpPr txBox="1"/>
          <p:nvPr/>
        </p:nvSpPr>
        <p:spPr>
          <a:xfrm>
            <a:off x="3842060" y="2094488"/>
            <a:ext cx="192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3" name="Google Shape;1133;p114"/>
          <p:cNvSpPr txBox="1"/>
          <p:nvPr/>
        </p:nvSpPr>
        <p:spPr>
          <a:xfrm>
            <a:off x="3267978" y="4760931"/>
            <a:ext cx="813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114"/>
          <p:cNvSpPr txBox="1"/>
          <p:nvPr/>
        </p:nvSpPr>
        <p:spPr>
          <a:xfrm>
            <a:off x="3161938" y="4760931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5" name="Google Shape;1135;p114"/>
          <p:cNvSpPr/>
          <p:nvPr/>
        </p:nvSpPr>
        <p:spPr>
          <a:xfrm>
            <a:off x="6546630" y="2298340"/>
            <a:ext cx="128400" cy="128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14"/>
          <p:cNvSpPr/>
          <p:nvPr/>
        </p:nvSpPr>
        <p:spPr>
          <a:xfrm>
            <a:off x="6931645" y="2298340"/>
            <a:ext cx="128400" cy="128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14"/>
          <p:cNvSpPr/>
          <p:nvPr/>
        </p:nvSpPr>
        <p:spPr>
          <a:xfrm>
            <a:off x="7256060" y="2298340"/>
            <a:ext cx="128400" cy="128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14"/>
          <p:cNvSpPr/>
          <p:nvPr/>
        </p:nvSpPr>
        <p:spPr>
          <a:xfrm>
            <a:off x="7610775" y="2298340"/>
            <a:ext cx="128400" cy="128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14"/>
          <p:cNvSpPr/>
          <p:nvPr/>
        </p:nvSpPr>
        <p:spPr>
          <a:xfrm>
            <a:off x="4181124" y="4910195"/>
            <a:ext cx="128400" cy="128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14"/>
          <p:cNvSpPr/>
          <p:nvPr/>
        </p:nvSpPr>
        <p:spPr>
          <a:xfrm>
            <a:off x="4545939" y="4910195"/>
            <a:ext cx="128400" cy="128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14"/>
          <p:cNvSpPr/>
          <p:nvPr/>
        </p:nvSpPr>
        <p:spPr>
          <a:xfrm>
            <a:off x="4946094" y="4910195"/>
            <a:ext cx="128400" cy="128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114"/>
          <p:cNvSpPr/>
          <p:nvPr/>
        </p:nvSpPr>
        <p:spPr>
          <a:xfrm>
            <a:off x="5270509" y="4910195"/>
            <a:ext cx="128400" cy="128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14"/>
          <p:cNvSpPr/>
          <p:nvPr/>
        </p:nvSpPr>
        <p:spPr>
          <a:xfrm>
            <a:off x="5559584" y="4910195"/>
            <a:ext cx="128400" cy="128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4" name="Google Shape;1144;p114"/>
          <p:cNvCxnSpPr/>
          <p:nvPr/>
        </p:nvCxnSpPr>
        <p:spPr>
          <a:xfrm flipH="1" rot="10800000">
            <a:off x="4158164" y="2335719"/>
            <a:ext cx="3746700" cy="24846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145" name="Google Shape;1145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377" y="3428987"/>
            <a:ext cx="1895173" cy="560919"/>
          </a:xfrm>
          <a:prstGeom prst="rect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1" name="Google Shape;1151;p115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2" name="Google Shape;1152;p1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3" name="Google Shape;1153;p1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4" name="Google Shape;1154;p115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115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115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157" name="Google Shape;1157;p115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8" name="Google Shape;1158;p115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115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0" name="Google Shape;1160;p115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15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15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15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15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15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15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15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15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9" name="Google Shape;1169;p115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170" name="Google Shape;1170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5" y="2559238"/>
            <a:ext cx="4136100" cy="221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15"/>
          <p:cNvSpPr/>
          <p:nvPr/>
        </p:nvSpPr>
        <p:spPr>
          <a:xfrm>
            <a:off x="4256075" y="3235825"/>
            <a:ext cx="1155300" cy="440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116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8" name="Google Shape;1178;p1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9" name="Google Shape;1179;p1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116"/>
          <p:cNvPicPr preferRelativeResize="0"/>
          <p:nvPr/>
        </p:nvPicPr>
        <p:blipFill rotWithShape="1">
          <a:blip r:embed="rId4">
            <a:alphaModFix/>
          </a:blip>
          <a:srcRect b="83290" l="0" r="0" t="0"/>
          <a:stretch/>
        </p:blipFill>
        <p:spPr>
          <a:xfrm>
            <a:off x="3251300" y="2384625"/>
            <a:ext cx="2641401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117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7" name="Google Shape;1187;p1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8" name="Google Shape;1188;p1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117"/>
          <p:cNvPicPr preferRelativeResize="0"/>
          <p:nvPr/>
        </p:nvPicPr>
        <p:blipFill rotWithShape="1">
          <a:blip r:embed="rId4">
            <a:alphaModFix/>
          </a:blip>
          <a:srcRect b="70188" l="0" r="0" t="0"/>
          <a:stretch/>
        </p:blipFill>
        <p:spPr>
          <a:xfrm>
            <a:off x="3251300" y="2384625"/>
            <a:ext cx="2641401" cy="153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5" name="Google Shape;1195;p118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6" name="Google Shape;1196;p1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7" name="Google Shape;1197;p1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118"/>
          <p:cNvPicPr preferRelativeResize="0"/>
          <p:nvPr/>
        </p:nvPicPr>
        <p:blipFill rotWithShape="1">
          <a:blip r:embed="rId4">
            <a:alphaModFix/>
          </a:blip>
          <a:srcRect b="56575" l="0" r="0" t="0"/>
          <a:stretch/>
        </p:blipFill>
        <p:spPr>
          <a:xfrm>
            <a:off x="3251300" y="2384625"/>
            <a:ext cx="2641401" cy="223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119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5" name="Google Shape;1205;p1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6" name="Google Shape;1206;p1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19"/>
          <p:cNvPicPr preferRelativeResize="0"/>
          <p:nvPr/>
        </p:nvPicPr>
        <p:blipFill rotWithShape="1">
          <a:blip r:embed="rId4">
            <a:alphaModFix/>
          </a:blip>
          <a:srcRect b="56574" l="0" r="0" t="31220"/>
          <a:stretch/>
        </p:blipFill>
        <p:spPr>
          <a:xfrm>
            <a:off x="3333050" y="2257839"/>
            <a:ext cx="2641401" cy="627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p120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4" name="Google Shape;1214;p1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5" name="Google Shape;1215;p1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120"/>
          <p:cNvPicPr preferRelativeResize="0"/>
          <p:nvPr/>
        </p:nvPicPr>
        <p:blipFill rotWithShape="1">
          <a:blip r:embed="rId4">
            <a:alphaModFix/>
          </a:blip>
          <a:srcRect b="42371" l="0" r="0" t="31222"/>
          <a:stretch/>
        </p:blipFill>
        <p:spPr>
          <a:xfrm>
            <a:off x="3333050" y="2257863"/>
            <a:ext cx="2641401" cy="135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2" name="Google Shape;1222;p121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3" name="Google Shape;1223;p1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4" name="Google Shape;1224;p1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121"/>
          <p:cNvPicPr preferRelativeResize="0"/>
          <p:nvPr/>
        </p:nvPicPr>
        <p:blipFill rotWithShape="1">
          <a:blip r:embed="rId4">
            <a:alphaModFix/>
          </a:blip>
          <a:srcRect b="31221" l="0" r="0" t="31221"/>
          <a:stretch/>
        </p:blipFill>
        <p:spPr>
          <a:xfrm>
            <a:off x="3333050" y="2257880"/>
            <a:ext cx="2641401" cy="19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1" name="Google Shape;1231;p122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2" name="Google Shape;1232;p1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3" name="Google Shape;1233;p1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122"/>
          <p:cNvPicPr preferRelativeResize="0"/>
          <p:nvPr/>
        </p:nvPicPr>
        <p:blipFill rotWithShape="1">
          <a:blip r:embed="rId4">
            <a:alphaModFix/>
          </a:blip>
          <a:srcRect b="18663" l="0" r="0" t="31222"/>
          <a:stretch/>
        </p:blipFill>
        <p:spPr>
          <a:xfrm>
            <a:off x="3333050" y="2257873"/>
            <a:ext cx="2641401" cy="25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0" name="Google Shape;1240;p123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1" name="Google Shape;1241;p1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2" name="Google Shape;1242;p1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123"/>
          <p:cNvPicPr preferRelativeResize="0"/>
          <p:nvPr/>
        </p:nvPicPr>
        <p:blipFill rotWithShape="1">
          <a:blip r:embed="rId4">
            <a:alphaModFix/>
          </a:blip>
          <a:srcRect b="0" l="0" r="0" t="46057"/>
          <a:stretch/>
        </p:blipFill>
        <p:spPr>
          <a:xfrm>
            <a:off x="3333050" y="2257875"/>
            <a:ext cx="2641401" cy="277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9" name="Google Shape;1249;p124"/>
          <p:cNvSpPr txBox="1"/>
          <p:nvPr>
            <p:ph idx="1" type="body"/>
          </p:nvPr>
        </p:nvSpPr>
        <p:spPr>
          <a:xfrm>
            <a:off x="311700" y="1152475"/>
            <a:ext cx="86841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first step for maximum likelihood is to go from log odds back to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0" name="Google Shape;1250;p1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51" name="Google Shape;1251;p1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124"/>
          <p:cNvPicPr preferRelativeResize="0"/>
          <p:nvPr/>
        </p:nvPicPr>
        <p:blipFill rotWithShape="1">
          <a:blip r:embed="rId4">
            <a:alphaModFix/>
          </a:blip>
          <a:srcRect b="0" l="0" r="0" t="84082"/>
          <a:stretch/>
        </p:blipFill>
        <p:spPr>
          <a:xfrm>
            <a:off x="3333050" y="2939999"/>
            <a:ext cx="2641401" cy="81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7" name="Google Shape;1257;p125"/>
          <p:cNvPicPr preferRelativeResize="0"/>
          <p:nvPr/>
        </p:nvPicPr>
        <p:blipFill rotWithShape="1">
          <a:blip r:embed="rId3">
            <a:alphaModFix/>
          </a:blip>
          <a:srcRect b="0" l="0" r="0" t="84082"/>
          <a:stretch/>
        </p:blipFill>
        <p:spPr>
          <a:xfrm>
            <a:off x="3616625" y="3756574"/>
            <a:ext cx="2641401" cy="818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1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25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now able to convert ln(odds) into a probability.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0" name="Google Shape;1260;p12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1" name="Google Shape;1261;p1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2" name="Google Shape;1262;p125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125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125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265" name="Google Shape;1265;p125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6" name="Google Shape;1266;p125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7" name="Google Shape;1267;p125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8" name="Google Shape;1268;p125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25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25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25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25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25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25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25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25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7" name="Google Shape;1277;p125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278" name="Google Shape;1278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25" y="2559238"/>
            <a:ext cx="4136100" cy="221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25"/>
          <p:cNvSpPr/>
          <p:nvPr/>
        </p:nvSpPr>
        <p:spPr>
          <a:xfrm>
            <a:off x="4256075" y="3235825"/>
            <a:ext cx="1155300" cy="440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126"/>
          <p:cNvPicPr preferRelativeResize="0"/>
          <p:nvPr/>
        </p:nvPicPr>
        <p:blipFill rotWithShape="1">
          <a:blip r:embed="rId3">
            <a:alphaModFix/>
          </a:blip>
          <a:srcRect b="0" l="0" r="0" t="84082"/>
          <a:stretch/>
        </p:blipFill>
        <p:spPr>
          <a:xfrm>
            <a:off x="3616625" y="3756574"/>
            <a:ext cx="2641401" cy="818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6" name="Google Shape;1286;p126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the intuition behind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maximum likelihood.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7" name="Google Shape;1287;p12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8" name="Google Shape;1288;p12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9" name="Google Shape;1289;p126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126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1" name="Google Shape;1291;p126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292" name="Google Shape;1292;p126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3" name="Google Shape;1293;p126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26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5" name="Google Shape;1295;p126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26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26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26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26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26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26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26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26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4" name="Google Shape;1304;p126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305" name="Google Shape;1305;p1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25" y="2559238"/>
            <a:ext cx="4136100" cy="221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26"/>
          <p:cNvSpPr/>
          <p:nvPr/>
        </p:nvSpPr>
        <p:spPr>
          <a:xfrm>
            <a:off x="4256075" y="3235825"/>
            <a:ext cx="1155300" cy="440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1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127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choose a line in the log(odds) axis and project the points on to the line: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3" name="Google Shape;1313;p1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14" name="Google Shape;1314;p1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5" name="Google Shape;1315;p127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127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7" name="Google Shape;1317;p127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318" name="Google Shape;1318;p127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9" name="Google Shape;1319;p127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0" name="Google Shape;1320;p127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27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27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27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27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27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27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27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27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27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0" name="Google Shape;1330;p127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331" name="Google Shape;1331;p127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7" name="Google Shape;1337;p128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also know this line has a form on the probability y-axis.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8" name="Google Shape;1338;p1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9" name="Google Shape;1339;p1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0" name="Google Shape;1340;p128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128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128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343" name="Google Shape;1343;p128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4" name="Google Shape;1344;p128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5" name="Google Shape;1345;p128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6" name="Google Shape;1346;p128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28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28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28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28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28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28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28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28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5" name="Google Shape;1355;p128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356" name="Google Shape;1356;p128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75" y="2436744"/>
            <a:ext cx="4574000" cy="24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3" name="Google Shape;1363;p129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choose a line in the log(odds) axis and project the points on to the line: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4" name="Google Shape;1364;p1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5" name="Google Shape;1365;p1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6" name="Google Shape;1366;p129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129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8" name="Google Shape;1368;p129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369" name="Google Shape;1369;p129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0" name="Google Shape;1370;p129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1" name="Google Shape;1371;p129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129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29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29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29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29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29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29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29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129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1" name="Google Shape;1381;p129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pic>
        <p:nvPicPr>
          <p:cNvPr id="1382" name="Google Shape;1382;p129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130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choose a line in the log(odds) axis and project the points on to the line: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9" name="Google Shape;1389;p1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0" name="Google Shape;1390;p1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1" name="Google Shape;1391;p130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130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3" name="Google Shape;1393;p130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394" name="Google Shape;1394;p130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5" name="Google Shape;1395;p130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6" name="Google Shape;1396;p130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130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30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130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30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30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130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30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30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5" name="Google Shape;1405;p130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06" name="Google Shape;1406;p130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30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30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30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30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30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30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30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30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30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30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7" name="Google Shape;1417;p130"/>
          <p:cNvCxnSpPr>
            <a:stCxn id="1404" idx="0"/>
            <a:endCxn id="1410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18" name="Google Shape;1418;p130"/>
          <p:cNvCxnSpPr>
            <a:stCxn id="1403" idx="0"/>
            <a:endCxn id="1409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19" name="Google Shape;1419;p130"/>
          <p:cNvCxnSpPr>
            <a:stCxn id="1402" idx="0"/>
            <a:endCxn id="1408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20" name="Google Shape;1420;p130"/>
          <p:cNvCxnSpPr>
            <a:stCxn id="1401" idx="0"/>
            <a:endCxn id="1407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21" name="Google Shape;1421;p130"/>
          <p:cNvCxnSpPr>
            <a:stCxn id="1397" idx="4"/>
            <a:endCxn id="1411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22" name="Google Shape;1422;p130"/>
          <p:cNvCxnSpPr>
            <a:stCxn id="1398" idx="4"/>
            <a:endCxn id="1412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23" name="Google Shape;1423;p130"/>
          <p:cNvCxnSpPr>
            <a:endCxn id="1416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24" name="Google Shape;1424;p130"/>
          <p:cNvCxnSpPr>
            <a:stCxn id="1400" idx="0"/>
            <a:endCxn id="1406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130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426" name="Google Shape;1426;p130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2" name="Google Shape;1432;p131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the log odds for the projected points on this line.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3" name="Google Shape;1433;p1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4" name="Google Shape;1434;p1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5" name="Google Shape;1435;p131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131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7" name="Google Shape;1437;p131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38" name="Google Shape;1438;p131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131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131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131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31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131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31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31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31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131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31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9" name="Google Shape;1449;p131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50" name="Google Shape;1450;p131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31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31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31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31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31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31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131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131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31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31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1" name="Google Shape;1461;p131"/>
          <p:cNvCxnSpPr>
            <a:stCxn id="1448" idx="0"/>
            <a:endCxn id="1454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2" name="Google Shape;1462;p131"/>
          <p:cNvCxnSpPr>
            <a:stCxn id="1447" idx="0"/>
            <a:endCxn id="1453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131"/>
          <p:cNvCxnSpPr>
            <a:stCxn id="1446" idx="0"/>
            <a:endCxn id="1452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131"/>
          <p:cNvCxnSpPr>
            <a:stCxn id="1445" idx="0"/>
            <a:endCxn id="1451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5" name="Google Shape;1465;p131"/>
          <p:cNvCxnSpPr>
            <a:stCxn id="1441" idx="4"/>
            <a:endCxn id="1455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6" name="Google Shape;1466;p131"/>
          <p:cNvCxnSpPr>
            <a:stCxn id="1442" idx="4"/>
            <a:endCxn id="1456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131"/>
          <p:cNvCxnSpPr>
            <a:endCxn id="1460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68" name="Google Shape;1468;p131"/>
          <p:cNvCxnSpPr>
            <a:stCxn id="1444" idx="0"/>
            <a:endCxn id="1450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69" name="Google Shape;1469;p131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470" name="Google Shape;1470;p131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1" name="Google Shape;1471;p131"/>
          <p:cNvCxnSpPr>
            <a:stCxn id="1455" idx="3"/>
          </p:cNvCxnSpPr>
          <p:nvPr/>
        </p:nvCxnSpPr>
        <p:spPr>
          <a:xfrm rot="10800000">
            <a:off x="5861829" y="3261690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131"/>
          <p:cNvCxnSpPr>
            <a:stCxn id="1456" idx="2"/>
          </p:cNvCxnSpPr>
          <p:nvPr/>
        </p:nvCxnSpPr>
        <p:spPr>
          <a:xfrm flipH="1">
            <a:off x="5855746" y="3078319"/>
            <a:ext cx="19287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131"/>
          <p:cNvCxnSpPr>
            <a:stCxn id="1460" idx="2"/>
          </p:cNvCxnSpPr>
          <p:nvPr/>
        </p:nvCxnSpPr>
        <p:spPr>
          <a:xfrm flipH="1">
            <a:off x="5855605" y="2925919"/>
            <a:ext cx="21504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131"/>
          <p:cNvCxnSpPr>
            <a:stCxn id="1459" idx="2"/>
          </p:cNvCxnSpPr>
          <p:nvPr/>
        </p:nvCxnSpPr>
        <p:spPr>
          <a:xfrm rot="10800000">
            <a:off x="5879757" y="2836819"/>
            <a:ext cx="2368500" cy="1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131"/>
          <p:cNvCxnSpPr>
            <a:stCxn id="1454" idx="2"/>
          </p:cNvCxnSpPr>
          <p:nvPr/>
        </p:nvCxnSpPr>
        <p:spPr>
          <a:xfrm rot="10800000">
            <a:off x="5879642" y="3665183"/>
            <a:ext cx="9939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131"/>
          <p:cNvCxnSpPr/>
          <p:nvPr/>
        </p:nvCxnSpPr>
        <p:spPr>
          <a:xfrm rot="10800000">
            <a:off x="5837717" y="3850083"/>
            <a:ext cx="7944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131"/>
          <p:cNvCxnSpPr>
            <a:stCxn id="1452" idx="2"/>
          </p:cNvCxnSpPr>
          <p:nvPr/>
        </p:nvCxnSpPr>
        <p:spPr>
          <a:xfrm rot="10800000">
            <a:off x="5855717" y="3985970"/>
            <a:ext cx="572700" cy="5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131"/>
          <p:cNvCxnSpPr>
            <a:stCxn id="1451" idx="2"/>
          </p:cNvCxnSpPr>
          <p:nvPr/>
        </p:nvCxnSpPr>
        <p:spPr>
          <a:xfrm rot="10800000">
            <a:off x="5874032" y="4165370"/>
            <a:ext cx="281100" cy="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131"/>
          <p:cNvCxnSpPr>
            <a:stCxn id="1450" idx="5"/>
          </p:cNvCxnSpPr>
          <p:nvPr/>
        </p:nvCxnSpPr>
        <p:spPr>
          <a:xfrm rot="10800000">
            <a:off x="5873953" y="4340279"/>
            <a:ext cx="106800" cy="22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5" name="Google Shape;1485;p132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these values as probabilities on the logistic regression model.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6" name="Google Shape;1486;p1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87" name="Google Shape;1487;p1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8" name="Google Shape;1488;p132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132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132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91" name="Google Shape;1491;p132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2" name="Google Shape;1492;p132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3" name="Google Shape;1493;p132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4" name="Google Shape;1494;p132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32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32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32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32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32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32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32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2" name="Google Shape;1502;p132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03" name="Google Shape;1503;p132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32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132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32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32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32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32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32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32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32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32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4" name="Google Shape;1514;p132"/>
          <p:cNvCxnSpPr>
            <a:stCxn id="1501" idx="0"/>
            <a:endCxn id="1507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5" name="Google Shape;1515;p132"/>
          <p:cNvCxnSpPr>
            <a:stCxn id="1500" idx="0"/>
            <a:endCxn id="1506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6" name="Google Shape;1516;p132"/>
          <p:cNvCxnSpPr>
            <a:stCxn id="1499" idx="0"/>
            <a:endCxn id="1505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7" name="Google Shape;1517;p132"/>
          <p:cNvCxnSpPr>
            <a:stCxn id="1498" idx="0"/>
            <a:endCxn id="1504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8" name="Google Shape;1518;p132"/>
          <p:cNvCxnSpPr>
            <a:stCxn id="1494" idx="4"/>
            <a:endCxn id="1508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9" name="Google Shape;1519;p132"/>
          <p:cNvCxnSpPr>
            <a:stCxn id="1495" idx="4"/>
            <a:endCxn id="1509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20" name="Google Shape;1520;p132"/>
          <p:cNvCxnSpPr>
            <a:endCxn id="1513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21" name="Google Shape;1521;p132"/>
          <p:cNvCxnSpPr>
            <a:stCxn id="1497" idx="0"/>
            <a:endCxn id="1503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132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523" name="Google Shape;1523;p132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4" name="Google Shape;1524;p132"/>
          <p:cNvCxnSpPr>
            <a:stCxn id="1508" idx="3"/>
          </p:cNvCxnSpPr>
          <p:nvPr/>
        </p:nvCxnSpPr>
        <p:spPr>
          <a:xfrm rot="10800000">
            <a:off x="5861829" y="3261690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5" name="Google Shape;1525;p132"/>
          <p:cNvCxnSpPr>
            <a:stCxn id="1509" idx="2"/>
          </p:cNvCxnSpPr>
          <p:nvPr/>
        </p:nvCxnSpPr>
        <p:spPr>
          <a:xfrm flipH="1">
            <a:off x="5855746" y="3078319"/>
            <a:ext cx="19287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6" name="Google Shape;1526;p132"/>
          <p:cNvCxnSpPr>
            <a:stCxn id="1513" idx="2"/>
          </p:cNvCxnSpPr>
          <p:nvPr/>
        </p:nvCxnSpPr>
        <p:spPr>
          <a:xfrm flipH="1">
            <a:off x="5855605" y="2925919"/>
            <a:ext cx="21504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132"/>
          <p:cNvCxnSpPr>
            <a:stCxn id="1512" idx="2"/>
          </p:cNvCxnSpPr>
          <p:nvPr/>
        </p:nvCxnSpPr>
        <p:spPr>
          <a:xfrm rot="10800000">
            <a:off x="5879757" y="2836819"/>
            <a:ext cx="2368500" cy="1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8" name="Google Shape;1528;p132"/>
          <p:cNvCxnSpPr>
            <a:stCxn id="1507" idx="2"/>
          </p:cNvCxnSpPr>
          <p:nvPr/>
        </p:nvCxnSpPr>
        <p:spPr>
          <a:xfrm rot="10800000">
            <a:off x="5879642" y="3665183"/>
            <a:ext cx="9939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9" name="Google Shape;1529;p132"/>
          <p:cNvCxnSpPr/>
          <p:nvPr/>
        </p:nvCxnSpPr>
        <p:spPr>
          <a:xfrm rot="10800000">
            <a:off x="5837717" y="3850083"/>
            <a:ext cx="7944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0" name="Google Shape;1530;p132"/>
          <p:cNvCxnSpPr>
            <a:stCxn id="1505" idx="2"/>
          </p:cNvCxnSpPr>
          <p:nvPr/>
        </p:nvCxnSpPr>
        <p:spPr>
          <a:xfrm rot="10800000">
            <a:off x="5855717" y="3985970"/>
            <a:ext cx="572700" cy="5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1" name="Google Shape;1531;p132"/>
          <p:cNvCxnSpPr>
            <a:stCxn id="1504" idx="2"/>
          </p:cNvCxnSpPr>
          <p:nvPr/>
        </p:nvCxnSpPr>
        <p:spPr>
          <a:xfrm rot="10800000">
            <a:off x="5874032" y="4165370"/>
            <a:ext cx="281100" cy="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2" name="Google Shape;1532;p132"/>
          <p:cNvCxnSpPr>
            <a:stCxn id="1503" idx="5"/>
          </p:cNvCxnSpPr>
          <p:nvPr/>
        </p:nvCxnSpPr>
        <p:spPr>
          <a:xfrm rot="10800000">
            <a:off x="5873953" y="4340279"/>
            <a:ext cx="106800" cy="22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533" name="Google Shape;1533;p132"/>
          <p:cNvPicPr preferRelativeResize="0"/>
          <p:nvPr/>
        </p:nvPicPr>
        <p:blipFill rotWithShape="1">
          <a:blip r:embed="rId4">
            <a:alphaModFix/>
          </a:blip>
          <a:srcRect b="0" l="0" r="0" t="84082"/>
          <a:stretch/>
        </p:blipFill>
        <p:spPr>
          <a:xfrm>
            <a:off x="2668825" y="2608424"/>
            <a:ext cx="2641401" cy="81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9" name="Google Shape;1539;p133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these values as probabilities on the logistic regression model.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40" name="Google Shape;1540;p1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41" name="Google Shape;1541;p1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2" name="Google Shape;1542;p133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133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133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545" name="Google Shape;1545;p133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6" name="Google Shape;1546;p133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7" name="Google Shape;1547;p133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8" name="Google Shape;1548;p133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133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133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33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133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33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33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33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6" name="Google Shape;1556;p133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57" name="Google Shape;1557;p133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33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33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133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33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33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33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33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133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33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33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8" name="Google Shape;1568;p133"/>
          <p:cNvCxnSpPr>
            <a:stCxn id="1555" idx="0"/>
            <a:endCxn id="1561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69" name="Google Shape;1569;p133"/>
          <p:cNvCxnSpPr>
            <a:stCxn id="1554" idx="0"/>
            <a:endCxn id="1560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0" name="Google Shape;1570;p133"/>
          <p:cNvCxnSpPr>
            <a:stCxn id="1553" idx="0"/>
            <a:endCxn id="1559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133"/>
          <p:cNvCxnSpPr>
            <a:stCxn id="1552" idx="0"/>
            <a:endCxn id="1558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2" name="Google Shape;1572;p133"/>
          <p:cNvCxnSpPr>
            <a:stCxn id="1548" idx="4"/>
            <a:endCxn id="1562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3" name="Google Shape;1573;p133"/>
          <p:cNvCxnSpPr>
            <a:stCxn id="1549" idx="4"/>
            <a:endCxn id="1563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4" name="Google Shape;1574;p133"/>
          <p:cNvCxnSpPr>
            <a:endCxn id="1567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5" name="Google Shape;1575;p133"/>
          <p:cNvCxnSpPr>
            <a:stCxn id="1551" idx="0"/>
            <a:endCxn id="1557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133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577" name="Google Shape;1577;p133"/>
          <p:cNvPicPr preferRelativeResize="0"/>
          <p:nvPr/>
        </p:nvPicPr>
        <p:blipFill rotWithShape="1">
          <a:blip r:embed="rId4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8" name="Google Shape;1578;p133"/>
          <p:cNvCxnSpPr>
            <a:stCxn id="1562" idx="3"/>
          </p:cNvCxnSpPr>
          <p:nvPr/>
        </p:nvCxnSpPr>
        <p:spPr>
          <a:xfrm rot="10800000">
            <a:off x="5861829" y="3261690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133"/>
          <p:cNvCxnSpPr>
            <a:stCxn id="1563" idx="2"/>
          </p:cNvCxnSpPr>
          <p:nvPr/>
        </p:nvCxnSpPr>
        <p:spPr>
          <a:xfrm flipH="1">
            <a:off x="5855746" y="3078319"/>
            <a:ext cx="19287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133"/>
          <p:cNvCxnSpPr>
            <a:stCxn id="1567" idx="2"/>
          </p:cNvCxnSpPr>
          <p:nvPr/>
        </p:nvCxnSpPr>
        <p:spPr>
          <a:xfrm flipH="1">
            <a:off x="5855605" y="2925919"/>
            <a:ext cx="21504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133"/>
          <p:cNvCxnSpPr>
            <a:stCxn id="1566" idx="2"/>
          </p:cNvCxnSpPr>
          <p:nvPr/>
        </p:nvCxnSpPr>
        <p:spPr>
          <a:xfrm rot="10800000">
            <a:off x="5879757" y="2836819"/>
            <a:ext cx="2368500" cy="1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133"/>
          <p:cNvCxnSpPr>
            <a:stCxn id="1561" idx="2"/>
          </p:cNvCxnSpPr>
          <p:nvPr/>
        </p:nvCxnSpPr>
        <p:spPr>
          <a:xfrm rot="10800000">
            <a:off x="5879642" y="3665183"/>
            <a:ext cx="9939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133"/>
          <p:cNvCxnSpPr/>
          <p:nvPr/>
        </p:nvCxnSpPr>
        <p:spPr>
          <a:xfrm rot="10800000">
            <a:off x="5837717" y="3850083"/>
            <a:ext cx="7944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133"/>
          <p:cNvCxnSpPr>
            <a:stCxn id="1559" idx="2"/>
          </p:cNvCxnSpPr>
          <p:nvPr/>
        </p:nvCxnSpPr>
        <p:spPr>
          <a:xfrm rot="10800000">
            <a:off x="5855717" y="3985970"/>
            <a:ext cx="572700" cy="5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133"/>
          <p:cNvCxnSpPr>
            <a:stCxn id="1558" idx="2"/>
          </p:cNvCxnSpPr>
          <p:nvPr/>
        </p:nvCxnSpPr>
        <p:spPr>
          <a:xfrm rot="10800000">
            <a:off x="5874032" y="4165370"/>
            <a:ext cx="281100" cy="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133"/>
          <p:cNvCxnSpPr>
            <a:stCxn id="1557" idx="5"/>
          </p:cNvCxnSpPr>
          <p:nvPr/>
        </p:nvCxnSpPr>
        <p:spPr>
          <a:xfrm rot="10800000">
            <a:off x="5873953" y="4340279"/>
            <a:ext cx="106800" cy="22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587" name="Google Shape;1587;p133"/>
          <p:cNvPicPr preferRelativeResize="0"/>
          <p:nvPr/>
        </p:nvPicPr>
        <p:blipFill rotWithShape="1">
          <a:blip r:embed="rId4">
            <a:alphaModFix/>
          </a:blip>
          <a:srcRect b="0" l="0" r="0" t="84082"/>
          <a:stretch/>
        </p:blipFill>
        <p:spPr>
          <a:xfrm>
            <a:off x="2668825" y="2608424"/>
            <a:ext cx="2641401" cy="818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8" name="Google Shape;1588;p133"/>
          <p:cNvCxnSpPr/>
          <p:nvPr/>
        </p:nvCxnSpPr>
        <p:spPr>
          <a:xfrm flipH="1" rot="5400000">
            <a:off x="4595960" y="2853563"/>
            <a:ext cx="638700" cy="618300"/>
          </a:xfrm>
          <a:prstGeom prst="curvedConnector3">
            <a:avLst>
              <a:gd fmla="val 88651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9" name="Google Shape;1589;p133"/>
          <p:cNvCxnSpPr>
            <a:stCxn id="1577" idx="1"/>
          </p:cNvCxnSpPr>
          <p:nvPr/>
        </p:nvCxnSpPr>
        <p:spPr>
          <a:xfrm rot="10800000">
            <a:off x="4521495" y="3302364"/>
            <a:ext cx="391500" cy="326400"/>
          </a:xfrm>
          <a:prstGeom prst="curvedConnector3">
            <a:avLst>
              <a:gd fmla="val 92240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2249000"/>
            <a:ext cx="4775944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6" name="Google Shape;1596;p134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these values as probabilities on the logistic regression model.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7" name="Google Shape;1597;p13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8" name="Google Shape;1598;p13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9" name="Google Shape;1599;p134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134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1" name="Google Shape;1601;p134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602" name="Google Shape;1602;p134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3" name="Google Shape;1603;p134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4" name="Google Shape;1604;p134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5" name="Google Shape;1605;p134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34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34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34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34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34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34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34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3" name="Google Shape;1613;p134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614" name="Google Shape;1614;p134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34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34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34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34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34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34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34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34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34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34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5" name="Google Shape;1625;p134"/>
          <p:cNvCxnSpPr>
            <a:stCxn id="1612" idx="0"/>
            <a:endCxn id="1618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26" name="Google Shape;1626;p134"/>
          <p:cNvCxnSpPr>
            <a:stCxn id="1611" idx="0"/>
            <a:endCxn id="1617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27" name="Google Shape;1627;p134"/>
          <p:cNvCxnSpPr>
            <a:stCxn id="1610" idx="0"/>
            <a:endCxn id="1616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28" name="Google Shape;1628;p134"/>
          <p:cNvCxnSpPr>
            <a:stCxn id="1609" idx="0"/>
            <a:endCxn id="1615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29" name="Google Shape;1629;p134"/>
          <p:cNvCxnSpPr>
            <a:stCxn id="1605" idx="4"/>
            <a:endCxn id="1619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30" name="Google Shape;1630;p134"/>
          <p:cNvCxnSpPr>
            <a:stCxn id="1606" idx="4"/>
            <a:endCxn id="1620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31" name="Google Shape;1631;p134"/>
          <p:cNvCxnSpPr>
            <a:endCxn id="1624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32" name="Google Shape;1632;p134"/>
          <p:cNvCxnSpPr>
            <a:stCxn id="1608" idx="0"/>
            <a:endCxn id="1614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3" name="Google Shape;1633;p134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634" name="Google Shape;1634;p134"/>
          <p:cNvPicPr preferRelativeResize="0"/>
          <p:nvPr/>
        </p:nvPicPr>
        <p:blipFill rotWithShape="1">
          <a:blip r:embed="rId5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5" name="Google Shape;1635;p134"/>
          <p:cNvCxnSpPr>
            <a:stCxn id="1619" idx="3"/>
          </p:cNvCxnSpPr>
          <p:nvPr/>
        </p:nvCxnSpPr>
        <p:spPr>
          <a:xfrm rot="10800000">
            <a:off x="5861829" y="3261690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6" name="Google Shape;1636;p134"/>
          <p:cNvCxnSpPr>
            <a:stCxn id="1620" idx="2"/>
          </p:cNvCxnSpPr>
          <p:nvPr/>
        </p:nvCxnSpPr>
        <p:spPr>
          <a:xfrm flipH="1">
            <a:off x="5855746" y="3078319"/>
            <a:ext cx="19287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7" name="Google Shape;1637;p134"/>
          <p:cNvCxnSpPr>
            <a:stCxn id="1624" idx="2"/>
          </p:cNvCxnSpPr>
          <p:nvPr/>
        </p:nvCxnSpPr>
        <p:spPr>
          <a:xfrm flipH="1">
            <a:off x="5855605" y="2925919"/>
            <a:ext cx="21504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8" name="Google Shape;1638;p134"/>
          <p:cNvCxnSpPr>
            <a:stCxn id="1623" idx="2"/>
          </p:cNvCxnSpPr>
          <p:nvPr/>
        </p:nvCxnSpPr>
        <p:spPr>
          <a:xfrm rot="10800000">
            <a:off x="5879757" y="2836819"/>
            <a:ext cx="2368500" cy="1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134"/>
          <p:cNvCxnSpPr>
            <a:stCxn id="1618" idx="2"/>
          </p:cNvCxnSpPr>
          <p:nvPr/>
        </p:nvCxnSpPr>
        <p:spPr>
          <a:xfrm rot="10800000">
            <a:off x="5879642" y="3665183"/>
            <a:ext cx="9939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134"/>
          <p:cNvCxnSpPr/>
          <p:nvPr/>
        </p:nvCxnSpPr>
        <p:spPr>
          <a:xfrm rot="10800000">
            <a:off x="5837717" y="3850083"/>
            <a:ext cx="7944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1" name="Google Shape;1641;p134"/>
          <p:cNvCxnSpPr>
            <a:stCxn id="1616" idx="2"/>
          </p:cNvCxnSpPr>
          <p:nvPr/>
        </p:nvCxnSpPr>
        <p:spPr>
          <a:xfrm rot="10800000">
            <a:off x="5855717" y="3985970"/>
            <a:ext cx="572700" cy="5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2" name="Google Shape;1642;p134"/>
          <p:cNvCxnSpPr>
            <a:stCxn id="1615" idx="2"/>
          </p:cNvCxnSpPr>
          <p:nvPr/>
        </p:nvCxnSpPr>
        <p:spPr>
          <a:xfrm rot="10800000">
            <a:off x="5874032" y="4165370"/>
            <a:ext cx="281100" cy="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134"/>
          <p:cNvCxnSpPr>
            <a:stCxn id="1614" idx="5"/>
          </p:cNvCxnSpPr>
          <p:nvPr/>
        </p:nvCxnSpPr>
        <p:spPr>
          <a:xfrm rot="10800000">
            <a:off x="5873953" y="4340279"/>
            <a:ext cx="106800" cy="22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644" name="Google Shape;1644;p134"/>
          <p:cNvPicPr preferRelativeResize="0"/>
          <p:nvPr/>
        </p:nvPicPr>
        <p:blipFill rotWithShape="1">
          <a:blip r:embed="rId5">
            <a:alphaModFix/>
          </a:blip>
          <a:srcRect b="0" l="19640" r="0" t="86662"/>
          <a:stretch/>
        </p:blipFill>
        <p:spPr>
          <a:xfrm>
            <a:off x="3187525" y="2741125"/>
            <a:ext cx="2122701" cy="68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5" name="Google Shape;1645;p134"/>
          <p:cNvCxnSpPr/>
          <p:nvPr/>
        </p:nvCxnSpPr>
        <p:spPr>
          <a:xfrm flipH="1" rot="5400000">
            <a:off x="4595960" y="2853563"/>
            <a:ext cx="638700" cy="618300"/>
          </a:xfrm>
          <a:prstGeom prst="curvedConnector3">
            <a:avLst>
              <a:gd fmla="val 88651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6" name="Google Shape;1646;p134"/>
          <p:cNvCxnSpPr>
            <a:stCxn id="1634" idx="1"/>
          </p:cNvCxnSpPr>
          <p:nvPr/>
        </p:nvCxnSpPr>
        <p:spPr>
          <a:xfrm rot="10800000">
            <a:off x="4521495" y="3302364"/>
            <a:ext cx="391500" cy="326400"/>
          </a:xfrm>
          <a:prstGeom prst="curvedConnector3">
            <a:avLst>
              <a:gd fmla="val 92240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1" name="Google Shape;1651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2249000"/>
            <a:ext cx="4775944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1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3" name="Google Shape;1653;p135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these values as probabilities on the logistic regression model.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54" name="Google Shape;1654;p13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55" name="Google Shape;1655;p13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6" name="Google Shape;1656;p135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135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135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659" name="Google Shape;1659;p135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0" name="Google Shape;1660;p135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1" name="Google Shape;1661;p135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2" name="Google Shape;1662;p135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135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135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135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35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135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35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35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0" name="Google Shape;1670;p135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671" name="Google Shape;1671;p135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35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35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35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35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35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35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35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35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35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35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2" name="Google Shape;1682;p135"/>
          <p:cNvCxnSpPr>
            <a:stCxn id="1669" idx="0"/>
            <a:endCxn id="1675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3" name="Google Shape;1683;p135"/>
          <p:cNvCxnSpPr>
            <a:stCxn id="1668" idx="0"/>
            <a:endCxn id="1674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4" name="Google Shape;1684;p135"/>
          <p:cNvCxnSpPr>
            <a:stCxn id="1667" idx="0"/>
            <a:endCxn id="1673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5" name="Google Shape;1685;p135"/>
          <p:cNvCxnSpPr>
            <a:stCxn id="1666" idx="0"/>
            <a:endCxn id="1672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6" name="Google Shape;1686;p135"/>
          <p:cNvCxnSpPr>
            <a:stCxn id="1662" idx="4"/>
            <a:endCxn id="1676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7" name="Google Shape;1687;p135"/>
          <p:cNvCxnSpPr>
            <a:stCxn id="1663" idx="4"/>
            <a:endCxn id="1677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8" name="Google Shape;1688;p135"/>
          <p:cNvCxnSpPr>
            <a:endCxn id="1681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89" name="Google Shape;1689;p135"/>
          <p:cNvCxnSpPr>
            <a:stCxn id="1665" idx="0"/>
            <a:endCxn id="1671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0" name="Google Shape;1690;p135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691" name="Google Shape;1691;p135"/>
          <p:cNvPicPr preferRelativeResize="0"/>
          <p:nvPr/>
        </p:nvPicPr>
        <p:blipFill rotWithShape="1">
          <a:blip r:embed="rId5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2" name="Google Shape;1692;p135"/>
          <p:cNvCxnSpPr>
            <a:stCxn id="1676" idx="3"/>
          </p:cNvCxnSpPr>
          <p:nvPr/>
        </p:nvCxnSpPr>
        <p:spPr>
          <a:xfrm rot="10800000">
            <a:off x="5861829" y="3261690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135"/>
          <p:cNvCxnSpPr>
            <a:stCxn id="1677" idx="2"/>
          </p:cNvCxnSpPr>
          <p:nvPr/>
        </p:nvCxnSpPr>
        <p:spPr>
          <a:xfrm flipH="1">
            <a:off x="5855746" y="3078319"/>
            <a:ext cx="19287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135"/>
          <p:cNvCxnSpPr>
            <a:stCxn id="1681" idx="2"/>
          </p:cNvCxnSpPr>
          <p:nvPr/>
        </p:nvCxnSpPr>
        <p:spPr>
          <a:xfrm flipH="1">
            <a:off x="5855605" y="2925919"/>
            <a:ext cx="21504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135"/>
          <p:cNvCxnSpPr>
            <a:stCxn id="1680" idx="2"/>
          </p:cNvCxnSpPr>
          <p:nvPr/>
        </p:nvCxnSpPr>
        <p:spPr>
          <a:xfrm rot="10800000">
            <a:off x="5879757" y="2836819"/>
            <a:ext cx="2368500" cy="1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135"/>
          <p:cNvCxnSpPr>
            <a:stCxn id="1675" idx="2"/>
          </p:cNvCxnSpPr>
          <p:nvPr/>
        </p:nvCxnSpPr>
        <p:spPr>
          <a:xfrm rot="10800000">
            <a:off x="5879642" y="3665183"/>
            <a:ext cx="9939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135"/>
          <p:cNvCxnSpPr/>
          <p:nvPr/>
        </p:nvCxnSpPr>
        <p:spPr>
          <a:xfrm rot="10800000">
            <a:off x="5837717" y="3850083"/>
            <a:ext cx="7944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8" name="Google Shape;1698;p135"/>
          <p:cNvCxnSpPr>
            <a:stCxn id="1673" idx="2"/>
          </p:cNvCxnSpPr>
          <p:nvPr/>
        </p:nvCxnSpPr>
        <p:spPr>
          <a:xfrm rot="10800000">
            <a:off x="5855717" y="3985970"/>
            <a:ext cx="572700" cy="5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135"/>
          <p:cNvCxnSpPr>
            <a:stCxn id="1672" idx="2"/>
          </p:cNvCxnSpPr>
          <p:nvPr/>
        </p:nvCxnSpPr>
        <p:spPr>
          <a:xfrm rot="10800000">
            <a:off x="5874032" y="4165370"/>
            <a:ext cx="281100" cy="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00" name="Google Shape;1700;p135"/>
          <p:cNvCxnSpPr>
            <a:stCxn id="1671" idx="5"/>
          </p:cNvCxnSpPr>
          <p:nvPr/>
        </p:nvCxnSpPr>
        <p:spPr>
          <a:xfrm rot="10800000">
            <a:off x="5873953" y="4340279"/>
            <a:ext cx="106800" cy="22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701" name="Google Shape;1701;p135"/>
          <p:cNvPicPr preferRelativeResize="0"/>
          <p:nvPr/>
        </p:nvPicPr>
        <p:blipFill rotWithShape="1">
          <a:blip r:embed="rId5">
            <a:alphaModFix/>
          </a:blip>
          <a:srcRect b="0" l="19640" r="0" t="86662"/>
          <a:stretch/>
        </p:blipFill>
        <p:spPr>
          <a:xfrm>
            <a:off x="3187525" y="2741125"/>
            <a:ext cx="2122701" cy="68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2" name="Google Shape;1702;p135"/>
          <p:cNvCxnSpPr/>
          <p:nvPr/>
        </p:nvCxnSpPr>
        <p:spPr>
          <a:xfrm flipH="1" rot="5400000">
            <a:off x="4595960" y="2853563"/>
            <a:ext cx="638700" cy="618300"/>
          </a:xfrm>
          <a:prstGeom prst="curvedConnector3">
            <a:avLst>
              <a:gd fmla="val 88651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3" name="Google Shape;1703;p135"/>
          <p:cNvCxnSpPr>
            <a:stCxn id="1691" idx="1"/>
          </p:cNvCxnSpPr>
          <p:nvPr/>
        </p:nvCxnSpPr>
        <p:spPr>
          <a:xfrm rot="10800000">
            <a:off x="4521495" y="3302364"/>
            <a:ext cx="391500" cy="326400"/>
          </a:xfrm>
          <a:prstGeom prst="curvedConnector3">
            <a:avLst>
              <a:gd fmla="val 92240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4" name="Google Shape;1704;p135"/>
          <p:cNvSpPr/>
          <p:nvPr/>
        </p:nvSpPr>
        <p:spPr>
          <a:xfrm>
            <a:off x="892382" y="41923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35"/>
          <p:cNvSpPr/>
          <p:nvPr/>
        </p:nvSpPr>
        <p:spPr>
          <a:xfrm>
            <a:off x="1455282" y="41245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35"/>
          <p:cNvSpPr/>
          <p:nvPr/>
        </p:nvSpPr>
        <p:spPr>
          <a:xfrm>
            <a:off x="1981982" y="39447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35"/>
          <p:cNvSpPr/>
          <p:nvPr/>
        </p:nvSpPr>
        <p:spPr>
          <a:xfrm>
            <a:off x="2307957" y="36242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35"/>
          <p:cNvSpPr/>
          <p:nvPr/>
        </p:nvSpPr>
        <p:spPr>
          <a:xfrm>
            <a:off x="265115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35"/>
          <p:cNvSpPr/>
          <p:nvPr/>
        </p:nvSpPr>
        <p:spPr>
          <a:xfrm>
            <a:off x="2803550" y="29973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35"/>
          <p:cNvSpPr/>
          <p:nvPr/>
        </p:nvSpPr>
        <p:spPr>
          <a:xfrm>
            <a:off x="3010275" y="27678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35"/>
          <p:cNvSpPr/>
          <p:nvPr/>
        </p:nvSpPr>
        <p:spPr>
          <a:xfrm>
            <a:off x="3410200" y="2527944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6" name="Google Shape;1716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2249000"/>
            <a:ext cx="4775944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1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8" name="Google Shape;1718;p136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now measure the likelihood of these probabilities.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9" name="Google Shape;1719;p13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0" name="Google Shape;1720;p13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1" name="Google Shape;1721;p136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136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3" name="Google Shape;1723;p136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724" name="Google Shape;1724;p136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5" name="Google Shape;1725;p136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6" name="Google Shape;1726;p136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7" name="Google Shape;1727;p136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36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36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36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36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36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136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36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5" name="Google Shape;1735;p136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736" name="Google Shape;1736;p136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136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36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36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36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36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136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136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36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136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36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7" name="Google Shape;1747;p136"/>
          <p:cNvCxnSpPr>
            <a:stCxn id="1734" idx="0"/>
            <a:endCxn id="1740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48" name="Google Shape;1748;p136"/>
          <p:cNvCxnSpPr>
            <a:stCxn id="1733" idx="0"/>
            <a:endCxn id="1739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49" name="Google Shape;1749;p136"/>
          <p:cNvCxnSpPr>
            <a:stCxn id="1732" idx="0"/>
            <a:endCxn id="1738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50" name="Google Shape;1750;p136"/>
          <p:cNvCxnSpPr>
            <a:stCxn id="1731" idx="0"/>
            <a:endCxn id="1737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51" name="Google Shape;1751;p136"/>
          <p:cNvCxnSpPr>
            <a:stCxn id="1727" idx="4"/>
            <a:endCxn id="1741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52" name="Google Shape;1752;p136"/>
          <p:cNvCxnSpPr>
            <a:stCxn id="1728" idx="4"/>
            <a:endCxn id="1742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53" name="Google Shape;1753;p136"/>
          <p:cNvCxnSpPr>
            <a:endCxn id="1746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54" name="Google Shape;1754;p136"/>
          <p:cNvCxnSpPr>
            <a:stCxn id="1730" idx="0"/>
            <a:endCxn id="1736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55" name="Google Shape;1755;p136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756" name="Google Shape;1756;p136"/>
          <p:cNvPicPr preferRelativeResize="0"/>
          <p:nvPr/>
        </p:nvPicPr>
        <p:blipFill rotWithShape="1">
          <a:blip r:embed="rId5">
            <a:alphaModFix/>
          </a:blip>
          <a:srcRect b="8254" l="51284" r="26343" t="86335"/>
          <a:stretch/>
        </p:blipFill>
        <p:spPr>
          <a:xfrm>
            <a:off x="4912995" y="3482063"/>
            <a:ext cx="622932" cy="29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7" name="Google Shape;1757;p136"/>
          <p:cNvCxnSpPr>
            <a:stCxn id="1741" idx="3"/>
          </p:cNvCxnSpPr>
          <p:nvPr/>
        </p:nvCxnSpPr>
        <p:spPr>
          <a:xfrm rot="10800000">
            <a:off x="5861829" y="3261690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136"/>
          <p:cNvCxnSpPr>
            <a:stCxn id="1742" idx="2"/>
          </p:cNvCxnSpPr>
          <p:nvPr/>
        </p:nvCxnSpPr>
        <p:spPr>
          <a:xfrm flipH="1">
            <a:off x="5855746" y="3078319"/>
            <a:ext cx="19287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136"/>
          <p:cNvCxnSpPr>
            <a:stCxn id="1746" idx="2"/>
          </p:cNvCxnSpPr>
          <p:nvPr/>
        </p:nvCxnSpPr>
        <p:spPr>
          <a:xfrm flipH="1">
            <a:off x="5855605" y="2925919"/>
            <a:ext cx="2150400" cy="6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136"/>
          <p:cNvCxnSpPr>
            <a:stCxn id="1745" idx="2"/>
          </p:cNvCxnSpPr>
          <p:nvPr/>
        </p:nvCxnSpPr>
        <p:spPr>
          <a:xfrm rot="10800000">
            <a:off x="5879757" y="2836819"/>
            <a:ext cx="2368500" cy="1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1" name="Google Shape;1761;p136"/>
          <p:cNvCxnSpPr>
            <a:stCxn id="1740" idx="2"/>
          </p:cNvCxnSpPr>
          <p:nvPr/>
        </p:nvCxnSpPr>
        <p:spPr>
          <a:xfrm rot="10800000">
            <a:off x="5879642" y="3665183"/>
            <a:ext cx="9939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36"/>
          <p:cNvCxnSpPr/>
          <p:nvPr/>
        </p:nvCxnSpPr>
        <p:spPr>
          <a:xfrm rot="10800000">
            <a:off x="5837717" y="3850083"/>
            <a:ext cx="794400" cy="5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136"/>
          <p:cNvCxnSpPr>
            <a:stCxn id="1738" idx="2"/>
          </p:cNvCxnSpPr>
          <p:nvPr/>
        </p:nvCxnSpPr>
        <p:spPr>
          <a:xfrm rot="10800000">
            <a:off x="5855717" y="3985970"/>
            <a:ext cx="572700" cy="5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136"/>
          <p:cNvCxnSpPr>
            <a:stCxn id="1737" idx="2"/>
          </p:cNvCxnSpPr>
          <p:nvPr/>
        </p:nvCxnSpPr>
        <p:spPr>
          <a:xfrm rot="10800000">
            <a:off x="5874032" y="4165370"/>
            <a:ext cx="281100" cy="6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136"/>
          <p:cNvCxnSpPr>
            <a:stCxn id="1736" idx="5"/>
          </p:cNvCxnSpPr>
          <p:nvPr/>
        </p:nvCxnSpPr>
        <p:spPr>
          <a:xfrm rot="10800000">
            <a:off x="5873953" y="4340279"/>
            <a:ext cx="106800" cy="22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766" name="Google Shape;1766;p136"/>
          <p:cNvPicPr preferRelativeResize="0"/>
          <p:nvPr/>
        </p:nvPicPr>
        <p:blipFill rotWithShape="1">
          <a:blip r:embed="rId5">
            <a:alphaModFix/>
          </a:blip>
          <a:srcRect b="0" l="19640" r="0" t="86662"/>
          <a:stretch/>
        </p:blipFill>
        <p:spPr>
          <a:xfrm>
            <a:off x="3187525" y="2741125"/>
            <a:ext cx="2122701" cy="68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7" name="Google Shape;1767;p136"/>
          <p:cNvCxnSpPr/>
          <p:nvPr/>
        </p:nvCxnSpPr>
        <p:spPr>
          <a:xfrm flipH="1" rot="5400000">
            <a:off x="4595960" y="2853563"/>
            <a:ext cx="638700" cy="618300"/>
          </a:xfrm>
          <a:prstGeom prst="curvedConnector3">
            <a:avLst>
              <a:gd fmla="val 88651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8" name="Google Shape;1768;p136"/>
          <p:cNvCxnSpPr>
            <a:stCxn id="1756" idx="1"/>
          </p:cNvCxnSpPr>
          <p:nvPr/>
        </p:nvCxnSpPr>
        <p:spPr>
          <a:xfrm rot="10800000">
            <a:off x="4521495" y="3302364"/>
            <a:ext cx="391500" cy="326400"/>
          </a:xfrm>
          <a:prstGeom prst="curvedConnector3">
            <a:avLst>
              <a:gd fmla="val 92240" name="adj1"/>
            </a:avLst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9" name="Google Shape;1769;p136"/>
          <p:cNvSpPr/>
          <p:nvPr/>
        </p:nvSpPr>
        <p:spPr>
          <a:xfrm>
            <a:off x="892382" y="41923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36"/>
          <p:cNvSpPr/>
          <p:nvPr/>
        </p:nvSpPr>
        <p:spPr>
          <a:xfrm>
            <a:off x="1455282" y="41245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136"/>
          <p:cNvSpPr/>
          <p:nvPr/>
        </p:nvSpPr>
        <p:spPr>
          <a:xfrm>
            <a:off x="1981982" y="39447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36"/>
          <p:cNvSpPr/>
          <p:nvPr/>
        </p:nvSpPr>
        <p:spPr>
          <a:xfrm>
            <a:off x="2307957" y="36242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136"/>
          <p:cNvSpPr/>
          <p:nvPr/>
        </p:nvSpPr>
        <p:spPr>
          <a:xfrm>
            <a:off x="265115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136"/>
          <p:cNvSpPr/>
          <p:nvPr/>
        </p:nvSpPr>
        <p:spPr>
          <a:xfrm>
            <a:off x="2803550" y="29973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136"/>
          <p:cNvSpPr/>
          <p:nvPr/>
        </p:nvSpPr>
        <p:spPr>
          <a:xfrm>
            <a:off x="3010275" y="27678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36"/>
          <p:cNvSpPr/>
          <p:nvPr/>
        </p:nvSpPr>
        <p:spPr>
          <a:xfrm>
            <a:off x="3410200" y="2527944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" name="Google Shape;178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1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3" name="Google Shape;1783;p137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now measure the likelihood of these probabilities.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4" name="Google Shape;1784;p13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85" name="Google Shape;1785;p13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137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137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37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37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37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37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37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137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8" name="Google Shape;1798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0" name="Google Shape;1800;p138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Product of probabilities of belonging to class 1.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1" name="Google Shape;1801;p13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2" name="Google Shape;1802;p13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38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138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38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138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138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38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138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138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5" name="Google Shape;1815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1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7" name="Google Shape;1817;p139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0.9 ...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8" name="Google Shape;1818;p13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9" name="Google Shape;1819;p13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39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139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39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39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39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39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39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39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39"/>
          <p:cNvSpPr/>
          <p:nvPr/>
        </p:nvSpPr>
        <p:spPr>
          <a:xfrm rot="2257731">
            <a:off x="4037100" y="2300833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9" name="Google Shape;1829;p139"/>
          <p:cNvCxnSpPr>
            <a:stCxn id="1827" idx="2"/>
          </p:cNvCxnSpPr>
          <p:nvPr/>
        </p:nvCxnSpPr>
        <p:spPr>
          <a:xfrm flipH="1">
            <a:off x="1388248" y="2597410"/>
            <a:ext cx="3054000" cy="9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4" name="Google Shape;1834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6" name="Google Shape;1836;p140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0.9 × 0.8 × ...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7" name="Google Shape;1837;p14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38" name="Google Shape;1838;p14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40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140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140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40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40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140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40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140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40"/>
          <p:cNvSpPr/>
          <p:nvPr/>
        </p:nvSpPr>
        <p:spPr>
          <a:xfrm rot="2257731">
            <a:off x="3617100" y="2559833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8" name="Google Shape;1848;p140"/>
          <p:cNvCxnSpPr>
            <a:stCxn id="1845" idx="6"/>
          </p:cNvCxnSpPr>
          <p:nvPr/>
        </p:nvCxnSpPr>
        <p:spPr>
          <a:xfrm rot="10800000">
            <a:off x="1382773" y="2851889"/>
            <a:ext cx="2722200" cy="4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" name="Google Shape;1853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p1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5" name="Google Shape;1855;p141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0.9 × 0.8 × 0.65 × 0.55 × ...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56" name="Google Shape;1856;p14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7" name="Google Shape;1857;p14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141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141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141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141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141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141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141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41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141"/>
          <p:cNvSpPr/>
          <p:nvPr/>
        </p:nvSpPr>
        <p:spPr>
          <a:xfrm rot="2257731">
            <a:off x="3420300" y="2807608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7" name="Google Shape;1867;p141"/>
          <p:cNvCxnSpPr>
            <a:stCxn id="1862" idx="2"/>
          </p:cNvCxnSpPr>
          <p:nvPr/>
        </p:nvCxnSpPr>
        <p:spPr>
          <a:xfrm rot="10800000">
            <a:off x="1364347" y="3308866"/>
            <a:ext cx="22584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141"/>
          <p:cNvCxnSpPr/>
          <p:nvPr/>
        </p:nvCxnSpPr>
        <p:spPr>
          <a:xfrm rot="10800000">
            <a:off x="1364497" y="3105616"/>
            <a:ext cx="2386500" cy="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69" name="Google Shape;1869;p141"/>
          <p:cNvSpPr/>
          <p:nvPr/>
        </p:nvSpPr>
        <p:spPr>
          <a:xfrm rot="2257731">
            <a:off x="3255775" y="3044533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4" name="Google Shape;1874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5" name="Google Shape;1875;p1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6" name="Google Shape;1876;p142"/>
          <p:cNvSpPr txBox="1"/>
          <p:nvPr>
            <p:ph idx="1" type="body"/>
          </p:nvPr>
        </p:nvSpPr>
        <p:spPr>
          <a:xfrm>
            <a:off x="311700" y="1152475"/>
            <a:ext cx="88323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0.9 × 0.8 × 0.65 × 0.55 × (1-p) ×...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7" name="Google Shape;1877;p142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78" name="Google Shape;1878;p142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142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142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142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142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142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42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142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142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7" name="Google Shape;1887;p142"/>
          <p:cNvCxnSpPr/>
          <p:nvPr/>
        </p:nvCxnSpPr>
        <p:spPr>
          <a:xfrm flipH="1">
            <a:off x="1364510" y="3774106"/>
            <a:ext cx="1901700" cy="13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88" name="Google Shape;1888;p142"/>
          <p:cNvSpPr/>
          <p:nvPr/>
        </p:nvSpPr>
        <p:spPr>
          <a:xfrm rot="2257731">
            <a:off x="2885250" y="3509058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3" name="Google Shape;1893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4" name="Google Shape;1894;p1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5" name="Google Shape;1895;p143"/>
          <p:cNvSpPr txBox="1"/>
          <p:nvPr>
            <p:ph idx="1" type="body"/>
          </p:nvPr>
        </p:nvSpPr>
        <p:spPr>
          <a:xfrm>
            <a:off x="311700" y="1152475"/>
            <a:ext cx="88323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0.9 × 0.8 × 0.65 × 0.55 × (1-0.3) ×...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6" name="Google Shape;1896;p14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7" name="Google Shape;1897;p14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43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43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43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143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43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43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143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143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6" name="Google Shape;1906;p143"/>
          <p:cNvCxnSpPr/>
          <p:nvPr/>
        </p:nvCxnSpPr>
        <p:spPr>
          <a:xfrm flipH="1">
            <a:off x="1364510" y="3774106"/>
            <a:ext cx="1901700" cy="138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07" name="Google Shape;1907;p143"/>
          <p:cNvSpPr/>
          <p:nvPr/>
        </p:nvSpPr>
        <p:spPr>
          <a:xfrm rot="2257731">
            <a:off x="2885250" y="3509058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2" name="Google Shape;191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1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4" name="Google Shape;1914;p144"/>
          <p:cNvSpPr txBox="1"/>
          <p:nvPr>
            <p:ph idx="1" type="body"/>
          </p:nvPr>
        </p:nvSpPr>
        <p:spPr>
          <a:xfrm>
            <a:off x="311700" y="1152475"/>
            <a:ext cx="88323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0.9 × 0.8 × 0.65 × 0.55 × (1-0.3) ×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(1-0.2) × (1-0.08) × (1-0.02)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5" name="Google Shape;1915;p14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16" name="Google Shape;1916;p14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144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44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44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44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44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44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144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144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44"/>
          <p:cNvSpPr/>
          <p:nvPr/>
        </p:nvSpPr>
        <p:spPr>
          <a:xfrm rot="2257731">
            <a:off x="2533300" y="3842033"/>
            <a:ext cx="434858" cy="2355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44"/>
          <p:cNvSpPr/>
          <p:nvPr/>
        </p:nvSpPr>
        <p:spPr>
          <a:xfrm rot="3245682">
            <a:off x="2016047" y="3984020"/>
            <a:ext cx="434822" cy="23565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44"/>
          <p:cNvSpPr/>
          <p:nvPr/>
        </p:nvSpPr>
        <p:spPr>
          <a:xfrm rot="3245682">
            <a:off x="1425897" y="4078520"/>
            <a:ext cx="434822" cy="23565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2" name="Google Shape;193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4" name="Google Shape;1934;p145"/>
          <p:cNvSpPr txBox="1"/>
          <p:nvPr>
            <p:ph idx="1" type="body"/>
          </p:nvPr>
        </p:nvSpPr>
        <p:spPr>
          <a:xfrm>
            <a:off x="311700" y="1152475"/>
            <a:ext cx="88323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 =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0.129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35" name="Google Shape;1935;p14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6" name="Google Shape;1936;p14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37" name="Google Shape;1937;p145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45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145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45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145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45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145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45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45"/>
          <p:cNvSpPr/>
          <p:nvPr/>
        </p:nvSpPr>
        <p:spPr>
          <a:xfrm rot="-2326996">
            <a:off x="3082028" y="1735079"/>
            <a:ext cx="434882" cy="2355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0" name="Google Shape;1950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2249000"/>
            <a:ext cx="5156301" cy="2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1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2" name="Google Shape;1952;p146"/>
          <p:cNvSpPr txBox="1"/>
          <p:nvPr>
            <p:ph idx="1" type="body"/>
          </p:nvPr>
        </p:nvSpPr>
        <p:spPr>
          <a:xfrm>
            <a:off x="311700" y="1152475"/>
            <a:ext cx="88323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in practice we actually maximize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the likelihoods. (e.g. ln(0.9)×ln(0.8)×…)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3" name="Google Shape;1953;p14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54" name="Google Shape;1954;p14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146"/>
          <p:cNvSpPr/>
          <p:nvPr/>
        </p:nvSpPr>
        <p:spPr>
          <a:xfrm>
            <a:off x="1723910" y="4347089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46"/>
          <p:cNvSpPr/>
          <p:nvPr/>
        </p:nvSpPr>
        <p:spPr>
          <a:xfrm>
            <a:off x="2331639" y="427389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46"/>
          <p:cNvSpPr/>
          <p:nvPr/>
        </p:nvSpPr>
        <p:spPr>
          <a:xfrm>
            <a:off x="2900286" y="4079770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46"/>
          <p:cNvSpPr/>
          <p:nvPr/>
        </p:nvSpPr>
        <p:spPr>
          <a:xfrm>
            <a:off x="3252221" y="3733745"/>
            <a:ext cx="94500" cy="94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46"/>
          <p:cNvSpPr/>
          <p:nvPr/>
        </p:nvSpPr>
        <p:spPr>
          <a:xfrm>
            <a:off x="3622747" y="32616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46"/>
          <p:cNvSpPr/>
          <p:nvPr/>
        </p:nvSpPr>
        <p:spPr>
          <a:xfrm>
            <a:off x="3787284" y="3056916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46"/>
          <p:cNvSpPr/>
          <p:nvPr/>
        </p:nvSpPr>
        <p:spPr>
          <a:xfrm>
            <a:off x="4010473" y="2809139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46"/>
          <p:cNvSpPr/>
          <p:nvPr/>
        </p:nvSpPr>
        <p:spPr>
          <a:xfrm>
            <a:off x="4442248" y="2550160"/>
            <a:ext cx="94500" cy="945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7" name="Google Shape;1967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2249000"/>
            <a:ext cx="4775944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1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9" name="Google Shape;1969;p147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some set of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will maximize these log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likelihoods.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0" name="Google Shape;1970;p14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1" name="Google Shape;1971;p14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2" name="Google Shape;1972;p147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147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4" name="Google Shape;1974;p147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975" name="Google Shape;1975;p147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6" name="Google Shape;1976;p147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7" name="Google Shape;1977;p147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8" name="Google Shape;1978;p147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47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47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147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147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47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47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47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6" name="Google Shape;1986;p147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987" name="Google Shape;1987;p147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147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147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47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47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47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147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147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147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47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147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8" name="Google Shape;1998;p147"/>
          <p:cNvCxnSpPr>
            <a:stCxn id="1985" idx="0"/>
            <a:endCxn id="1991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99" name="Google Shape;1999;p147"/>
          <p:cNvCxnSpPr>
            <a:stCxn id="1984" idx="0"/>
            <a:endCxn id="1990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0" name="Google Shape;2000;p147"/>
          <p:cNvCxnSpPr>
            <a:stCxn id="1983" idx="0"/>
            <a:endCxn id="1989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1" name="Google Shape;2001;p147"/>
          <p:cNvCxnSpPr>
            <a:stCxn id="1982" idx="0"/>
            <a:endCxn id="1988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2" name="Google Shape;2002;p147"/>
          <p:cNvCxnSpPr>
            <a:stCxn id="1978" idx="4"/>
            <a:endCxn id="1992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3" name="Google Shape;2003;p147"/>
          <p:cNvCxnSpPr>
            <a:stCxn id="1979" idx="4"/>
            <a:endCxn id="1993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4" name="Google Shape;2004;p147"/>
          <p:cNvCxnSpPr>
            <a:endCxn id="1997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5" name="Google Shape;2005;p147"/>
          <p:cNvCxnSpPr>
            <a:stCxn id="1981" idx="0"/>
            <a:endCxn id="1987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147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07" name="Google Shape;2007;p147"/>
          <p:cNvSpPr/>
          <p:nvPr/>
        </p:nvSpPr>
        <p:spPr>
          <a:xfrm>
            <a:off x="892382" y="41923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47"/>
          <p:cNvSpPr/>
          <p:nvPr/>
        </p:nvSpPr>
        <p:spPr>
          <a:xfrm>
            <a:off x="1455282" y="41245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47"/>
          <p:cNvSpPr/>
          <p:nvPr/>
        </p:nvSpPr>
        <p:spPr>
          <a:xfrm>
            <a:off x="1981982" y="39447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147"/>
          <p:cNvSpPr/>
          <p:nvPr/>
        </p:nvSpPr>
        <p:spPr>
          <a:xfrm>
            <a:off x="2307957" y="36242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147"/>
          <p:cNvSpPr/>
          <p:nvPr/>
        </p:nvSpPr>
        <p:spPr>
          <a:xfrm>
            <a:off x="265115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147"/>
          <p:cNvSpPr/>
          <p:nvPr/>
        </p:nvSpPr>
        <p:spPr>
          <a:xfrm>
            <a:off x="2803550" y="29973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147"/>
          <p:cNvSpPr/>
          <p:nvPr/>
        </p:nvSpPr>
        <p:spPr>
          <a:xfrm>
            <a:off x="3010275" y="27678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47"/>
          <p:cNvSpPr/>
          <p:nvPr/>
        </p:nvSpPr>
        <p:spPr>
          <a:xfrm>
            <a:off x="3410200" y="2527944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9" name="Google Shape;2019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2249000"/>
            <a:ext cx="4775944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0" name="Google Shape;2020;p1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1" name="Google Shape;2021;p148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best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coefficient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values in log odds terms that creates maximum likelihood.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22" name="Google Shape;2022;p14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3" name="Google Shape;2023;p14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4" name="Google Shape;2024;p148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5" name="Google Shape;2025;p148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6" name="Google Shape;2026;p148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2027" name="Google Shape;2027;p148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8" name="Google Shape;2028;p148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9" name="Google Shape;2029;p148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0" name="Google Shape;2030;p148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148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48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48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48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148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148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48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8" name="Google Shape;2038;p148"/>
          <p:cNvCxnSpPr/>
          <p:nvPr/>
        </p:nvCxnSpPr>
        <p:spPr>
          <a:xfrm flipH="1" rot="10800000">
            <a:off x="5890301" y="2679102"/>
            <a:ext cx="2558700" cy="1696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039" name="Google Shape;2039;p148"/>
          <p:cNvSpPr/>
          <p:nvPr/>
        </p:nvSpPr>
        <p:spPr>
          <a:xfrm>
            <a:off x="5905982" y="42883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148"/>
          <p:cNvSpPr/>
          <p:nvPr/>
        </p:nvSpPr>
        <p:spPr>
          <a:xfrm>
            <a:off x="6155132" y="41221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148"/>
          <p:cNvSpPr/>
          <p:nvPr/>
        </p:nvSpPr>
        <p:spPr>
          <a:xfrm>
            <a:off x="6428417" y="39472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48"/>
          <p:cNvSpPr/>
          <p:nvPr/>
        </p:nvSpPr>
        <p:spPr>
          <a:xfrm>
            <a:off x="6649967" y="38118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148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148"/>
          <p:cNvSpPr/>
          <p:nvPr/>
        </p:nvSpPr>
        <p:spPr>
          <a:xfrm>
            <a:off x="752150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148"/>
          <p:cNvSpPr/>
          <p:nvPr/>
        </p:nvSpPr>
        <p:spPr>
          <a:xfrm>
            <a:off x="7784446" y="303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48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48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48"/>
          <p:cNvSpPr/>
          <p:nvPr/>
        </p:nvSpPr>
        <p:spPr>
          <a:xfrm>
            <a:off x="8248257" y="2794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48"/>
          <p:cNvSpPr/>
          <p:nvPr/>
        </p:nvSpPr>
        <p:spPr>
          <a:xfrm>
            <a:off x="8006005" y="2882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0" name="Google Shape;2050;p148"/>
          <p:cNvCxnSpPr>
            <a:stCxn id="2037" idx="0"/>
            <a:endCxn id="2043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1" name="Google Shape;2051;p148"/>
          <p:cNvCxnSpPr>
            <a:stCxn id="2036" idx="0"/>
            <a:endCxn id="2042" idx="4"/>
          </p:cNvCxnSpPr>
          <p:nvPr/>
        </p:nvCxnSpPr>
        <p:spPr>
          <a:xfrm rot="10800000">
            <a:off x="6693775" y="3899383"/>
            <a:ext cx="0" cy="5379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2" name="Google Shape;2052;p148"/>
          <p:cNvCxnSpPr>
            <a:stCxn id="2035" idx="0"/>
            <a:endCxn id="2041" idx="4"/>
          </p:cNvCxnSpPr>
          <p:nvPr/>
        </p:nvCxnSpPr>
        <p:spPr>
          <a:xfrm rot="10800000">
            <a:off x="6472217" y="4034983"/>
            <a:ext cx="0" cy="402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3" name="Google Shape;2053;p148"/>
          <p:cNvCxnSpPr>
            <a:stCxn id="2034" idx="0"/>
            <a:endCxn id="2040" idx="4"/>
          </p:cNvCxnSpPr>
          <p:nvPr/>
        </p:nvCxnSpPr>
        <p:spPr>
          <a:xfrm rot="10800000">
            <a:off x="6198932" y="4209883"/>
            <a:ext cx="0" cy="227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4" name="Google Shape;2054;p148"/>
          <p:cNvCxnSpPr>
            <a:stCxn id="2030" idx="4"/>
            <a:endCxn id="2044" idx="0"/>
          </p:cNvCxnSpPr>
          <p:nvPr/>
        </p:nvCxnSpPr>
        <p:spPr>
          <a:xfrm>
            <a:off x="7565300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5" name="Google Shape;2055;p148"/>
          <p:cNvCxnSpPr>
            <a:stCxn id="2031" idx="4"/>
            <a:endCxn id="2045" idx="0"/>
          </p:cNvCxnSpPr>
          <p:nvPr/>
        </p:nvCxnSpPr>
        <p:spPr>
          <a:xfrm>
            <a:off x="7828246" y="2741119"/>
            <a:ext cx="0" cy="2934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6" name="Google Shape;2056;p148"/>
          <p:cNvCxnSpPr>
            <a:endCxn id="2049" idx="0"/>
          </p:cNvCxnSpPr>
          <p:nvPr/>
        </p:nvCxnSpPr>
        <p:spPr>
          <a:xfrm>
            <a:off x="8047105" y="2741119"/>
            <a:ext cx="2700" cy="141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57" name="Google Shape;2057;p148"/>
          <p:cNvCxnSpPr>
            <a:stCxn id="2033" idx="0"/>
            <a:endCxn id="2039" idx="4"/>
          </p:cNvCxnSpPr>
          <p:nvPr/>
        </p:nvCxnSpPr>
        <p:spPr>
          <a:xfrm rot="10800000">
            <a:off x="5949782" y="43757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148"/>
          <p:cNvCxnSpPr/>
          <p:nvPr/>
        </p:nvCxnSpPr>
        <p:spPr>
          <a:xfrm rot="10800000">
            <a:off x="8292057" y="2741283"/>
            <a:ext cx="0" cy="615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59" name="Google Shape;2059;p148"/>
          <p:cNvSpPr/>
          <p:nvPr/>
        </p:nvSpPr>
        <p:spPr>
          <a:xfrm>
            <a:off x="892382" y="41923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148"/>
          <p:cNvSpPr/>
          <p:nvPr/>
        </p:nvSpPr>
        <p:spPr>
          <a:xfrm>
            <a:off x="1455282" y="41245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48"/>
          <p:cNvSpPr/>
          <p:nvPr/>
        </p:nvSpPr>
        <p:spPr>
          <a:xfrm>
            <a:off x="1981982" y="39447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48"/>
          <p:cNvSpPr/>
          <p:nvPr/>
        </p:nvSpPr>
        <p:spPr>
          <a:xfrm>
            <a:off x="2307957" y="36242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48"/>
          <p:cNvSpPr/>
          <p:nvPr/>
        </p:nvSpPr>
        <p:spPr>
          <a:xfrm>
            <a:off x="2651150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48"/>
          <p:cNvSpPr/>
          <p:nvPr/>
        </p:nvSpPr>
        <p:spPr>
          <a:xfrm>
            <a:off x="2803550" y="29973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148"/>
          <p:cNvSpPr/>
          <p:nvPr/>
        </p:nvSpPr>
        <p:spPr>
          <a:xfrm>
            <a:off x="3010275" y="27678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148"/>
          <p:cNvSpPr/>
          <p:nvPr/>
        </p:nvSpPr>
        <p:spPr>
          <a:xfrm>
            <a:off x="3410200" y="2527944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1" name="Google Shape;2071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" y="2249000"/>
            <a:ext cx="4775944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1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3" name="Google Shape;2073;p149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best coefficient values in log odds terms that creates maximum likelihood.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4" name="Google Shape;2074;p14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5" name="Google Shape;2075;p14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6" name="Google Shape;2076;p149"/>
          <p:cNvCxnSpPr/>
          <p:nvPr/>
        </p:nvCxnSpPr>
        <p:spPr>
          <a:xfrm>
            <a:off x="5862710" y="2741263"/>
            <a:ext cx="0" cy="1752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149"/>
          <p:cNvCxnSpPr/>
          <p:nvPr/>
        </p:nvCxnSpPr>
        <p:spPr>
          <a:xfrm rot="10800000">
            <a:off x="5862625" y="3617242"/>
            <a:ext cx="2848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8" name="Google Shape;2078;p149"/>
          <p:cNvSpPr txBox="1"/>
          <p:nvPr/>
        </p:nvSpPr>
        <p:spPr>
          <a:xfrm>
            <a:off x="5579208" y="3427207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2079" name="Google Shape;2079;p149"/>
          <p:cNvSpPr txBox="1"/>
          <p:nvPr/>
        </p:nvSpPr>
        <p:spPr>
          <a:xfrm>
            <a:off x="5598218" y="2361898"/>
            <a:ext cx="131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0" name="Google Shape;2080;p149"/>
          <p:cNvSpPr txBox="1"/>
          <p:nvPr/>
        </p:nvSpPr>
        <p:spPr>
          <a:xfrm>
            <a:off x="5129950" y="4335343"/>
            <a:ext cx="5553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∞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1" name="Google Shape;2081;p149"/>
          <p:cNvSpPr txBox="1"/>
          <p:nvPr/>
        </p:nvSpPr>
        <p:spPr>
          <a:xfrm>
            <a:off x="5011626" y="4353056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2" name="Google Shape;2082;p149"/>
          <p:cNvSpPr/>
          <p:nvPr/>
        </p:nvSpPr>
        <p:spPr>
          <a:xfrm>
            <a:off x="7521500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149"/>
          <p:cNvSpPr/>
          <p:nvPr/>
        </p:nvSpPr>
        <p:spPr>
          <a:xfrm>
            <a:off x="7784446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49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149"/>
          <p:cNvSpPr/>
          <p:nvPr/>
        </p:nvSpPr>
        <p:spPr>
          <a:xfrm>
            <a:off x="590598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49"/>
          <p:cNvSpPr/>
          <p:nvPr/>
        </p:nvSpPr>
        <p:spPr>
          <a:xfrm>
            <a:off x="6155132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149"/>
          <p:cNvSpPr/>
          <p:nvPr/>
        </p:nvSpPr>
        <p:spPr>
          <a:xfrm>
            <a:off x="6428417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49"/>
          <p:cNvSpPr/>
          <p:nvPr/>
        </p:nvSpPr>
        <p:spPr>
          <a:xfrm>
            <a:off x="6649975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49"/>
          <p:cNvSpPr/>
          <p:nvPr/>
        </p:nvSpPr>
        <p:spPr>
          <a:xfrm>
            <a:off x="6847399" y="44372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0" name="Google Shape;2090;p149"/>
          <p:cNvCxnSpPr/>
          <p:nvPr/>
        </p:nvCxnSpPr>
        <p:spPr>
          <a:xfrm flipH="1" rot="10800000">
            <a:off x="5855875" y="2843525"/>
            <a:ext cx="2916000" cy="1195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091" name="Google Shape;2091;p149"/>
          <p:cNvSpPr/>
          <p:nvPr/>
        </p:nvSpPr>
        <p:spPr>
          <a:xfrm>
            <a:off x="5905982" y="398350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49"/>
          <p:cNvSpPr/>
          <p:nvPr/>
        </p:nvSpPr>
        <p:spPr>
          <a:xfrm>
            <a:off x="6155132" y="38935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149"/>
          <p:cNvSpPr/>
          <p:nvPr/>
        </p:nvSpPr>
        <p:spPr>
          <a:xfrm>
            <a:off x="6428417" y="37948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149"/>
          <p:cNvSpPr/>
          <p:nvPr/>
        </p:nvSpPr>
        <p:spPr>
          <a:xfrm>
            <a:off x="6649967" y="3659458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149"/>
          <p:cNvSpPr/>
          <p:nvPr/>
        </p:nvSpPr>
        <p:spPr>
          <a:xfrm>
            <a:off x="6873542" y="3627083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149"/>
          <p:cNvSpPr/>
          <p:nvPr/>
        </p:nvSpPr>
        <p:spPr>
          <a:xfrm>
            <a:off x="7521500" y="3263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49"/>
          <p:cNvSpPr/>
          <p:nvPr/>
        </p:nvSpPr>
        <p:spPr>
          <a:xfrm>
            <a:off x="7784446" y="31869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49"/>
          <p:cNvSpPr/>
          <p:nvPr/>
        </p:nvSpPr>
        <p:spPr>
          <a:xfrm>
            <a:off x="8006005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49"/>
          <p:cNvSpPr/>
          <p:nvPr/>
        </p:nvSpPr>
        <p:spPr>
          <a:xfrm>
            <a:off x="8248257" y="26535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149"/>
          <p:cNvSpPr/>
          <p:nvPr/>
        </p:nvSpPr>
        <p:spPr>
          <a:xfrm>
            <a:off x="8248257" y="30231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149"/>
          <p:cNvSpPr/>
          <p:nvPr/>
        </p:nvSpPr>
        <p:spPr>
          <a:xfrm>
            <a:off x="8006005" y="31107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2" name="Google Shape;2102;p149"/>
          <p:cNvCxnSpPr>
            <a:stCxn id="2089" idx="0"/>
            <a:endCxn id="2095" idx="4"/>
          </p:cNvCxnSpPr>
          <p:nvPr/>
        </p:nvCxnSpPr>
        <p:spPr>
          <a:xfrm flipH="1" rot="10800000">
            <a:off x="6891199" y="3714583"/>
            <a:ext cx="26100" cy="722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3" name="Google Shape;2103;p149"/>
          <p:cNvCxnSpPr>
            <a:stCxn id="2088" idx="0"/>
            <a:endCxn id="2094" idx="4"/>
          </p:cNvCxnSpPr>
          <p:nvPr/>
        </p:nvCxnSpPr>
        <p:spPr>
          <a:xfrm rot="10800000">
            <a:off x="6693775" y="3746983"/>
            <a:ext cx="0" cy="690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4" name="Google Shape;2104;p149"/>
          <p:cNvCxnSpPr>
            <a:stCxn id="2087" idx="0"/>
            <a:endCxn id="2093" idx="4"/>
          </p:cNvCxnSpPr>
          <p:nvPr/>
        </p:nvCxnSpPr>
        <p:spPr>
          <a:xfrm rot="10800000">
            <a:off x="6472217" y="3882583"/>
            <a:ext cx="0" cy="554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5" name="Google Shape;2105;p149"/>
          <p:cNvCxnSpPr>
            <a:stCxn id="2086" idx="0"/>
            <a:endCxn id="2092" idx="4"/>
          </p:cNvCxnSpPr>
          <p:nvPr/>
        </p:nvCxnSpPr>
        <p:spPr>
          <a:xfrm rot="10800000">
            <a:off x="6198932" y="3981283"/>
            <a:ext cx="0" cy="456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6" name="Google Shape;2106;p149"/>
          <p:cNvCxnSpPr>
            <a:stCxn id="2082" idx="4"/>
            <a:endCxn id="2096" idx="0"/>
          </p:cNvCxnSpPr>
          <p:nvPr/>
        </p:nvCxnSpPr>
        <p:spPr>
          <a:xfrm>
            <a:off x="7565300" y="2741119"/>
            <a:ext cx="0" cy="5220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7" name="Google Shape;2107;p149"/>
          <p:cNvCxnSpPr>
            <a:stCxn id="2083" idx="4"/>
            <a:endCxn id="2097" idx="0"/>
          </p:cNvCxnSpPr>
          <p:nvPr/>
        </p:nvCxnSpPr>
        <p:spPr>
          <a:xfrm>
            <a:off x="7828246" y="2741119"/>
            <a:ext cx="0" cy="4458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8" name="Google Shape;2108;p149"/>
          <p:cNvCxnSpPr>
            <a:stCxn id="2098" idx="4"/>
            <a:endCxn id="2101" idx="0"/>
          </p:cNvCxnSpPr>
          <p:nvPr/>
        </p:nvCxnSpPr>
        <p:spPr>
          <a:xfrm>
            <a:off x="8049805" y="2741119"/>
            <a:ext cx="0" cy="3696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109" name="Google Shape;2109;p149"/>
          <p:cNvCxnSpPr>
            <a:stCxn id="2085" idx="0"/>
            <a:endCxn id="2091" idx="4"/>
          </p:cNvCxnSpPr>
          <p:nvPr/>
        </p:nvCxnSpPr>
        <p:spPr>
          <a:xfrm rot="10800000">
            <a:off x="5949782" y="4070983"/>
            <a:ext cx="0" cy="3663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149"/>
          <p:cNvCxnSpPr>
            <a:stCxn id="2100" idx="0"/>
          </p:cNvCxnSpPr>
          <p:nvPr/>
        </p:nvCxnSpPr>
        <p:spPr>
          <a:xfrm rot="10800000">
            <a:off x="8292057" y="2741419"/>
            <a:ext cx="0" cy="281700"/>
          </a:xfrm>
          <a:prstGeom prst="straightConnector1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11" name="Google Shape;2111;p149"/>
          <p:cNvSpPr/>
          <p:nvPr/>
        </p:nvSpPr>
        <p:spPr>
          <a:xfrm>
            <a:off x="892382" y="419232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149"/>
          <p:cNvSpPr/>
          <p:nvPr/>
        </p:nvSpPr>
        <p:spPr>
          <a:xfrm>
            <a:off x="1268132" y="41654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149"/>
          <p:cNvSpPr/>
          <p:nvPr/>
        </p:nvSpPr>
        <p:spPr>
          <a:xfrm>
            <a:off x="1631857" y="4071095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149"/>
          <p:cNvSpPr/>
          <p:nvPr/>
        </p:nvSpPr>
        <p:spPr>
          <a:xfrm>
            <a:off x="2006107" y="3893570"/>
            <a:ext cx="87600" cy="8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149"/>
          <p:cNvSpPr/>
          <p:nvPr/>
        </p:nvSpPr>
        <p:spPr>
          <a:xfrm>
            <a:off x="2850375" y="29202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149"/>
          <p:cNvSpPr/>
          <p:nvPr/>
        </p:nvSpPr>
        <p:spPr>
          <a:xfrm>
            <a:off x="3057100" y="2741419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149"/>
          <p:cNvSpPr/>
          <p:nvPr/>
        </p:nvSpPr>
        <p:spPr>
          <a:xfrm>
            <a:off x="3378525" y="2527944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149"/>
          <p:cNvSpPr/>
          <p:nvPr/>
        </p:nvSpPr>
        <p:spPr>
          <a:xfrm>
            <a:off x="3724125" y="2426094"/>
            <a:ext cx="87600" cy="876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1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4" name="Google Shape;2124;p150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we are trying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maximize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likelihood, we still need something to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minimize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since the computer’s gradient descent methods can only search for minimums.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5" name="Google Shape;2125;p1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26" name="Google Shape;2126;p1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2" name="Google Shape;2132;p151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terms of a cost function, we seek to minimize the following (log loss):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33" name="Google Shape;2133;p1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4" name="Google Shape;2134;p1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5" name="Google Shape;2135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11714"/>
            <a:ext cx="9144001" cy="2082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1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1" name="Google Shape;2141;p152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Just as with Linear Regression, gradient descent can solve this for us!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2" name="Google Shape;2142;p1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3" name="Google Shape;2143;p1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4" name="Google Shape;2144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11714"/>
            <a:ext cx="9144001" cy="2082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1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0" name="Google Shape;2150;p153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fully understanding this gradient descent.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practice we never have to implement it ourselves.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takeaway should be the relationship between log odds and probability.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1" name="Google Shape;2151;p1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2" name="Google Shape;2152;p1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1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8" name="Google Shape;2158;p154"/>
          <p:cNvSpPr txBox="1"/>
          <p:nvPr>
            <p:ph idx="1" type="body"/>
          </p:nvPr>
        </p:nvSpPr>
        <p:spPr>
          <a:xfrm>
            <a:off x="311700" y="1152475"/>
            <a:ext cx="8684100" cy="17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have an intuition of what happens “behind the scenes”, let’s explore Logistic Regression with Python!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9" name="Google Shape;2159;p1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0" name="Google Shape;2160;p1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55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Scikit-Learn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6" name="Google Shape;2166;p1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7" name="Google Shape;2167;p1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68" name="Google Shape;2168;p155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Exploratory Data Analysis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156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Scikit-Learn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4" name="Google Shape;2174;p1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5" name="Google Shape;2175;p1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6" name="Google Shape;2176;p156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Creating and Training a Model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157"/>
          <p:cNvSpPr txBox="1"/>
          <p:nvPr>
            <p:ph type="ctrTitle"/>
          </p:nvPr>
        </p:nvSpPr>
        <p:spPr>
          <a:xfrm>
            <a:off x="311700" y="896975"/>
            <a:ext cx="8520600" cy="29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Understanding Coefficients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82" name="Google Shape;2182;p1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3" name="Google Shape;2183;p1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158"/>
          <p:cNvSpPr txBox="1"/>
          <p:nvPr>
            <p:ph type="ctrTitle"/>
          </p:nvPr>
        </p:nvSpPr>
        <p:spPr>
          <a:xfrm>
            <a:off x="311700" y="896975"/>
            <a:ext cx="8520600" cy="22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Performance Metrics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89" name="Google Shape;2189;p1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90" name="Google Shape;2190;p1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158"/>
          <p:cNvSpPr txBox="1"/>
          <p:nvPr>
            <p:ph idx="1" type="subTitle"/>
          </p:nvPr>
        </p:nvSpPr>
        <p:spPr>
          <a:xfrm>
            <a:off x="311700" y="297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Confusion Matrix Basics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1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7" name="Google Shape;2197;p1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You’ve probably heard of terms such as “false positive” or “false negative”. As well as metrics like “accuracy”.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do these terms actually mean mathematically?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8" name="Google Shape;2198;p1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99" name="Google Shape;2199;p1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1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5" name="Google Shape;2205;p1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we’ve developed a test or model to detect presence of a virus infection in a person based on some biological feature.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treat this as a Logistic Regression, predicting: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0 - Not Infected (Tests Negative)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1 - Infected (Tests Positive)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06" name="Google Shape;2206;p1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7" name="Google Shape;2207;p1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3" name="Google Shape;2213;p1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unlikely our model will perform perfectly. This means there 4 possible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Infected person tests positive.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Healthy person tests negative.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4" name="Google Shape;2214;p1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5" name="Google Shape;2215;p1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1" name="Google Shape;2221;p1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unlikely our model will perform perfectly. This means there 4 possible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Infected person tests positive.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Healthy person tests negative.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Note, these are the outcomes we want! But it is unlikely our test is perfect...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2" name="Google Shape;2222;p1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3" name="Google Shape;2223;p1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1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9" name="Google Shape;2229;p1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unlikely our model will perform perfectly. This means there 4 possible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Infected person tests positive.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Healthy person tests negative.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Infected person tests negative.</a:t>
            </a:r>
            <a:endParaRPr sz="29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Healthy person tests positive.</a:t>
            </a:r>
            <a:endParaRPr sz="29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0" name="Google Shape;2230;p1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1" name="Google Shape;2231;p1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1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7" name="Google Shape;2237;p1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Based off these 4 possibilities, there are many error metrics we can calculate.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First, let’s start by visualizing these four possibilities as a matrix.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8" name="Google Shape;2238;p1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9" name="Google Shape;2239;p1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5" name="Google Shape;2245;p1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6" name="Google Shape;2246;p1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7" name="Google Shape;2247;p1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8" name="Google Shape;2248;p165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1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4" name="Google Shape;2254;p1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5" name="Google Shape;2255;p1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6" name="Google Shape;2256;p1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7" name="Google Shape;2257;p166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1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3" name="Google Shape;2263;p1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64" name="Google Shape;2264;p1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5" name="Google Shape;2265;p1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6" name="Google Shape;2266;p167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b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1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2" name="Google Shape;2272;p1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73" name="Google Shape;2273;p1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74" name="Google Shape;2274;p1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5" name="Google Shape;2275;p168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b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1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1" name="Google Shape;2281;p1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82" name="Google Shape;2282;p1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83" name="Google Shape;2283;p1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4" name="Google Shape;2284;p169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b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1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0" name="Google Shape;2290;p1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1" name="Google Shape;2291;p1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92" name="Google Shape;2292;p1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3" name="Google Shape;2293;p170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b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1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9" name="Google Shape;2299;p1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test group of 100 people: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0" name="Google Shape;2300;p1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1" name="Google Shape;2301;p1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2" name="Google Shape;2302;p171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1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8" name="Google Shape;2308;p1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 are infected. 95 are healthy.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9" name="Google Shape;2309;p1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0" name="Google Shape;2310;p1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1" name="Google Shape;2311;p172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7" name="Google Shape;2317;p1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tested all of them with these results: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8" name="Google Shape;2318;p1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9" name="Google Shape;2319;p1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0" name="Google Shape;2320;p173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1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6" name="Google Shape;2326;p1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accuracy?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7" name="Google Shape;2327;p1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8" name="Google Shape;2328;p1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9" name="Google Shape;2329;p174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1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5" name="Google Shape;2335;p1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accuracy?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36" name="Google Shape;2336;p1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7" name="Google Shape;2337;p1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8" name="Google Shape;2338;p175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9" name="Google Shape;2339;p175"/>
          <p:cNvSpPr txBox="1"/>
          <p:nvPr/>
        </p:nvSpPr>
        <p:spPr>
          <a:xfrm>
            <a:off x="6187900" y="1921775"/>
            <a:ext cx="28080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Accuracy: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often is the model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 = (TP+TN)/Total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5" name="Google Shape;2345;p1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Calculating accuracy: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6" name="Google Shape;2346;p1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7" name="Google Shape;2347;p1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8" name="Google Shape;2348;p176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349" name="Google Shape;2349;p176"/>
          <p:cNvSpPr txBox="1"/>
          <p:nvPr/>
        </p:nvSpPr>
        <p:spPr>
          <a:xfrm>
            <a:off x="6187900" y="1921775"/>
            <a:ext cx="28080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Accuracy: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often is the model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 = (TP+TN)/Total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0" name="Google Shape;2350;p176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(4+93)/100 = 97% Accuracy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p1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6" name="Google Shape;2356;p1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this a good value for accuracy?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57" name="Google Shape;2357;p1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8" name="Google Shape;2358;p1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9" name="Google Shape;2359;p177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360" name="Google Shape;2360;p177"/>
          <p:cNvSpPr txBox="1"/>
          <p:nvPr/>
        </p:nvSpPr>
        <p:spPr>
          <a:xfrm>
            <a:off x="6187900" y="1921775"/>
            <a:ext cx="28080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Accuracy: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often is the model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 = (TP+TN)/Total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1" name="Google Shape;2361;p177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(4+93)/100 = 97% Accuracy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1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7" name="Google Shape;2367;p1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accuracy paradox...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68" name="Google Shape;2368;p1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69" name="Google Shape;2369;p1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0" name="Google Shape;2370;p178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2371" name="Google Shape;2371;p178"/>
          <p:cNvSpPr txBox="1"/>
          <p:nvPr/>
        </p:nvSpPr>
        <p:spPr>
          <a:xfrm>
            <a:off x="6187900" y="1921775"/>
            <a:ext cx="28080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Accuracy: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often is the model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 = (TP+TN)/Total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2" name="Google Shape;2372;p178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(4+93)/100 = 97% Accuracy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8" name="Google Shape;2378;p1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report back “healthy”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9" name="Google Shape;2379;p1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0" name="Google Shape;2380;p1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1" name="Google Shape;2381;p179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1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7" name="Google Shape;2387;p1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report back “healthy”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8" name="Google Shape;2388;p1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9" name="Google Shape;2389;p1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0" name="Google Shape;2390;p180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1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6" name="Google Shape;2396;p1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report back “healthy”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7" name="Google Shape;2397;p1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8" name="Google Shape;2398;p1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9" name="Google Shape;2399;p181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0" name="Google Shape;2400;p181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(0+95)/100 = 95% Accuracy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1" name="Google Shape;2401;p181"/>
          <p:cNvSpPr txBox="1"/>
          <p:nvPr/>
        </p:nvSpPr>
        <p:spPr>
          <a:xfrm>
            <a:off x="6187900" y="1921775"/>
            <a:ext cx="28080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Accuracy: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often is the model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95% accuracy for a model that always returns “healthy”!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1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7" name="Google Shape;2407;p1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be thinking,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numbers here are arbitrary, we just happen to get good accuracy in this made up case. Real world data would reflect poor accuracy if a model always returned the same result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8" name="Google Shape;2408;p1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9" name="Google Shape;2409;p1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1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5" name="Google Shape;2415;p1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accuracy paradox!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Any classifier dealing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imbalanced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 has to confront the issue of the accuracy paradox.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balanced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 will always result in a distorted accuracy reflecting better performance than what is truly warranted.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6" name="Google Shape;2416;p1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7" name="Google Shape;2417;p1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1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3" name="Google Shape;2423;p1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balanced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 are often found in real world data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Medical conditions can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affect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small portions of the population.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Fraud is not common (e.g. Real vs. Fraud credit card usage).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24" name="Google Shape;2424;p1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5" name="Google Shape;2425;p1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1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1" name="Google Shape;2431;p1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class is only a small percentage (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n%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), then a classifier that always predicts the majority class will always have an accuracy of (1-n).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previous example we saw infected were only 5% of the data.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Allowing the accuracy to be 95%.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32" name="Google Shape;2432;p1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33" name="Google Shape;2433;p1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1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9" name="Google Shape;2439;p1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we shouldn’t solely rely on accuracy as a metric!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precision,recall, and f1-score will come 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these other metrics in the next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0" name="Google Shape;2440;p1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1" name="Google Shape;2441;p1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187"/>
          <p:cNvSpPr txBox="1"/>
          <p:nvPr>
            <p:ph type="ctrTitle"/>
          </p:nvPr>
        </p:nvSpPr>
        <p:spPr>
          <a:xfrm>
            <a:off x="311700" y="896975"/>
            <a:ext cx="8520600" cy="22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Performance Metrics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7" name="Google Shape;2447;p1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48" name="Google Shape;2448;p1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9" name="Google Shape;2449;p187"/>
          <p:cNvSpPr txBox="1"/>
          <p:nvPr>
            <p:ph idx="1" type="subTitle"/>
          </p:nvPr>
        </p:nvSpPr>
        <p:spPr>
          <a:xfrm>
            <a:off x="311700" y="297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Precision and Recall</a:t>
            </a:r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1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5" name="Google Shape;2455;p18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how to calculate accuracy and its associated paradox.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three more metrics that can help give a clearer picture of performance: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(a.k.a. sensitivity)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56" name="Google Shape;2456;p1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7" name="Google Shape;2457;p1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1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3" name="Google Shape;2463;p1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recall.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4" name="Google Shape;2464;p1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65" name="Google Shape;2465;p1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6" name="Google Shape;2466;p189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7" name="Google Shape;2467;p189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it actually is a positive case,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1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3" name="Google Shape;2473;p1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recall.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4" name="Google Shape;2474;p1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75" name="Google Shape;2475;p1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6" name="Google Shape;2476;p190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7" name="Google Shape;2477;p190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it actually is a positive case,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8" name="Google Shape;2478;p190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Actual Positives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1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4" name="Google Shape;2484;p1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recall.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5" name="Google Shape;2485;p1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6" name="Google Shape;2486;p1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7" name="Google Shape;2487;p191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8" name="Google Shape;2488;p191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it actually is a positive case,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9" name="Google Shape;2489;p191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0" name="Google Shape;2490;p191"/>
          <p:cNvSpPr/>
          <p:nvPr/>
        </p:nvSpPr>
        <p:spPr>
          <a:xfrm>
            <a:off x="3278075" y="2306125"/>
            <a:ext cx="1370400" cy="165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6" name="Google Shape;2496;p1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recall.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7" name="Google Shape;2497;p1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8" name="Google Shape;2498;p1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9" name="Google Shape;2499;p192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0" name="Google Shape;2500;p192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it actually is a positive case,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1" name="Google Shape;2501;p192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(4)/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2" name="Google Shape;2502;p192"/>
          <p:cNvSpPr/>
          <p:nvPr/>
        </p:nvSpPr>
        <p:spPr>
          <a:xfrm>
            <a:off x="3278075" y="2858125"/>
            <a:ext cx="13704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1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8" name="Google Shape;2508;p1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with recall.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09" name="Google Shape;2509;p1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10" name="Google Shape;2510;p1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1" name="Google Shape;2511;p193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2" name="Google Shape;2512;p193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many relevant cases are found?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3" name="Google Shape;2513;p193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0.8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1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9" name="Google Shape;2519;p1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What’s the recall if we always classify as “healthy”?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0" name="Google Shape;2520;p1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21" name="Google Shape;2521;p1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2" name="Google Shape;2522;p194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3" name="Google Shape;2523;p194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many relevant cases are found?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4" name="Google Shape;2524;p194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Actual Positives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1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0" name="Google Shape;2530;p1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What’s the recall if we always classify as “healthy”?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1" name="Google Shape;2531;p1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2" name="Google Shape;2532;p1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3" name="Google Shape;2533;p195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4" name="Google Shape;2534;p195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many relevant cases are found?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5" name="Google Shape;2535;p195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(0)/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!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1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1" name="Google Shape;2541;p1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recall of 0 alerts you the model isn’t catching cases!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42" name="Google Shape;2542;p1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3" name="Google Shape;2543;p1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4" name="Google Shape;2544;p196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5" name="Google Shape;2545;p196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How many relevant cases are found?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Actual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6" name="Google Shape;2546;p196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Recall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(0)/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!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0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1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2" name="Google Shape;2552;p1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3" name="Google Shape;2553;p1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54" name="Google Shape;2554;p1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5" name="Google Shape;2555;p197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6" name="Google Shape;2556;p197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7" name="Google Shape;2557;p197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Predicted Positives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1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3" name="Google Shape;2563;p1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64" name="Google Shape;2564;p1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5" name="Google Shape;2565;p1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66" name="Google Shape;2566;p198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7" name="Google Shape;2567;p198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8" name="Google Shape;2568;p198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Predicted Positives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9" name="Google Shape;2569;p198"/>
          <p:cNvSpPr/>
          <p:nvPr/>
        </p:nvSpPr>
        <p:spPr>
          <a:xfrm>
            <a:off x="1844400" y="2858125"/>
            <a:ext cx="42327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1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5" name="Google Shape;2575;p1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6" name="Google Shape;2576;p1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77" name="Google Shape;2577;p1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78" name="Google Shape;2578;p199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9" name="Google Shape;2579;p199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0" name="Google Shape;2580;p199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1" name="Google Shape;2581;p199"/>
          <p:cNvSpPr/>
          <p:nvPr/>
        </p:nvSpPr>
        <p:spPr>
          <a:xfrm>
            <a:off x="1844400" y="2858125"/>
            <a:ext cx="42327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2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7" name="Google Shape;2587;p20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88" name="Google Shape;2588;p2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9" name="Google Shape;2589;p2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0" name="Google Shape;2590;p200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1" name="Google Shape;2591;p200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2" name="Google Shape;2592;p200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3" name="Google Shape;2593;p200"/>
          <p:cNvSpPr/>
          <p:nvPr/>
        </p:nvSpPr>
        <p:spPr>
          <a:xfrm>
            <a:off x="3278075" y="2858125"/>
            <a:ext cx="13704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2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9" name="Google Shape;2599;p20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0" name="Google Shape;2600;p2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01" name="Google Shape;2601;p2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2" name="Google Shape;2602;p201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3" name="Google Shape;2603;p201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4" name="Google Shape;2604;p201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(4)/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5" name="Google Shape;2605;p201"/>
          <p:cNvSpPr/>
          <p:nvPr/>
        </p:nvSpPr>
        <p:spPr>
          <a:xfrm>
            <a:off x="3278075" y="2858125"/>
            <a:ext cx="13704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1" name="Google Shape;2611;p20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let’s explore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2" name="Google Shape;2612;p2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13" name="Google Shape;2613;p2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14" name="Google Shape;2614;p202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5" name="Google Shape;2615;p202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6" name="Google Shape;2616;p202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0.666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2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2" name="Google Shape;2622;p20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What’s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we always classify as “healthy”?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23" name="Google Shape;2623;p2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4" name="Google Shape;2624;p2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25" name="Google Shape;2625;p203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6" name="Google Shape;2626;p203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7" name="Google Shape;2627;p203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Predicted Positives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2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3" name="Google Shape;2633;p20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What’s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we always classify as “healthy”?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4" name="Google Shape;2634;p2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35" name="Google Shape;2635;p2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36" name="Google Shape;2636;p204"/>
          <p:cNvGraphicFramePr/>
          <p:nvPr/>
        </p:nvGraphicFramePr>
        <p:xfrm>
          <a:off x="419700" y="192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{209605CC-4D93-4D02-BE6F-7ACD973ADDAD}</a:tableStyleId>
              </a:tblPr>
              <a:tblGrid>
                <a:gridCol w="1414350"/>
                <a:gridCol w="1414350"/>
                <a:gridCol w="1414350"/>
                <a:gridCol w="1414350"/>
              </a:tblGrid>
              <a:tr h="39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1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INFECTED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HEALTHY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7" name="Google Shape;2637;p204"/>
          <p:cNvSpPr txBox="1"/>
          <p:nvPr/>
        </p:nvSpPr>
        <p:spPr>
          <a:xfrm>
            <a:off x="6187900" y="1921775"/>
            <a:ext cx="29562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When prediction is positive, how often is it correct?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(TP)/Total Predicted Positives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8" name="Google Shape;2638;p204"/>
          <p:cNvSpPr txBox="1"/>
          <p:nvPr/>
        </p:nvSpPr>
        <p:spPr>
          <a:xfrm>
            <a:off x="1844400" y="3995775"/>
            <a:ext cx="42711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Precision = 0/0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9" name="Google Shape;2639;p204"/>
          <p:cNvSpPr/>
          <p:nvPr/>
        </p:nvSpPr>
        <p:spPr>
          <a:xfrm>
            <a:off x="1844400" y="2858125"/>
            <a:ext cx="42327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2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5" name="Google Shape;2645;p20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and Precision can help illuminate our performance specifically in regards to the relevant or positive case.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Depending on the model, there is typically a trade-off between precision and recall, which we will explore later on with the ROC curve.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46" name="Google Shape;2646;p2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7" name="Google Shape;2647;p2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2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3" name="Google Shape;2653;p20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precision and recall are related to each other through the numerator (TP), we often also report the F1-Score, which is the harmonic mean of precision and recall.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4" name="Google Shape;2654;p2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55" name="Google Shape;2655;p2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6" name="Google Shape;2656;p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7225" y="3243819"/>
            <a:ext cx="4373050" cy="10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2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2" name="Google Shape;2662;p20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harmonic mean (instead of the normal mean) allows the entire harmonic mean to go to zero if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precision or recall ends up being zero.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63" name="Google Shape;2663;p2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4" name="Google Shape;2664;p2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5" name="Google Shape;2665;p2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7225" y="3243819"/>
            <a:ext cx="4373050" cy="10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0" name="Google Shape;2670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00" y="2305420"/>
            <a:ext cx="8684097" cy="2456630"/>
          </a:xfrm>
          <a:prstGeom prst="rect">
            <a:avLst/>
          </a:prstGeom>
          <a:noFill/>
          <a:ln>
            <a:noFill/>
          </a:ln>
        </p:spPr>
      </p:pic>
      <p:sp>
        <p:nvSpPr>
          <p:cNvPr id="2671" name="Google Shape;2671;p20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2" name="Google Shape;2672;p20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a final note on the confusion matrix, there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metrics available: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73" name="Google Shape;2673;p20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74" name="Google Shape;2674;p20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20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0" name="Google Shape;2680;p20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Finally, let’s explore a way to visualize the relationships between metrics such as precision and recall with curves.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1" name="Google Shape;2681;p20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82" name="Google Shape;2682;p20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210"/>
          <p:cNvSpPr txBox="1"/>
          <p:nvPr>
            <p:ph type="ctrTitle"/>
          </p:nvPr>
        </p:nvSpPr>
        <p:spPr>
          <a:xfrm>
            <a:off x="311700" y="896975"/>
            <a:ext cx="8520600" cy="22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Performance Metrics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8" name="Google Shape;2688;p21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89" name="Google Shape;2689;p21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90" name="Google Shape;2690;p210"/>
          <p:cNvSpPr txBox="1"/>
          <p:nvPr>
            <p:ph idx="1" type="subTitle"/>
          </p:nvPr>
        </p:nvSpPr>
        <p:spPr>
          <a:xfrm>
            <a:off x="311700" y="297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Three: ROC Curves</a:t>
            </a:r>
            <a:endParaRPr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21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6" name="Google Shape;2696;p21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During World War 2, Radar technology was developed to help detect incoming enemy aircraft.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97" name="Google Shape;2697;p21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8" name="Google Shape;2698;p21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9" name="Google Shape;2699;p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175" y="2594123"/>
            <a:ext cx="4046250" cy="22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21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5" name="Google Shape;2705;p21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technology was so new, the US Army wanted to develop a methodology to evaluate radar operator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06" name="Google Shape;2706;p21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07" name="Google Shape;2707;p21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8" name="Google Shape;2708;p2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775" y="2774750"/>
            <a:ext cx="3158350" cy="236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21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4" name="Google Shape;2714;p21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developed the Receiver Operator Characteristic curve.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5" name="Google Shape;2715;p2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16" name="Google Shape;2716;p2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7" name="Google Shape;2717;p213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213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9" name="Google Shape;2719;p213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2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5" name="Google Shape;2725;p2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developed the Receiver Operator Characteristic curve.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26" name="Google Shape;2726;p2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7" name="Google Shape;2727;p2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8" name="Google Shape;2728;p214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214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0" name="Google Shape;2730;p214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31" name="Google Shape;2731;p214"/>
          <p:cNvCxnSpPr/>
          <p:nvPr/>
        </p:nvCxnSpPr>
        <p:spPr>
          <a:xfrm flipH="1" rot="10800000">
            <a:off x="3326375" y="2275850"/>
            <a:ext cx="3211800" cy="2433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2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7" name="Google Shape;2737;p2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developed the Receiver Operator Characteristic curve.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8" name="Google Shape;2738;p2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9" name="Google Shape;2739;p2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0" name="Google Shape;2740;p215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215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2" name="Google Shape;2742;p215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43" name="Google Shape;2743;p215"/>
          <p:cNvCxnSpPr/>
          <p:nvPr/>
        </p:nvCxnSpPr>
        <p:spPr>
          <a:xfrm flipH="1" rot="10800000">
            <a:off x="3326375" y="2275850"/>
            <a:ext cx="3211800" cy="2433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44" name="Google Shape;2744;p215"/>
          <p:cNvCxnSpPr/>
          <p:nvPr/>
        </p:nvCxnSpPr>
        <p:spPr>
          <a:xfrm flipH="1" rot="10800000">
            <a:off x="3290150" y="2281900"/>
            <a:ext cx="3242100" cy="2439000"/>
          </a:xfrm>
          <a:prstGeom prst="curvedConnector3">
            <a:avLst>
              <a:gd fmla="val 8938" name="adj1"/>
            </a:avLst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p2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0" name="Google Shape;2750;p2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a trade-off between True Positives and False Positives.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51" name="Google Shape;2751;p2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52" name="Google Shape;2752;p2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3" name="Google Shape;2753;p216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216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5" name="Google Shape;2755;p216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56" name="Google Shape;2756;p216"/>
          <p:cNvCxnSpPr/>
          <p:nvPr/>
        </p:nvCxnSpPr>
        <p:spPr>
          <a:xfrm flipH="1" rot="10800000">
            <a:off x="3326375" y="2275850"/>
            <a:ext cx="3211800" cy="2433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7" name="Google Shape;2757;p216"/>
          <p:cNvCxnSpPr/>
          <p:nvPr/>
        </p:nvCxnSpPr>
        <p:spPr>
          <a:xfrm flipH="1" rot="10800000">
            <a:off x="3290150" y="2281900"/>
            <a:ext cx="3242100" cy="2439000"/>
          </a:xfrm>
          <a:prstGeom prst="curvedConnector3">
            <a:avLst>
              <a:gd fmla="val 8938" name="adj1"/>
            </a:avLst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p2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3" name="Google Shape;2763;p2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a trade-off between True Positives and False Positives.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4" name="Google Shape;2764;p2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65" name="Google Shape;2765;p2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6" name="Google Shape;2766;p2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8350" y="2165600"/>
            <a:ext cx="3979376" cy="29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p2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2" name="Google Shape;2772;p2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previous infection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73" name="Google Shape;2773;p2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4" name="Google Shape;2774;p2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5" name="Google Shape;2775;p218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218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7" name="Google Shape;2777;p218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8" name="Google Shape;2778;p218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9" name="Google Shape;2779;p218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0" name="Google Shape;2780;p218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1" name="Google Shape;2781;p218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218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218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218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18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218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p218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218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9" name="Google Shape;2789;p218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0" name="Google Shape;2790;p218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218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2" name="Google Shape;2792;p218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3" name="Google Shape;2793;p218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2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9" name="Google Shape;2799;p2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 logistic regression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00" name="Google Shape;2800;p2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1" name="Google Shape;2801;p2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2" name="Google Shape;2802;p219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3" name="Google Shape;2803;p219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4" name="Google Shape;2804;p219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5" name="Google Shape;2805;p219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6" name="Google Shape;2806;p219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7" name="Google Shape;2807;p219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08" name="Google Shape;2808;p219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09" name="Google Shape;2809;p219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219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219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p219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219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p219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219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6" name="Google Shape;2816;p219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7" name="Google Shape;2817;p219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8" name="Google Shape;2818;p219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219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0" name="Google Shape;2820;p219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219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5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p2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7" name="Google Shape;2827;p2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Given X we predict 0 or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28" name="Google Shape;2828;p2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9" name="Google Shape;2829;p2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0" name="Google Shape;2830;p220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1" name="Google Shape;2831;p220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2" name="Google Shape;2832;p220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3" name="Google Shape;2833;p220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4" name="Google Shape;2834;p220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5" name="Google Shape;2835;p220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36" name="Google Shape;2836;p220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37" name="Google Shape;2837;p220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8" name="Google Shape;2838;p220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220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0" name="Google Shape;2840;p220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p220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2" name="Google Shape;2842;p220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220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p220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220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220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220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8" name="Google Shape;2848;p220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220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0" name="Google Shape;2850;p220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220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220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220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4" name="Google Shape;2854;p220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5" name="Google Shape;2855;p220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6" name="Google Shape;2856;p220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220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2" name="Google Shape;2862;p221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863" name="Google Shape;2863;p2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4" name="Google Shape;2864;p2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is to choose 0.5 as cut-off.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65" name="Google Shape;2865;p2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66" name="Google Shape;2866;p2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7" name="Google Shape;2867;p221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8" name="Google Shape;2868;p221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9" name="Google Shape;2869;p221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0" name="Google Shape;2870;p221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1" name="Google Shape;2871;p221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2" name="Google Shape;2872;p221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73" name="Google Shape;2873;p221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74" name="Google Shape;2874;p221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221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221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221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p221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p221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221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221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221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221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221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221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221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p221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8" name="Google Shape;2888;p221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9" name="Google Shape;2889;p221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0" name="Google Shape;2890;p221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1" name="Google Shape;2891;p221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92" name="Google Shape;2892;p221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3" name="Google Shape;2893;p221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4" name="Google Shape;2894;p221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5" name="Google Shape;2895;p221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221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1" name="Google Shape;2901;p222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902" name="Google Shape;2902;p2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3" name="Google Shape;2903;p2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many TP vs FP?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4" name="Google Shape;2904;p2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05" name="Google Shape;2905;p2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6" name="Google Shape;2906;p222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7" name="Google Shape;2907;p222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8" name="Google Shape;2908;p222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9" name="Google Shape;2909;p222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0" name="Google Shape;2910;p222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1" name="Google Shape;2911;p222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12" name="Google Shape;2912;p222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13" name="Google Shape;2913;p222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222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222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222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222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222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222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222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222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222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p222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222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222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222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222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222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p222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0" name="Google Shape;2930;p222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31" name="Google Shape;2931;p222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2" name="Google Shape;2932;p222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3" name="Google Shape;2933;p222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4" name="Google Shape;2934;p222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222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0" name="Google Shape;2940;p223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941" name="Google Shape;2941;p2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2" name="Google Shape;2942;p2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1    FN:1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43" name="Google Shape;2943;p2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44" name="Google Shape;2944;p2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5" name="Google Shape;2945;p223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6" name="Google Shape;2946;p223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7" name="Google Shape;2947;p223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8" name="Google Shape;2948;p223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9" name="Google Shape;2949;p223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0" name="Google Shape;2950;p223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51" name="Google Shape;2951;p223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52" name="Google Shape;2952;p223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223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p223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p223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p223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223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223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223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p223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223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223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223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223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223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223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223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223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9" name="Google Shape;2969;p223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70" name="Google Shape;2970;p223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1" name="Google Shape;2971;p223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2" name="Google Shape;2972;p223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3" name="Google Shape;2973;p223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223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9" name="Google Shape;2979;p224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980" name="Google Shape;2980;p2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1" name="Google Shape;2981;p2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1    FN:1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2" name="Google Shape;2982;p2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3" name="Google Shape;2983;p2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4" name="Google Shape;2984;p224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5" name="Google Shape;2985;p224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6" name="Google Shape;2986;p224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7" name="Google Shape;2987;p224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8" name="Google Shape;2988;p224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9" name="Google Shape;2989;p224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90" name="Google Shape;2990;p224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91" name="Google Shape;2991;p224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224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p224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224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224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224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224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224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224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224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224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224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224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224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224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224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224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8" name="Google Shape;3008;p224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09" name="Google Shape;3009;p224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0" name="Google Shape;3010;p224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1" name="Google Shape;3011;p224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2" name="Google Shape;3012;p224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224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224"/>
          <p:cNvSpPr/>
          <p:nvPr/>
        </p:nvSpPr>
        <p:spPr>
          <a:xfrm rot="1933327">
            <a:off x="4748768" y="2460047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224"/>
          <p:cNvSpPr/>
          <p:nvPr/>
        </p:nvSpPr>
        <p:spPr>
          <a:xfrm rot="1933327">
            <a:off x="5739818" y="1990647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224"/>
          <p:cNvSpPr/>
          <p:nvPr/>
        </p:nvSpPr>
        <p:spPr>
          <a:xfrm rot="1933327">
            <a:off x="6414693" y="1897972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224"/>
          <p:cNvSpPr/>
          <p:nvPr/>
        </p:nvSpPr>
        <p:spPr>
          <a:xfrm>
            <a:off x="748575" y="1225500"/>
            <a:ext cx="11289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2" name="Google Shape;3022;p225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023" name="Google Shape;3023;p2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4" name="Google Shape;3024;p2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1    FN:1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5" name="Google Shape;3025;p2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26" name="Google Shape;3026;p2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7" name="Google Shape;3027;p225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8" name="Google Shape;3028;p225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9" name="Google Shape;3029;p225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0" name="Google Shape;3030;p225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1" name="Google Shape;3031;p225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2" name="Google Shape;3032;p225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33" name="Google Shape;3033;p225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34" name="Google Shape;3034;p225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225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225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225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8" name="Google Shape;3038;p225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225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225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p225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225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225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225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225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225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225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225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225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225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1" name="Google Shape;3051;p225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52" name="Google Shape;3052;p225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3" name="Google Shape;3053;p225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4" name="Google Shape;3054;p225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5" name="Google Shape;3055;p225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225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225"/>
          <p:cNvSpPr/>
          <p:nvPr/>
        </p:nvSpPr>
        <p:spPr>
          <a:xfrm rot="1933327">
            <a:off x="2615018" y="3800247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225"/>
          <p:cNvSpPr/>
          <p:nvPr/>
        </p:nvSpPr>
        <p:spPr>
          <a:xfrm rot="1933327">
            <a:off x="3064818" y="3674072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225"/>
          <p:cNvSpPr/>
          <p:nvPr/>
        </p:nvSpPr>
        <p:spPr>
          <a:xfrm rot="1933327">
            <a:off x="3434668" y="3445472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225"/>
          <p:cNvSpPr/>
          <p:nvPr/>
        </p:nvSpPr>
        <p:spPr>
          <a:xfrm>
            <a:off x="4473525" y="1184425"/>
            <a:ext cx="11289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5" name="Google Shape;3065;p226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066" name="Google Shape;3066;p2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7" name="Google Shape;3067;p2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1    FN:1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8" name="Google Shape;3068;p2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9" name="Google Shape;3069;p2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0" name="Google Shape;3070;p226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1" name="Google Shape;3071;p226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2" name="Google Shape;3072;p226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3" name="Google Shape;3073;p226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4" name="Google Shape;3074;p226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5" name="Google Shape;3075;p226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76" name="Google Shape;3076;p226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77" name="Google Shape;3077;p226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226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226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226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226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226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226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226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226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p226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226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8" name="Google Shape;3088;p226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9" name="Google Shape;3089;p226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226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1" name="Google Shape;3091;p226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226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226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4" name="Google Shape;3094;p226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95" name="Google Shape;3095;p226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6" name="Google Shape;3096;p226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7" name="Google Shape;3097;p226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8" name="Google Shape;3098;p226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226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226"/>
          <p:cNvSpPr/>
          <p:nvPr/>
        </p:nvSpPr>
        <p:spPr>
          <a:xfrm rot="1933327">
            <a:off x="4266968" y="2817622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226"/>
          <p:cNvSpPr/>
          <p:nvPr/>
        </p:nvSpPr>
        <p:spPr>
          <a:xfrm>
            <a:off x="2010450" y="1208575"/>
            <a:ext cx="11289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5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6" name="Google Shape;3106;p227"/>
          <p:cNvCxnSpPr/>
          <p:nvPr/>
        </p:nvCxnSpPr>
        <p:spPr>
          <a:xfrm>
            <a:off x="2155725" y="3219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107" name="Google Shape;3107;p2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8" name="Google Shape;3108;p2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1    FN:1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09" name="Google Shape;3109;p2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10" name="Google Shape;3110;p2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1" name="Google Shape;3111;p227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2" name="Google Shape;3112;p227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3" name="Google Shape;3113;p227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4" name="Google Shape;3114;p227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5" name="Google Shape;3115;p227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6" name="Google Shape;3116;p227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17" name="Google Shape;3117;p227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18" name="Google Shape;3118;p227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227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227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227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227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p227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227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227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227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227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227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227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227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227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227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227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227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5" name="Google Shape;3135;p227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36" name="Google Shape;3136;p227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7" name="Google Shape;3137;p227"/>
          <p:cNvSpPr txBox="1"/>
          <p:nvPr/>
        </p:nvSpPr>
        <p:spPr>
          <a:xfrm>
            <a:off x="8060725" y="2990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8" name="Google Shape;3138;p227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9" name="Google Shape;3139;p227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227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227"/>
          <p:cNvSpPr/>
          <p:nvPr/>
        </p:nvSpPr>
        <p:spPr>
          <a:xfrm rot="1933327">
            <a:off x="3916468" y="3132547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2" name="Google Shape;3142;p227"/>
          <p:cNvSpPr/>
          <p:nvPr/>
        </p:nvSpPr>
        <p:spPr>
          <a:xfrm>
            <a:off x="3237375" y="1184425"/>
            <a:ext cx="1128900" cy="5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7" name="Google Shape;3147;p228"/>
          <p:cNvCxnSpPr/>
          <p:nvPr/>
        </p:nvCxnSpPr>
        <p:spPr>
          <a:xfrm>
            <a:off x="2155725" y="3600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148" name="Google Shape;3148;p2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9" name="Google Shape;3149;p228"/>
          <p:cNvSpPr txBox="1"/>
          <p:nvPr>
            <p:ph idx="1" type="body"/>
          </p:nvPr>
        </p:nvSpPr>
        <p:spPr>
          <a:xfrm>
            <a:off x="311700" y="1152475"/>
            <a:ext cx="8684100" cy="13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lowered the cut-off?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50" name="Google Shape;3150;p2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51" name="Google Shape;3151;p2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2" name="Google Shape;3152;p228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3" name="Google Shape;3153;p228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4" name="Google Shape;3154;p228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5" name="Google Shape;3155;p228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6" name="Google Shape;3156;p228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7" name="Google Shape;3157;p228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58" name="Google Shape;3158;p228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59" name="Google Shape;3159;p228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228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228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228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228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228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228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228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228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228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228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228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228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228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228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228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228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6" name="Google Shape;3176;p228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7" name="Google Shape;3177;p228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8" name="Google Shape;3178;p228"/>
          <p:cNvSpPr txBox="1"/>
          <p:nvPr/>
        </p:nvSpPr>
        <p:spPr>
          <a:xfrm>
            <a:off x="8060725" y="3371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0.4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9" name="Google Shape;3179;p228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0" name="Google Shape;3180;p228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228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6" name="Google Shape;3186;p229"/>
          <p:cNvCxnSpPr/>
          <p:nvPr/>
        </p:nvCxnSpPr>
        <p:spPr>
          <a:xfrm>
            <a:off x="2155725" y="3600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187" name="Google Shape;3187;p2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8" name="Google Shape;3188;p229"/>
          <p:cNvSpPr txBox="1"/>
          <p:nvPr>
            <p:ph idx="1" type="body"/>
          </p:nvPr>
        </p:nvSpPr>
        <p:spPr>
          <a:xfrm>
            <a:off x="311700" y="1152475"/>
            <a:ext cx="8684100" cy="13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2    FN:0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9" name="Google Shape;3189;p2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0" name="Google Shape;3190;p2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1" name="Google Shape;3191;p229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229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3" name="Google Shape;3193;p229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4" name="Google Shape;3194;p229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5" name="Google Shape;3195;p229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6" name="Google Shape;3196;p229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97" name="Google Shape;3197;p229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98" name="Google Shape;3198;p229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229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0" name="Google Shape;3200;p229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p229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229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3" name="Google Shape;3203;p229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229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5" name="Google Shape;3205;p229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229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p229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229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9" name="Google Shape;3209;p229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229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1" name="Google Shape;3211;p229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229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229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229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5" name="Google Shape;3215;p229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16" name="Google Shape;3216;p229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7" name="Google Shape;3217;p229"/>
          <p:cNvSpPr txBox="1"/>
          <p:nvPr/>
        </p:nvSpPr>
        <p:spPr>
          <a:xfrm>
            <a:off x="8060725" y="3371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0.4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8" name="Google Shape;3218;p229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9" name="Google Shape;3219;p229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229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1" name="Google Shape;3221;p229"/>
          <p:cNvSpPr/>
          <p:nvPr/>
        </p:nvSpPr>
        <p:spPr>
          <a:xfrm>
            <a:off x="2118975" y="1171175"/>
            <a:ext cx="2288100" cy="615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p229"/>
          <p:cNvSpPr/>
          <p:nvPr/>
        </p:nvSpPr>
        <p:spPr>
          <a:xfrm rot="1933327">
            <a:off x="3910568" y="3111947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229"/>
          <p:cNvSpPr/>
          <p:nvPr/>
        </p:nvSpPr>
        <p:spPr>
          <a:xfrm rot="1933327">
            <a:off x="4292393" y="2806922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2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9" name="Google Shape;3229;p2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certain situations, we gladly accept more false positives to reduce false negatives.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dangerous virus test, we would much rather produce false positives and later do more stringent examination than accidentally release a false negative!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30" name="Google Shape;3230;p2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31" name="Google Shape;3231;p2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6" name="Google Shape;3236;p231"/>
          <p:cNvCxnSpPr/>
          <p:nvPr/>
        </p:nvCxnSpPr>
        <p:spPr>
          <a:xfrm>
            <a:off x="2155725" y="3600475"/>
            <a:ext cx="5957700" cy="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237" name="Google Shape;3237;p2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8" name="Google Shape;3238;p231"/>
          <p:cNvSpPr txBox="1"/>
          <p:nvPr>
            <p:ph idx="1" type="body"/>
          </p:nvPr>
        </p:nvSpPr>
        <p:spPr>
          <a:xfrm>
            <a:off x="311700" y="1152475"/>
            <a:ext cx="8684100" cy="13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TP: 3    FP: 2    FN:0    TN:3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39" name="Google Shape;3239;p2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40" name="Google Shape;3240;p2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1" name="Google Shape;3241;p231"/>
          <p:cNvCxnSpPr/>
          <p:nvPr/>
        </p:nvCxnSpPr>
        <p:spPr>
          <a:xfrm>
            <a:off x="2155725" y="2032925"/>
            <a:ext cx="0" cy="23979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2" name="Google Shape;3242;p231"/>
          <p:cNvCxnSpPr/>
          <p:nvPr/>
        </p:nvCxnSpPr>
        <p:spPr>
          <a:xfrm rot="10800000">
            <a:off x="2155725" y="4430825"/>
            <a:ext cx="58386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3" name="Google Shape;3243;p231"/>
          <p:cNvCxnSpPr/>
          <p:nvPr/>
        </p:nvCxnSpPr>
        <p:spPr>
          <a:xfrm rot="10800000">
            <a:off x="1931625" y="2190575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4" name="Google Shape;3244;p231"/>
          <p:cNvCxnSpPr/>
          <p:nvPr/>
        </p:nvCxnSpPr>
        <p:spPr>
          <a:xfrm rot="10800000">
            <a:off x="1931625" y="42348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5" name="Google Shape;3245;p231"/>
          <p:cNvSpPr txBox="1"/>
          <p:nvPr/>
        </p:nvSpPr>
        <p:spPr>
          <a:xfrm>
            <a:off x="1608200" y="400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6" name="Google Shape;3246;p231"/>
          <p:cNvSpPr txBox="1"/>
          <p:nvPr/>
        </p:nvSpPr>
        <p:spPr>
          <a:xfrm>
            <a:off x="1608200" y="1975988"/>
            <a:ext cx="32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47" name="Google Shape;3247;p231"/>
          <p:cNvCxnSpPr/>
          <p:nvPr/>
        </p:nvCxnSpPr>
        <p:spPr>
          <a:xfrm flipH="1" rot="10800000">
            <a:off x="2180625" y="2190600"/>
            <a:ext cx="5020200" cy="2066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741B4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48" name="Google Shape;3248;p231"/>
          <p:cNvSpPr/>
          <p:nvPr/>
        </p:nvSpPr>
        <p:spPr>
          <a:xfrm>
            <a:off x="38899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231"/>
          <p:cNvSpPr/>
          <p:nvPr/>
        </p:nvSpPr>
        <p:spPr>
          <a:xfrm>
            <a:off x="35030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p231"/>
          <p:cNvSpPr/>
          <p:nvPr/>
        </p:nvSpPr>
        <p:spPr>
          <a:xfrm>
            <a:off x="303827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231"/>
          <p:cNvSpPr/>
          <p:nvPr/>
        </p:nvSpPr>
        <p:spPr>
          <a:xfrm>
            <a:off x="52371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p231"/>
          <p:cNvSpPr/>
          <p:nvPr/>
        </p:nvSpPr>
        <p:spPr>
          <a:xfrm>
            <a:off x="4366275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231"/>
          <p:cNvSpPr/>
          <p:nvPr/>
        </p:nvSpPr>
        <p:spPr>
          <a:xfrm>
            <a:off x="618650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231"/>
          <p:cNvSpPr/>
          <p:nvPr/>
        </p:nvSpPr>
        <p:spPr>
          <a:xfrm>
            <a:off x="6869950" y="435207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231"/>
          <p:cNvSpPr/>
          <p:nvPr/>
        </p:nvSpPr>
        <p:spPr>
          <a:xfrm>
            <a:off x="4801725" y="4352075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231"/>
          <p:cNvSpPr/>
          <p:nvPr/>
        </p:nvSpPr>
        <p:spPr>
          <a:xfrm>
            <a:off x="3038275" y="4047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231"/>
          <p:cNvSpPr/>
          <p:nvPr/>
        </p:nvSpPr>
        <p:spPr>
          <a:xfrm>
            <a:off x="3503025" y="38948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p231"/>
          <p:cNvSpPr/>
          <p:nvPr/>
        </p:nvSpPr>
        <p:spPr>
          <a:xfrm>
            <a:off x="3884025" y="36662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231"/>
          <p:cNvSpPr/>
          <p:nvPr/>
        </p:nvSpPr>
        <p:spPr>
          <a:xfrm>
            <a:off x="4722225" y="3056675"/>
            <a:ext cx="157500" cy="157500"/>
          </a:xfrm>
          <a:prstGeom prst="ellipse">
            <a:avLst/>
          </a:prstGeom>
          <a:solidFill>
            <a:srgbClr val="DE2222">
              <a:alpha val="522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231"/>
          <p:cNvSpPr/>
          <p:nvPr/>
        </p:nvSpPr>
        <p:spPr>
          <a:xfrm>
            <a:off x="4366275" y="3361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231"/>
          <p:cNvSpPr/>
          <p:nvPr/>
        </p:nvSpPr>
        <p:spPr>
          <a:xfrm>
            <a:off x="5204475" y="26756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231"/>
          <p:cNvSpPr/>
          <p:nvPr/>
        </p:nvSpPr>
        <p:spPr>
          <a:xfrm>
            <a:off x="6195075" y="221847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231"/>
          <p:cNvSpPr/>
          <p:nvPr/>
        </p:nvSpPr>
        <p:spPr>
          <a:xfrm>
            <a:off x="6869950" y="2111825"/>
            <a:ext cx="157500" cy="157500"/>
          </a:xfrm>
          <a:prstGeom prst="ellipse">
            <a:avLst/>
          </a:prstGeom>
          <a:solidFill>
            <a:srgbClr val="3D85C6">
              <a:alpha val="494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p231"/>
          <p:cNvSpPr txBox="1"/>
          <p:nvPr/>
        </p:nvSpPr>
        <p:spPr>
          <a:xfrm>
            <a:off x="89625" y="2771400"/>
            <a:ext cx="168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Infection Test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0-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1 -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5" name="Google Shape;3265;p231"/>
          <p:cNvSpPr txBox="1"/>
          <p:nvPr/>
        </p:nvSpPr>
        <p:spPr>
          <a:xfrm>
            <a:off x="4158525" y="4722875"/>
            <a:ext cx="144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RNA Level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66" name="Google Shape;3266;p231"/>
          <p:cNvCxnSpPr/>
          <p:nvPr/>
        </p:nvCxnSpPr>
        <p:spPr>
          <a:xfrm rot="10800000">
            <a:off x="1931625" y="3244250"/>
            <a:ext cx="224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7" name="Google Shape;3267;p231"/>
          <p:cNvSpPr txBox="1"/>
          <p:nvPr/>
        </p:nvSpPr>
        <p:spPr>
          <a:xfrm>
            <a:off x="8060725" y="3371988"/>
            <a:ext cx="572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0.4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8" name="Google Shape;3268;p231"/>
          <p:cNvSpPr txBox="1"/>
          <p:nvPr/>
        </p:nvSpPr>
        <p:spPr>
          <a:xfrm>
            <a:off x="7311300" y="1106625"/>
            <a:ext cx="1684500" cy="8595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Actual Status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Negative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     Positive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9" name="Google Shape;3269;p231"/>
          <p:cNvSpPr/>
          <p:nvPr/>
        </p:nvSpPr>
        <p:spPr>
          <a:xfrm>
            <a:off x="7542050" y="1695825"/>
            <a:ext cx="157500" cy="157500"/>
          </a:xfrm>
          <a:prstGeom prst="ellipse">
            <a:avLst/>
          </a:prstGeom>
          <a:solidFill>
            <a:srgbClr val="3D85C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231"/>
          <p:cNvSpPr/>
          <p:nvPr/>
        </p:nvSpPr>
        <p:spPr>
          <a:xfrm>
            <a:off x="7542050" y="1450950"/>
            <a:ext cx="157500" cy="157500"/>
          </a:xfrm>
          <a:prstGeom prst="ellipse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231"/>
          <p:cNvSpPr/>
          <p:nvPr/>
        </p:nvSpPr>
        <p:spPr>
          <a:xfrm>
            <a:off x="2118975" y="1171175"/>
            <a:ext cx="2288100" cy="615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p231"/>
          <p:cNvSpPr/>
          <p:nvPr/>
        </p:nvSpPr>
        <p:spPr>
          <a:xfrm rot="1933327">
            <a:off x="3910568" y="3111947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231"/>
          <p:cNvSpPr/>
          <p:nvPr/>
        </p:nvSpPr>
        <p:spPr>
          <a:xfrm rot="1933327">
            <a:off x="4292393" y="2806922"/>
            <a:ext cx="428730" cy="2233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2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9" name="Google Shape;3279;p2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Chart the True vs. False positives for various cut-offs for the ROC curve.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0" name="Google Shape;3280;p2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81" name="Google Shape;3281;p2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82" name="Google Shape;3282;p232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232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4" name="Google Shape;3284;p232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85" name="Google Shape;3285;p232"/>
          <p:cNvCxnSpPr/>
          <p:nvPr/>
        </p:nvCxnSpPr>
        <p:spPr>
          <a:xfrm flipH="1" rot="10800000">
            <a:off x="3326375" y="2275850"/>
            <a:ext cx="3211800" cy="2433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86" name="Google Shape;3286;p232"/>
          <p:cNvSpPr/>
          <p:nvPr/>
        </p:nvSpPr>
        <p:spPr>
          <a:xfrm>
            <a:off x="3374675" y="378517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232"/>
          <p:cNvSpPr/>
          <p:nvPr/>
        </p:nvSpPr>
        <p:spPr>
          <a:xfrm>
            <a:off x="3581425" y="338822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p232"/>
          <p:cNvSpPr/>
          <p:nvPr/>
        </p:nvSpPr>
        <p:spPr>
          <a:xfrm>
            <a:off x="3963225" y="299125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232"/>
          <p:cNvSpPr/>
          <p:nvPr/>
        </p:nvSpPr>
        <p:spPr>
          <a:xfrm>
            <a:off x="4405400" y="272107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232"/>
          <p:cNvSpPr/>
          <p:nvPr/>
        </p:nvSpPr>
        <p:spPr>
          <a:xfrm>
            <a:off x="4975100" y="246297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4" name="Shape 3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5" name="Google Shape;3295;p2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6" name="Google Shape;3296;p2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changing the cut-off limit, we can adjust our True vs. False Positives!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7" name="Google Shape;3297;p2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8" name="Google Shape;3298;p2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99" name="Google Shape;3299;p233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p233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1" name="Google Shape;3301;p233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02" name="Google Shape;3302;p233"/>
          <p:cNvCxnSpPr/>
          <p:nvPr/>
        </p:nvCxnSpPr>
        <p:spPr>
          <a:xfrm flipH="1" rot="10800000">
            <a:off x="3326375" y="2275850"/>
            <a:ext cx="3211800" cy="2433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3" name="Google Shape;3303;p233"/>
          <p:cNvCxnSpPr/>
          <p:nvPr/>
        </p:nvCxnSpPr>
        <p:spPr>
          <a:xfrm flipH="1" rot="10800000">
            <a:off x="3290150" y="2281900"/>
            <a:ext cx="3242100" cy="2439000"/>
          </a:xfrm>
          <a:prstGeom prst="curvedConnector3">
            <a:avLst>
              <a:gd fmla="val 8938" name="adj1"/>
            </a:avLst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4" name="Google Shape;3304;p233"/>
          <p:cNvSpPr/>
          <p:nvPr/>
        </p:nvSpPr>
        <p:spPr>
          <a:xfrm>
            <a:off x="3374675" y="378517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233"/>
          <p:cNvSpPr/>
          <p:nvPr/>
        </p:nvSpPr>
        <p:spPr>
          <a:xfrm>
            <a:off x="3581425" y="338822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p233"/>
          <p:cNvSpPr/>
          <p:nvPr/>
        </p:nvSpPr>
        <p:spPr>
          <a:xfrm>
            <a:off x="3963225" y="299125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233"/>
          <p:cNvSpPr/>
          <p:nvPr/>
        </p:nvSpPr>
        <p:spPr>
          <a:xfrm>
            <a:off x="4405400" y="272107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233"/>
          <p:cNvSpPr/>
          <p:nvPr/>
        </p:nvSpPr>
        <p:spPr>
          <a:xfrm>
            <a:off x="4975100" y="2462975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234"/>
          <p:cNvSpPr/>
          <p:nvPr/>
        </p:nvSpPr>
        <p:spPr>
          <a:xfrm>
            <a:off x="3322425" y="2275950"/>
            <a:ext cx="3229800" cy="24390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4" name="Google Shape;3314;p234"/>
          <p:cNvCxnSpPr/>
          <p:nvPr/>
        </p:nvCxnSpPr>
        <p:spPr>
          <a:xfrm flipH="1" rot="10800000">
            <a:off x="3338450" y="2287850"/>
            <a:ext cx="3193500" cy="2421000"/>
          </a:xfrm>
          <a:prstGeom prst="bentConnector3">
            <a:avLst>
              <a:gd fmla="val -568" name="adj1"/>
            </a:avLst>
          </a:prstGeom>
          <a:noFill/>
          <a:ln cap="flat" cmpd="sng" w="38100">
            <a:solidFill>
              <a:srgbClr val="6D9EE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5" name="Google Shape;3315;p2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6" name="Google Shape;3316;p2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perfect model would have a zero FPR.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 guessing is the red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7" name="Google Shape;3317;p2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18" name="Google Shape;3318;p2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19" name="Google Shape;3319;p234"/>
          <p:cNvSpPr txBox="1"/>
          <p:nvPr/>
        </p:nvSpPr>
        <p:spPr>
          <a:xfrm>
            <a:off x="3760100" y="4742975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False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0" name="Google Shape;3320;p234"/>
          <p:cNvSpPr txBox="1"/>
          <p:nvPr/>
        </p:nvSpPr>
        <p:spPr>
          <a:xfrm rot="-5400000">
            <a:off x="1690900" y="3324450"/>
            <a:ext cx="2526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True Positive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21" name="Google Shape;3321;p234"/>
          <p:cNvCxnSpPr/>
          <p:nvPr/>
        </p:nvCxnSpPr>
        <p:spPr>
          <a:xfrm flipH="1" rot="10800000">
            <a:off x="3326375" y="2275850"/>
            <a:ext cx="3211800" cy="24330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22" name="Google Shape;3322;p234"/>
          <p:cNvSpPr/>
          <p:nvPr/>
        </p:nvSpPr>
        <p:spPr>
          <a:xfrm>
            <a:off x="3290150" y="335655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3" name="Google Shape;3323;p234"/>
          <p:cNvSpPr/>
          <p:nvPr/>
        </p:nvSpPr>
        <p:spPr>
          <a:xfrm>
            <a:off x="3290150" y="268190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4" name="Google Shape;3324;p234"/>
          <p:cNvSpPr/>
          <p:nvPr/>
        </p:nvSpPr>
        <p:spPr>
          <a:xfrm>
            <a:off x="3872675" y="223215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5" name="Google Shape;3325;p234"/>
          <p:cNvSpPr/>
          <p:nvPr/>
        </p:nvSpPr>
        <p:spPr>
          <a:xfrm>
            <a:off x="4550275" y="223215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6" name="Google Shape;3326;p234"/>
          <p:cNvSpPr/>
          <p:nvPr/>
        </p:nvSpPr>
        <p:spPr>
          <a:xfrm>
            <a:off x="5227875" y="2232150"/>
            <a:ext cx="96600" cy="966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0" name="Shape 3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" name="Google Shape;3331;p2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2" name="Google Shape;3332;p235"/>
          <p:cNvSpPr txBox="1"/>
          <p:nvPr>
            <p:ph idx="1" type="body"/>
          </p:nvPr>
        </p:nvSpPr>
        <p:spPr>
          <a:xfrm>
            <a:off x="311700" y="1152475"/>
            <a:ext cx="8684100" cy="21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with smaller data sets the ROC curves are not as smooth.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33" name="Google Shape;3333;p2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4" name="Google Shape;3334;p2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5" name="Google Shape;3335;p2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675" y="2412125"/>
            <a:ext cx="36766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p2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1" name="Google Shape;3341;p236"/>
          <p:cNvSpPr txBox="1"/>
          <p:nvPr>
            <p:ph idx="1" type="body"/>
          </p:nvPr>
        </p:nvSpPr>
        <p:spPr>
          <a:xfrm>
            <a:off x="311700" y="1152475"/>
            <a:ext cx="8684100" cy="21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AUC - Area Under the Curve , allows us to compare ROCs for different models.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42" name="Google Shape;3342;p2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43" name="Google Shape;3343;p2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4" name="Google Shape;3344;p2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675" y="2412125"/>
            <a:ext cx="3676650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5" name="Google Shape;3345;p236"/>
          <p:cNvSpPr/>
          <p:nvPr/>
        </p:nvSpPr>
        <p:spPr>
          <a:xfrm>
            <a:off x="4280225" y="4304350"/>
            <a:ext cx="2064600" cy="21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p2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Classification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1" name="Google Shape;3351;p237"/>
          <p:cNvSpPr txBox="1"/>
          <p:nvPr>
            <p:ph idx="1" type="body"/>
          </p:nvPr>
        </p:nvSpPr>
        <p:spPr>
          <a:xfrm>
            <a:off x="311700" y="1152475"/>
            <a:ext cx="8684100" cy="21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also create precision vs. recall curves: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2" name="Google Shape;3352;p2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53" name="Google Shape;3353;p2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4" name="Google Shape;3354;p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6525" y="2211400"/>
            <a:ext cx="37909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238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Scikit-Learn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0" name="Google Shape;3360;p2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1" name="Google Shape;3361;p2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62" name="Google Shape;3362;p238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Three: Performance Metrics</a:t>
            </a:r>
            <a:endParaRPr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239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Multi-Class Problems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8" name="Google Shape;3368;p2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9" name="Google Shape;3369;p2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0" name="Google Shape;3370;p239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Data and Model</a:t>
            </a:r>
            <a:endParaRPr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p240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Multi-Class Problems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6" name="Google Shape;3376;p2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7" name="Google Shape;3377;p2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8" name="Google Shape;3378;p240"/>
          <p:cNvSpPr txBox="1"/>
          <p:nvPr>
            <p:ph idx="1" type="subTitle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Training and Performance Evaluation </a:t>
            </a:r>
            <a:endParaRPr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2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p241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84" name="Google Shape;3384;p2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85" name="Google Shape;3385;p2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242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Logistic Regression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91" name="Google Shape;3391;p2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92" name="Google Shape;3392;p2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