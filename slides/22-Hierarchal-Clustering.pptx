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  <p:sldId id="297" r:id="rId46"/>
    <p:sldId id="298" r:id="rId47"/>
    <p:sldId id="299" r:id="rId48"/>
    <p:sldId id="300" r:id="rId49"/>
    <p:sldId id="301" r:id="rId50"/>
    <p:sldId id="302" r:id="rId51"/>
    <p:sldId id="303" r:id="rId52"/>
  </p:sldIdLst>
  <p:sldSz cy="5143500" cx="9144000"/>
  <p:notesSz cx="6858000" cy="9144000"/>
  <p:embeddedFontLst>
    <p:embeddedFont>
      <p:font typeface="Montserrat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9" Type="http://schemas.openxmlformats.org/officeDocument/2006/relationships/slide" Target="slides/slide4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9" Type="http://schemas.openxmlformats.org/officeDocument/2006/relationships/slide" Target="slides/slide25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3" Type="http://schemas.openxmlformats.org/officeDocument/2006/relationships/font" Target="fonts/Montserrat-regular.fntdata"/><Relationship Id="rId52" Type="http://schemas.openxmlformats.org/officeDocument/2006/relationships/slide" Target="slides/slide48.xml"/><Relationship Id="rId11" Type="http://schemas.openxmlformats.org/officeDocument/2006/relationships/slide" Target="slides/slide7.xml"/><Relationship Id="rId55" Type="http://schemas.openxmlformats.org/officeDocument/2006/relationships/font" Target="fonts/Montserrat-italic.fntdata"/><Relationship Id="rId10" Type="http://schemas.openxmlformats.org/officeDocument/2006/relationships/slide" Target="slides/slide6.xml"/><Relationship Id="rId54" Type="http://schemas.openxmlformats.org/officeDocument/2006/relationships/font" Target="fonts/Montserrat-bold.fntdata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56" Type="http://schemas.openxmlformats.org/officeDocument/2006/relationships/font" Target="fonts/Montserrat-boldItalic.fntdata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404b92013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404b92013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d306f8ae1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d306f8ae1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d271b997d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d271b997d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d306f8ae1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d306f8ae1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d271b997d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d271b997d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d306f8ae17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d306f8ae17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d306f8ae17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d306f8ae17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d306f8ae17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d306f8ae17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d306f8ae17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d306f8ae17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d306f8ae17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d306f8ae17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d306f8ae17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d306f8ae17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d306f8ae17_0_1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d306f8ae17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d306f8ae17_0_1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d306f8ae17_0_1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d306f8ae17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d306f8ae17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d306f8ae17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3" name="Google Shape;243;gd306f8ae17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d306f8ae17_0_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d306f8ae17_0_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d306f8ae17_0_6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d306f8ae17_0_6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d306f8ae17_0_6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d306f8ae17_0_6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d306f8ae17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d306f8ae17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d306f8ae17_0_2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d306f8ae17_0_2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d306f8ae17_0_2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d306f8ae17_0_2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d306f8ae17_0_2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2" name="Google Shape;302;gd306f8ae17_0_2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d306f8ae17_0_2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d306f8ae17_0_2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gd306f8ae17_0_2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0" name="Google Shape;320;gd306f8ae17_0_2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" name="Google Shape;327;gd306f8ae17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8" name="Google Shape;328;gd306f8ae17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d306f8ae17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d306f8ae17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d306f8ae17_0_2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d306f8ae17_0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4" name="Shape 3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Google Shape;395;gd306f8ae17_0_3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6" name="Google Shape;396;gd306f8ae17_0_3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d306f8ae17_0_3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8" name="Google Shape;428;gd306f8ae17_0_3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d306f8ae17_0_3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0" name="Google Shape;460;gd306f8ae17_0_3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gd306f8ae17_0_4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0" name="Google Shape;490;gd306f8ae17_0_4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9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gd306f8ae17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1" name="Google Shape;521;gd306f8ae17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d306f8ae17_0_4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d306f8ae17_0_4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gd306f8ae17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8" name="Google Shape;588;gd306f8ae17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gd306f8ae17_0_5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6" name="Google Shape;596;gd306f8ae17_0_5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d306f8ae17_0_5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d306f8ae17_0_5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gd306f8ae17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7" name="Google Shape;627;gd306f8ae17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9" name="Shape 6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0" name="Google Shape;650;gd306f8ae17_0_6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1" name="Google Shape;651;gd306f8ae17_0_6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3" name="Shape 6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4" name="Google Shape;674;gd306f8ae17_0_5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5" name="Google Shape;675;gd306f8ae17_0_5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gd306f8ae17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9" name="Google Shape;699;gd306f8ae17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5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gd306f8ae17_0_6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7" name="Google Shape;727;gd306f8ae17_0_6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3" name="Shape 7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4" name="Google Shape;734;gd306f8ae17_0_6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5" name="Google Shape;735;gd306f8ae17_0_6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1" name="Shape 7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2" name="Google Shape;742;gd306f8ae17_0_6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3" name="Google Shape;743;gd306f8ae17_0_6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9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0" name="Google Shape;750;gd306f8ae17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1" name="Google Shape;751;gd306f8ae17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d306f8ae17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d306f8ae17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d271b997de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d271b997de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3" name="Shape 7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4" name="Google Shape;774;gd306f8ae17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5" name="Google Shape;775;gd306f8ae17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transition spd="med">
    <p:fade/>
  </p:transition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jp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jp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jp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jpg"/><Relationship Id="rId4" Type="http://schemas.openxmlformats.org/officeDocument/2006/relationships/image" Target="../media/image3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jpg"/><Relationship Id="rId4" Type="http://schemas.openxmlformats.org/officeDocument/2006/relationships/image" Target="../media/image4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jp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jp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jp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jp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jp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1.jp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1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1.jp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1.jp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1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.jp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1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1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1.jp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1.jp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1.jp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1.jp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1.jp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1.jp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.jp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0" y="744575"/>
            <a:ext cx="8520600" cy="26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Hierarchical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Clustering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watermark.jpg" id="56" name="Google Shape;56;p1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7" name="Google Shape;57;p1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is time to explore another clustering method!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Hierarchical clustering is very common in biology and lends itself nicely to visualizing clusters.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It can also help the user decide on an appropriate number of clusters.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4" name="Google Shape;64;p1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" name="Google Shape;65;p1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Section Overview: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Theory and Intuition of Hierarchical Clustering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Coding Example of Hierarchical Clustering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Note: We’ll skip an assessment for now and revisit when we discuss DBSCAN clustering for comparison.</a:t>
            </a:r>
            <a:endParaRPr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2" name="Google Shape;72;p1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" name="Google Shape;73;p1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ctrTitle"/>
          </p:nvPr>
        </p:nvSpPr>
        <p:spPr>
          <a:xfrm>
            <a:off x="311700" y="287375"/>
            <a:ext cx="8520600" cy="26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Let’s get started!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9" name="Google Shape;79;p1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0" name="Google Shape;80;p1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ctrTitle"/>
          </p:nvPr>
        </p:nvSpPr>
        <p:spPr>
          <a:xfrm>
            <a:off x="311700" y="287375"/>
            <a:ext cx="8520600" cy="26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Hierarchical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Clustering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and Intuition</a:t>
            </a:r>
            <a:endParaRPr/>
          </a:p>
        </p:txBody>
      </p:sp>
      <p:pic>
        <p:nvPicPr>
          <p:cNvPr descr="watermark.jpg" id="87" name="Google Shape;87;p1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88" name="Google Shape;88;p1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4" name="Google Shape;94;p1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Like most clustering algorithms, Hierarchical Clustering simply relies on measuring which data points are most “similar” to other data points.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“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Similarity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” is defined by choosing a distance metric.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="1"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95" name="Google Shape;95;p1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96" name="Google Shape;96;p1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 why use Hierarchical Clustering?</a:t>
            </a:r>
            <a:endParaRPr b="1"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03" name="Google Shape;103;p1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04" name="Google Shape;104;p1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0" name="Google Shape;110;p2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 why use Hierarchical Clustering?</a:t>
            </a:r>
            <a:endParaRPr b="1"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Easy to understand and visualize.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Helps users decide how many clusters to choose.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Not necessary to choose cluster amount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before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running the algorithm.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1" name="Google Shape;111;p2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12" name="Google Shape;112;p2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8" name="Google Shape;118;p2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 why use Hierarchical Clustering?</a:t>
            </a:r>
            <a:endParaRPr b="1"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Divides points into </a:t>
            </a: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potential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clusters: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19" name="Google Shape;119;p2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0" name="Google Shape;120;p2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p2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So why use Hierarchical Clustering?</a:t>
            </a:r>
            <a:endParaRPr b="1"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Divides points into </a:t>
            </a: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potential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clusters: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Agglomerative Approach: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Each point begins as its own cluster, then clusters are joined.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Divisive Approach: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3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All points begin in the same cluster, then clusters are split.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27" name="Google Shape;127;p2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28" name="Google Shape;128;p2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4" name="Google Shape;134;p2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Divides points into </a:t>
            </a: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potential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clusters: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35" name="Google Shape;135;p2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36" name="Google Shape;136;p2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23"/>
          <p:cNvSpPr txBox="1"/>
          <p:nvPr/>
        </p:nvSpPr>
        <p:spPr>
          <a:xfrm>
            <a:off x="16222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8" name="Google Shape;138;p23"/>
          <p:cNvSpPr txBox="1"/>
          <p:nvPr/>
        </p:nvSpPr>
        <p:spPr>
          <a:xfrm>
            <a:off x="2612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39" name="Google Shape;139;p23"/>
          <p:cNvSpPr txBox="1"/>
          <p:nvPr/>
        </p:nvSpPr>
        <p:spPr>
          <a:xfrm>
            <a:off x="3755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0" name="Google Shape;140;p23"/>
          <p:cNvSpPr txBox="1"/>
          <p:nvPr/>
        </p:nvSpPr>
        <p:spPr>
          <a:xfrm>
            <a:off x="4898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N4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1" name="Google Shape;141;p23"/>
          <p:cNvSpPr txBox="1"/>
          <p:nvPr/>
        </p:nvSpPr>
        <p:spPr>
          <a:xfrm>
            <a:off x="59656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N5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p23"/>
          <p:cNvSpPr txBox="1"/>
          <p:nvPr/>
        </p:nvSpPr>
        <p:spPr>
          <a:xfrm>
            <a:off x="71086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N6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2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Agglomerative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49" name="Google Shape;149;p2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50" name="Google Shape;150;p2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4"/>
          <p:cNvSpPr txBox="1"/>
          <p:nvPr/>
        </p:nvSpPr>
        <p:spPr>
          <a:xfrm>
            <a:off x="16222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24"/>
          <p:cNvSpPr txBox="1"/>
          <p:nvPr/>
        </p:nvSpPr>
        <p:spPr>
          <a:xfrm>
            <a:off x="2612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3" name="Google Shape;153;p24"/>
          <p:cNvSpPr txBox="1"/>
          <p:nvPr/>
        </p:nvSpPr>
        <p:spPr>
          <a:xfrm>
            <a:off x="3755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24"/>
          <p:cNvSpPr txBox="1"/>
          <p:nvPr/>
        </p:nvSpPr>
        <p:spPr>
          <a:xfrm>
            <a:off x="4898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N4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24"/>
          <p:cNvSpPr txBox="1"/>
          <p:nvPr/>
        </p:nvSpPr>
        <p:spPr>
          <a:xfrm>
            <a:off x="59656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N5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24"/>
          <p:cNvSpPr txBox="1"/>
          <p:nvPr/>
        </p:nvSpPr>
        <p:spPr>
          <a:xfrm>
            <a:off x="71086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N6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57" name="Google Shape;157;p24"/>
          <p:cNvCxnSpPr/>
          <p:nvPr/>
        </p:nvCxnSpPr>
        <p:spPr>
          <a:xfrm rot="10800000">
            <a:off x="21142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8" name="Google Shape;158;p24"/>
          <p:cNvCxnSpPr/>
          <p:nvPr/>
        </p:nvCxnSpPr>
        <p:spPr>
          <a:xfrm rot="10800000">
            <a:off x="31048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59" name="Google Shape;159;p24"/>
          <p:cNvCxnSpPr/>
          <p:nvPr/>
        </p:nvCxnSpPr>
        <p:spPr>
          <a:xfrm rot="10800000">
            <a:off x="42478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0" name="Google Shape;160;p24"/>
          <p:cNvCxnSpPr/>
          <p:nvPr/>
        </p:nvCxnSpPr>
        <p:spPr>
          <a:xfrm rot="10800000">
            <a:off x="53908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1" name="Google Shape;161;p24"/>
          <p:cNvCxnSpPr/>
          <p:nvPr/>
        </p:nvCxnSpPr>
        <p:spPr>
          <a:xfrm rot="10800000">
            <a:off x="64576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62" name="Google Shape;162;p24"/>
          <p:cNvCxnSpPr/>
          <p:nvPr/>
        </p:nvCxnSpPr>
        <p:spPr>
          <a:xfrm rot="10800000">
            <a:off x="76006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8" name="Google Shape;168;p2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Agglomerative: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69" name="Google Shape;169;p2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70" name="Google Shape;170;p2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5"/>
          <p:cNvSpPr txBox="1"/>
          <p:nvPr/>
        </p:nvSpPr>
        <p:spPr>
          <a:xfrm>
            <a:off x="16222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p25"/>
          <p:cNvSpPr txBox="1"/>
          <p:nvPr/>
        </p:nvSpPr>
        <p:spPr>
          <a:xfrm>
            <a:off x="2612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p25"/>
          <p:cNvSpPr txBox="1"/>
          <p:nvPr/>
        </p:nvSpPr>
        <p:spPr>
          <a:xfrm>
            <a:off x="3755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4" name="Google Shape;174;p25"/>
          <p:cNvSpPr txBox="1"/>
          <p:nvPr/>
        </p:nvSpPr>
        <p:spPr>
          <a:xfrm>
            <a:off x="4898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N4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25"/>
          <p:cNvSpPr txBox="1"/>
          <p:nvPr/>
        </p:nvSpPr>
        <p:spPr>
          <a:xfrm>
            <a:off x="59656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N5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p25"/>
          <p:cNvSpPr txBox="1"/>
          <p:nvPr/>
        </p:nvSpPr>
        <p:spPr>
          <a:xfrm>
            <a:off x="71086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N6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177" name="Google Shape;177;p25"/>
          <p:cNvCxnSpPr/>
          <p:nvPr/>
        </p:nvCxnSpPr>
        <p:spPr>
          <a:xfrm rot="10800000">
            <a:off x="21142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8" name="Google Shape;178;p25"/>
          <p:cNvCxnSpPr/>
          <p:nvPr/>
        </p:nvCxnSpPr>
        <p:spPr>
          <a:xfrm rot="10800000">
            <a:off x="31048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79" name="Google Shape;179;p25"/>
          <p:cNvCxnSpPr/>
          <p:nvPr/>
        </p:nvCxnSpPr>
        <p:spPr>
          <a:xfrm rot="10800000">
            <a:off x="42478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0" name="Google Shape;180;p25"/>
          <p:cNvCxnSpPr/>
          <p:nvPr/>
        </p:nvCxnSpPr>
        <p:spPr>
          <a:xfrm rot="10800000">
            <a:off x="53908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1" name="Google Shape;181;p25"/>
          <p:cNvCxnSpPr/>
          <p:nvPr/>
        </p:nvCxnSpPr>
        <p:spPr>
          <a:xfrm rot="10800000">
            <a:off x="64576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2" name="Google Shape;182;p25"/>
          <p:cNvCxnSpPr/>
          <p:nvPr/>
        </p:nvCxnSpPr>
        <p:spPr>
          <a:xfrm rot="10800000">
            <a:off x="76006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3" name="Google Shape;183;p25"/>
          <p:cNvCxnSpPr/>
          <p:nvPr/>
        </p:nvCxnSpPr>
        <p:spPr>
          <a:xfrm rot="10800000">
            <a:off x="2114300" y="3765900"/>
            <a:ext cx="991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4" name="Google Shape;184;p25"/>
          <p:cNvCxnSpPr/>
          <p:nvPr/>
        </p:nvCxnSpPr>
        <p:spPr>
          <a:xfrm rot="10800000">
            <a:off x="4259325" y="3779900"/>
            <a:ext cx="1137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85" name="Google Shape;185;p25"/>
          <p:cNvCxnSpPr/>
          <p:nvPr/>
        </p:nvCxnSpPr>
        <p:spPr>
          <a:xfrm rot="10800000">
            <a:off x="6457650" y="3770850"/>
            <a:ext cx="1137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2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Agglomerative: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192" name="Google Shape;192;p2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193" name="Google Shape;193;p2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6"/>
          <p:cNvSpPr txBox="1"/>
          <p:nvPr/>
        </p:nvSpPr>
        <p:spPr>
          <a:xfrm>
            <a:off x="16222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5" name="Google Shape;195;p26"/>
          <p:cNvSpPr txBox="1"/>
          <p:nvPr/>
        </p:nvSpPr>
        <p:spPr>
          <a:xfrm>
            <a:off x="2612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6" name="Google Shape;196;p26"/>
          <p:cNvSpPr txBox="1"/>
          <p:nvPr/>
        </p:nvSpPr>
        <p:spPr>
          <a:xfrm>
            <a:off x="3755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26"/>
          <p:cNvSpPr txBox="1"/>
          <p:nvPr/>
        </p:nvSpPr>
        <p:spPr>
          <a:xfrm>
            <a:off x="4898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N4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8" name="Google Shape;198;p26"/>
          <p:cNvSpPr txBox="1"/>
          <p:nvPr/>
        </p:nvSpPr>
        <p:spPr>
          <a:xfrm>
            <a:off x="59656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N5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9" name="Google Shape;199;p26"/>
          <p:cNvSpPr txBox="1"/>
          <p:nvPr/>
        </p:nvSpPr>
        <p:spPr>
          <a:xfrm>
            <a:off x="71086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N6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00" name="Google Shape;200;p26"/>
          <p:cNvCxnSpPr/>
          <p:nvPr/>
        </p:nvCxnSpPr>
        <p:spPr>
          <a:xfrm rot="10800000">
            <a:off x="21142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1" name="Google Shape;201;p26"/>
          <p:cNvCxnSpPr/>
          <p:nvPr/>
        </p:nvCxnSpPr>
        <p:spPr>
          <a:xfrm rot="10800000">
            <a:off x="31048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2" name="Google Shape;202;p26"/>
          <p:cNvCxnSpPr/>
          <p:nvPr/>
        </p:nvCxnSpPr>
        <p:spPr>
          <a:xfrm rot="10800000">
            <a:off x="42478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3" name="Google Shape;203;p26"/>
          <p:cNvCxnSpPr/>
          <p:nvPr/>
        </p:nvCxnSpPr>
        <p:spPr>
          <a:xfrm rot="10800000">
            <a:off x="53908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4" name="Google Shape;204;p26"/>
          <p:cNvCxnSpPr/>
          <p:nvPr/>
        </p:nvCxnSpPr>
        <p:spPr>
          <a:xfrm rot="10800000">
            <a:off x="64576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5" name="Google Shape;205;p26"/>
          <p:cNvCxnSpPr/>
          <p:nvPr/>
        </p:nvCxnSpPr>
        <p:spPr>
          <a:xfrm rot="10800000">
            <a:off x="76006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6" name="Google Shape;206;p26"/>
          <p:cNvCxnSpPr/>
          <p:nvPr/>
        </p:nvCxnSpPr>
        <p:spPr>
          <a:xfrm rot="10800000">
            <a:off x="2114300" y="3765900"/>
            <a:ext cx="991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7" name="Google Shape;207;p26"/>
          <p:cNvCxnSpPr/>
          <p:nvPr/>
        </p:nvCxnSpPr>
        <p:spPr>
          <a:xfrm rot="10800000">
            <a:off x="4259325" y="3779900"/>
            <a:ext cx="1137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8" name="Google Shape;208;p26"/>
          <p:cNvCxnSpPr/>
          <p:nvPr/>
        </p:nvCxnSpPr>
        <p:spPr>
          <a:xfrm rot="10800000">
            <a:off x="6457650" y="3770850"/>
            <a:ext cx="1137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09" name="Google Shape;209;p26"/>
          <p:cNvCxnSpPr/>
          <p:nvPr/>
        </p:nvCxnSpPr>
        <p:spPr>
          <a:xfrm rot="10800000">
            <a:off x="2610200" y="32215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26"/>
          <p:cNvCxnSpPr/>
          <p:nvPr/>
        </p:nvCxnSpPr>
        <p:spPr>
          <a:xfrm rot="10800000">
            <a:off x="4828275" y="32215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1" name="Google Shape;211;p26"/>
          <p:cNvCxnSpPr/>
          <p:nvPr/>
        </p:nvCxnSpPr>
        <p:spPr>
          <a:xfrm>
            <a:off x="2606250" y="3235475"/>
            <a:ext cx="221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2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Agglomerative: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18" name="Google Shape;218;p2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19" name="Google Shape;219;p2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27"/>
          <p:cNvSpPr txBox="1"/>
          <p:nvPr/>
        </p:nvSpPr>
        <p:spPr>
          <a:xfrm>
            <a:off x="16222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27"/>
          <p:cNvSpPr txBox="1"/>
          <p:nvPr/>
        </p:nvSpPr>
        <p:spPr>
          <a:xfrm>
            <a:off x="2612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27"/>
          <p:cNvSpPr txBox="1"/>
          <p:nvPr/>
        </p:nvSpPr>
        <p:spPr>
          <a:xfrm>
            <a:off x="3755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27"/>
          <p:cNvSpPr txBox="1"/>
          <p:nvPr/>
        </p:nvSpPr>
        <p:spPr>
          <a:xfrm>
            <a:off x="4898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N4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4" name="Google Shape;224;p27"/>
          <p:cNvSpPr txBox="1"/>
          <p:nvPr/>
        </p:nvSpPr>
        <p:spPr>
          <a:xfrm>
            <a:off x="59656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N5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p27"/>
          <p:cNvSpPr txBox="1"/>
          <p:nvPr/>
        </p:nvSpPr>
        <p:spPr>
          <a:xfrm>
            <a:off x="71086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N6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226" name="Google Shape;226;p27"/>
          <p:cNvCxnSpPr/>
          <p:nvPr/>
        </p:nvCxnSpPr>
        <p:spPr>
          <a:xfrm rot="10800000">
            <a:off x="21142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7" name="Google Shape;227;p27"/>
          <p:cNvCxnSpPr/>
          <p:nvPr/>
        </p:nvCxnSpPr>
        <p:spPr>
          <a:xfrm rot="10800000">
            <a:off x="31048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8" name="Google Shape;228;p27"/>
          <p:cNvCxnSpPr/>
          <p:nvPr/>
        </p:nvCxnSpPr>
        <p:spPr>
          <a:xfrm rot="10800000">
            <a:off x="42478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29" name="Google Shape;229;p27"/>
          <p:cNvCxnSpPr/>
          <p:nvPr/>
        </p:nvCxnSpPr>
        <p:spPr>
          <a:xfrm rot="10800000">
            <a:off x="53908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27"/>
          <p:cNvCxnSpPr/>
          <p:nvPr/>
        </p:nvCxnSpPr>
        <p:spPr>
          <a:xfrm rot="10800000">
            <a:off x="64576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1" name="Google Shape;231;p27"/>
          <p:cNvCxnSpPr/>
          <p:nvPr/>
        </p:nvCxnSpPr>
        <p:spPr>
          <a:xfrm rot="10800000">
            <a:off x="76006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2" name="Google Shape;232;p27"/>
          <p:cNvCxnSpPr/>
          <p:nvPr/>
        </p:nvCxnSpPr>
        <p:spPr>
          <a:xfrm rot="10800000">
            <a:off x="2114300" y="3765900"/>
            <a:ext cx="991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3" name="Google Shape;233;p27"/>
          <p:cNvCxnSpPr/>
          <p:nvPr/>
        </p:nvCxnSpPr>
        <p:spPr>
          <a:xfrm rot="10800000">
            <a:off x="4259325" y="3779900"/>
            <a:ext cx="1137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4" name="Google Shape;234;p27"/>
          <p:cNvCxnSpPr/>
          <p:nvPr/>
        </p:nvCxnSpPr>
        <p:spPr>
          <a:xfrm rot="10800000">
            <a:off x="6457650" y="3770850"/>
            <a:ext cx="1137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5" name="Google Shape;235;p27"/>
          <p:cNvCxnSpPr/>
          <p:nvPr/>
        </p:nvCxnSpPr>
        <p:spPr>
          <a:xfrm rot="10800000">
            <a:off x="2610200" y="32215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6" name="Google Shape;236;p27"/>
          <p:cNvCxnSpPr/>
          <p:nvPr/>
        </p:nvCxnSpPr>
        <p:spPr>
          <a:xfrm rot="10800000">
            <a:off x="4828275" y="32215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27"/>
          <p:cNvCxnSpPr/>
          <p:nvPr/>
        </p:nvCxnSpPr>
        <p:spPr>
          <a:xfrm>
            <a:off x="2606250" y="3235475"/>
            <a:ext cx="221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8" name="Google Shape;238;p27"/>
          <p:cNvCxnSpPr/>
          <p:nvPr/>
        </p:nvCxnSpPr>
        <p:spPr>
          <a:xfrm rot="10800000">
            <a:off x="3596850" y="2268125"/>
            <a:ext cx="0" cy="95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9" name="Google Shape;239;p27"/>
          <p:cNvCxnSpPr/>
          <p:nvPr/>
        </p:nvCxnSpPr>
        <p:spPr>
          <a:xfrm rot="10800000">
            <a:off x="7026600" y="2268000"/>
            <a:ext cx="0" cy="1497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40" name="Google Shape;240;p27"/>
          <p:cNvCxnSpPr/>
          <p:nvPr/>
        </p:nvCxnSpPr>
        <p:spPr>
          <a:xfrm rot="10800000">
            <a:off x="3596850" y="2257625"/>
            <a:ext cx="3422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6" name="Google Shape;246;p2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Opposite of the Agglomerative approach is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Divisive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approach, which starts with all points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belonging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to the same cluster, and the begins divisions to separate out clusters.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47" name="Google Shape;247;p2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48" name="Google Shape;248;p2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54" name="Google Shape;254;p2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Hierarchical Clustering Process</a:t>
            </a:r>
            <a:endParaRPr b="1"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Compare data points to find most similar data points to each other.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Merge these to create a cluster.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Compare clusters to find most similar clusters and merge again.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Repeat until all points in a single cluster.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55" name="Google Shape;255;p2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56" name="Google Shape;256;p2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3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Hierarchical Clustering Process</a:t>
            </a:r>
            <a:endParaRPr b="1"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63" name="Google Shape;263;p3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64" name="Google Shape;264;p3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65" name="Google Shape;265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87025" y="1763850"/>
            <a:ext cx="5133450" cy="303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3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b="1" i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Hierarchical Clustering Process</a:t>
            </a:r>
            <a:endParaRPr b="1" i="1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72" name="Google Shape;272;p3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73" name="Google Shape;273;p3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31"/>
          <p:cNvPicPr preferRelativeResize="0"/>
          <p:nvPr/>
        </p:nvPicPr>
        <p:blipFill rotWithShape="1">
          <a:blip r:embed="rId4">
            <a:alphaModFix/>
          </a:blip>
          <a:srcRect b="0" l="0" r="0" t="20477"/>
          <a:stretch/>
        </p:blipFill>
        <p:spPr>
          <a:xfrm>
            <a:off x="2597312" y="1760650"/>
            <a:ext cx="4112875" cy="32752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0" name="Google Shape;280;p3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There are a few key topics we still need to understand for Hierarchical Clustering: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Similarity Metric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Dendrogram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Linkage Matrix 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1" name="Google Shape;281;p3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82" name="Google Shape;282;p3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8" name="Google Shape;288;p3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Similarity Metric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Measures distance between two points.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Many options: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Euclidean Distance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Manhattan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Cosine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and many more...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89" name="Google Shape;289;p3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0" name="Google Shape;290;p3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p3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Similarity Metric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Default choice is Euclidean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297" name="Google Shape;297;p3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298" name="Google Shape;298;p3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2550" y="2223800"/>
            <a:ext cx="3836500" cy="264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3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3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Similarity Metric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Default choice is Euclidean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06" name="Google Shape;306;p3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07" name="Google Shape;307;p3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52550" y="2223800"/>
            <a:ext cx="3836500" cy="2642925"/>
          </a:xfrm>
          <a:prstGeom prst="rect">
            <a:avLst/>
          </a:prstGeom>
          <a:noFill/>
          <a:ln>
            <a:noFill/>
          </a:ln>
        </p:spPr>
      </p:pic>
      <p:sp>
        <p:nvSpPr>
          <p:cNvPr id="309" name="Google Shape;309;p35"/>
          <p:cNvSpPr/>
          <p:nvPr/>
        </p:nvSpPr>
        <p:spPr>
          <a:xfrm>
            <a:off x="2952325" y="2221925"/>
            <a:ext cx="3336900" cy="4689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5" name="Google Shape;315;p3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Similarity Metric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Each dimension would be a feature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data points and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features: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baseline="30000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= (x</a:t>
            </a:r>
            <a:r>
              <a:rPr baseline="-25000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11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- x</a:t>
            </a:r>
            <a:r>
              <a:rPr baseline="-25000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r>
              <a:rPr baseline="30000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+ … + (x</a:t>
            </a:r>
            <a:r>
              <a:rPr baseline="-25000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n-1p-1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- x</a:t>
            </a:r>
            <a:r>
              <a:rPr baseline="-25000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np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r>
              <a:rPr baseline="30000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30000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baseline="30000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16" name="Google Shape;316;p3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17" name="Google Shape;317;p3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3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3" name="Google Shape;323;p3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Similarity Metric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Each dimension would be a feature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For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data points and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features: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2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■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</a:t>
            </a:r>
            <a:r>
              <a:rPr baseline="30000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= (x</a:t>
            </a:r>
            <a:r>
              <a:rPr baseline="-25000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11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- x</a:t>
            </a:r>
            <a:r>
              <a:rPr baseline="-25000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12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r>
              <a:rPr baseline="30000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+ … + (x</a:t>
            </a:r>
            <a:r>
              <a:rPr baseline="-25000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n-1p-1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- x</a:t>
            </a:r>
            <a:r>
              <a:rPr baseline="-25000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np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)</a:t>
            </a:r>
            <a:r>
              <a:rPr baseline="30000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aseline="30000"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Using MinMaxScaler we can scale all features to be between 0 and 1.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This allows for maximum distance between a feature to be 1.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24" name="Google Shape;324;p3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25" name="Google Shape;325;p3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3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38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Dendrogram: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Plot displaying all potential clusters.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Very computationally expensive to compute and display for larger data sets.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Very useful for deciding on number of clusters.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32" name="Google Shape;332;p3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33" name="Google Shape;333;p3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p39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Dendrogram: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40" name="Google Shape;340;p3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41" name="Google Shape;341;p3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9"/>
          <p:cNvSpPr txBox="1"/>
          <p:nvPr/>
        </p:nvSpPr>
        <p:spPr>
          <a:xfrm>
            <a:off x="16222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39"/>
          <p:cNvSpPr txBox="1"/>
          <p:nvPr/>
        </p:nvSpPr>
        <p:spPr>
          <a:xfrm>
            <a:off x="2612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4" name="Google Shape;344;p39"/>
          <p:cNvSpPr txBox="1"/>
          <p:nvPr/>
        </p:nvSpPr>
        <p:spPr>
          <a:xfrm>
            <a:off x="3755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5" name="Google Shape;345;p39"/>
          <p:cNvSpPr txBox="1"/>
          <p:nvPr/>
        </p:nvSpPr>
        <p:spPr>
          <a:xfrm>
            <a:off x="4898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N4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6" name="Google Shape;346;p39"/>
          <p:cNvSpPr txBox="1"/>
          <p:nvPr/>
        </p:nvSpPr>
        <p:spPr>
          <a:xfrm>
            <a:off x="59656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N5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39"/>
          <p:cNvSpPr txBox="1"/>
          <p:nvPr/>
        </p:nvSpPr>
        <p:spPr>
          <a:xfrm>
            <a:off x="71086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N6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48" name="Google Shape;348;p39"/>
          <p:cNvCxnSpPr/>
          <p:nvPr/>
        </p:nvCxnSpPr>
        <p:spPr>
          <a:xfrm rot="10800000">
            <a:off x="21142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49" name="Google Shape;349;p39"/>
          <p:cNvCxnSpPr/>
          <p:nvPr/>
        </p:nvCxnSpPr>
        <p:spPr>
          <a:xfrm rot="10800000">
            <a:off x="31048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0" name="Google Shape;350;p39"/>
          <p:cNvCxnSpPr/>
          <p:nvPr/>
        </p:nvCxnSpPr>
        <p:spPr>
          <a:xfrm rot="10800000">
            <a:off x="4247850" y="4074725"/>
            <a:ext cx="0" cy="25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1" name="Google Shape;351;p39"/>
          <p:cNvCxnSpPr/>
          <p:nvPr/>
        </p:nvCxnSpPr>
        <p:spPr>
          <a:xfrm rot="10800000">
            <a:off x="5390850" y="4067225"/>
            <a:ext cx="0" cy="26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2" name="Google Shape;352;p39"/>
          <p:cNvCxnSpPr/>
          <p:nvPr/>
        </p:nvCxnSpPr>
        <p:spPr>
          <a:xfrm rot="10800000">
            <a:off x="64576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3" name="Google Shape;353;p39"/>
          <p:cNvCxnSpPr/>
          <p:nvPr/>
        </p:nvCxnSpPr>
        <p:spPr>
          <a:xfrm rot="10800000">
            <a:off x="76006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4" name="Google Shape;354;p39"/>
          <p:cNvCxnSpPr/>
          <p:nvPr/>
        </p:nvCxnSpPr>
        <p:spPr>
          <a:xfrm rot="10800000">
            <a:off x="2114300" y="3765900"/>
            <a:ext cx="991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5" name="Google Shape;355;p39"/>
          <p:cNvCxnSpPr/>
          <p:nvPr/>
        </p:nvCxnSpPr>
        <p:spPr>
          <a:xfrm rot="10800000">
            <a:off x="4259325" y="4064350"/>
            <a:ext cx="1137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6" name="Google Shape;356;p39"/>
          <p:cNvCxnSpPr/>
          <p:nvPr/>
        </p:nvCxnSpPr>
        <p:spPr>
          <a:xfrm rot="10800000">
            <a:off x="6457650" y="3770850"/>
            <a:ext cx="1137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7" name="Google Shape;357;p39"/>
          <p:cNvCxnSpPr/>
          <p:nvPr/>
        </p:nvCxnSpPr>
        <p:spPr>
          <a:xfrm rot="10800000">
            <a:off x="2610200" y="32215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8" name="Google Shape;358;p39"/>
          <p:cNvCxnSpPr/>
          <p:nvPr/>
        </p:nvCxnSpPr>
        <p:spPr>
          <a:xfrm rot="10800000">
            <a:off x="4828275" y="3221425"/>
            <a:ext cx="0" cy="84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59" name="Google Shape;359;p39"/>
          <p:cNvCxnSpPr/>
          <p:nvPr/>
        </p:nvCxnSpPr>
        <p:spPr>
          <a:xfrm>
            <a:off x="2606250" y="3235475"/>
            <a:ext cx="221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0" name="Google Shape;360;p39"/>
          <p:cNvCxnSpPr/>
          <p:nvPr/>
        </p:nvCxnSpPr>
        <p:spPr>
          <a:xfrm rot="10800000">
            <a:off x="3596850" y="2268125"/>
            <a:ext cx="0" cy="95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1" name="Google Shape;361;p39"/>
          <p:cNvCxnSpPr/>
          <p:nvPr/>
        </p:nvCxnSpPr>
        <p:spPr>
          <a:xfrm rot="10800000">
            <a:off x="7026600" y="2268000"/>
            <a:ext cx="0" cy="1497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2" name="Google Shape;362;p39"/>
          <p:cNvCxnSpPr/>
          <p:nvPr/>
        </p:nvCxnSpPr>
        <p:spPr>
          <a:xfrm rot="10800000">
            <a:off x="3596850" y="2257625"/>
            <a:ext cx="3422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8" name="Google Shape;368;p40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Dendrogram: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369" name="Google Shape;369;p4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370" name="Google Shape;370;p4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371" name="Google Shape;371;p40"/>
          <p:cNvSpPr txBox="1"/>
          <p:nvPr/>
        </p:nvSpPr>
        <p:spPr>
          <a:xfrm>
            <a:off x="16222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2" name="Google Shape;372;p40"/>
          <p:cNvSpPr txBox="1"/>
          <p:nvPr/>
        </p:nvSpPr>
        <p:spPr>
          <a:xfrm>
            <a:off x="2612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3" name="Google Shape;373;p40"/>
          <p:cNvSpPr txBox="1"/>
          <p:nvPr/>
        </p:nvSpPr>
        <p:spPr>
          <a:xfrm>
            <a:off x="3755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4" name="Google Shape;374;p40"/>
          <p:cNvSpPr txBox="1"/>
          <p:nvPr/>
        </p:nvSpPr>
        <p:spPr>
          <a:xfrm>
            <a:off x="4898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N4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5" name="Google Shape;375;p40"/>
          <p:cNvSpPr txBox="1"/>
          <p:nvPr/>
        </p:nvSpPr>
        <p:spPr>
          <a:xfrm>
            <a:off x="59656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N5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6" name="Google Shape;376;p40"/>
          <p:cNvSpPr txBox="1"/>
          <p:nvPr/>
        </p:nvSpPr>
        <p:spPr>
          <a:xfrm>
            <a:off x="71086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N6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77" name="Google Shape;377;p40"/>
          <p:cNvCxnSpPr/>
          <p:nvPr/>
        </p:nvCxnSpPr>
        <p:spPr>
          <a:xfrm rot="10800000">
            <a:off x="21142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8" name="Google Shape;378;p40"/>
          <p:cNvCxnSpPr/>
          <p:nvPr/>
        </p:nvCxnSpPr>
        <p:spPr>
          <a:xfrm rot="10800000">
            <a:off x="31048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9" name="Google Shape;379;p40"/>
          <p:cNvCxnSpPr/>
          <p:nvPr/>
        </p:nvCxnSpPr>
        <p:spPr>
          <a:xfrm rot="10800000">
            <a:off x="4247850" y="4074725"/>
            <a:ext cx="0" cy="25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0" name="Google Shape;380;p40"/>
          <p:cNvCxnSpPr/>
          <p:nvPr/>
        </p:nvCxnSpPr>
        <p:spPr>
          <a:xfrm rot="10800000">
            <a:off x="5390850" y="4067225"/>
            <a:ext cx="0" cy="26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1" name="Google Shape;381;p40"/>
          <p:cNvCxnSpPr/>
          <p:nvPr/>
        </p:nvCxnSpPr>
        <p:spPr>
          <a:xfrm rot="10800000">
            <a:off x="64576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2" name="Google Shape;382;p40"/>
          <p:cNvCxnSpPr/>
          <p:nvPr/>
        </p:nvCxnSpPr>
        <p:spPr>
          <a:xfrm rot="10800000">
            <a:off x="76006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3" name="Google Shape;383;p40"/>
          <p:cNvCxnSpPr/>
          <p:nvPr/>
        </p:nvCxnSpPr>
        <p:spPr>
          <a:xfrm rot="10800000">
            <a:off x="2114300" y="3765900"/>
            <a:ext cx="991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4" name="Google Shape;384;p40"/>
          <p:cNvCxnSpPr/>
          <p:nvPr/>
        </p:nvCxnSpPr>
        <p:spPr>
          <a:xfrm rot="10800000">
            <a:off x="4259325" y="4064350"/>
            <a:ext cx="1137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5" name="Google Shape;385;p40"/>
          <p:cNvCxnSpPr/>
          <p:nvPr/>
        </p:nvCxnSpPr>
        <p:spPr>
          <a:xfrm rot="10800000">
            <a:off x="6457650" y="3770850"/>
            <a:ext cx="1137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6" name="Google Shape;386;p40"/>
          <p:cNvCxnSpPr/>
          <p:nvPr/>
        </p:nvCxnSpPr>
        <p:spPr>
          <a:xfrm rot="10800000">
            <a:off x="2610200" y="32215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7" name="Google Shape;387;p40"/>
          <p:cNvCxnSpPr/>
          <p:nvPr/>
        </p:nvCxnSpPr>
        <p:spPr>
          <a:xfrm rot="10800000">
            <a:off x="4828275" y="3221425"/>
            <a:ext cx="0" cy="84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8" name="Google Shape;388;p40"/>
          <p:cNvCxnSpPr/>
          <p:nvPr/>
        </p:nvCxnSpPr>
        <p:spPr>
          <a:xfrm>
            <a:off x="2606250" y="3235475"/>
            <a:ext cx="221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89" name="Google Shape;389;p40"/>
          <p:cNvCxnSpPr/>
          <p:nvPr/>
        </p:nvCxnSpPr>
        <p:spPr>
          <a:xfrm rot="10800000">
            <a:off x="3596850" y="2268125"/>
            <a:ext cx="0" cy="95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0" name="Google Shape;390;p40"/>
          <p:cNvCxnSpPr/>
          <p:nvPr/>
        </p:nvCxnSpPr>
        <p:spPr>
          <a:xfrm rot="10800000">
            <a:off x="7026600" y="2268000"/>
            <a:ext cx="0" cy="1497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1" name="Google Shape;391;p40"/>
          <p:cNvCxnSpPr/>
          <p:nvPr/>
        </p:nvCxnSpPr>
        <p:spPr>
          <a:xfrm rot="10800000">
            <a:off x="3596850" y="2257625"/>
            <a:ext cx="3422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2" name="Google Shape;392;p40"/>
          <p:cNvCxnSpPr/>
          <p:nvPr/>
        </p:nvCxnSpPr>
        <p:spPr>
          <a:xfrm rot="10800000">
            <a:off x="1222450" y="2129825"/>
            <a:ext cx="0" cy="246780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393" name="Google Shape;393;p40"/>
          <p:cNvSpPr txBox="1"/>
          <p:nvPr/>
        </p:nvSpPr>
        <p:spPr>
          <a:xfrm>
            <a:off x="146075" y="3021525"/>
            <a:ext cx="9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Distance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4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99" name="Google Shape;399;p41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Dendrogram: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00" name="Google Shape;400;p4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01" name="Google Shape;401;p4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41"/>
          <p:cNvSpPr txBox="1"/>
          <p:nvPr/>
        </p:nvSpPr>
        <p:spPr>
          <a:xfrm>
            <a:off x="16222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3" name="Google Shape;403;p41"/>
          <p:cNvSpPr txBox="1"/>
          <p:nvPr/>
        </p:nvSpPr>
        <p:spPr>
          <a:xfrm>
            <a:off x="2612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4" name="Google Shape;404;p41"/>
          <p:cNvSpPr txBox="1"/>
          <p:nvPr/>
        </p:nvSpPr>
        <p:spPr>
          <a:xfrm>
            <a:off x="3755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5" name="Google Shape;405;p41"/>
          <p:cNvSpPr txBox="1"/>
          <p:nvPr/>
        </p:nvSpPr>
        <p:spPr>
          <a:xfrm>
            <a:off x="4898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N4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6" name="Google Shape;406;p41"/>
          <p:cNvSpPr txBox="1"/>
          <p:nvPr/>
        </p:nvSpPr>
        <p:spPr>
          <a:xfrm>
            <a:off x="59656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N5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07" name="Google Shape;407;p41"/>
          <p:cNvSpPr txBox="1"/>
          <p:nvPr/>
        </p:nvSpPr>
        <p:spPr>
          <a:xfrm>
            <a:off x="71086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N6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08" name="Google Shape;408;p41"/>
          <p:cNvCxnSpPr/>
          <p:nvPr/>
        </p:nvCxnSpPr>
        <p:spPr>
          <a:xfrm rot="10800000">
            <a:off x="21142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9" name="Google Shape;409;p41"/>
          <p:cNvCxnSpPr/>
          <p:nvPr/>
        </p:nvCxnSpPr>
        <p:spPr>
          <a:xfrm rot="10800000">
            <a:off x="31048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41"/>
          <p:cNvCxnSpPr/>
          <p:nvPr/>
        </p:nvCxnSpPr>
        <p:spPr>
          <a:xfrm rot="10800000">
            <a:off x="4247850" y="4064350"/>
            <a:ext cx="0" cy="25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41"/>
          <p:cNvCxnSpPr/>
          <p:nvPr/>
        </p:nvCxnSpPr>
        <p:spPr>
          <a:xfrm rot="10800000">
            <a:off x="5397225" y="4060600"/>
            <a:ext cx="0" cy="26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2" name="Google Shape;412;p41"/>
          <p:cNvCxnSpPr/>
          <p:nvPr/>
        </p:nvCxnSpPr>
        <p:spPr>
          <a:xfrm rot="10800000">
            <a:off x="64576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3" name="Google Shape;413;p41"/>
          <p:cNvCxnSpPr/>
          <p:nvPr/>
        </p:nvCxnSpPr>
        <p:spPr>
          <a:xfrm rot="10800000">
            <a:off x="76006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4" name="Google Shape;414;p41"/>
          <p:cNvCxnSpPr/>
          <p:nvPr/>
        </p:nvCxnSpPr>
        <p:spPr>
          <a:xfrm rot="10800000">
            <a:off x="2114300" y="3765900"/>
            <a:ext cx="991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5" name="Google Shape;415;p41"/>
          <p:cNvCxnSpPr/>
          <p:nvPr/>
        </p:nvCxnSpPr>
        <p:spPr>
          <a:xfrm rot="10800000">
            <a:off x="4259325" y="4064350"/>
            <a:ext cx="1137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6" name="Google Shape;416;p41"/>
          <p:cNvCxnSpPr/>
          <p:nvPr/>
        </p:nvCxnSpPr>
        <p:spPr>
          <a:xfrm rot="10800000">
            <a:off x="6457650" y="3770850"/>
            <a:ext cx="1137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7" name="Google Shape;417;p41"/>
          <p:cNvCxnSpPr/>
          <p:nvPr/>
        </p:nvCxnSpPr>
        <p:spPr>
          <a:xfrm rot="10800000">
            <a:off x="2610200" y="32215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8" name="Google Shape;418;p41"/>
          <p:cNvCxnSpPr/>
          <p:nvPr/>
        </p:nvCxnSpPr>
        <p:spPr>
          <a:xfrm rot="10800000">
            <a:off x="4828275" y="3221425"/>
            <a:ext cx="0" cy="84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9" name="Google Shape;419;p41"/>
          <p:cNvCxnSpPr/>
          <p:nvPr/>
        </p:nvCxnSpPr>
        <p:spPr>
          <a:xfrm>
            <a:off x="2606250" y="3235475"/>
            <a:ext cx="221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0" name="Google Shape;420;p41"/>
          <p:cNvCxnSpPr/>
          <p:nvPr/>
        </p:nvCxnSpPr>
        <p:spPr>
          <a:xfrm rot="10800000">
            <a:off x="3596850" y="2268125"/>
            <a:ext cx="0" cy="95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1" name="Google Shape;421;p41"/>
          <p:cNvCxnSpPr/>
          <p:nvPr/>
        </p:nvCxnSpPr>
        <p:spPr>
          <a:xfrm rot="10800000">
            <a:off x="7026600" y="2268000"/>
            <a:ext cx="0" cy="1497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2" name="Google Shape;422;p41"/>
          <p:cNvCxnSpPr/>
          <p:nvPr/>
        </p:nvCxnSpPr>
        <p:spPr>
          <a:xfrm rot="10800000">
            <a:off x="3596850" y="2257625"/>
            <a:ext cx="3422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23" name="Google Shape;423;p41"/>
          <p:cNvCxnSpPr/>
          <p:nvPr/>
        </p:nvCxnSpPr>
        <p:spPr>
          <a:xfrm rot="10800000">
            <a:off x="1222450" y="2129825"/>
            <a:ext cx="0" cy="246780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24" name="Google Shape;424;p41"/>
          <p:cNvSpPr txBox="1"/>
          <p:nvPr/>
        </p:nvSpPr>
        <p:spPr>
          <a:xfrm>
            <a:off x="146075" y="3021525"/>
            <a:ext cx="9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Distance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25" name="Google Shape;425;p41"/>
          <p:cNvSpPr/>
          <p:nvPr/>
        </p:nvSpPr>
        <p:spPr>
          <a:xfrm>
            <a:off x="4013250" y="3951825"/>
            <a:ext cx="1536000" cy="7386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9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4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1" name="Google Shape;431;p42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Dendrogram: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32" name="Google Shape;432;p4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33" name="Google Shape;433;p4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34" name="Google Shape;434;p42"/>
          <p:cNvSpPr txBox="1"/>
          <p:nvPr/>
        </p:nvSpPr>
        <p:spPr>
          <a:xfrm>
            <a:off x="16222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5" name="Google Shape;435;p42"/>
          <p:cNvSpPr txBox="1"/>
          <p:nvPr/>
        </p:nvSpPr>
        <p:spPr>
          <a:xfrm>
            <a:off x="2612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6" name="Google Shape;436;p42"/>
          <p:cNvSpPr txBox="1"/>
          <p:nvPr/>
        </p:nvSpPr>
        <p:spPr>
          <a:xfrm>
            <a:off x="3755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7" name="Google Shape;437;p42"/>
          <p:cNvSpPr txBox="1"/>
          <p:nvPr/>
        </p:nvSpPr>
        <p:spPr>
          <a:xfrm>
            <a:off x="4898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N4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8" name="Google Shape;438;p42"/>
          <p:cNvSpPr txBox="1"/>
          <p:nvPr/>
        </p:nvSpPr>
        <p:spPr>
          <a:xfrm>
            <a:off x="59656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N5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39" name="Google Shape;439;p42"/>
          <p:cNvSpPr txBox="1"/>
          <p:nvPr/>
        </p:nvSpPr>
        <p:spPr>
          <a:xfrm>
            <a:off x="71086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N6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40" name="Google Shape;440;p42"/>
          <p:cNvCxnSpPr/>
          <p:nvPr/>
        </p:nvCxnSpPr>
        <p:spPr>
          <a:xfrm rot="10800000">
            <a:off x="21142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1" name="Google Shape;441;p42"/>
          <p:cNvCxnSpPr/>
          <p:nvPr/>
        </p:nvCxnSpPr>
        <p:spPr>
          <a:xfrm rot="10800000">
            <a:off x="31048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42"/>
          <p:cNvCxnSpPr/>
          <p:nvPr/>
        </p:nvCxnSpPr>
        <p:spPr>
          <a:xfrm rot="10800000">
            <a:off x="4247850" y="4064350"/>
            <a:ext cx="0" cy="25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42"/>
          <p:cNvCxnSpPr/>
          <p:nvPr/>
        </p:nvCxnSpPr>
        <p:spPr>
          <a:xfrm rot="10800000">
            <a:off x="5397225" y="4060600"/>
            <a:ext cx="0" cy="26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" name="Google Shape;444;p42"/>
          <p:cNvCxnSpPr/>
          <p:nvPr/>
        </p:nvCxnSpPr>
        <p:spPr>
          <a:xfrm rot="10800000">
            <a:off x="64576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5" name="Google Shape;445;p42"/>
          <p:cNvCxnSpPr/>
          <p:nvPr/>
        </p:nvCxnSpPr>
        <p:spPr>
          <a:xfrm rot="10800000">
            <a:off x="76006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6" name="Google Shape;446;p42"/>
          <p:cNvCxnSpPr/>
          <p:nvPr/>
        </p:nvCxnSpPr>
        <p:spPr>
          <a:xfrm rot="10800000">
            <a:off x="2114300" y="3765900"/>
            <a:ext cx="991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7" name="Google Shape;447;p42"/>
          <p:cNvCxnSpPr/>
          <p:nvPr/>
        </p:nvCxnSpPr>
        <p:spPr>
          <a:xfrm rot="10800000">
            <a:off x="4259325" y="4064350"/>
            <a:ext cx="1137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8" name="Google Shape;448;p42"/>
          <p:cNvCxnSpPr/>
          <p:nvPr/>
        </p:nvCxnSpPr>
        <p:spPr>
          <a:xfrm rot="10800000">
            <a:off x="6457650" y="3770850"/>
            <a:ext cx="1137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9" name="Google Shape;449;p42"/>
          <p:cNvCxnSpPr/>
          <p:nvPr/>
        </p:nvCxnSpPr>
        <p:spPr>
          <a:xfrm rot="10800000">
            <a:off x="2610200" y="32215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0" name="Google Shape;450;p42"/>
          <p:cNvCxnSpPr/>
          <p:nvPr/>
        </p:nvCxnSpPr>
        <p:spPr>
          <a:xfrm rot="10800000">
            <a:off x="4828275" y="3221425"/>
            <a:ext cx="0" cy="84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1" name="Google Shape;451;p42"/>
          <p:cNvCxnSpPr/>
          <p:nvPr/>
        </p:nvCxnSpPr>
        <p:spPr>
          <a:xfrm>
            <a:off x="2606250" y="3235475"/>
            <a:ext cx="221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2" name="Google Shape;452;p42"/>
          <p:cNvCxnSpPr/>
          <p:nvPr/>
        </p:nvCxnSpPr>
        <p:spPr>
          <a:xfrm rot="10800000">
            <a:off x="3596850" y="2268125"/>
            <a:ext cx="0" cy="95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3" name="Google Shape;453;p42"/>
          <p:cNvCxnSpPr/>
          <p:nvPr/>
        </p:nvCxnSpPr>
        <p:spPr>
          <a:xfrm rot="10800000">
            <a:off x="7026600" y="2268000"/>
            <a:ext cx="0" cy="1497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4" name="Google Shape;454;p42"/>
          <p:cNvCxnSpPr/>
          <p:nvPr/>
        </p:nvCxnSpPr>
        <p:spPr>
          <a:xfrm rot="10800000">
            <a:off x="3596850" y="2257625"/>
            <a:ext cx="3422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55" name="Google Shape;455;p42"/>
          <p:cNvCxnSpPr/>
          <p:nvPr/>
        </p:nvCxnSpPr>
        <p:spPr>
          <a:xfrm rot="10800000">
            <a:off x="1222450" y="2129825"/>
            <a:ext cx="0" cy="2467800"/>
          </a:xfrm>
          <a:prstGeom prst="straightConnector1">
            <a:avLst/>
          </a:prstGeom>
          <a:noFill/>
          <a:ln cap="flat" cmpd="sng" w="28575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456" name="Google Shape;456;p42"/>
          <p:cNvSpPr txBox="1"/>
          <p:nvPr/>
        </p:nvSpPr>
        <p:spPr>
          <a:xfrm>
            <a:off x="146075" y="3021525"/>
            <a:ext cx="9918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Distance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57" name="Google Shape;457;p42"/>
          <p:cNvSpPr/>
          <p:nvPr/>
        </p:nvSpPr>
        <p:spPr>
          <a:xfrm>
            <a:off x="6832650" y="2168125"/>
            <a:ext cx="340500" cy="1553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4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3" name="Google Shape;463;p43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Dendrogram: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64" name="Google Shape;464;p4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65" name="Google Shape;465;p4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66" name="Google Shape;466;p43"/>
          <p:cNvSpPr txBox="1"/>
          <p:nvPr/>
        </p:nvSpPr>
        <p:spPr>
          <a:xfrm>
            <a:off x="16222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7" name="Google Shape;467;p43"/>
          <p:cNvSpPr txBox="1"/>
          <p:nvPr/>
        </p:nvSpPr>
        <p:spPr>
          <a:xfrm>
            <a:off x="2612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8" name="Google Shape;468;p43"/>
          <p:cNvSpPr txBox="1"/>
          <p:nvPr/>
        </p:nvSpPr>
        <p:spPr>
          <a:xfrm>
            <a:off x="3755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69" name="Google Shape;469;p43"/>
          <p:cNvSpPr txBox="1"/>
          <p:nvPr/>
        </p:nvSpPr>
        <p:spPr>
          <a:xfrm>
            <a:off x="4898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N4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0" name="Google Shape;470;p43"/>
          <p:cNvSpPr txBox="1"/>
          <p:nvPr/>
        </p:nvSpPr>
        <p:spPr>
          <a:xfrm>
            <a:off x="59656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N5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71" name="Google Shape;471;p43"/>
          <p:cNvSpPr txBox="1"/>
          <p:nvPr/>
        </p:nvSpPr>
        <p:spPr>
          <a:xfrm>
            <a:off x="71086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N6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472" name="Google Shape;472;p43"/>
          <p:cNvCxnSpPr/>
          <p:nvPr/>
        </p:nvCxnSpPr>
        <p:spPr>
          <a:xfrm rot="10800000">
            <a:off x="21142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3" name="Google Shape;473;p43"/>
          <p:cNvCxnSpPr/>
          <p:nvPr/>
        </p:nvCxnSpPr>
        <p:spPr>
          <a:xfrm rot="10800000">
            <a:off x="31048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4" name="Google Shape;474;p43"/>
          <p:cNvCxnSpPr/>
          <p:nvPr/>
        </p:nvCxnSpPr>
        <p:spPr>
          <a:xfrm rot="10800000">
            <a:off x="4247850" y="4064350"/>
            <a:ext cx="0" cy="25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5" name="Google Shape;475;p43"/>
          <p:cNvCxnSpPr/>
          <p:nvPr/>
        </p:nvCxnSpPr>
        <p:spPr>
          <a:xfrm rot="10800000">
            <a:off x="5397225" y="4060600"/>
            <a:ext cx="0" cy="26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6" name="Google Shape;476;p43"/>
          <p:cNvCxnSpPr/>
          <p:nvPr/>
        </p:nvCxnSpPr>
        <p:spPr>
          <a:xfrm rot="10800000">
            <a:off x="64576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7" name="Google Shape;477;p43"/>
          <p:cNvCxnSpPr/>
          <p:nvPr/>
        </p:nvCxnSpPr>
        <p:spPr>
          <a:xfrm rot="10800000">
            <a:off x="76006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8" name="Google Shape;478;p43"/>
          <p:cNvCxnSpPr/>
          <p:nvPr/>
        </p:nvCxnSpPr>
        <p:spPr>
          <a:xfrm rot="10800000">
            <a:off x="2114300" y="3765900"/>
            <a:ext cx="991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79" name="Google Shape;479;p43"/>
          <p:cNvCxnSpPr/>
          <p:nvPr/>
        </p:nvCxnSpPr>
        <p:spPr>
          <a:xfrm rot="10800000">
            <a:off x="4259325" y="4064350"/>
            <a:ext cx="1137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0" name="Google Shape;480;p43"/>
          <p:cNvCxnSpPr/>
          <p:nvPr/>
        </p:nvCxnSpPr>
        <p:spPr>
          <a:xfrm rot="10800000">
            <a:off x="6457650" y="3770850"/>
            <a:ext cx="1137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1" name="Google Shape;481;p43"/>
          <p:cNvCxnSpPr/>
          <p:nvPr/>
        </p:nvCxnSpPr>
        <p:spPr>
          <a:xfrm rot="10800000">
            <a:off x="2610200" y="32215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2" name="Google Shape;482;p43"/>
          <p:cNvCxnSpPr/>
          <p:nvPr/>
        </p:nvCxnSpPr>
        <p:spPr>
          <a:xfrm rot="10800000">
            <a:off x="4828275" y="3221425"/>
            <a:ext cx="0" cy="84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3" name="Google Shape;483;p43"/>
          <p:cNvCxnSpPr/>
          <p:nvPr/>
        </p:nvCxnSpPr>
        <p:spPr>
          <a:xfrm>
            <a:off x="2606250" y="3235475"/>
            <a:ext cx="221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4" name="Google Shape;484;p43"/>
          <p:cNvCxnSpPr/>
          <p:nvPr/>
        </p:nvCxnSpPr>
        <p:spPr>
          <a:xfrm rot="10800000">
            <a:off x="3596850" y="2268125"/>
            <a:ext cx="0" cy="95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5" name="Google Shape;485;p43"/>
          <p:cNvCxnSpPr/>
          <p:nvPr/>
        </p:nvCxnSpPr>
        <p:spPr>
          <a:xfrm rot="10800000">
            <a:off x="7026600" y="2268000"/>
            <a:ext cx="0" cy="1497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86" name="Google Shape;486;p43"/>
          <p:cNvCxnSpPr/>
          <p:nvPr/>
        </p:nvCxnSpPr>
        <p:spPr>
          <a:xfrm rot="10800000">
            <a:off x="3596850" y="2257625"/>
            <a:ext cx="3422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87" name="Google Shape;487;p43"/>
          <p:cNvSpPr txBox="1"/>
          <p:nvPr/>
        </p:nvSpPr>
        <p:spPr>
          <a:xfrm>
            <a:off x="115325" y="2129825"/>
            <a:ext cx="205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“Slice” to decide cluster count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4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3" name="Google Shape;493;p44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Dendrogram: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494" name="Google Shape;494;p4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495" name="Google Shape;495;p4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496" name="Google Shape;496;p44"/>
          <p:cNvSpPr txBox="1"/>
          <p:nvPr/>
        </p:nvSpPr>
        <p:spPr>
          <a:xfrm>
            <a:off x="16222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7" name="Google Shape;497;p44"/>
          <p:cNvSpPr txBox="1"/>
          <p:nvPr/>
        </p:nvSpPr>
        <p:spPr>
          <a:xfrm>
            <a:off x="2612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8" name="Google Shape;498;p44"/>
          <p:cNvSpPr txBox="1"/>
          <p:nvPr/>
        </p:nvSpPr>
        <p:spPr>
          <a:xfrm>
            <a:off x="3755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499" name="Google Shape;499;p44"/>
          <p:cNvSpPr txBox="1"/>
          <p:nvPr/>
        </p:nvSpPr>
        <p:spPr>
          <a:xfrm>
            <a:off x="4898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N4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0" name="Google Shape;500;p44"/>
          <p:cNvSpPr txBox="1"/>
          <p:nvPr/>
        </p:nvSpPr>
        <p:spPr>
          <a:xfrm>
            <a:off x="59656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N5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01" name="Google Shape;501;p44"/>
          <p:cNvSpPr txBox="1"/>
          <p:nvPr/>
        </p:nvSpPr>
        <p:spPr>
          <a:xfrm>
            <a:off x="71086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N6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02" name="Google Shape;502;p44"/>
          <p:cNvCxnSpPr/>
          <p:nvPr/>
        </p:nvCxnSpPr>
        <p:spPr>
          <a:xfrm rot="10800000">
            <a:off x="21142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3" name="Google Shape;503;p44"/>
          <p:cNvCxnSpPr/>
          <p:nvPr/>
        </p:nvCxnSpPr>
        <p:spPr>
          <a:xfrm rot="10800000">
            <a:off x="31048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4" name="Google Shape;504;p44"/>
          <p:cNvCxnSpPr/>
          <p:nvPr/>
        </p:nvCxnSpPr>
        <p:spPr>
          <a:xfrm rot="10800000">
            <a:off x="4247850" y="4064350"/>
            <a:ext cx="0" cy="25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5" name="Google Shape;505;p44"/>
          <p:cNvCxnSpPr/>
          <p:nvPr/>
        </p:nvCxnSpPr>
        <p:spPr>
          <a:xfrm rot="10800000">
            <a:off x="5397225" y="4060600"/>
            <a:ext cx="0" cy="26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6" name="Google Shape;506;p44"/>
          <p:cNvCxnSpPr/>
          <p:nvPr/>
        </p:nvCxnSpPr>
        <p:spPr>
          <a:xfrm rot="10800000">
            <a:off x="64576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7" name="Google Shape;507;p44"/>
          <p:cNvCxnSpPr/>
          <p:nvPr/>
        </p:nvCxnSpPr>
        <p:spPr>
          <a:xfrm rot="10800000">
            <a:off x="76006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8" name="Google Shape;508;p44"/>
          <p:cNvCxnSpPr/>
          <p:nvPr/>
        </p:nvCxnSpPr>
        <p:spPr>
          <a:xfrm rot="10800000">
            <a:off x="2114300" y="3765900"/>
            <a:ext cx="991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09" name="Google Shape;509;p44"/>
          <p:cNvCxnSpPr/>
          <p:nvPr/>
        </p:nvCxnSpPr>
        <p:spPr>
          <a:xfrm rot="10800000">
            <a:off x="4259325" y="4064350"/>
            <a:ext cx="1137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" name="Google Shape;510;p44"/>
          <p:cNvCxnSpPr/>
          <p:nvPr/>
        </p:nvCxnSpPr>
        <p:spPr>
          <a:xfrm rot="10800000">
            <a:off x="6457650" y="3770850"/>
            <a:ext cx="1137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44"/>
          <p:cNvCxnSpPr/>
          <p:nvPr/>
        </p:nvCxnSpPr>
        <p:spPr>
          <a:xfrm rot="10800000">
            <a:off x="2610200" y="32215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44"/>
          <p:cNvCxnSpPr/>
          <p:nvPr/>
        </p:nvCxnSpPr>
        <p:spPr>
          <a:xfrm rot="10800000">
            <a:off x="4828275" y="3221425"/>
            <a:ext cx="0" cy="84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3" name="Google Shape;513;p44"/>
          <p:cNvCxnSpPr/>
          <p:nvPr/>
        </p:nvCxnSpPr>
        <p:spPr>
          <a:xfrm>
            <a:off x="2606250" y="3235475"/>
            <a:ext cx="221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4" name="Google Shape;514;p44"/>
          <p:cNvCxnSpPr/>
          <p:nvPr/>
        </p:nvCxnSpPr>
        <p:spPr>
          <a:xfrm rot="10800000">
            <a:off x="3596850" y="2268125"/>
            <a:ext cx="0" cy="95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5" name="Google Shape;515;p44"/>
          <p:cNvCxnSpPr/>
          <p:nvPr/>
        </p:nvCxnSpPr>
        <p:spPr>
          <a:xfrm rot="10800000">
            <a:off x="7026600" y="2268000"/>
            <a:ext cx="0" cy="1497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6" name="Google Shape;516;p44"/>
          <p:cNvCxnSpPr/>
          <p:nvPr/>
        </p:nvCxnSpPr>
        <p:spPr>
          <a:xfrm rot="10800000">
            <a:off x="3596850" y="2257625"/>
            <a:ext cx="3422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7" name="Google Shape;517;p44"/>
          <p:cNvSpPr txBox="1"/>
          <p:nvPr/>
        </p:nvSpPr>
        <p:spPr>
          <a:xfrm>
            <a:off x="115325" y="2129825"/>
            <a:ext cx="205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“Slice” to decide cluster count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18" name="Google Shape;518;p44"/>
          <p:cNvCxnSpPr/>
          <p:nvPr/>
        </p:nvCxnSpPr>
        <p:spPr>
          <a:xfrm>
            <a:off x="2967700" y="2690925"/>
            <a:ext cx="4751400" cy="0"/>
          </a:xfrm>
          <a:prstGeom prst="straightConnector1">
            <a:avLst/>
          </a:prstGeom>
          <a:noFill/>
          <a:ln cap="flat" cmpd="sng" w="38100">
            <a:solidFill>
              <a:srgbClr val="E06666"/>
            </a:solidFill>
            <a:prstDash val="dash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2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3" name="Google Shape;523;p4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4" name="Google Shape;524;p45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Dendrogram: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25" name="Google Shape;525;p4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26" name="Google Shape;526;p4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5"/>
          <p:cNvSpPr txBox="1"/>
          <p:nvPr/>
        </p:nvSpPr>
        <p:spPr>
          <a:xfrm>
            <a:off x="16222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8" name="Google Shape;528;p45"/>
          <p:cNvSpPr txBox="1"/>
          <p:nvPr/>
        </p:nvSpPr>
        <p:spPr>
          <a:xfrm>
            <a:off x="2612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29" name="Google Shape;529;p45"/>
          <p:cNvSpPr txBox="1"/>
          <p:nvPr/>
        </p:nvSpPr>
        <p:spPr>
          <a:xfrm>
            <a:off x="3755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0" name="Google Shape;530;p45"/>
          <p:cNvSpPr txBox="1"/>
          <p:nvPr/>
        </p:nvSpPr>
        <p:spPr>
          <a:xfrm>
            <a:off x="4898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N4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1" name="Google Shape;531;p45"/>
          <p:cNvSpPr txBox="1"/>
          <p:nvPr/>
        </p:nvSpPr>
        <p:spPr>
          <a:xfrm>
            <a:off x="59656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N5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32" name="Google Shape;532;p45"/>
          <p:cNvSpPr txBox="1"/>
          <p:nvPr/>
        </p:nvSpPr>
        <p:spPr>
          <a:xfrm>
            <a:off x="71086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N6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33" name="Google Shape;533;p45"/>
          <p:cNvCxnSpPr/>
          <p:nvPr/>
        </p:nvCxnSpPr>
        <p:spPr>
          <a:xfrm rot="10800000">
            <a:off x="21142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4" name="Google Shape;534;p45"/>
          <p:cNvCxnSpPr/>
          <p:nvPr/>
        </p:nvCxnSpPr>
        <p:spPr>
          <a:xfrm rot="10800000">
            <a:off x="31048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5" name="Google Shape;535;p45"/>
          <p:cNvCxnSpPr/>
          <p:nvPr/>
        </p:nvCxnSpPr>
        <p:spPr>
          <a:xfrm rot="10800000">
            <a:off x="4247850" y="4064350"/>
            <a:ext cx="0" cy="25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6" name="Google Shape;536;p45"/>
          <p:cNvCxnSpPr/>
          <p:nvPr/>
        </p:nvCxnSpPr>
        <p:spPr>
          <a:xfrm rot="10800000">
            <a:off x="5397225" y="4060600"/>
            <a:ext cx="0" cy="26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7" name="Google Shape;537;p45"/>
          <p:cNvCxnSpPr/>
          <p:nvPr/>
        </p:nvCxnSpPr>
        <p:spPr>
          <a:xfrm rot="10800000">
            <a:off x="64576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8" name="Google Shape;538;p45"/>
          <p:cNvCxnSpPr/>
          <p:nvPr/>
        </p:nvCxnSpPr>
        <p:spPr>
          <a:xfrm rot="10800000">
            <a:off x="76006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39" name="Google Shape;539;p45"/>
          <p:cNvCxnSpPr/>
          <p:nvPr/>
        </p:nvCxnSpPr>
        <p:spPr>
          <a:xfrm rot="10800000">
            <a:off x="2114300" y="3765900"/>
            <a:ext cx="991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0" name="Google Shape;540;p45"/>
          <p:cNvCxnSpPr/>
          <p:nvPr/>
        </p:nvCxnSpPr>
        <p:spPr>
          <a:xfrm rot="10800000">
            <a:off x="4259325" y="4064350"/>
            <a:ext cx="1137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1" name="Google Shape;541;p45"/>
          <p:cNvCxnSpPr/>
          <p:nvPr/>
        </p:nvCxnSpPr>
        <p:spPr>
          <a:xfrm rot="10800000">
            <a:off x="6457650" y="3770850"/>
            <a:ext cx="1137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2" name="Google Shape;542;p45"/>
          <p:cNvCxnSpPr/>
          <p:nvPr/>
        </p:nvCxnSpPr>
        <p:spPr>
          <a:xfrm rot="10800000">
            <a:off x="2610200" y="32215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3" name="Google Shape;543;p45"/>
          <p:cNvCxnSpPr/>
          <p:nvPr/>
        </p:nvCxnSpPr>
        <p:spPr>
          <a:xfrm rot="10800000">
            <a:off x="4828275" y="3221425"/>
            <a:ext cx="0" cy="84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4" name="Google Shape;544;p45"/>
          <p:cNvCxnSpPr/>
          <p:nvPr/>
        </p:nvCxnSpPr>
        <p:spPr>
          <a:xfrm>
            <a:off x="2606250" y="3235475"/>
            <a:ext cx="221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5" name="Google Shape;545;p45"/>
          <p:cNvCxnSpPr/>
          <p:nvPr/>
        </p:nvCxnSpPr>
        <p:spPr>
          <a:xfrm rot="10800000">
            <a:off x="3596850" y="2268125"/>
            <a:ext cx="0" cy="95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6" name="Google Shape;546;p45"/>
          <p:cNvCxnSpPr/>
          <p:nvPr/>
        </p:nvCxnSpPr>
        <p:spPr>
          <a:xfrm rot="10800000">
            <a:off x="7026600" y="2268000"/>
            <a:ext cx="0" cy="1497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47" name="Google Shape;547;p45"/>
          <p:cNvCxnSpPr/>
          <p:nvPr/>
        </p:nvCxnSpPr>
        <p:spPr>
          <a:xfrm rot="10800000">
            <a:off x="3596850" y="2257625"/>
            <a:ext cx="3422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48" name="Google Shape;548;p45"/>
          <p:cNvSpPr txBox="1"/>
          <p:nvPr/>
        </p:nvSpPr>
        <p:spPr>
          <a:xfrm>
            <a:off x="115325" y="2129825"/>
            <a:ext cx="205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“Slice” to decide cluster count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49" name="Google Shape;549;p45"/>
          <p:cNvCxnSpPr/>
          <p:nvPr/>
        </p:nvCxnSpPr>
        <p:spPr>
          <a:xfrm>
            <a:off x="2967700" y="2690925"/>
            <a:ext cx="4751400" cy="0"/>
          </a:xfrm>
          <a:prstGeom prst="straightConnector1">
            <a:avLst/>
          </a:prstGeom>
          <a:noFill/>
          <a:ln cap="flat" cmpd="sng" w="38100">
            <a:solidFill>
              <a:srgbClr val="E06666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50" name="Google Shape;550;p45"/>
          <p:cNvSpPr/>
          <p:nvPr/>
        </p:nvSpPr>
        <p:spPr>
          <a:xfrm>
            <a:off x="1622250" y="3083025"/>
            <a:ext cx="4051800" cy="1599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5"/>
          <p:cNvSpPr/>
          <p:nvPr/>
        </p:nvSpPr>
        <p:spPr>
          <a:xfrm>
            <a:off x="6158350" y="3124225"/>
            <a:ext cx="1759200" cy="1599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4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57" name="Google Shape;557;p46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Dendrogram: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58" name="Google Shape;558;p4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59" name="Google Shape;559;p4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560" name="Google Shape;560;p46"/>
          <p:cNvSpPr txBox="1"/>
          <p:nvPr/>
        </p:nvSpPr>
        <p:spPr>
          <a:xfrm>
            <a:off x="16222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N1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1" name="Google Shape;561;p46"/>
          <p:cNvSpPr txBox="1"/>
          <p:nvPr/>
        </p:nvSpPr>
        <p:spPr>
          <a:xfrm>
            <a:off x="2612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N2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2" name="Google Shape;562;p46"/>
          <p:cNvSpPr txBox="1"/>
          <p:nvPr/>
        </p:nvSpPr>
        <p:spPr>
          <a:xfrm>
            <a:off x="3755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N3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3" name="Google Shape;563;p46"/>
          <p:cNvSpPr txBox="1"/>
          <p:nvPr/>
        </p:nvSpPr>
        <p:spPr>
          <a:xfrm>
            <a:off x="48988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N4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4" name="Google Shape;564;p46"/>
          <p:cNvSpPr txBox="1"/>
          <p:nvPr/>
        </p:nvSpPr>
        <p:spPr>
          <a:xfrm>
            <a:off x="59656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N5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65" name="Google Shape;565;p46"/>
          <p:cNvSpPr txBox="1"/>
          <p:nvPr/>
        </p:nvSpPr>
        <p:spPr>
          <a:xfrm>
            <a:off x="7108650" y="4328525"/>
            <a:ext cx="984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N6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66" name="Google Shape;566;p46"/>
          <p:cNvCxnSpPr/>
          <p:nvPr/>
        </p:nvCxnSpPr>
        <p:spPr>
          <a:xfrm rot="10800000">
            <a:off x="21142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7" name="Google Shape;567;p46"/>
          <p:cNvCxnSpPr/>
          <p:nvPr/>
        </p:nvCxnSpPr>
        <p:spPr>
          <a:xfrm rot="10800000">
            <a:off x="31048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8" name="Google Shape;568;p46"/>
          <p:cNvCxnSpPr/>
          <p:nvPr/>
        </p:nvCxnSpPr>
        <p:spPr>
          <a:xfrm rot="10800000">
            <a:off x="4247850" y="4064350"/>
            <a:ext cx="0" cy="2538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69" name="Google Shape;569;p46"/>
          <p:cNvCxnSpPr/>
          <p:nvPr/>
        </p:nvCxnSpPr>
        <p:spPr>
          <a:xfrm rot="10800000">
            <a:off x="5397225" y="4060600"/>
            <a:ext cx="0" cy="2613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0" name="Google Shape;570;p46"/>
          <p:cNvCxnSpPr/>
          <p:nvPr/>
        </p:nvCxnSpPr>
        <p:spPr>
          <a:xfrm rot="10800000">
            <a:off x="64576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1" name="Google Shape;571;p46"/>
          <p:cNvCxnSpPr/>
          <p:nvPr/>
        </p:nvCxnSpPr>
        <p:spPr>
          <a:xfrm rot="10800000">
            <a:off x="7600650" y="37750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2" name="Google Shape;572;p46"/>
          <p:cNvCxnSpPr/>
          <p:nvPr/>
        </p:nvCxnSpPr>
        <p:spPr>
          <a:xfrm rot="10800000">
            <a:off x="2114300" y="3765900"/>
            <a:ext cx="9918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3" name="Google Shape;573;p46"/>
          <p:cNvCxnSpPr/>
          <p:nvPr/>
        </p:nvCxnSpPr>
        <p:spPr>
          <a:xfrm rot="10800000">
            <a:off x="4259325" y="4064350"/>
            <a:ext cx="1137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4" name="Google Shape;574;p46"/>
          <p:cNvCxnSpPr/>
          <p:nvPr/>
        </p:nvCxnSpPr>
        <p:spPr>
          <a:xfrm rot="10800000">
            <a:off x="6457650" y="3770850"/>
            <a:ext cx="11379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5" name="Google Shape;575;p46"/>
          <p:cNvCxnSpPr/>
          <p:nvPr/>
        </p:nvCxnSpPr>
        <p:spPr>
          <a:xfrm rot="10800000">
            <a:off x="2610200" y="3221525"/>
            <a:ext cx="0" cy="5535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6" name="Google Shape;576;p46"/>
          <p:cNvCxnSpPr/>
          <p:nvPr/>
        </p:nvCxnSpPr>
        <p:spPr>
          <a:xfrm rot="10800000">
            <a:off x="4828275" y="3221425"/>
            <a:ext cx="0" cy="8457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7" name="Google Shape;577;p46"/>
          <p:cNvCxnSpPr/>
          <p:nvPr/>
        </p:nvCxnSpPr>
        <p:spPr>
          <a:xfrm>
            <a:off x="2606250" y="3235475"/>
            <a:ext cx="22143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8" name="Google Shape;578;p46"/>
          <p:cNvCxnSpPr/>
          <p:nvPr/>
        </p:nvCxnSpPr>
        <p:spPr>
          <a:xfrm rot="10800000">
            <a:off x="3596850" y="2268125"/>
            <a:ext cx="0" cy="9534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79" name="Google Shape;579;p46"/>
          <p:cNvCxnSpPr/>
          <p:nvPr/>
        </p:nvCxnSpPr>
        <p:spPr>
          <a:xfrm rot="10800000">
            <a:off x="7026600" y="2268000"/>
            <a:ext cx="0" cy="149790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0" name="Google Shape;580;p46"/>
          <p:cNvCxnSpPr/>
          <p:nvPr/>
        </p:nvCxnSpPr>
        <p:spPr>
          <a:xfrm rot="10800000">
            <a:off x="3596850" y="2257625"/>
            <a:ext cx="3422700" cy="0"/>
          </a:xfrm>
          <a:prstGeom prst="straightConnector1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81" name="Google Shape;581;p46"/>
          <p:cNvSpPr txBox="1"/>
          <p:nvPr/>
        </p:nvSpPr>
        <p:spPr>
          <a:xfrm>
            <a:off x="115325" y="2129825"/>
            <a:ext cx="20529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Montserrat"/>
                <a:ea typeface="Montserrat"/>
                <a:cs typeface="Montserrat"/>
                <a:sym typeface="Montserrat"/>
              </a:rPr>
              <a:t>“Slice” to decide cluster count</a:t>
            </a:r>
            <a:endParaRPr sz="1800"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582" name="Google Shape;582;p46"/>
          <p:cNvCxnSpPr/>
          <p:nvPr/>
        </p:nvCxnSpPr>
        <p:spPr>
          <a:xfrm>
            <a:off x="1845200" y="3405925"/>
            <a:ext cx="6004500" cy="0"/>
          </a:xfrm>
          <a:prstGeom prst="straightConnector1">
            <a:avLst/>
          </a:prstGeom>
          <a:noFill/>
          <a:ln cap="flat" cmpd="sng" w="38100">
            <a:solidFill>
              <a:srgbClr val="E06666"/>
            </a:solidFill>
            <a:prstDash val="dash"/>
            <a:round/>
            <a:headEnd len="med" w="med" type="none"/>
            <a:tailEnd len="med" w="med" type="none"/>
          </a:ln>
        </p:spPr>
      </p:cxnSp>
      <p:sp>
        <p:nvSpPr>
          <p:cNvPr id="583" name="Google Shape;583;p46"/>
          <p:cNvSpPr/>
          <p:nvPr/>
        </p:nvSpPr>
        <p:spPr>
          <a:xfrm>
            <a:off x="1845200" y="3621200"/>
            <a:ext cx="1536300" cy="1061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4" name="Google Shape;584;p46"/>
          <p:cNvSpPr/>
          <p:nvPr/>
        </p:nvSpPr>
        <p:spPr>
          <a:xfrm>
            <a:off x="6158350" y="3662425"/>
            <a:ext cx="1759200" cy="10611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5" name="Google Shape;585;p46"/>
          <p:cNvSpPr/>
          <p:nvPr/>
        </p:nvSpPr>
        <p:spPr>
          <a:xfrm>
            <a:off x="4060125" y="3911000"/>
            <a:ext cx="1536300" cy="7713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E066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47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1" name="Google Shape;591;p47"/>
          <p:cNvSpPr txBox="1"/>
          <p:nvPr>
            <p:ph idx="1" type="body"/>
          </p:nvPr>
        </p:nvSpPr>
        <p:spPr>
          <a:xfrm>
            <a:off x="311700" y="1152475"/>
            <a:ext cx="868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Linkage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do we measure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distance from a point to an entire cluster?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How do we measure distance from a cluster to another cluster?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592" name="Google Shape;592;p4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593" name="Google Shape;593;p4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7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8" name="Google Shape;598;p48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99" name="Google Shape;599;p48"/>
          <p:cNvSpPr txBox="1"/>
          <p:nvPr>
            <p:ph idx="1" type="body"/>
          </p:nvPr>
        </p:nvSpPr>
        <p:spPr>
          <a:xfrm>
            <a:off x="311700" y="1152475"/>
            <a:ext cx="84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Linkage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Once two or more points are together and we want to continue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agglomerative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clustering to join clusters, we need to decide on a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linkage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parameter.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00" name="Google Shape;600;p4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01" name="Google Shape;601;p4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9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07" name="Google Shape;607;p49"/>
          <p:cNvSpPr txBox="1"/>
          <p:nvPr>
            <p:ph idx="1" type="body"/>
          </p:nvPr>
        </p:nvSpPr>
        <p:spPr>
          <a:xfrm>
            <a:off x="311700" y="1152475"/>
            <a:ext cx="84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Linkage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08" name="Google Shape;608;p4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09" name="Google Shape;609;p4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9"/>
          <p:cNvSpPr/>
          <p:nvPr/>
        </p:nvSpPr>
        <p:spPr>
          <a:xfrm>
            <a:off x="2552525" y="1891325"/>
            <a:ext cx="4682100" cy="2508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1" name="Google Shape;611;p49"/>
          <p:cNvSpPr txBox="1"/>
          <p:nvPr/>
        </p:nvSpPr>
        <p:spPr>
          <a:xfrm>
            <a:off x="1814450" y="2652475"/>
            <a:ext cx="522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 b="1"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2" name="Google Shape;612;p49"/>
          <p:cNvSpPr txBox="1"/>
          <p:nvPr/>
        </p:nvSpPr>
        <p:spPr>
          <a:xfrm>
            <a:off x="4588575" y="4399625"/>
            <a:ext cx="522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 b="1"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13" name="Google Shape;613;p49"/>
          <p:cNvSpPr/>
          <p:nvPr/>
        </p:nvSpPr>
        <p:spPr>
          <a:xfrm>
            <a:off x="3044575" y="2460275"/>
            <a:ext cx="192300" cy="1923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4" name="Google Shape;614;p49"/>
          <p:cNvSpPr/>
          <p:nvPr/>
        </p:nvSpPr>
        <p:spPr>
          <a:xfrm>
            <a:off x="3304625" y="2764525"/>
            <a:ext cx="192300" cy="1923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5" name="Google Shape;615;p49"/>
          <p:cNvSpPr/>
          <p:nvPr/>
        </p:nvSpPr>
        <p:spPr>
          <a:xfrm rot="-5684483">
            <a:off x="3312236" y="3191541"/>
            <a:ext cx="192358" cy="192358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49"/>
          <p:cNvSpPr/>
          <p:nvPr/>
        </p:nvSpPr>
        <p:spPr>
          <a:xfrm rot="-5684483">
            <a:off x="3593782" y="2907066"/>
            <a:ext cx="192358" cy="192358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7" name="Google Shape;617;p49"/>
          <p:cNvSpPr/>
          <p:nvPr/>
        </p:nvSpPr>
        <p:spPr>
          <a:xfrm rot="-5684483">
            <a:off x="3015411" y="2964441"/>
            <a:ext cx="192358" cy="192358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49"/>
          <p:cNvSpPr/>
          <p:nvPr/>
        </p:nvSpPr>
        <p:spPr>
          <a:xfrm rot="-5684483">
            <a:off x="3669307" y="2460241"/>
            <a:ext cx="192358" cy="192358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9" name="Google Shape;619;p49"/>
          <p:cNvSpPr/>
          <p:nvPr/>
        </p:nvSpPr>
        <p:spPr>
          <a:xfrm>
            <a:off x="5411225" y="2598825"/>
            <a:ext cx="192300" cy="1923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0" name="Google Shape;620;p49"/>
          <p:cNvSpPr/>
          <p:nvPr/>
        </p:nvSpPr>
        <p:spPr>
          <a:xfrm>
            <a:off x="5671275" y="2903075"/>
            <a:ext cx="192300" cy="1923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1" name="Google Shape;621;p49"/>
          <p:cNvSpPr/>
          <p:nvPr/>
        </p:nvSpPr>
        <p:spPr>
          <a:xfrm rot="-5684483">
            <a:off x="5678886" y="3330091"/>
            <a:ext cx="192358" cy="192358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2" name="Google Shape;622;p49"/>
          <p:cNvSpPr/>
          <p:nvPr/>
        </p:nvSpPr>
        <p:spPr>
          <a:xfrm rot="-5684483">
            <a:off x="5960432" y="3045616"/>
            <a:ext cx="192358" cy="192358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3" name="Google Shape;623;p49"/>
          <p:cNvSpPr/>
          <p:nvPr/>
        </p:nvSpPr>
        <p:spPr>
          <a:xfrm rot="-5684483">
            <a:off x="5382061" y="3102991"/>
            <a:ext cx="192358" cy="192358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49"/>
          <p:cNvSpPr/>
          <p:nvPr/>
        </p:nvSpPr>
        <p:spPr>
          <a:xfrm rot="-5684483">
            <a:off x="6035957" y="2598791"/>
            <a:ext cx="192358" cy="192358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8" name="Shape 6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9" name="Google Shape;629;p50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0" name="Google Shape;630;p50"/>
          <p:cNvSpPr txBox="1"/>
          <p:nvPr>
            <p:ph idx="1" type="body"/>
          </p:nvPr>
        </p:nvSpPr>
        <p:spPr>
          <a:xfrm>
            <a:off x="311700" y="1152475"/>
            <a:ext cx="84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Linkage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31" name="Google Shape;631;p5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32" name="Google Shape;632;p5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50"/>
          <p:cNvSpPr/>
          <p:nvPr/>
        </p:nvSpPr>
        <p:spPr>
          <a:xfrm>
            <a:off x="2552525" y="1891325"/>
            <a:ext cx="4682100" cy="2508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4" name="Google Shape;634;p50"/>
          <p:cNvSpPr txBox="1"/>
          <p:nvPr/>
        </p:nvSpPr>
        <p:spPr>
          <a:xfrm>
            <a:off x="1814450" y="2652475"/>
            <a:ext cx="522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 b="1"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5" name="Google Shape;635;p50"/>
          <p:cNvSpPr txBox="1"/>
          <p:nvPr/>
        </p:nvSpPr>
        <p:spPr>
          <a:xfrm>
            <a:off x="4588575" y="4399625"/>
            <a:ext cx="522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 b="1"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36" name="Google Shape;636;p50"/>
          <p:cNvSpPr/>
          <p:nvPr/>
        </p:nvSpPr>
        <p:spPr>
          <a:xfrm>
            <a:off x="3044575" y="2460275"/>
            <a:ext cx="192300" cy="1923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7" name="Google Shape;637;p50"/>
          <p:cNvSpPr/>
          <p:nvPr/>
        </p:nvSpPr>
        <p:spPr>
          <a:xfrm>
            <a:off x="3304625" y="2764525"/>
            <a:ext cx="192300" cy="1923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8" name="Google Shape;638;p50"/>
          <p:cNvSpPr/>
          <p:nvPr/>
        </p:nvSpPr>
        <p:spPr>
          <a:xfrm rot="-5684483">
            <a:off x="3312236" y="3191541"/>
            <a:ext cx="192358" cy="192358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9" name="Google Shape;639;p50"/>
          <p:cNvSpPr/>
          <p:nvPr/>
        </p:nvSpPr>
        <p:spPr>
          <a:xfrm rot="-5684483">
            <a:off x="3593782" y="2907066"/>
            <a:ext cx="192358" cy="192358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0" name="Google Shape;640;p50"/>
          <p:cNvSpPr/>
          <p:nvPr/>
        </p:nvSpPr>
        <p:spPr>
          <a:xfrm rot="-5684483">
            <a:off x="3015411" y="2964441"/>
            <a:ext cx="192358" cy="192358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1" name="Google Shape;641;p50"/>
          <p:cNvSpPr/>
          <p:nvPr/>
        </p:nvSpPr>
        <p:spPr>
          <a:xfrm rot="-5684483">
            <a:off x="3669307" y="2460241"/>
            <a:ext cx="192358" cy="192358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2" name="Google Shape;642;p50"/>
          <p:cNvSpPr/>
          <p:nvPr/>
        </p:nvSpPr>
        <p:spPr>
          <a:xfrm>
            <a:off x="5411225" y="2598825"/>
            <a:ext cx="192300" cy="1923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3" name="Google Shape;643;p50"/>
          <p:cNvSpPr/>
          <p:nvPr/>
        </p:nvSpPr>
        <p:spPr>
          <a:xfrm>
            <a:off x="5671275" y="2903075"/>
            <a:ext cx="192300" cy="1923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50"/>
          <p:cNvSpPr/>
          <p:nvPr/>
        </p:nvSpPr>
        <p:spPr>
          <a:xfrm rot="-5684483">
            <a:off x="5678886" y="3330091"/>
            <a:ext cx="192358" cy="192358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50"/>
          <p:cNvSpPr/>
          <p:nvPr/>
        </p:nvSpPr>
        <p:spPr>
          <a:xfrm rot="-5684483">
            <a:off x="5960432" y="3045616"/>
            <a:ext cx="192358" cy="192358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50"/>
          <p:cNvSpPr/>
          <p:nvPr/>
        </p:nvSpPr>
        <p:spPr>
          <a:xfrm rot="-5684483">
            <a:off x="5382061" y="3102991"/>
            <a:ext cx="192358" cy="192358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50"/>
          <p:cNvSpPr/>
          <p:nvPr/>
        </p:nvSpPr>
        <p:spPr>
          <a:xfrm rot="-5684483">
            <a:off x="6035957" y="2598791"/>
            <a:ext cx="192358" cy="192358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48" name="Google Shape;648;p50"/>
          <p:cNvCxnSpPr>
            <a:stCxn id="639" idx="4"/>
            <a:endCxn id="646" idx="7"/>
          </p:cNvCxnSpPr>
          <p:nvPr/>
        </p:nvCxnSpPr>
        <p:spPr>
          <a:xfrm>
            <a:off x="3785811" y="2995295"/>
            <a:ext cx="1619100" cy="1416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2" name="Shape 6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3" name="Google Shape;653;p51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4" name="Google Shape;654;p51"/>
          <p:cNvSpPr txBox="1"/>
          <p:nvPr>
            <p:ph idx="1" type="body"/>
          </p:nvPr>
        </p:nvSpPr>
        <p:spPr>
          <a:xfrm>
            <a:off x="311700" y="1152475"/>
            <a:ext cx="84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Linkage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55" name="Google Shape;655;p51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56" name="Google Shape;656;p51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57" name="Google Shape;657;p51"/>
          <p:cNvSpPr/>
          <p:nvPr/>
        </p:nvSpPr>
        <p:spPr>
          <a:xfrm>
            <a:off x="2552525" y="1891325"/>
            <a:ext cx="4682100" cy="2508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8" name="Google Shape;658;p51"/>
          <p:cNvSpPr txBox="1"/>
          <p:nvPr/>
        </p:nvSpPr>
        <p:spPr>
          <a:xfrm>
            <a:off x="1814450" y="2652475"/>
            <a:ext cx="522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 b="1"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59" name="Google Shape;659;p51"/>
          <p:cNvSpPr txBox="1"/>
          <p:nvPr/>
        </p:nvSpPr>
        <p:spPr>
          <a:xfrm>
            <a:off x="4588575" y="4399625"/>
            <a:ext cx="522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 b="1"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0" name="Google Shape;660;p51"/>
          <p:cNvSpPr/>
          <p:nvPr/>
        </p:nvSpPr>
        <p:spPr>
          <a:xfrm>
            <a:off x="3044575" y="2460275"/>
            <a:ext cx="192300" cy="1923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51"/>
          <p:cNvSpPr/>
          <p:nvPr/>
        </p:nvSpPr>
        <p:spPr>
          <a:xfrm>
            <a:off x="3304625" y="2764525"/>
            <a:ext cx="192300" cy="1923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51"/>
          <p:cNvSpPr/>
          <p:nvPr/>
        </p:nvSpPr>
        <p:spPr>
          <a:xfrm rot="-5684483">
            <a:off x="3312236" y="3191541"/>
            <a:ext cx="192358" cy="192358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/>
          <p:nvPr/>
        </p:nvSpPr>
        <p:spPr>
          <a:xfrm rot="-5684483">
            <a:off x="3593782" y="2907066"/>
            <a:ext cx="192358" cy="192358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1"/>
          <p:cNvSpPr/>
          <p:nvPr/>
        </p:nvSpPr>
        <p:spPr>
          <a:xfrm rot="-5684483">
            <a:off x="3015411" y="2964441"/>
            <a:ext cx="192358" cy="192358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51"/>
          <p:cNvSpPr/>
          <p:nvPr/>
        </p:nvSpPr>
        <p:spPr>
          <a:xfrm rot="-5684483">
            <a:off x="3669307" y="2460241"/>
            <a:ext cx="192358" cy="192358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6" name="Google Shape;666;p51"/>
          <p:cNvSpPr/>
          <p:nvPr/>
        </p:nvSpPr>
        <p:spPr>
          <a:xfrm>
            <a:off x="5411225" y="2598825"/>
            <a:ext cx="192300" cy="1923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7" name="Google Shape;667;p51"/>
          <p:cNvSpPr/>
          <p:nvPr/>
        </p:nvSpPr>
        <p:spPr>
          <a:xfrm>
            <a:off x="5671275" y="2903075"/>
            <a:ext cx="192300" cy="1923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8" name="Google Shape;668;p51"/>
          <p:cNvSpPr/>
          <p:nvPr/>
        </p:nvSpPr>
        <p:spPr>
          <a:xfrm rot="-5684483">
            <a:off x="5678886" y="3330091"/>
            <a:ext cx="192358" cy="192358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9" name="Google Shape;669;p51"/>
          <p:cNvSpPr/>
          <p:nvPr/>
        </p:nvSpPr>
        <p:spPr>
          <a:xfrm rot="-5684483">
            <a:off x="5960432" y="3045616"/>
            <a:ext cx="192358" cy="192358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0" name="Google Shape;670;p51"/>
          <p:cNvSpPr/>
          <p:nvPr/>
        </p:nvSpPr>
        <p:spPr>
          <a:xfrm rot="-5684483">
            <a:off x="5382061" y="3102991"/>
            <a:ext cx="192358" cy="192358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51"/>
          <p:cNvSpPr/>
          <p:nvPr/>
        </p:nvSpPr>
        <p:spPr>
          <a:xfrm rot="-5684483">
            <a:off x="6035957" y="2598791"/>
            <a:ext cx="192358" cy="192358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72" name="Google Shape;672;p51"/>
          <p:cNvCxnSpPr>
            <a:stCxn id="660" idx="5"/>
            <a:endCxn id="668" idx="6"/>
          </p:cNvCxnSpPr>
          <p:nvPr/>
        </p:nvCxnSpPr>
        <p:spPr>
          <a:xfrm>
            <a:off x="3208713" y="2624413"/>
            <a:ext cx="2558400" cy="7059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6" name="Shape 6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7" name="Google Shape;677;p52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78" name="Google Shape;678;p52"/>
          <p:cNvSpPr txBox="1"/>
          <p:nvPr>
            <p:ph idx="1" type="body"/>
          </p:nvPr>
        </p:nvSpPr>
        <p:spPr>
          <a:xfrm>
            <a:off x="311700" y="1152475"/>
            <a:ext cx="84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Linkage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679" name="Google Shape;679;p52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680" name="Google Shape;680;p52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52"/>
          <p:cNvSpPr/>
          <p:nvPr/>
        </p:nvSpPr>
        <p:spPr>
          <a:xfrm>
            <a:off x="2552525" y="1891325"/>
            <a:ext cx="4682100" cy="2508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2" name="Google Shape;682;p52"/>
          <p:cNvSpPr txBox="1"/>
          <p:nvPr/>
        </p:nvSpPr>
        <p:spPr>
          <a:xfrm>
            <a:off x="1814450" y="2652475"/>
            <a:ext cx="522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 b="1"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3" name="Google Shape;683;p52"/>
          <p:cNvSpPr txBox="1"/>
          <p:nvPr/>
        </p:nvSpPr>
        <p:spPr>
          <a:xfrm>
            <a:off x="4588575" y="4399625"/>
            <a:ext cx="522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 b="1"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84" name="Google Shape;684;p52"/>
          <p:cNvSpPr/>
          <p:nvPr/>
        </p:nvSpPr>
        <p:spPr>
          <a:xfrm>
            <a:off x="3044575" y="2460275"/>
            <a:ext cx="192300" cy="1923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52"/>
          <p:cNvSpPr/>
          <p:nvPr/>
        </p:nvSpPr>
        <p:spPr>
          <a:xfrm>
            <a:off x="3304625" y="2764525"/>
            <a:ext cx="192300" cy="1923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52"/>
          <p:cNvSpPr/>
          <p:nvPr/>
        </p:nvSpPr>
        <p:spPr>
          <a:xfrm rot="-5684483">
            <a:off x="3312236" y="3191541"/>
            <a:ext cx="192358" cy="192358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2"/>
          <p:cNvSpPr/>
          <p:nvPr/>
        </p:nvSpPr>
        <p:spPr>
          <a:xfrm rot="-5684483">
            <a:off x="3593782" y="2907066"/>
            <a:ext cx="192358" cy="192358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52"/>
          <p:cNvSpPr/>
          <p:nvPr/>
        </p:nvSpPr>
        <p:spPr>
          <a:xfrm rot="-5684483">
            <a:off x="3015411" y="2964441"/>
            <a:ext cx="192358" cy="192358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52"/>
          <p:cNvSpPr/>
          <p:nvPr/>
        </p:nvSpPr>
        <p:spPr>
          <a:xfrm rot="-5684483">
            <a:off x="3669307" y="2460241"/>
            <a:ext cx="192358" cy="192358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52"/>
          <p:cNvSpPr/>
          <p:nvPr/>
        </p:nvSpPr>
        <p:spPr>
          <a:xfrm>
            <a:off x="5411225" y="2598825"/>
            <a:ext cx="192300" cy="1923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2"/>
          <p:cNvSpPr/>
          <p:nvPr/>
        </p:nvSpPr>
        <p:spPr>
          <a:xfrm>
            <a:off x="5671275" y="2903075"/>
            <a:ext cx="192300" cy="1923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2" name="Google Shape;692;p52"/>
          <p:cNvSpPr/>
          <p:nvPr/>
        </p:nvSpPr>
        <p:spPr>
          <a:xfrm rot="-5684483">
            <a:off x="5678886" y="3330091"/>
            <a:ext cx="192358" cy="192358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3" name="Google Shape;693;p52"/>
          <p:cNvSpPr/>
          <p:nvPr/>
        </p:nvSpPr>
        <p:spPr>
          <a:xfrm rot="-5684483">
            <a:off x="5960432" y="3045616"/>
            <a:ext cx="192358" cy="192358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52"/>
          <p:cNvSpPr/>
          <p:nvPr/>
        </p:nvSpPr>
        <p:spPr>
          <a:xfrm rot="-5684483">
            <a:off x="5382061" y="3102991"/>
            <a:ext cx="192358" cy="192358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5" name="Google Shape;695;p52"/>
          <p:cNvSpPr/>
          <p:nvPr/>
        </p:nvSpPr>
        <p:spPr>
          <a:xfrm rot="-5684483">
            <a:off x="6035957" y="2598791"/>
            <a:ext cx="192358" cy="192358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96" name="Google Shape;696;p52"/>
          <p:cNvCxnSpPr/>
          <p:nvPr/>
        </p:nvCxnSpPr>
        <p:spPr>
          <a:xfrm>
            <a:off x="3396087" y="2861212"/>
            <a:ext cx="2467500" cy="1641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0" name="Shape 7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1" name="Google Shape;701;p53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2" name="Google Shape;702;p53"/>
          <p:cNvSpPr txBox="1"/>
          <p:nvPr>
            <p:ph idx="1" type="body"/>
          </p:nvPr>
        </p:nvSpPr>
        <p:spPr>
          <a:xfrm>
            <a:off x="311700" y="1152475"/>
            <a:ext cx="84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Linkage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03" name="Google Shape;703;p53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04" name="Google Shape;704;p53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  <p:sp>
        <p:nvSpPr>
          <p:cNvPr id="705" name="Google Shape;705;p53"/>
          <p:cNvSpPr/>
          <p:nvPr/>
        </p:nvSpPr>
        <p:spPr>
          <a:xfrm>
            <a:off x="2552525" y="1891325"/>
            <a:ext cx="4682100" cy="2508300"/>
          </a:xfrm>
          <a:prstGeom prst="rect">
            <a:avLst/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6" name="Google Shape;706;p53"/>
          <p:cNvSpPr txBox="1"/>
          <p:nvPr/>
        </p:nvSpPr>
        <p:spPr>
          <a:xfrm>
            <a:off x="1814450" y="2652475"/>
            <a:ext cx="522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X2</a:t>
            </a:r>
            <a:endParaRPr b="1"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7" name="Google Shape;707;p53"/>
          <p:cNvSpPr txBox="1"/>
          <p:nvPr/>
        </p:nvSpPr>
        <p:spPr>
          <a:xfrm>
            <a:off x="4588575" y="4399625"/>
            <a:ext cx="5229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X1</a:t>
            </a:r>
            <a:endParaRPr b="1" sz="1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08" name="Google Shape;708;p53"/>
          <p:cNvSpPr/>
          <p:nvPr/>
        </p:nvSpPr>
        <p:spPr>
          <a:xfrm>
            <a:off x="3044575" y="2460275"/>
            <a:ext cx="192300" cy="1923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9" name="Google Shape;709;p53"/>
          <p:cNvSpPr/>
          <p:nvPr/>
        </p:nvSpPr>
        <p:spPr>
          <a:xfrm>
            <a:off x="3304625" y="2764525"/>
            <a:ext cx="192300" cy="192300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53"/>
          <p:cNvSpPr/>
          <p:nvPr/>
        </p:nvSpPr>
        <p:spPr>
          <a:xfrm rot="-5684483">
            <a:off x="3312236" y="3191541"/>
            <a:ext cx="192358" cy="192358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1" name="Google Shape;711;p53"/>
          <p:cNvSpPr/>
          <p:nvPr/>
        </p:nvSpPr>
        <p:spPr>
          <a:xfrm rot="-5684483">
            <a:off x="3669057" y="2978241"/>
            <a:ext cx="192358" cy="192358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2" name="Google Shape;712;p53"/>
          <p:cNvSpPr/>
          <p:nvPr/>
        </p:nvSpPr>
        <p:spPr>
          <a:xfrm rot="-5684483">
            <a:off x="2939836" y="2991891"/>
            <a:ext cx="192358" cy="192358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53"/>
          <p:cNvSpPr/>
          <p:nvPr/>
        </p:nvSpPr>
        <p:spPr>
          <a:xfrm rot="-5684483">
            <a:off x="3669307" y="2460241"/>
            <a:ext cx="192358" cy="192358"/>
          </a:xfrm>
          <a:prstGeom prst="ellipse">
            <a:avLst/>
          </a:prstGeom>
          <a:solidFill>
            <a:srgbClr val="EA9999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4" name="Google Shape;714;p53"/>
          <p:cNvSpPr/>
          <p:nvPr/>
        </p:nvSpPr>
        <p:spPr>
          <a:xfrm>
            <a:off x="5411225" y="2598825"/>
            <a:ext cx="192300" cy="1923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5" name="Google Shape;715;p53"/>
          <p:cNvSpPr/>
          <p:nvPr/>
        </p:nvSpPr>
        <p:spPr>
          <a:xfrm>
            <a:off x="5671275" y="2903075"/>
            <a:ext cx="192300" cy="192300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6" name="Google Shape;716;p53"/>
          <p:cNvSpPr/>
          <p:nvPr/>
        </p:nvSpPr>
        <p:spPr>
          <a:xfrm rot="-5684483">
            <a:off x="5678886" y="3330091"/>
            <a:ext cx="192358" cy="192358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7" name="Google Shape;717;p53"/>
          <p:cNvSpPr/>
          <p:nvPr/>
        </p:nvSpPr>
        <p:spPr>
          <a:xfrm rot="-5684483">
            <a:off x="5960432" y="3045616"/>
            <a:ext cx="192358" cy="192358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8" name="Google Shape;718;p53"/>
          <p:cNvSpPr/>
          <p:nvPr/>
        </p:nvSpPr>
        <p:spPr>
          <a:xfrm rot="-5684483">
            <a:off x="5382061" y="3102991"/>
            <a:ext cx="192358" cy="192358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9" name="Google Shape;719;p53"/>
          <p:cNvSpPr/>
          <p:nvPr/>
        </p:nvSpPr>
        <p:spPr>
          <a:xfrm rot="-5684483">
            <a:off x="6035957" y="2598791"/>
            <a:ext cx="192358" cy="192358"/>
          </a:xfrm>
          <a:prstGeom prst="ellipse">
            <a:avLst/>
          </a:prstGeom>
          <a:solidFill>
            <a:srgbClr val="9FC5E8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720" name="Google Shape;720;p53"/>
          <p:cNvCxnSpPr>
            <a:stCxn id="708" idx="5"/>
            <a:endCxn id="709" idx="1"/>
          </p:cNvCxnSpPr>
          <p:nvPr/>
        </p:nvCxnSpPr>
        <p:spPr>
          <a:xfrm>
            <a:off x="3208713" y="2624413"/>
            <a:ext cx="124200" cy="168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21" name="Google Shape;721;p53"/>
          <p:cNvCxnSpPr>
            <a:stCxn id="713" idx="1"/>
            <a:endCxn id="709" idx="7"/>
          </p:cNvCxnSpPr>
          <p:nvPr/>
        </p:nvCxnSpPr>
        <p:spPr>
          <a:xfrm flipH="1">
            <a:off x="3468731" y="2629818"/>
            <a:ext cx="234600" cy="162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22" name="Google Shape;722;p53"/>
          <p:cNvCxnSpPr>
            <a:stCxn id="711" idx="7"/>
            <a:endCxn id="709" idx="6"/>
          </p:cNvCxnSpPr>
          <p:nvPr/>
        </p:nvCxnSpPr>
        <p:spPr>
          <a:xfrm rot="10800000">
            <a:off x="3496838" y="2860766"/>
            <a:ext cx="195000" cy="15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23" name="Google Shape;723;p53"/>
          <p:cNvCxnSpPr>
            <a:stCxn id="710" idx="6"/>
            <a:endCxn id="709" idx="4"/>
          </p:cNvCxnSpPr>
          <p:nvPr/>
        </p:nvCxnSpPr>
        <p:spPr>
          <a:xfrm flipH="1" rot="10800000">
            <a:off x="3400465" y="2956970"/>
            <a:ext cx="300" cy="234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  <p:cxnSp>
        <p:nvCxnSpPr>
          <p:cNvPr id="724" name="Google Shape;724;p53"/>
          <p:cNvCxnSpPr>
            <a:stCxn id="712" idx="4"/>
            <a:endCxn id="709" idx="3"/>
          </p:cNvCxnSpPr>
          <p:nvPr/>
        </p:nvCxnSpPr>
        <p:spPr>
          <a:xfrm flipH="1" rot="10800000">
            <a:off x="3131865" y="2928620"/>
            <a:ext cx="201000" cy="151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triangle"/>
            <a:tailEnd len="med" w="med" type="triangle"/>
          </a:ln>
        </p:spPr>
      </p:cxn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8" name="Shape 7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Google Shape;729;p54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0" name="Google Shape;730;p54"/>
          <p:cNvSpPr txBox="1"/>
          <p:nvPr>
            <p:ph idx="1" type="body"/>
          </p:nvPr>
        </p:nvSpPr>
        <p:spPr>
          <a:xfrm>
            <a:off x="311700" y="1152475"/>
            <a:ext cx="84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Linkage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Criterion determining which distance to use between sets of observation.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Algorithm will merge pairs of clusters that minimizes the criterion.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31" name="Google Shape;731;p54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32" name="Google Shape;732;p54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6" name="Shape 7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" name="Google Shape;737;p55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8" name="Google Shape;738;p55"/>
          <p:cNvSpPr txBox="1"/>
          <p:nvPr>
            <p:ph idx="1" type="body"/>
          </p:nvPr>
        </p:nvSpPr>
        <p:spPr>
          <a:xfrm>
            <a:off x="311700" y="1152475"/>
            <a:ext cx="84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Linkage: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Ward: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minimizes variance of clusters being merged.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Average: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uses average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distances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between two sets.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-412750" lvl="1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○"/>
            </a:pP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Minimum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 or </a:t>
            </a:r>
            <a:r>
              <a:rPr b="1"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Maximum </a:t>
            </a: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distances between all observations of the two sets.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39" name="Google Shape;739;p55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40" name="Google Shape;740;p55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p56"/>
          <p:cNvSpPr txBox="1"/>
          <p:nvPr>
            <p:ph type="title"/>
          </p:nvPr>
        </p:nvSpPr>
        <p:spPr>
          <a:xfrm>
            <a:off x="1042425" y="295788"/>
            <a:ext cx="7789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Montserrat"/>
                <a:ea typeface="Montserrat"/>
                <a:cs typeface="Montserrat"/>
                <a:sym typeface="Montserrat"/>
              </a:rPr>
              <a:t>Hierarchical Clustering</a:t>
            </a:r>
            <a:endParaRPr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6" name="Google Shape;746;p56"/>
          <p:cNvSpPr txBox="1"/>
          <p:nvPr>
            <p:ph idx="1" type="body"/>
          </p:nvPr>
        </p:nvSpPr>
        <p:spPr>
          <a:xfrm>
            <a:off x="311700" y="1152475"/>
            <a:ext cx="846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127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900"/>
              <a:buFont typeface="Montserrat"/>
              <a:buChar char="●"/>
            </a:pPr>
            <a:r>
              <a:rPr lang="en" sz="2900">
                <a:solidFill>
                  <a:srgbClr val="434343"/>
                </a:solidFill>
                <a:latin typeface="Montserrat"/>
                <a:ea typeface="Montserrat"/>
                <a:cs typeface="Montserrat"/>
                <a:sym typeface="Montserrat"/>
              </a:rPr>
              <a:t>Let’s move on to exploring these concepts through code!</a:t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9144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2900">
              <a:solidFill>
                <a:srgbClr val="434343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descr="watermark.jpg" id="747" name="Google Shape;747;p56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48" name="Google Shape;748;p56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2" name="Shape 7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3" name="Google Shape;753;p57"/>
          <p:cNvSpPr txBox="1"/>
          <p:nvPr>
            <p:ph type="ctrTitle"/>
          </p:nvPr>
        </p:nvSpPr>
        <p:spPr>
          <a:xfrm>
            <a:off x="311700" y="287375"/>
            <a:ext cx="8520600" cy="26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Hierarchical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Clustering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54" name="Google Shape;754;p5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and Intuition Part Two: Linkages</a:t>
            </a:r>
            <a:endParaRPr/>
          </a:p>
        </p:txBody>
      </p:sp>
      <p:pic>
        <p:nvPicPr>
          <p:cNvPr descr="watermark.jpg" id="755" name="Google Shape;755;p57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56" name="Google Shape;756;p57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58"/>
          <p:cNvSpPr txBox="1"/>
          <p:nvPr>
            <p:ph type="ctrTitle"/>
          </p:nvPr>
        </p:nvSpPr>
        <p:spPr>
          <a:xfrm>
            <a:off x="311700" y="287375"/>
            <a:ext cx="8520600" cy="26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Hierarchical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Clustering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62" name="Google Shape;762;p5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Theory and Intuition Part One: Basics</a:t>
            </a:r>
            <a:endParaRPr/>
          </a:p>
        </p:txBody>
      </p:sp>
      <p:pic>
        <p:nvPicPr>
          <p:cNvPr descr="watermark.jpg" id="763" name="Google Shape;763;p58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64" name="Google Shape;764;p58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59"/>
          <p:cNvSpPr txBox="1"/>
          <p:nvPr>
            <p:ph type="ctrTitle"/>
          </p:nvPr>
        </p:nvSpPr>
        <p:spPr>
          <a:xfrm>
            <a:off x="311700" y="287375"/>
            <a:ext cx="8520600" cy="26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Hierarchical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Clustering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0" name="Google Shape;770;p59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Part One: Data and Visualization</a:t>
            </a:r>
            <a:endParaRPr/>
          </a:p>
        </p:txBody>
      </p:sp>
      <p:pic>
        <p:nvPicPr>
          <p:cNvPr descr="watermark.jpg" id="771" name="Google Shape;771;p59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72" name="Google Shape;772;p59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6" name="Shape 7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7" name="Google Shape;777;p60"/>
          <p:cNvSpPr txBox="1"/>
          <p:nvPr>
            <p:ph type="ctrTitle"/>
          </p:nvPr>
        </p:nvSpPr>
        <p:spPr>
          <a:xfrm>
            <a:off x="311700" y="287375"/>
            <a:ext cx="8520600" cy="2667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Hierarchical 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Montserrat"/>
                <a:ea typeface="Montserrat"/>
                <a:cs typeface="Montserrat"/>
                <a:sym typeface="Montserrat"/>
              </a:rPr>
              <a:t>Clustering</a:t>
            </a:r>
            <a:endParaRPr b="1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8" name="Google Shape;778;p60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Coding Part Two: Clusters and Dendrograms</a:t>
            </a:r>
            <a:endParaRPr/>
          </a:p>
        </p:txBody>
      </p:sp>
      <p:pic>
        <p:nvPicPr>
          <p:cNvPr descr="watermark.jpg" id="779" name="Google Shape;779;p60"/>
          <p:cNvPicPr preferRelativeResize="0"/>
          <p:nvPr/>
        </p:nvPicPr>
        <p:blipFill rotWithShape="1">
          <a:blip r:embed="rId3">
            <a:alphaModFix/>
          </a:blip>
          <a:srcRect b="38252" l="51048" r="35216" t="14424"/>
          <a:stretch/>
        </p:blipFill>
        <p:spPr>
          <a:xfrm>
            <a:off x="152400" y="152400"/>
            <a:ext cx="890025" cy="859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watermark.jpg" id="780" name="Google Shape;780;p60"/>
          <p:cNvPicPr preferRelativeResize="0"/>
          <p:nvPr/>
        </p:nvPicPr>
        <p:blipFill rotWithShape="1">
          <a:blip r:embed="rId3">
            <a:alphaModFix/>
          </a:blip>
          <a:srcRect b="38442" l="-230" r="230" t="8854"/>
          <a:stretch/>
        </p:blipFill>
        <p:spPr>
          <a:xfrm>
            <a:off x="-76200" y="4801375"/>
            <a:ext cx="2315821" cy="3421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