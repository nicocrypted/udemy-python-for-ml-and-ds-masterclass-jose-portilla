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Lst>
  <p:sldSz cy="5143500" cx="9144000"/>
  <p:notesSz cx="6858000" cy="9144000"/>
  <p:embeddedFontLst>
    <p:embeddedFont>
      <p:font typeface="Montserrat"/>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1" Type="http://schemas.openxmlformats.org/officeDocument/2006/relationships/font" Target="fonts/Montserrat-bold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font" Target="fonts/Montserrat-italic.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font" Target="fonts/Montserrat-bold.fntdata"/><Relationship Id="rId14" Type="http://schemas.openxmlformats.org/officeDocument/2006/relationships/slide" Target="slides/slide10.xml"/><Relationship Id="rId58" Type="http://schemas.openxmlformats.org/officeDocument/2006/relationships/font" Target="fonts/Montserrat-regular.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93cf78d42d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93cf78d42d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a544e9c8d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a544e9c8d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a544e9c8d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a544e9c8d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a544e9c8d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a544e9c8d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a544e9c8d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a544e9c8d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a544e9c8d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a544e9c8d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a544e9c8d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a544e9c8d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a544e9c8d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a544e9c8d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a544e9c8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a544e9c8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a544e9c8d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a544e9c8d7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a544e9c8d7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a544e9c8d7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a544e9c8d7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a544e9c8d7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a544e9c8d7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a544e9c8d7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a544e9c8d7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a544e9c8d7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a544e9c8d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a544e9c8d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a544e9c8d7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a544e9c8d7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a544e9c8d7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a544e9c8d7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a544e9c8d7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a544e9c8d7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a544e9c8d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a544e9c8d7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a544e9c8d7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a544e9c8d7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a544e9c8d7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a544e9c8d7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93cf78d4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93cf78d4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93cf78d42d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93cf78d42d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93cf78d42d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93cf78d42d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93cf78d42d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93cf78d42d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93cf78d42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93cf78d42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93cf78d42d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93cf78d42d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93cf78d42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93cf78d42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93cf78d42d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93cf78d42d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93cf78d42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93cf78d42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93cf78d42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93cf78d42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93cf78d42d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93cf78d42d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93cf78d42d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93cf78d42d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93cf78d42d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93cf78d42d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93cf78d42d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93cf78d42d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93cf78d42d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93cf78d42d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93cf78d42d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93cf78d42d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93cf78d42d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93cf78d42d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93cf78d42d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93cf78d42d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93cf78d42d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93cf78d42d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93cf78d42d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93cf78d42d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93cf78d42d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93cf78d42d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93cf78d42d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93cf78d42d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93cf78d42d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93cf78d42d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93cf78d42d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93cf78d42d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93cf78d42d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93cf78d42d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93cf78d42d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93cf78d42d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93cf78d42d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93cf78d42d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93cf78d42d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93cf78d42d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93cf78d42d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93cf78d42d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93cf78d42d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93cf78d42d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93cf78d42d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93cf78d42d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jp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jp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jp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jp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jp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jp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jp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jp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jp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jp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jp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jp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jp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jp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jp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jp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jp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jp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jp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jp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jp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jp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jp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jp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jp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jp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Welcome to the Course!</a:t>
            </a:r>
            <a:endParaRPr b="1">
              <a:latin typeface="Montserrat"/>
              <a:ea typeface="Montserrat"/>
              <a:cs typeface="Montserrat"/>
              <a:sym typeface="Montserrat"/>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56" name="Google Shape;56;p1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7" name="Google Shape;57;p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ctrTitle"/>
          </p:nvPr>
        </p:nvSpPr>
        <p:spPr>
          <a:xfrm>
            <a:off x="311708" y="131205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solidFill>
                  <a:srgbClr val="990000"/>
                </a:solidFill>
                <a:latin typeface="Montserrat"/>
                <a:ea typeface="Montserrat"/>
                <a:cs typeface="Montserrat"/>
                <a:sym typeface="Montserrat"/>
              </a:rPr>
              <a:t>PLEASE DO NOT </a:t>
            </a:r>
            <a:endParaRPr b="1">
              <a:solidFill>
                <a:srgbClr val="990000"/>
              </a:solidFill>
              <a:latin typeface="Montserrat"/>
              <a:ea typeface="Montserrat"/>
              <a:cs typeface="Montserrat"/>
              <a:sym typeface="Montserrat"/>
            </a:endParaRPr>
          </a:p>
          <a:p>
            <a:pPr indent="0" lvl="0" marL="0" rtl="0" algn="ctr">
              <a:spcBef>
                <a:spcPts val="0"/>
              </a:spcBef>
              <a:spcAft>
                <a:spcPts val="0"/>
              </a:spcAft>
              <a:buNone/>
            </a:pPr>
            <a:r>
              <a:rPr b="1" lang="en">
                <a:solidFill>
                  <a:srgbClr val="990000"/>
                </a:solidFill>
                <a:latin typeface="Montserrat"/>
                <a:ea typeface="Montserrat"/>
                <a:cs typeface="Montserrat"/>
                <a:sym typeface="Montserrat"/>
              </a:rPr>
              <a:t>SKIP THIS LECTURE!</a:t>
            </a:r>
            <a:endParaRPr b="1">
              <a:solidFill>
                <a:srgbClr val="990000"/>
              </a:solidFill>
              <a:latin typeface="Montserrat"/>
              <a:ea typeface="Montserrat"/>
              <a:cs typeface="Montserrat"/>
              <a:sym typeface="Montserrat"/>
            </a:endParaRPr>
          </a:p>
        </p:txBody>
      </p:sp>
      <p:pic>
        <p:nvPicPr>
          <p:cNvPr descr="watermark.jpg" id="63" name="Google Shape;63;p1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4" name="Google Shape;64;p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Welcome to the Course</a:t>
            </a:r>
            <a:endParaRPr>
              <a:latin typeface="Montserrat"/>
              <a:ea typeface="Montserrat"/>
              <a:cs typeface="Montserrat"/>
              <a:sym typeface="Montserrat"/>
            </a:endParaRPr>
          </a:p>
        </p:txBody>
      </p:sp>
      <p:sp>
        <p:nvSpPr>
          <p:cNvPr id="70" name="Google Shape;70;p1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to get help during the course.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Useful course tips.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to get the notes for the course.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Please check your automated welcome message for some nice useful information!</a:t>
            </a:r>
            <a:endParaRPr sz="2900">
              <a:solidFill>
                <a:srgbClr val="434343"/>
              </a:solidFill>
              <a:latin typeface="Montserrat"/>
              <a:ea typeface="Montserrat"/>
              <a:cs typeface="Montserrat"/>
              <a:sym typeface="Montserrat"/>
            </a:endParaRPr>
          </a:p>
        </p:txBody>
      </p:sp>
      <p:pic>
        <p:nvPicPr>
          <p:cNvPr descr="watermark.jpg" id="71" name="Google Shape;71;p1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2" name="Google Shape;72;p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Welcome to the Course</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78" name="Google Shape;78;p16"/>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to get help</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b="1" i="1" lang="en" sz="2900">
                <a:solidFill>
                  <a:srgbClr val="434343"/>
                </a:solidFill>
                <a:latin typeface="Montserrat"/>
                <a:ea typeface="Montserrat"/>
                <a:cs typeface="Montserrat"/>
                <a:sym typeface="Montserrat"/>
              </a:rPr>
              <a:t>Double check our provided files!</a:t>
            </a:r>
            <a:endParaRPr b="1"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b="1" i="1" lang="en" sz="2900">
                <a:solidFill>
                  <a:srgbClr val="434343"/>
                </a:solidFill>
                <a:latin typeface="Montserrat"/>
                <a:ea typeface="Montserrat"/>
                <a:cs typeface="Montserrat"/>
                <a:sym typeface="Montserrat"/>
              </a:rPr>
              <a:t>Our files will always work with the correct versions of the libraries!</a:t>
            </a:r>
            <a:endParaRPr b="1"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Search the Online Documentation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Google or StackOverflow Search</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Search Previous QA Posts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Post a new question to QA forums</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79" name="Google Shape;79;p1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0" name="Google Shape;80;p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Welcome to the Course</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86" name="Google Shape;86;p17"/>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Please keep in mind…</a:t>
            </a:r>
            <a:endParaRPr i="1"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Please only post questions relevant to the</a:t>
            </a:r>
            <a:r>
              <a:rPr lang="en" sz="2900">
                <a:solidFill>
                  <a:srgbClr val="434343"/>
                </a:solidFill>
                <a:latin typeface="Montserrat"/>
                <a:ea typeface="Montserrat"/>
                <a:cs typeface="Montserrat"/>
                <a:sym typeface="Montserrat"/>
              </a:rPr>
              <a:t> course material.</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a:t>
            </a:r>
            <a:r>
              <a:rPr b="1" lang="en" sz="2900">
                <a:solidFill>
                  <a:srgbClr val="434343"/>
                </a:solidFill>
                <a:latin typeface="Montserrat"/>
                <a:ea typeface="Montserrat"/>
                <a:cs typeface="Montserrat"/>
                <a:sym typeface="Montserrat"/>
              </a:rPr>
              <a:t>discord chat server</a:t>
            </a:r>
            <a:r>
              <a:rPr lang="en" sz="2900">
                <a:solidFill>
                  <a:srgbClr val="434343"/>
                </a:solidFill>
                <a:latin typeface="Montserrat"/>
                <a:ea typeface="Montserrat"/>
                <a:cs typeface="Montserrat"/>
                <a:sym typeface="Montserrat"/>
              </a:rPr>
              <a:t> is specifically set-up for you to share questions that are outside the scope of the course.</a:t>
            </a:r>
            <a:endParaRPr sz="2900">
              <a:solidFill>
                <a:srgbClr val="434343"/>
              </a:solidFill>
              <a:latin typeface="Montserrat"/>
              <a:ea typeface="Montserrat"/>
              <a:cs typeface="Montserrat"/>
              <a:sym typeface="Montserrat"/>
            </a:endParaRPr>
          </a:p>
        </p:txBody>
      </p:sp>
      <p:pic>
        <p:nvPicPr>
          <p:cNvPr descr="watermark.jpg" id="87" name="Google Shape;87;p1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8" name="Google Shape;88;p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Welcome to the Course</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94" name="Google Shape;94;p18"/>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to get help on platform issues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Open a support ticket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Email </a:t>
            </a:r>
            <a:r>
              <a:rPr b="1" lang="en" sz="2900">
                <a:solidFill>
                  <a:srgbClr val="434343"/>
                </a:solidFill>
                <a:latin typeface="Montserrat"/>
                <a:ea typeface="Montserrat"/>
                <a:cs typeface="Montserrat"/>
                <a:sym typeface="Montserrat"/>
              </a:rPr>
              <a:t>info@pieriantraining.com</a:t>
            </a:r>
            <a:endParaRPr b="1"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Video player issues</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Certification issues</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Enrollment or payment issues</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5" name="Google Shape;95;p1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6" name="Google Shape;96;p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Welcome to the Course</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2" name="Google Shape;102;p19"/>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Useful Tips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bottom settings on video player to adjust playback speed.</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Feel free to jump around sections if you already feel familiar with some material.</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03" name="Google Shape;103;p1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4" name="Google Shape;104;p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Welcome to the Course</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0" name="Google Shape;110;p20"/>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to get the notes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Download the zip file resource in this lecture (or FAQ lecture)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Unzip the file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That’s it! You now have all the notes! </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will explain later on how to open the .ipynb files with Jupyter Notebook.</a:t>
            </a:r>
            <a:endParaRPr sz="2900">
              <a:solidFill>
                <a:srgbClr val="434343"/>
              </a:solidFill>
              <a:latin typeface="Montserrat"/>
              <a:ea typeface="Montserrat"/>
              <a:cs typeface="Montserrat"/>
              <a:sym typeface="Montserrat"/>
            </a:endParaRPr>
          </a:p>
        </p:txBody>
      </p:sp>
      <p:pic>
        <p:nvPicPr>
          <p:cNvPr descr="watermark.jpg" id="111" name="Google Shape;111;p2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2" name="Google Shape;112;p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ctrTitle"/>
          </p:nvPr>
        </p:nvSpPr>
        <p:spPr>
          <a:xfrm>
            <a:off x="330050" y="1400125"/>
            <a:ext cx="8520600" cy="1400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solidFill>
                  <a:srgbClr val="0B5394"/>
                </a:solidFill>
                <a:latin typeface="Montserrat"/>
                <a:ea typeface="Montserrat"/>
                <a:cs typeface="Montserrat"/>
                <a:sym typeface="Montserrat"/>
              </a:rPr>
              <a:t>THANK YOU!</a:t>
            </a:r>
            <a:endParaRPr b="1">
              <a:solidFill>
                <a:srgbClr val="0B5394"/>
              </a:solidFill>
              <a:latin typeface="Montserrat"/>
              <a:ea typeface="Montserrat"/>
              <a:cs typeface="Montserrat"/>
              <a:sym typeface="Montserrat"/>
            </a:endParaRPr>
          </a:p>
        </p:txBody>
      </p:sp>
      <p:pic>
        <p:nvPicPr>
          <p:cNvPr descr="watermark.jpg" id="118" name="Google Shape;118;p2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9" name="Google Shape;119;p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ctrTitle"/>
          </p:nvPr>
        </p:nvSpPr>
        <p:spPr>
          <a:xfrm>
            <a:off x="279608" y="107205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Installing Python and Jupyter Notebook</a:t>
            </a:r>
            <a:endParaRPr b="1">
              <a:latin typeface="Montserrat"/>
              <a:ea typeface="Montserrat"/>
              <a:cs typeface="Montserrat"/>
              <a:sym typeface="Montserrat"/>
            </a:endParaRPr>
          </a:p>
        </p:txBody>
      </p:sp>
      <p:sp>
        <p:nvSpPr>
          <p:cNvPr id="125" name="Google Shape;125;p2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126" name="Google Shape;126;p2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7" name="Google Shape;127;p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Setup</a:t>
            </a:r>
            <a:endParaRPr>
              <a:latin typeface="Montserrat"/>
              <a:ea typeface="Montserrat"/>
              <a:cs typeface="Montserrat"/>
              <a:sym typeface="Montserrat"/>
            </a:endParaRPr>
          </a:p>
        </p:txBody>
      </p:sp>
      <p:sp>
        <p:nvSpPr>
          <p:cNvPr id="133" name="Google Shape;133;p2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 start getting set-up for the course!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Install Free Anaconda Python Distribution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Run Anaconda Navigator</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Run Anaconda Command Prompt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Navigate Folders within Jupyter</a:t>
            </a:r>
            <a:endParaRPr sz="2900">
              <a:solidFill>
                <a:srgbClr val="434343"/>
              </a:solidFill>
              <a:latin typeface="Montserrat"/>
              <a:ea typeface="Montserrat"/>
              <a:cs typeface="Montserrat"/>
              <a:sym typeface="Montserrat"/>
            </a:endParaRPr>
          </a:p>
        </p:txBody>
      </p:sp>
      <p:pic>
        <p:nvPicPr>
          <p:cNvPr descr="watermark.jpg" id="134" name="Google Shape;134;p2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5" name="Google Shape;135;p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Setup</a:t>
            </a:r>
            <a:endParaRPr>
              <a:latin typeface="Montserrat"/>
              <a:ea typeface="Montserrat"/>
              <a:cs typeface="Montserrat"/>
              <a:sym typeface="Montserrat"/>
            </a:endParaRPr>
          </a:p>
        </p:txBody>
      </p:sp>
      <p:sp>
        <p:nvSpPr>
          <p:cNvPr id="141" name="Google Shape;141;p2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b="1" i="1" lang="en" sz="2900">
                <a:solidFill>
                  <a:srgbClr val="434343"/>
                </a:solidFill>
                <a:latin typeface="Montserrat"/>
                <a:ea typeface="Montserrat"/>
                <a:cs typeface="Montserrat"/>
                <a:sym typeface="Montserrat"/>
              </a:rPr>
              <a:t>If you already have Python installed, feel free to skip to the next lecture for the course environment setup!</a:t>
            </a:r>
            <a:endParaRPr b="1" i="1" sz="2900">
              <a:solidFill>
                <a:srgbClr val="434343"/>
              </a:solidFill>
              <a:latin typeface="Montserrat"/>
              <a:ea typeface="Montserrat"/>
              <a:cs typeface="Montserrat"/>
              <a:sym typeface="Montserrat"/>
            </a:endParaRPr>
          </a:p>
        </p:txBody>
      </p:sp>
      <p:pic>
        <p:nvPicPr>
          <p:cNvPr descr="watermark.jpg" id="142" name="Google Shape;142;p2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3" name="Google Shape;143;p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Setup</a:t>
            </a:r>
            <a:endParaRPr>
              <a:latin typeface="Montserrat"/>
              <a:ea typeface="Montserrat"/>
              <a:cs typeface="Montserrat"/>
              <a:sym typeface="Montserrat"/>
            </a:endParaRPr>
          </a:p>
        </p:txBody>
      </p:sp>
      <p:sp>
        <p:nvSpPr>
          <p:cNvPr id="149" name="Google Shape;149;p2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Anaconda distribution is a free and open-source python distribution that includes many tools, including an environment manager, a download manager, and a graphical interface to access a </a:t>
            </a:r>
            <a:r>
              <a:rPr lang="en" sz="2900">
                <a:solidFill>
                  <a:srgbClr val="434343"/>
                </a:solidFill>
                <a:latin typeface="Montserrat"/>
                <a:ea typeface="Montserrat"/>
                <a:cs typeface="Montserrat"/>
                <a:sym typeface="Montserrat"/>
              </a:rPr>
              <a:t>variety</a:t>
            </a:r>
            <a:r>
              <a:rPr lang="en" sz="2900">
                <a:solidFill>
                  <a:srgbClr val="434343"/>
                </a:solidFill>
                <a:latin typeface="Montserrat"/>
                <a:ea typeface="Montserrat"/>
                <a:cs typeface="Montserrat"/>
                <a:sym typeface="Montserrat"/>
              </a:rPr>
              <a:t> of development environments.</a:t>
            </a:r>
            <a:endParaRPr sz="2900">
              <a:solidFill>
                <a:srgbClr val="434343"/>
              </a:solidFill>
              <a:latin typeface="Montserrat"/>
              <a:ea typeface="Montserrat"/>
              <a:cs typeface="Montserrat"/>
              <a:sym typeface="Montserrat"/>
            </a:endParaRPr>
          </a:p>
        </p:txBody>
      </p:sp>
      <p:pic>
        <p:nvPicPr>
          <p:cNvPr descr="watermark.jpg" id="150" name="Google Shape;150;p2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51" name="Google Shape;151;p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Setup</a:t>
            </a:r>
            <a:endParaRPr>
              <a:latin typeface="Montserrat"/>
              <a:ea typeface="Montserrat"/>
              <a:cs typeface="Montserrat"/>
              <a:sym typeface="Montserrat"/>
            </a:endParaRPr>
          </a:p>
        </p:txBody>
      </p:sp>
      <p:sp>
        <p:nvSpPr>
          <p:cNvPr id="157" name="Google Shape;157;p2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Make sure you’ve downloaded the .zip file of notebooks and unzipped the .ipynb content!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that we have Jupyter Notebook running, you should be able to easily navigate to wherever you saved those files on your computer.</a:t>
            </a:r>
            <a:endParaRPr sz="2900">
              <a:solidFill>
                <a:srgbClr val="434343"/>
              </a:solidFill>
              <a:latin typeface="Montserrat"/>
              <a:ea typeface="Montserrat"/>
              <a:cs typeface="Montserrat"/>
              <a:sym typeface="Montserrat"/>
            </a:endParaRPr>
          </a:p>
        </p:txBody>
      </p:sp>
      <p:pic>
        <p:nvPicPr>
          <p:cNvPr descr="watermark.jpg" id="158" name="Google Shape;158;p2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59" name="Google Shape;159;p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Setup</a:t>
            </a:r>
            <a:endParaRPr>
              <a:latin typeface="Montserrat"/>
              <a:ea typeface="Montserrat"/>
              <a:cs typeface="Montserrat"/>
              <a:sym typeface="Montserrat"/>
            </a:endParaRPr>
          </a:p>
        </p:txBody>
      </p:sp>
      <p:sp>
        <p:nvSpPr>
          <p:cNvPr id="165" name="Google Shape;165;p2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the next lecture we will show you how to import the course environment file!</a:t>
            </a:r>
            <a:endParaRPr sz="2900">
              <a:solidFill>
                <a:srgbClr val="434343"/>
              </a:solidFill>
              <a:latin typeface="Montserrat"/>
              <a:ea typeface="Montserrat"/>
              <a:cs typeface="Montserrat"/>
              <a:sym typeface="Montserrat"/>
            </a:endParaRPr>
          </a:p>
        </p:txBody>
      </p:sp>
      <p:pic>
        <p:nvPicPr>
          <p:cNvPr descr="watermark.jpg" id="166" name="Google Shape;166;p2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7" name="Google Shape;167;p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Environment Setup</a:t>
            </a:r>
            <a:endParaRPr b="1">
              <a:latin typeface="Montserrat"/>
              <a:ea typeface="Montserrat"/>
              <a:cs typeface="Montserrat"/>
              <a:sym typeface="Montserrat"/>
            </a:endParaRPr>
          </a:p>
        </p:txBody>
      </p:sp>
      <p:sp>
        <p:nvSpPr>
          <p:cNvPr id="173" name="Google Shape;173;p2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174" name="Google Shape;174;p2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5" name="Google Shape;175;p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Setup</a:t>
            </a:r>
            <a:endParaRPr>
              <a:latin typeface="Montserrat"/>
              <a:ea typeface="Montserrat"/>
              <a:cs typeface="Montserrat"/>
              <a:sym typeface="Montserrat"/>
            </a:endParaRPr>
          </a:p>
        </p:txBody>
      </p:sp>
      <p:sp>
        <p:nvSpPr>
          <p:cNvPr id="181" name="Google Shape;181;p2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a virtual environment?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Python libraries can change often and unexpectedly.</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Minor changes can cause code to break, which can impede the learning process!</a:t>
            </a:r>
            <a:endParaRPr sz="2900">
              <a:solidFill>
                <a:srgbClr val="434343"/>
              </a:solidFill>
              <a:latin typeface="Montserrat"/>
              <a:ea typeface="Montserrat"/>
              <a:cs typeface="Montserrat"/>
              <a:sym typeface="Montserrat"/>
            </a:endParaRPr>
          </a:p>
        </p:txBody>
      </p:sp>
      <p:pic>
        <p:nvPicPr>
          <p:cNvPr descr="watermark.jpg" id="182" name="Google Shape;182;p2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3" name="Google Shape;183;p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Setup</a:t>
            </a:r>
            <a:endParaRPr>
              <a:latin typeface="Montserrat"/>
              <a:ea typeface="Montserrat"/>
              <a:cs typeface="Montserrat"/>
              <a:sym typeface="Montserrat"/>
            </a:endParaRPr>
          </a:p>
        </p:txBody>
      </p:sp>
      <p:sp>
        <p:nvSpPr>
          <p:cNvPr id="189" name="Google Shape;189;p3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a virtual environment?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Real Example:</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Seaborn data visualization library changed a call from </a:t>
            </a:r>
            <a:r>
              <a:rPr b="1" lang="en" sz="2900">
                <a:solidFill>
                  <a:srgbClr val="434343"/>
                </a:solidFill>
                <a:latin typeface="Montserrat"/>
                <a:ea typeface="Montserrat"/>
                <a:cs typeface="Montserrat"/>
                <a:sym typeface="Montserrat"/>
              </a:rPr>
              <a:t>distplot()</a:t>
            </a:r>
            <a:r>
              <a:rPr lang="en" sz="2900">
                <a:solidFill>
                  <a:srgbClr val="434343"/>
                </a:solidFill>
                <a:latin typeface="Montserrat"/>
                <a:ea typeface="Montserrat"/>
                <a:cs typeface="Montserrat"/>
                <a:sym typeface="Montserrat"/>
              </a:rPr>
              <a:t> to </a:t>
            </a:r>
            <a:r>
              <a:rPr b="1" lang="en" sz="2900">
                <a:solidFill>
                  <a:srgbClr val="434343"/>
                </a:solidFill>
                <a:latin typeface="Montserrat"/>
                <a:ea typeface="Montserrat"/>
                <a:cs typeface="Montserrat"/>
                <a:sym typeface="Montserrat"/>
              </a:rPr>
              <a:t>displot()</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want to focus on learning about data science and machine learning, not minor library changes.</a:t>
            </a:r>
            <a:endParaRPr sz="2900">
              <a:solidFill>
                <a:srgbClr val="434343"/>
              </a:solidFill>
              <a:latin typeface="Montserrat"/>
              <a:ea typeface="Montserrat"/>
              <a:cs typeface="Montserrat"/>
              <a:sym typeface="Montserrat"/>
            </a:endParaRPr>
          </a:p>
        </p:txBody>
      </p:sp>
      <p:pic>
        <p:nvPicPr>
          <p:cNvPr descr="watermark.jpg" id="190" name="Google Shape;190;p3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1" name="Google Shape;191;p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Setup</a:t>
            </a:r>
            <a:endParaRPr>
              <a:latin typeface="Montserrat"/>
              <a:ea typeface="Montserrat"/>
              <a:cs typeface="Montserrat"/>
              <a:sym typeface="Montserrat"/>
            </a:endParaRPr>
          </a:p>
        </p:txBody>
      </p:sp>
      <p:sp>
        <p:nvSpPr>
          <p:cNvPr id="197" name="Google Shape;197;p3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a virtual environment?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create a virtual environment to hold specific versions of Python libraries for our use.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activate or deactivate this environment as needed.</a:t>
            </a:r>
            <a:endParaRPr sz="2900">
              <a:solidFill>
                <a:srgbClr val="434343"/>
              </a:solidFill>
              <a:latin typeface="Montserrat"/>
              <a:ea typeface="Montserrat"/>
              <a:cs typeface="Montserrat"/>
              <a:sym typeface="Montserrat"/>
            </a:endParaRPr>
          </a:p>
        </p:txBody>
      </p:sp>
      <p:pic>
        <p:nvPicPr>
          <p:cNvPr descr="watermark.jpg" id="198" name="Google Shape;198;p3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9" name="Google Shape;199;p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Setup</a:t>
            </a:r>
            <a:endParaRPr>
              <a:latin typeface="Montserrat"/>
              <a:ea typeface="Montserrat"/>
              <a:cs typeface="Montserrat"/>
              <a:sym typeface="Montserrat"/>
            </a:endParaRPr>
          </a:p>
        </p:txBody>
      </p:sp>
      <p:sp>
        <p:nvSpPr>
          <p:cNvPr id="205" name="Google Shape;205;p3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a virtual environment?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also edit or update libraries as needed.</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allows us to balance between functioning code and keeping up to date with the latest library changes.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also have multiple virtual environments for different projects.</a:t>
            </a:r>
            <a:endParaRPr sz="2900">
              <a:solidFill>
                <a:srgbClr val="434343"/>
              </a:solidFill>
              <a:latin typeface="Montserrat"/>
              <a:ea typeface="Montserrat"/>
              <a:cs typeface="Montserrat"/>
              <a:sym typeface="Montserrat"/>
            </a:endParaRPr>
          </a:p>
        </p:txBody>
      </p:sp>
      <p:pic>
        <p:nvPicPr>
          <p:cNvPr descr="watermark.jpg" id="206" name="Google Shape;206;p3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7" name="Google Shape;207;p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Setup</a:t>
            </a:r>
            <a:endParaRPr>
              <a:latin typeface="Montserrat"/>
              <a:ea typeface="Montserrat"/>
              <a:cs typeface="Montserrat"/>
              <a:sym typeface="Montserrat"/>
            </a:endParaRPr>
          </a:p>
        </p:txBody>
      </p:sp>
      <p:sp>
        <p:nvSpPr>
          <p:cNvPr id="213" name="Google Shape;213;p3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Downloading the environment file: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Download directly from Udemy</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Download directly from backup Google Drive link</a:t>
            </a:r>
            <a:endParaRPr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Either is okay! It is the same file: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r</a:t>
            </a:r>
            <a:r>
              <a:rPr b="1" lang="en" sz="2900">
                <a:solidFill>
                  <a:srgbClr val="434343"/>
                </a:solidFill>
                <a:latin typeface="Montserrat"/>
                <a:ea typeface="Montserrat"/>
                <a:cs typeface="Montserrat"/>
                <a:sym typeface="Montserrat"/>
              </a:rPr>
              <a:t>equirements.txt </a:t>
            </a:r>
            <a:endParaRPr b="1" sz="2900">
              <a:solidFill>
                <a:srgbClr val="434343"/>
              </a:solidFill>
              <a:latin typeface="Montserrat"/>
              <a:ea typeface="Montserrat"/>
              <a:cs typeface="Montserrat"/>
              <a:sym typeface="Montserrat"/>
            </a:endParaRPr>
          </a:p>
        </p:txBody>
      </p:sp>
      <p:pic>
        <p:nvPicPr>
          <p:cNvPr descr="watermark.jpg" id="214" name="Google Shape;214;p3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5" name="Google Shape;215;p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Course Setup</a:t>
            </a:r>
            <a:endParaRPr>
              <a:latin typeface="Montserrat"/>
              <a:ea typeface="Montserrat"/>
              <a:cs typeface="Montserrat"/>
              <a:sym typeface="Montserrat"/>
            </a:endParaRPr>
          </a:p>
        </p:txBody>
      </p:sp>
      <p:sp>
        <p:nvSpPr>
          <p:cNvPr id="221" name="Google Shape;221;p3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Download the file and save it to Downloads folder or Desktop folder.</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let’s show you how to:</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Create an environment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Install from requirements.txt file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Activate an environment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Deactivate an environment</a:t>
            </a:r>
            <a:endParaRPr sz="2900">
              <a:solidFill>
                <a:srgbClr val="434343"/>
              </a:solidFill>
              <a:latin typeface="Montserrat"/>
              <a:ea typeface="Montserrat"/>
              <a:cs typeface="Montserrat"/>
              <a:sym typeface="Montserrat"/>
            </a:endParaRPr>
          </a:p>
        </p:txBody>
      </p:sp>
      <p:pic>
        <p:nvPicPr>
          <p:cNvPr descr="watermark.jpg" id="222" name="Google Shape;222;p3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3" name="Google Shape;223;p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Machine Learning Pathway</a:t>
            </a:r>
            <a:endParaRPr b="1">
              <a:latin typeface="Montserrat"/>
              <a:ea typeface="Montserrat"/>
              <a:cs typeface="Montserrat"/>
              <a:sym typeface="Montserrat"/>
            </a:endParaRPr>
          </a:p>
        </p:txBody>
      </p:sp>
      <p:sp>
        <p:nvSpPr>
          <p:cNvPr id="229" name="Google Shape;229;p3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230" name="Google Shape;230;p3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1" name="Google Shape;231;p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sp>
        <p:nvSpPr>
          <p:cNvPr id="237" name="Google Shape;237;p3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discuss the general idea of a pathway of using Machine Learning and Data Science for a useful Real World Application.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overview is very broad and in reality there is a lot of overlap between the various stages presented here.</a:t>
            </a:r>
            <a:endParaRPr sz="2900">
              <a:solidFill>
                <a:srgbClr val="434343"/>
              </a:solidFill>
              <a:latin typeface="Montserrat"/>
              <a:ea typeface="Montserrat"/>
              <a:cs typeface="Montserrat"/>
              <a:sym typeface="Montserrat"/>
            </a:endParaRPr>
          </a:p>
        </p:txBody>
      </p:sp>
      <p:pic>
        <p:nvPicPr>
          <p:cNvPr descr="watermark.jpg" id="238" name="Google Shape;238;p3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9" name="Google Shape;239;p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sp>
        <p:nvSpPr>
          <p:cNvPr id="245" name="Google Shape;245;p3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Note that we will also try to distinguish </a:t>
            </a:r>
            <a:r>
              <a:rPr lang="en" sz="2900">
                <a:solidFill>
                  <a:srgbClr val="434343"/>
                </a:solidFill>
                <a:latin typeface="Montserrat"/>
                <a:ea typeface="Montserrat"/>
                <a:cs typeface="Montserrat"/>
                <a:sym typeface="Montserrat"/>
              </a:rPr>
              <a:t>various</a:t>
            </a:r>
            <a:r>
              <a:rPr lang="en" sz="2900">
                <a:solidFill>
                  <a:srgbClr val="434343"/>
                </a:solidFill>
                <a:latin typeface="Montserrat"/>
                <a:ea typeface="Montserrat"/>
                <a:cs typeface="Montserrat"/>
                <a:sym typeface="Montserrat"/>
              </a:rPr>
              <a:t> roles in the process such as Data Engineer, Data Analyst, Data Scientist, Machine Learning Researcher,etc..</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Keep in mind there is also a lot of overlap in these roles and different organizations label role titles differently.</a:t>
            </a:r>
            <a:endParaRPr sz="2900">
              <a:solidFill>
                <a:srgbClr val="434343"/>
              </a:solidFill>
              <a:latin typeface="Montserrat"/>
              <a:ea typeface="Montserrat"/>
              <a:cs typeface="Montserrat"/>
              <a:sym typeface="Montserrat"/>
            </a:endParaRPr>
          </a:p>
        </p:txBody>
      </p:sp>
      <p:pic>
        <p:nvPicPr>
          <p:cNvPr descr="watermark.jpg" id="246" name="Google Shape;246;p3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7" name="Google Shape;247;p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sp>
        <p:nvSpPr>
          <p:cNvPr id="253" name="Google Shape;253;p3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Lastly keep in mind we cover all of these steps and topics in depth throughout the course, this is just a high level overview of the general process and pathway that utilizes a machine learning model.</a:t>
            </a:r>
            <a:endParaRPr sz="2900">
              <a:solidFill>
                <a:srgbClr val="434343"/>
              </a:solidFill>
              <a:latin typeface="Montserrat"/>
              <a:ea typeface="Montserrat"/>
              <a:cs typeface="Montserrat"/>
              <a:sym typeface="Montserrat"/>
            </a:endParaRPr>
          </a:p>
        </p:txBody>
      </p:sp>
      <p:pic>
        <p:nvPicPr>
          <p:cNvPr descr="watermark.jpg" id="254" name="Google Shape;254;p3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55" name="Google Shape;255;p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261" name="Google Shape;261;p3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62" name="Google Shape;262;p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63" name="Google Shape;263;p39"/>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264" name="Google Shape;264;p39"/>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270" name="Google Shape;270;p4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71" name="Google Shape;271;p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72" name="Google Shape;272;p40"/>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273" name="Google Shape;273;p40"/>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274" name="Google Shape;274;p40"/>
          <p:cNvSpPr/>
          <p:nvPr/>
        </p:nvSpPr>
        <p:spPr>
          <a:xfrm>
            <a:off x="7612625" y="857250"/>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Problem to Solve</a:t>
            </a:r>
            <a:endParaRPr b="1">
              <a:latin typeface="Montserrat"/>
              <a:ea typeface="Montserrat"/>
              <a:cs typeface="Montserrat"/>
              <a:sym typeface="Montserrat"/>
            </a:endParaRPr>
          </a:p>
        </p:txBody>
      </p:sp>
      <p:sp>
        <p:nvSpPr>
          <p:cNvPr id="275" name="Google Shape;275;p40"/>
          <p:cNvSpPr/>
          <p:nvPr/>
        </p:nvSpPr>
        <p:spPr>
          <a:xfrm>
            <a:off x="7612625" y="3400300"/>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Question to Answer</a:t>
            </a:r>
            <a:endParaRPr b="1">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281" name="Google Shape;281;p4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82" name="Google Shape;282;p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83" name="Google Shape;283;p41"/>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284" name="Google Shape;284;p41"/>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285" name="Google Shape;285;p41"/>
          <p:cNvSpPr/>
          <p:nvPr/>
        </p:nvSpPr>
        <p:spPr>
          <a:xfrm>
            <a:off x="7612625" y="857250"/>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Problem to Solve</a:t>
            </a:r>
            <a:endParaRPr b="1">
              <a:latin typeface="Montserrat"/>
              <a:ea typeface="Montserrat"/>
              <a:cs typeface="Montserrat"/>
              <a:sym typeface="Montserrat"/>
            </a:endParaRPr>
          </a:p>
        </p:txBody>
      </p:sp>
      <p:sp>
        <p:nvSpPr>
          <p:cNvPr id="286" name="Google Shape;286;p41"/>
          <p:cNvSpPr/>
          <p:nvPr/>
        </p:nvSpPr>
        <p:spPr>
          <a:xfrm>
            <a:off x="7612625" y="3400300"/>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Question to Answer</a:t>
            </a:r>
            <a:endParaRPr b="1">
              <a:latin typeface="Montserrat"/>
              <a:ea typeface="Montserrat"/>
              <a:cs typeface="Montserrat"/>
              <a:sym typeface="Montserrat"/>
            </a:endParaRPr>
          </a:p>
        </p:txBody>
      </p:sp>
      <p:sp>
        <p:nvSpPr>
          <p:cNvPr id="287" name="Google Shape;287;p41"/>
          <p:cNvSpPr txBox="1"/>
          <p:nvPr/>
        </p:nvSpPr>
        <p:spPr>
          <a:xfrm>
            <a:off x="6230150" y="1715975"/>
            <a:ext cx="2710500" cy="73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How to fix or change X?</a:t>
            </a:r>
            <a:endParaRPr b="1">
              <a:latin typeface="Montserrat"/>
              <a:ea typeface="Montserrat"/>
              <a:cs typeface="Montserrat"/>
              <a:sym typeface="Montserrat"/>
            </a:endParaRPr>
          </a:p>
        </p:txBody>
      </p:sp>
      <p:sp>
        <p:nvSpPr>
          <p:cNvPr id="288" name="Google Shape;288;p41"/>
          <p:cNvSpPr txBox="1"/>
          <p:nvPr/>
        </p:nvSpPr>
        <p:spPr>
          <a:xfrm>
            <a:off x="5602300" y="4232600"/>
            <a:ext cx="3297600" cy="73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How does a change in X </a:t>
            </a:r>
            <a:r>
              <a:rPr b="1" lang="en">
                <a:latin typeface="Montserrat"/>
                <a:ea typeface="Montserrat"/>
                <a:cs typeface="Montserrat"/>
                <a:sym typeface="Montserrat"/>
              </a:rPr>
              <a:t>affect</a:t>
            </a:r>
            <a:r>
              <a:rPr b="1" lang="en">
                <a:latin typeface="Montserrat"/>
                <a:ea typeface="Montserrat"/>
                <a:cs typeface="Montserrat"/>
                <a:sym typeface="Montserrat"/>
              </a:rPr>
              <a:t> Y?</a:t>
            </a:r>
            <a:endParaRPr b="1">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294" name="Google Shape;294;p4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95" name="Google Shape;295;p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96" name="Google Shape;296;p42"/>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297" name="Google Shape;297;p42"/>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298" name="Google Shape;298;p42"/>
          <p:cNvSpPr/>
          <p:nvPr/>
        </p:nvSpPr>
        <p:spPr>
          <a:xfrm>
            <a:off x="7612625" y="857250"/>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Product</a:t>
            </a:r>
            <a:endParaRPr b="1">
              <a:latin typeface="Montserrat"/>
              <a:ea typeface="Montserrat"/>
              <a:cs typeface="Montserrat"/>
              <a:sym typeface="Montserrat"/>
            </a:endParaRPr>
          </a:p>
        </p:txBody>
      </p:sp>
      <p:sp>
        <p:nvSpPr>
          <p:cNvPr id="299" name="Google Shape;299;p42"/>
          <p:cNvSpPr/>
          <p:nvPr/>
        </p:nvSpPr>
        <p:spPr>
          <a:xfrm>
            <a:off x="7612625" y="3400300"/>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Analysis</a:t>
            </a:r>
            <a:endParaRPr b="1">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305" name="Google Shape;305;p4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06" name="Google Shape;306;p4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07" name="Google Shape;307;p43"/>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308" name="Google Shape;308;p43"/>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309" name="Google Shape;309;p43"/>
          <p:cNvSpPr/>
          <p:nvPr/>
        </p:nvSpPr>
        <p:spPr>
          <a:xfrm>
            <a:off x="7612625" y="857250"/>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Product</a:t>
            </a:r>
            <a:endParaRPr b="1">
              <a:latin typeface="Montserrat"/>
              <a:ea typeface="Montserrat"/>
              <a:cs typeface="Montserrat"/>
              <a:sym typeface="Montserrat"/>
            </a:endParaRPr>
          </a:p>
        </p:txBody>
      </p:sp>
      <p:sp>
        <p:nvSpPr>
          <p:cNvPr id="310" name="Google Shape;310;p43"/>
          <p:cNvSpPr/>
          <p:nvPr/>
        </p:nvSpPr>
        <p:spPr>
          <a:xfrm>
            <a:off x="7612625" y="3400300"/>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Analysis</a:t>
            </a:r>
            <a:endParaRPr b="1">
              <a:latin typeface="Montserrat"/>
              <a:ea typeface="Montserrat"/>
              <a:cs typeface="Montserrat"/>
              <a:sym typeface="Montserrat"/>
            </a:endParaRPr>
          </a:p>
        </p:txBody>
      </p:sp>
      <p:sp>
        <p:nvSpPr>
          <p:cNvPr id="311" name="Google Shape;311;p43"/>
          <p:cNvSpPr txBox="1"/>
          <p:nvPr/>
        </p:nvSpPr>
        <p:spPr>
          <a:xfrm>
            <a:off x="6230150" y="1715975"/>
            <a:ext cx="2710500" cy="73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Mobile Apps,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Services, Websites, etc...</a:t>
            </a:r>
            <a:endParaRPr b="1">
              <a:latin typeface="Montserrat"/>
              <a:ea typeface="Montserrat"/>
              <a:cs typeface="Montserrat"/>
              <a:sym typeface="Montserrat"/>
            </a:endParaRPr>
          </a:p>
        </p:txBody>
      </p:sp>
      <p:sp>
        <p:nvSpPr>
          <p:cNvPr id="312" name="Google Shape;312;p43"/>
          <p:cNvSpPr txBox="1"/>
          <p:nvPr/>
        </p:nvSpPr>
        <p:spPr>
          <a:xfrm>
            <a:off x="6230150" y="4197100"/>
            <a:ext cx="2710500" cy="73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Reports, Visualizations , Communications, etc...</a:t>
            </a:r>
            <a:endParaRPr b="1">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318" name="Google Shape;318;p4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19" name="Google Shape;319;p4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20" name="Google Shape;320;p44"/>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321" name="Google Shape;321;p44"/>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322" name="Google Shape;322;p44"/>
          <p:cNvSpPr/>
          <p:nvPr/>
        </p:nvSpPr>
        <p:spPr>
          <a:xfrm>
            <a:off x="7612625" y="857250"/>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Product</a:t>
            </a:r>
            <a:endParaRPr b="1">
              <a:latin typeface="Montserrat"/>
              <a:ea typeface="Montserrat"/>
              <a:cs typeface="Montserrat"/>
              <a:sym typeface="Montserrat"/>
            </a:endParaRPr>
          </a:p>
        </p:txBody>
      </p:sp>
      <p:sp>
        <p:nvSpPr>
          <p:cNvPr id="323" name="Google Shape;323;p44"/>
          <p:cNvSpPr/>
          <p:nvPr/>
        </p:nvSpPr>
        <p:spPr>
          <a:xfrm>
            <a:off x="7612625" y="3400300"/>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Analysis</a:t>
            </a:r>
            <a:endParaRPr b="1">
              <a:latin typeface="Montserrat"/>
              <a:ea typeface="Montserrat"/>
              <a:cs typeface="Montserrat"/>
              <a:sym typeface="Montserrat"/>
            </a:endParaRPr>
          </a:p>
        </p:txBody>
      </p:sp>
      <p:cxnSp>
        <p:nvCxnSpPr>
          <p:cNvPr id="324" name="Google Shape;324;p44"/>
          <p:cNvCxnSpPr>
            <a:stCxn id="320" idx="3"/>
            <a:endCxn id="322" idx="1"/>
          </p:cNvCxnSpPr>
          <p:nvPr/>
        </p:nvCxnSpPr>
        <p:spPr>
          <a:xfrm flipH="1" rot="10800000">
            <a:off x="1216650" y="1255612"/>
            <a:ext cx="6396000" cy="12105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325" name="Google Shape;325;p44"/>
          <p:cNvCxnSpPr>
            <a:stCxn id="320" idx="3"/>
            <a:endCxn id="323" idx="1"/>
          </p:cNvCxnSpPr>
          <p:nvPr/>
        </p:nvCxnSpPr>
        <p:spPr>
          <a:xfrm>
            <a:off x="1216650" y="2466112"/>
            <a:ext cx="6396000" cy="13326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331" name="Google Shape;331;p4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32" name="Google Shape;332;p4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33" name="Google Shape;333;p45"/>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334" name="Google Shape;334;p45"/>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335" name="Google Shape;335;p45"/>
          <p:cNvSpPr/>
          <p:nvPr/>
        </p:nvSpPr>
        <p:spPr>
          <a:xfrm>
            <a:off x="7612625" y="857250"/>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Product</a:t>
            </a:r>
            <a:endParaRPr b="1">
              <a:latin typeface="Montserrat"/>
              <a:ea typeface="Montserrat"/>
              <a:cs typeface="Montserrat"/>
              <a:sym typeface="Montserrat"/>
            </a:endParaRPr>
          </a:p>
        </p:txBody>
      </p:sp>
      <p:sp>
        <p:nvSpPr>
          <p:cNvPr id="336" name="Google Shape;336;p45"/>
          <p:cNvSpPr/>
          <p:nvPr/>
        </p:nvSpPr>
        <p:spPr>
          <a:xfrm>
            <a:off x="7612625" y="3400300"/>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Analysis</a:t>
            </a:r>
            <a:endParaRPr b="1">
              <a:latin typeface="Montserrat"/>
              <a:ea typeface="Montserrat"/>
              <a:cs typeface="Montserrat"/>
              <a:sym typeface="Montserrat"/>
            </a:endParaRPr>
          </a:p>
        </p:txBody>
      </p:sp>
      <p:cxnSp>
        <p:nvCxnSpPr>
          <p:cNvPr id="337" name="Google Shape;337;p45"/>
          <p:cNvCxnSpPr>
            <a:stCxn id="333" idx="3"/>
            <a:endCxn id="335" idx="1"/>
          </p:cNvCxnSpPr>
          <p:nvPr/>
        </p:nvCxnSpPr>
        <p:spPr>
          <a:xfrm flipH="1" rot="10800000">
            <a:off x="1216650" y="1255612"/>
            <a:ext cx="6396000" cy="1210500"/>
          </a:xfrm>
          <a:prstGeom prst="curvedConnector3">
            <a:avLst>
              <a:gd fmla="val 50000" name="adj1"/>
            </a:avLst>
          </a:prstGeom>
          <a:noFill/>
          <a:ln cap="flat" cmpd="sng" w="19050">
            <a:solidFill>
              <a:schemeClr val="dk2"/>
            </a:solidFill>
            <a:prstDash val="solid"/>
            <a:round/>
            <a:headEnd len="med" w="med" type="triangle"/>
            <a:tailEnd len="med" w="med" type="none"/>
          </a:ln>
        </p:spPr>
      </p:cxnSp>
      <p:cxnSp>
        <p:nvCxnSpPr>
          <p:cNvPr id="338" name="Google Shape;338;p45"/>
          <p:cNvCxnSpPr>
            <a:stCxn id="333" idx="3"/>
            <a:endCxn id="336" idx="1"/>
          </p:cNvCxnSpPr>
          <p:nvPr/>
        </p:nvCxnSpPr>
        <p:spPr>
          <a:xfrm>
            <a:off x="1216650" y="2466112"/>
            <a:ext cx="6396000" cy="1332600"/>
          </a:xfrm>
          <a:prstGeom prst="curvedConnector3">
            <a:avLst>
              <a:gd fmla="val 50000" name="adj1"/>
            </a:avLst>
          </a:prstGeom>
          <a:noFill/>
          <a:ln cap="flat" cmpd="sng" w="19050">
            <a:solidFill>
              <a:schemeClr val="dk2"/>
            </a:solidFill>
            <a:prstDash val="solid"/>
            <a:round/>
            <a:headEnd len="med" w="med" type="triangle"/>
            <a:tailEnd len="med" w="med" type="non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344" name="Google Shape;344;p4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45" name="Google Shape;345;p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46" name="Google Shape;346;p46"/>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347" name="Google Shape;347;p46"/>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348" name="Google Shape;348;p46"/>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Raw</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349" name="Google Shape;349;p46"/>
          <p:cNvCxnSpPr>
            <a:stCxn id="346" idx="3"/>
            <a:endCxn id="348"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355" name="Google Shape;355;p4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56" name="Google Shape;356;p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57" name="Google Shape;357;p47"/>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358" name="Google Shape;358;p47"/>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359" name="Google Shape;359;p47"/>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Raw</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360" name="Google Shape;360;p47"/>
          <p:cNvCxnSpPr>
            <a:stCxn id="357" idx="3"/>
            <a:endCxn id="359"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361" name="Google Shape;361;p47"/>
          <p:cNvSpPr txBox="1"/>
          <p:nvPr/>
        </p:nvSpPr>
        <p:spPr>
          <a:xfrm>
            <a:off x="1297950" y="2864525"/>
            <a:ext cx="18594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Physical Sensors, Surveys, Simulations, Experiments,  Data Usage, etc...</a:t>
            </a:r>
            <a:endParaRPr b="1">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367" name="Google Shape;367;p4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68" name="Google Shape;368;p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69" name="Google Shape;369;p48"/>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370" name="Google Shape;370;p48"/>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371" name="Google Shape;371;p48"/>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Raw</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372" name="Google Shape;372;p48"/>
          <p:cNvCxnSpPr>
            <a:stCxn id="369" idx="3"/>
            <a:endCxn id="371"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373" name="Google Shape;373;p48"/>
          <p:cNvSpPr txBox="1"/>
          <p:nvPr/>
        </p:nvSpPr>
        <p:spPr>
          <a:xfrm>
            <a:off x="2814675" y="2903775"/>
            <a:ext cx="18594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SQL Database, CSV files, Excel, Cloud Storage</a:t>
            </a:r>
            <a:endParaRPr b="1">
              <a:latin typeface="Montserrat"/>
              <a:ea typeface="Montserrat"/>
              <a:cs typeface="Montserrat"/>
              <a:sym typeface="Montserrat"/>
            </a:endParaRPr>
          </a:p>
        </p:txBody>
      </p:sp>
      <p:sp>
        <p:nvSpPr>
          <p:cNvPr id="374" name="Google Shape;374;p48"/>
          <p:cNvSpPr/>
          <p:nvPr/>
        </p:nvSpPr>
        <p:spPr>
          <a:xfrm>
            <a:off x="3098425"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Process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375" name="Google Shape;375;p48"/>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381" name="Google Shape;381;p4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82" name="Google Shape;382;p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83" name="Google Shape;383;p49"/>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384" name="Google Shape;384;p49"/>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385" name="Google Shape;385;p49"/>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Raw</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386" name="Google Shape;386;p49"/>
          <p:cNvCxnSpPr>
            <a:stCxn id="383" idx="3"/>
            <a:endCxn id="385"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387" name="Google Shape;387;p49"/>
          <p:cNvSpPr/>
          <p:nvPr/>
        </p:nvSpPr>
        <p:spPr>
          <a:xfrm>
            <a:off x="3098425"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Process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388" name="Google Shape;388;p49"/>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389" name="Google Shape;389;p49"/>
          <p:cNvSpPr/>
          <p:nvPr/>
        </p:nvSpPr>
        <p:spPr>
          <a:xfrm rot="5400000">
            <a:off x="2665350" y="2318100"/>
            <a:ext cx="410400" cy="18534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9"/>
          <p:cNvSpPr txBox="1"/>
          <p:nvPr/>
        </p:nvSpPr>
        <p:spPr>
          <a:xfrm>
            <a:off x="1938600" y="3495888"/>
            <a:ext cx="19197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 Engineering</a:t>
            </a:r>
            <a:endParaRPr b="1">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396" name="Google Shape;396;p5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97" name="Google Shape;397;p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98" name="Google Shape;398;p50"/>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399" name="Google Shape;399;p50"/>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400" name="Google Shape;400;p50"/>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401" name="Google Shape;401;p50"/>
          <p:cNvCxnSpPr>
            <a:stCxn id="398" idx="3"/>
            <a:endCxn id="400"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407" name="Google Shape;407;p5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08" name="Google Shape;408;p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409" name="Google Shape;409;p51"/>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410" name="Google Shape;410;p51"/>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411" name="Google Shape;411;p51"/>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412" name="Google Shape;412;p51"/>
          <p:cNvCxnSpPr>
            <a:stCxn id="409" idx="3"/>
            <a:endCxn id="411"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413" name="Google Shape;413;p51"/>
          <p:cNvSpPr/>
          <p:nvPr/>
        </p:nvSpPr>
        <p:spPr>
          <a:xfrm>
            <a:off x="3098425" y="2067713"/>
            <a:ext cx="11409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Clean &amp; Organize</a:t>
            </a:r>
            <a:br>
              <a:rPr b="1" lang="en">
                <a:latin typeface="Montserrat"/>
                <a:ea typeface="Montserrat"/>
                <a:cs typeface="Montserrat"/>
                <a:sym typeface="Montserrat"/>
              </a:rPr>
            </a:b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414" name="Google Shape;414;p51"/>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415" name="Google Shape;415;p51"/>
          <p:cNvSpPr txBox="1"/>
          <p:nvPr/>
        </p:nvSpPr>
        <p:spPr>
          <a:xfrm>
            <a:off x="2426850" y="2903775"/>
            <a:ext cx="26685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Reorganize Data, Dealing with Missing Data, Restructure Data, etc...</a:t>
            </a:r>
            <a:endParaRPr b="1">
              <a:latin typeface="Montserrat"/>
              <a:ea typeface="Montserrat"/>
              <a:cs typeface="Montserrat"/>
              <a:sym typeface="Montserra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421" name="Google Shape;421;p5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22" name="Google Shape;422;p5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423" name="Google Shape;423;p52"/>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424" name="Google Shape;424;p52"/>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425" name="Google Shape;425;p52"/>
          <p:cNvSpPr/>
          <p:nvPr/>
        </p:nvSpPr>
        <p:spPr>
          <a:xfrm>
            <a:off x="1557550" y="2067713"/>
            <a:ext cx="1140900" cy="796800"/>
          </a:xfrm>
          <a:prstGeom prst="roundRect">
            <a:avLst>
              <a:gd fmla="val 16667" name="adj"/>
            </a:avLst>
          </a:prstGeom>
          <a:solidFill>
            <a:srgbClr val="CFE2F3"/>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426" name="Google Shape;426;p52"/>
          <p:cNvCxnSpPr>
            <a:stCxn id="423" idx="3"/>
            <a:endCxn id="425"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427" name="Google Shape;427;p52"/>
          <p:cNvSpPr/>
          <p:nvPr/>
        </p:nvSpPr>
        <p:spPr>
          <a:xfrm>
            <a:off x="3098425" y="2067713"/>
            <a:ext cx="1140900" cy="796800"/>
          </a:xfrm>
          <a:prstGeom prst="roundRect">
            <a:avLst>
              <a:gd fmla="val 16667" name="adj"/>
            </a:avLst>
          </a:prstGeom>
          <a:solidFill>
            <a:srgbClr val="F9CB9C"/>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Clean &amp; Organize</a:t>
            </a:r>
            <a:br>
              <a:rPr b="1" lang="en">
                <a:latin typeface="Montserrat"/>
                <a:ea typeface="Montserrat"/>
                <a:cs typeface="Montserrat"/>
                <a:sym typeface="Montserrat"/>
              </a:rPr>
            </a:b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428" name="Google Shape;428;p52"/>
          <p:cNvCxnSpPr/>
          <p:nvPr/>
        </p:nvCxnSpPr>
        <p:spPr>
          <a:xfrm>
            <a:off x="2728038" y="2466112"/>
            <a:ext cx="340800" cy="0"/>
          </a:xfrm>
          <a:prstGeom prst="straightConnector1">
            <a:avLst/>
          </a:prstGeom>
          <a:noFill/>
          <a:ln cap="flat" cmpd="sng" w="19050">
            <a:solidFill>
              <a:schemeClr val="dk2"/>
            </a:solidFill>
            <a:prstDash val="solid"/>
            <a:round/>
            <a:headEnd len="med" w="med" type="triangle"/>
            <a:tailEnd len="med" w="med" type="triangle"/>
          </a:ln>
        </p:spPr>
      </p:cxnSp>
      <p:sp>
        <p:nvSpPr>
          <p:cNvPr id="429" name="Google Shape;429;p52"/>
          <p:cNvSpPr txBox="1"/>
          <p:nvPr/>
        </p:nvSpPr>
        <p:spPr>
          <a:xfrm>
            <a:off x="1629975" y="2940000"/>
            <a:ext cx="26685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Reorganize Data, Dealing with Missing Data, Restructure Data, etc...</a:t>
            </a:r>
            <a:endParaRPr b="1">
              <a:latin typeface="Montserrat"/>
              <a:ea typeface="Montserrat"/>
              <a:cs typeface="Montserrat"/>
              <a:sym typeface="Montserra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435" name="Google Shape;435;p5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36" name="Google Shape;436;p5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437" name="Google Shape;437;p53"/>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438" name="Google Shape;438;p53"/>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439" name="Google Shape;439;p53"/>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440" name="Google Shape;440;p53"/>
          <p:cNvCxnSpPr>
            <a:stCxn id="437" idx="3"/>
            <a:endCxn id="439"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441" name="Google Shape;441;p53"/>
          <p:cNvSpPr/>
          <p:nvPr/>
        </p:nvSpPr>
        <p:spPr>
          <a:xfrm>
            <a:off x="3098425" y="2067713"/>
            <a:ext cx="11409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Clean &amp; Organize</a:t>
            </a:r>
            <a:br>
              <a:rPr b="1" lang="en">
                <a:latin typeface="Montserrat"/>
                <a:ea typeface="Montserrat"/>
                <a:cs typeface="Montserrat"/>
                <a:sym typeface="Montserrat"/>
              </a:rPr>
            </a:b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442" name="Google Shape;442;p53"/>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448" name="Google Shape;448;p5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49" name="Google Shape;449;p5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450" name="Google Shape;450;p54"/>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451" name="Google Shape;451;p54"/>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452" name="Google Shape;452;p54"/>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453" name="Google Shape;453;p54"/>
          <p:cNvCxnSpPr>
            <a:stCxn id="450" idx="3"/>
            <a:endCxn id="452"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454" name="Google Shape;454;p54"/>
          <p:cNvSpPr/>
          <p:nvPr/>
        </p:nvSpPr>
        <p:spPr>
          <a:xfrm>
            <a:off x="3098425" y="2067713"/>
            <a:ext cx="11409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Clean &amp; Organize</a:t>
            </a:r>
            <a:br>
              <a:rPr b="1" lang="en">
                <a:latin typeface="Montserrat"/>
                <a:ea typeface="Montserrat"/>
                <a:cs typeface="Montserrat"/>
                <a:sym typeface="Montserrat"/>
              </a:rPr>
            </a:b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455" name="Google Shape;455;p54"/>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456" name="Google Shape;456;p54"/>
          <p:cNvSpPr/>
          <p:nvPr/>
        </p:nvSpPr>
        <p:spPr>
          <a:xfrm>
            <a:off x="4639275" y="2067725"/>
            <a:ext cx="14280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Exploratory Data Analysis</a:t>
            </a:r>
            <a:endParaRPr b="1">
              <a:latin typeface="Montserrat"/>
              <a:ea typeface="Montserrat"/>
              <a:cs typeface="Montserrat"/>
              <a:sym typeface="Montserrat"/>
            </a:endParaRPr>
          </a:p>
        </p:txBody>
      </p:sp>
      <p:cxnSp>
        <p:nvCxnSpPr>
          <p:cNvPr id="457" name="Google Shape;457;p54"/>
          <p:cNvCxnSpPr/>
          <p:nvPr/>
        </p:nvCxnSpPr>
        <p:spPr>
          <a:xfrm>
            <a:off x="4268888" y="2505362"/>
            <a:ext cx="340800" cy="0"/>
          </a:xfrm>
          <a:prstGeom prst="straightConnector1">
            <a:avLst/>
          </a:prstGeom>
          <a:noFill/>
          <a:ln cap="flat" cmpd="sng" w="19050">
            <a:solidFill>
              <a:schemeClr val="dk2"/>
            </a:solidFill>
            <a:prstDash val="solid"/>
            <a:round/>
            <a:headEnd len="med" w="med" type="none"/>
            <a:tailEnd len="med" w="med" type="triangle"/>
          </a:ln>
        </p:spPr>
      </p:cxnSp>
      <p:sp>
        <p:nvSpPr>
          <p:cNvPr id="458" name="Google Shape;458;p54"/>
          <p:cNvSpPr txBox="1"/>
          <p:nvPr/>
        </p:nvSpPr>
        <p:spPr>
          <a:xfrm>
            <a:off x="4019025" y="2903775"/>
            <a:ext cx="2668500" cy="85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Statistical Analysis, Visualizations</a:t>
            </a:r>
            <a:endParaRPr b="1">
              <a:latin typeface="Montserrat"/>
              <a:ea typeface="Montserrat"/>
              <a:cs typeface="Montserrat"/>
              <a:sym typeface="Montserrat"/>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464" name="Google Shape;464;p5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65" name="Google Shape;465;p5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466" name="Google Shape;466;p55"/>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467" name="Google Shape;467;p55"/>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468" name="Google Shape;468;p55"/>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469" name="Google Shape;469;p55"/>
          <p:cNvCxnSpPr>
            <a:stCxn id="466" idx="3"/>
            <a:endCxn id="468"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470" name="Google Shape;470;p55"/>
          <p:cNvSpPr/>
          <p:nvPr/>
        </p:nvSpPr>
        <p:spPr>
          <a:xfrm>
            <a:off x="3098425" y="2067713"/>
            <a:ext cx="11409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Clean &amp; Organize</a:t>
            </a:r>
            <a:br>
              <a:rPr b="1" lang="en">
                <a:latin typeface="Montserrat"/>
                <a:ea typeface="Montserrat"/>
                <a:cs typeface="Montserrat"/>
                <a:sym typeface="Montserrat"/>
              </a:rPr>
            </a:b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471" name="Google Shape;471;p55"/>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472" name="Google Shape;472;p55"/>
          <p:cNvSpPr/>
          <p:nvPr/>
        </p:nvSpPr>
        <p:spPr>
          <a:xfrm>
            <a:off x="4639275" y="2067725"/>
            <a:ext cx="14280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Exploratory Data Analysis</a:t>
            </a:r>
            <a:endParaRPr b="1">
              <a:latin typeface="Montserrat"/>
              <a:ea typeface="Montserrat"/>
              <a:cs typeface="Montserrat"/>
              <a:sym typeface="Montserrat"/>
            </a:endParaRPr>
          </a:p>
        </p:txBody>
      </p:sp>
      <p:cxnSp>
        <p:nvCxnSpPr>
          <p:cNvPr id="473" name="Google Shape;473;p55"/>
          <p:cNvCxnSpPr/>
          <p:nvPr/>
        </p:nvCxnSpPr>
        <p:spPr>
          <a:xfrm>
            <a:off x="4268888" y="2505362"/>
            <a:ext cx="340800" cy="0"/>
          </a:xfrm>
          <a:prstGeom prst="straightConnector1">
            <a:avLst/>
          </a:prstGeom>
          <a:noFill/>
          <a:ln cap="flat" cmpd="sng" w="19050">
            <a:solidFill>
              <a:schemeClr val="dk2"/>
            </a:solidFill>
            <a:prstDash val="solid"/>
            <a:round/>
            <a:headEnd len="med" w="med" type="none"/>
            <a:tailEnd len="med" w="med" type="triangle"/>
          </a:ln>
        </p:spPr>
      </p:cxnSp>
      <p:sp>
        <p:nvSpPr>
          <p:cNvPr id="474" name="Google Shape;474;p55"/>
          <p:cNvSpPr/>
          <p:nvPr/>
        </p:nvSpPr>
        <p:spPr>
          <a:xfrm rot="5400000">
            <a:off x="4307425" y="2254700"/>
            <a:ext cx="410400" cy="18534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5"/>
          <p:cNvSpPr txBox="1"/>
          <p:nvPr/>
        </p:nvSpPr>
        <p:spPr>
          <a:xfrm>
            <a:off x="2982275" y="3360075"/>
            <a:ext cx="32055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 Analysis</a:t>
            </a:r>
            <a:endParaRPr b="1">
              <a:latin typeface="Montserrat"/>
              <a:ea typeface="Montserrat"/>
              <a:cs typeface="Montserrat"/>
              <a:sym typeface="Montserrat"/>
            </a:endParaRPr>
          </a:p>
          <a:p>
            <a:pPr indent="0" lvl="0" marL="0" rtl="0" algn="ctr">
              <a:spcBef>
                <a:spcPts val="0"/>
              </a:spcBef>
              <a:spcAft>
                <a:spcPts val="0"/>
              </a:spcAft>
              <a:buNone/>
            </a:pPr>
            <a:r>
              <a:rPr i="1" lang="en">
                <a:latin typeface="Montserrat"/>
                <a:ea typeface="Montserrat"/>
                <a:cs typeface="Montserrat"/>
                <a:sym typeface="Montserrat"/>
              </a:rPr>
              <a:t>(Data Analyst / Data Scientist)</a:t>
            </a:r>
            <a:endParaRPr i="1">
              <a:latin typeface="Montserrat"/>
              <a:ea typeface="Montserrat"/>
              <a:cs typeface="Montserrat"/>
              <a:sym typeface="Montserrat"/>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5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481" name="Google Shape;481;p5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82" name="Google Shape;482;p5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483" name="Google Shape;483;p56"/>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484" name="Google Shape;484;p56"/>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485" name="Google Shape;485;p56"/>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486" name="Google Shape;486;p56"/>
          <p:cNvCxnSpPr>
            <a:stCxn id="483" idx="3"/>
            <a:endCxn id="485"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487" name="Google Shape;487;p56"/>
          <p:cNvSpPr/>
          <p:nvPr/>
        </p:nvSpPr>
        <p:spPr>
          <a:xfrm>
            <a:off x="3098425" y="2067713"/>
            <a:ext cx="11409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Clean &amp; Organize</a:t>
            </a:r>
            <a:br>
              <a:rPr b="1" lang="en">
                <a:latin typeface="Montserrat"/>
                <a:ea typeface="Montserrat"/>
                <a:cs typeface="Montserrat"/>
                <a:sym typeface="Montserrat"/>
              </a:rPr>
            </a:b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488" name="Google Shape;488;p56"/>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489" name="Google Shape;489;p56"/>
          <p:cNvSpPr/>
          <p:nvPr/>
        </p:nvSpPr>
        <p:spPr>
          <a:xfrm>
            <a:off x="4639275" y="2067725"/>
            <a:ext cx="14280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Exploratory Data Analysis</a:t>
            </a:r>
            <a:endParaRPr b="1">
              <a:latin typeface="Montserrat"/>
              <a:ea typeface="Montserrat"/>
              <a:cs typeface="Montserrat"/>
              <a:sym typeface="Montserrat"/>
            </a:endParaRPr>
          </a:p>
        </p:txBody>
      </p:sp>
      <p:cxnSp>
        <p:nvCxnSpPr>
          <p:cNvPr id="490" name="Google Shape;490;p56"/>
          <p:cNvCxnSpPr/>
          <p:nvPr/>
        </p:nvCxnSpPr>
        <p:spPr>
          <a:xfrm>
            <a:off x="4268888" y="2505362"/>
            <a:ext cx="340800" cy="0"/>
          </a:xfrm>
          <a:prstGeom prst="straightConnector1">
            <a:avLst/>
          </a:prstGeom>
          <a:noFill/>
          <a:ln cap="flat" cmpd="sng" w="19050">
            <a:solidFill>
              <a:schemeClr val="dk2"/>
            </a:solidFill>
            <a:prstDash val="solid"/>
            <a:round/>
            <a:headEnd len="med" w="med" type="none"/>
            <a:tailEnd len="med" w="med" type="triangle"/>
          </a:ln>
        </p:spPr>
      </p:cxnSp>
      <p:sp>
        <p:nvSpPr>
          <p:cNvPr id="491" name="Google Shape;491;p56"/>
          <p:cNvSpPr/>
          <p:nvPr/>
        </p:nvSpPr>
        <p:spPr>
          <a:xfrm>
            <a:off x="7642825" y="4004575"/>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Question to Answer</a:t>
            </a:r>
            <a:endParaRPr b="1">
              <a:latin typeface="Montserrat"/>
              <a:ea typeface="Montserrat"/>
              <a:cs typeface="Montserrat"/>
              <a:sym typeface="Montserrat"/>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497" name="Google Shape;497;p5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98" name="Google Shape;498;p5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499" name="Google Shape;499;p57"/>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500" name="Google Shape;500;p57"/>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501" name="Google Shape;501;p57"/>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502" name="Google Shape;502;p57"/>
          <p:cNvCxnSpPr>
            <a:stCxn id="499" idx="3"/>
            <a:endCxn id="501"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503" name="Google Shape;503;p57"/>
          <p:cNvSpPr/>
          <p:nvPr/>
        </p:nvSpPr>
        <p:spPr>
          <a:xfrm>
            <a:off x="3098425" y="2067713"/>
            <a:ext cx="11409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Clean &amp; Organize</a:t>
            </a:r>
            <a:br>
              <a:rPr b="1" lang="en">
                <a:latin typeface="Montserrat"/>
                <a:ea typeface="Montserrat"/>
                <a:cs typeface="Montserrat"/>
                <a:sym typeface="Montserrat"/>
              </a:rPr>
            </a:b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504" name="Google Shape;504;p57"/>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505" name="Google Shape;505;p57"/>
          <p:cNvSpPr/>
          <p:nvPr/>
        </p:nvSpPr>
        <p:spPr>
          <a:xfrm>
            <a:off x="4639275" y="2067725"/>
            <a:ext cx="14280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Exploratory Data Analysis</a:t>
            </a:r>
            <a:endParaRPr b="1">
              <a:latin typeface="Montserrat"/>
              <a:ea typeface="Montserrat"/>
              <a:cs typeface="Montserrat"/>
              <a:sym typeface="Montserrat"/>
            </a:endParaRPr>
          </a:p>
        </p:txBody>
      </p:sp>
      <p:cxnSp>
        <p:nvCxnSpPr>
          <p:cNvPr id="506" name="Google Shape;506;p57"/>
          <p:cNvCxnSpPr/>
          <p:nvPr/>
        </p:nvCxnSpPr>
        <p:spPr>
          <a:xfrm>
            <a:off x="4268888" y="2505362"/>
            <a:ext cx="340800" cy="0"/>
          </a:xfrm>
          <a:prstGeom prst="straightConnector1">
            <a:avLst/>
          </a:prstGeom>
          <a:noFill/>
          <a:ln cap="flat" cmpd="sng" w="19050">
            <a:solidFill>
              <a:schemeClr val="dk2"/>
            </a:solidFill>
            <a:prstDash val="solid"/>
            <a:round/>
            <a:headEnd len="med" w="med" type="none"/>
            <a:tailEnd len="med" w="med" type="triangle"/>
          </a:ln>
        </p:spPr>
      </p:cxnSp>
      <p:sp>
        <p:nvSpPr>
          <p:cNvPr id="507" name="Google Shape;507;p57"/>
          <p:cNvSpPr/>
          <p:nvPr/>
        </p:nvSpPr>
        <p:spPr>
          <a:xfrm>
            <a:off x="7642825" y="4004575"/>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Analysis</a:t>
            </a:r>
            <a:endParaRPr b="1">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513" name="Google Shape;513;p5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14" name="Google Shape;514;p5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515" name="Google Shape;515;p58"/>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516" name="Google Shape;516;p58"/>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517" name="Google Shape;517;p58"/>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518" name="Google Shape;518;p58"/>
          <p:cNvCxnSpPr>
            <a:stCxn id="515" idx="3"/>
            <a:endCxn id="517"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519" name="Google Shape;519;p58"/>
          <p:cNvSpPr/>
          <p:nvPr/>
        </p:nvSpPr>
        <p:spPr>
          <a:xfrm>
            <a:off x="3098425" y="2067713"/>
            <a:ext cx="11409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Clean &amp; Organize</a:t>
            </a:r>
            <a:br>
              <a:rPr b="1" lang="en">
                <a:latin typeface="Montserrat"/>
                <a:ea typeface="Montserrat"/>
                <a:cs typeface="Montserrat"/>
                <a:sym typeface="Montserrat"/>
              </a:rPr>
            </a:b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520" name="Google Shape;520;p58"/>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521" name="Google Shape;521;p58"/>
          <p:cNvSpPr/>
          <p:nvPr/>
        </p:nvSpPr>
        <p:spPr>
          <a:xfrm>
            <a:off x="4639275" y="2067725"/>
            <a:ext cx="14280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Exploratory Data Analysis</a:t>
            </a:r>
            <a:endParaRPr b="1">
              <a:latin typeface="Montserrat"/>
              <a:ea typeface="Montserrat"/>
              <a:cs typeface="Montserrat"/>
              <a:sym typeface="Montserrat"/>
            </a:endParaRPr>
          </a:p>
        </p:txBody>
      </p:sp>
      <p:cxnSp>
        <p:nvCxnSpPr>
          <p:cNvPr id="522" name="Google Shape;522;p58"/>
          <p:cNvCxnSpPr/>
          <p:nvPr/>
        </p:nvCxnSpPr>
        <p:spPr>
          <a:xfrm>
            <a:off x="4268888" y="2505362"/>
            <a:ext cx="340800" cy="0"/>
          </a:xfrm>
          <a:prstGeom prst="straightConnector1">
            <a:avLst/>
          </a:prstGeom>
          <a:noFill/>
          <a:ln cap="flat" cmpd="sng" w="19050">
            <a:solidFill>
              <a:schemeClr val="dk2"/>
            </a:solidFill>
            <a:prstDash val="solid"/>
            <a:round/>
            <a:headEnd len="med" w="med" type="none"/>
            <a:tailEnd len="med" w="med" type="triangle"/>
          </a:ln>
        </p:spPr>
      </p:cxnSp>
      <p:sp>
        <p:nvSpPr>
          <p:cNvPr id="523" name="Google Shape;523;p58"/>
          <p:cNvSpPr/>
          <p:nvPr/>
        </p:nvSpPr>
        <p:spPr>
          <a:xfrm>
            <a:off x="7138750" y="1095725"/>
            <a:ext cx="1802100" cy="6609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Report</a:t>
            </a:r>
            <a:endParaRPr b="1">
              <a:latin typeface="Montserrat"/>
              <a:ea typeface="Montserrat"/>
              <a:cs typeface="Montserrat"/>
              <a:sym typeface="Montserrat"/>
            </a:endParaRPr>
          </a:p>
          <a:p>
            <a:pPr indent="0" lvl="0" marL="0" rtl="0" algn="ctr">
              <a:spcBef>
                <a:spcPts val="0"/>
              </a:spcBef>
              <a:spcAft>
                <a:spcPts val="0"/>
              </a:spcAft>
              <a:buNone/>
            </a:pPr>
            <a:r>
              <a:t/>
            </a:r>
            <a:endParaRPr b="1">
              <a:latin typeface="Montserrat"/>
              <a:ea typeface="Montserrat"/>
              <a:cs typeface="Montserrat"/>
              <a:sym typeface="Montserrat"/>
            </a:endParaRPr>
          </a:p>
        </p:txBody>
      </p:sp>
      <p:sp>
        <p:nvSpPr>
          <p:cNvPr id="524" name="Google Shape;524;p58"/>
          <p:cNvSpPr/>
          <p:nvPr/>
        </p:nvSpPr>
        <p:spPr>
          <a:xfrm>
            <a:off x="7138750" y="1918350"/>
            <a:ext cx="1802100" cy="6609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Visualization</a:t>
            </a:r>
            <a:endParaRPr b="1">
              <a:latin typeface="Montserrat"/>
              <a:ea typeface="Montserrat"/>
              <a:cs typeface="Montserrat"/>
              <a:sym typeface="Montserrat"/>
            </a:endParaRPr>
          </a:p>
        </p:txBody>
      </p:sp>
      <p:sp>
        <p:nvSpPr>
          <p:cNvPr id="525" name="Google Shape;525;p58"/>
          <p:cNvSpPr/>
          <p:nvPr/>
        </p:nvSpPr>
        <p:spPr>
          <a:xfrm>
            <a:off x="7138750" y="2740975"/>
            <a:ext cx="1802100" cy="6609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Communication</a:t>
            </a:r>
            <a:endParaRPr b="1">
              <a:latin typeface="Montserrat"/>
              <a:ea typeface="Montserrat"/>
              <a:cs typeface="Montserrat"/>
              <a:sym typeface="Montserrat"/>
            </a:endParaRPr>
          </a:p>
        </p:txBody>
      </p:sp>
      <p:sp>
        <p:nvSpPr>
          <p:cNvPr id="526" name="Google Shape;526;p58"/>
          <p:cNvSpPr/>
          <p:nvPr/>
        </p:nvSpPr>
        <p:spPr>
          <a:xfrm>
            <a:off x="7642825" y="4004575"/>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Analysis</a:t>
            </a:r>
            <a:endParaRPr b="1">
              <a:latin typeface="Montserrat"/>
              <a:ea typeface="Montserrat"/>
              <a:cs typeface="Montserrat"/>
              <a:sym typeface="Montserrat"/>
            </a:endParaRPr>
          </a:p>
        </p:txBody>
      </p:sp>
      <p:cxnSp>
        <p:nvCxnSpPr>
          <p:cNvPr id="527" name="Google Shape;527;p58"/>
          <p:cNvCxnSpPr>
            <a:stCxn id="521" idx="3"/>
            <a:endCxn id="523" idx="1"/>
          </p:cNvCxnSpPr>
          <p:nvPr/>
        </p:nvCxnSpPr>
        <p:spPr>
          <a:xfrm flipH="1" rot="10800000">
            <a:off x="6067275" y="1426325"/>
            <a:ext cx="1071600" cy="1039800"/>
          </a:xfrm>
          <a:prstGeom prst="curvedConnector3">
            <a:avLst>
              <a:gd fmla="val 49994" name="adj1"/>
            </a:avLst>
          </a:prstGeom>
          <a:noFill/>
          <a:ln cap="flat" cmpd="sng" w="19050">
            <a:solidFill>
              <a:schemeClr val="dk2"/>
            </a:solidFill>
            <a:prstDash val="solid"/>
            <a:round/>
            <a:headEnd len="med" w="med" type="none"/>
            <a:tailEnd len="med" w="med" type="triangle"/>
          </a:ln>
        </p:spPr>
      </p:cxnSp>
      <p:cxnSp>
        <p:nvCxnSpPr>
          <p:cNvPr id="528" name="Google Shape;528;p58"/>
          <p:cNvCxnSpPr>
            <a:stCxn id="521" idx="3"/>
            <a:endCxn id="524" idx="1"/>
          </p:cNvCxnSpPr>
          <p:nvPr/>
        </p:nvCxnSpPr>
        <p:spPr>
          <a:xfrm flipH="1" rot="10800000">
            <a:off x="6067275" y="2248925"/>
            <a:ext cx="1071600" cy="217200"/>
          </a:xfrm>
          <a:prstGeom prst="curvedConnector3">
            <a:avLst>
              <a:gd fmla="val 49994" name="adj1"/>
            </a:avLst>
          </a:prstGeom>
          <a:noFill/>
          <a:ln cap="flat" cmpd="sng" w="19050">
            <a:solidFill>
              <a:schemeClr val="dk2"/>
            </a:solidFill>
            <a:prstDash val="solid"/>
            <a:round/>
            <a:headEnd len="med" w="med" type="none"/>
            <a:tailEnd len="med" w="med" type="triangle"/>
          </a:ln>
        </p:spPr>
      </p:cxnSp>
      <p:cxnSp>
        <p:nvCxnSpPr>
          <p:cNvPr id="529" name="Google Shape;529;p58"/>
          <p:cNvCxnSpPr>
            <a:stCxn id="521" idx="3"/>
            <a:endCxn id="525" idx="1"/>
          </p:cNvCxnSpPr>
          <p:nvPr/>
        </p:nvCxnSpPr>
        <p:spPr>
          <a:xfrm>
            <a:off x="6067275" y="2466125"/>
            <a:ext cx="1071600" cy="605400"/>
          </a:xfrm>
          <a:prstGeom prst="curvedConnector3">
            <a:avLst>
              <a:gd fmla="val 49994" name="adj1"/>
            </a:avLst>
          </a:prstGeom>
          <a:noFill/>
          <a:ln cap="flat" cmpd="sng" w="19050">
            <a:solidFill>
              <a:schemeClr val="dk2"/>
            </a:solidFill>
            <a:prstDash val="solid"/>
            <a:round/>
            <a:headEnd len="med" w="med" type="none"/>
            <a:tailEnd len="med" w="med" type="triangle"/>
          </a:ln>
        </p:spPr>
      </p:cxnSp>
      <p:cxnSp>
        <p:nvCxnSpPr>
          <p:cNvPr id="530" name="Google Shape;530;p58"/>
          <p:cNvCxnSpPr>
            <a:stCxn id="525" idx="2"/>
            <a:endCxn id="526" idx="0"/>
          </p:cNvCxnSpPr>
          <p:nvPr/>
        </p:nvCxnSpPr>
        <p:spPr>
          <a:xfrm flipH="1" rot="-5400000">
            <a:off x="7825150" y="3616525"/>
            <a:ext cx="602700" cy="1734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536" name="Google Shape;536;p5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37" name="Google Shape;537;p5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538" name="Google Shape;538;p59"/>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539" name="Google Shape;539;p59"/>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540" name="Google Shape;540;p59"/>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541" name="Google Shape;541;p59"/>
          <p:cNvCxnSpPr>
            <a:stCxn id="538" idx="3"/>
            <a:endCxn id="540"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542" name="Google Shape;542;p59"/>
          <p:cNvSpPr/>
          <p:nvPr/>
        </p:nvSpPr>
        <p:spPr>
          <a:xfrm>
            <a:off x="3098425" y="2067713"/>
            <a:ext cx="11409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Clean &amp; Organize</a:t>
            </a:r>
            <a:br>
              <a:rPr b="1" lang="en">
                <a:latin typeface="Montserrat"/>
                <a:ea typeface="Montserrat"/>
                <a:cs typeface="Montserrat"/>
                <a:sym typeface="Montserrat"/>
              </a:rPr>
            </a:b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543" name="Google Shape;543;p59"/>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544" name="Google Shape;544;p59"/>
          <p:cNvSpPr/>
          <p:nvPr/>
        </p:nvSpPr>
        <p:spPr>
          <a:xfrm>
            <a:off x="4639275" y="2067725"/>
            <a:ext cx="14280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Exploratory Data Analysis</a:t>
            </a:r>
            <a:endParaRPr b="1">
              <a:latin typeface="Montserrat"/>
              <a:ea typeface="Montserrat"/>
              <a:cs typeface="Montserrat"/>
              <a:sym typeface="Montserrat"/>
            </a:endParaRPr>
          </a:p>
        </p:txBody>
      </p:sp>
      <p:cxnSp>
        <p:nvCxnSpPr>
          <p:cNvPr id="545" name="Google Shape;545;p59"/>
          <p:cNvCxnSpPr/>
          <p:nvPr/>
        </p:nvCxnSpPr>
        <p:spPr>
          <a:xfrm>
            <a:off x="4268888" y="2505362"/>
            <a:ext cx="340800" cy="0"/>
          </a:xfrm>
          <a:prstGeom prst="straightConnector1">
            <a:avLst/>
          </a:prstGeom>
          <a:noFill/>
          <a:ln cap="flat" cmpd="sng" w="19050">
            <a:solidFill>
              <a:schemeClr val="dk2"/>
            </a:solidFill>
            <a:prstDash val="solid"/>
            <a:round/>
            <a:headEnd len="med" w="med" type="none"/>
            <a:tailEnd len="med" w="med" type="triangle"/>
          </a:ln>
        </p:spPr>
      </p:cxnSp>
      <p:sp>
        <p:nvSpPr>
          <p:cNvPr id="546" name="Google Shape;546;p59"/>
          <p:cNvSpPr/>
          <p:nvPr/>
        </p:nvSpPr>
        <p:spPr>
          <a:xfrm>
            <a:off x="7138750" y="1095725"/>
            <a:ext cx="1802100" cy="6609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Report</a:t>
            </a:r>
            <a:endParaRPr b="1">
              <a:latin typeface="Montserrat"/>
              <a:ea typeface="Montserrat"/>
              <a:cs typeface="Montserrat"/>
              <a:sym typeface="Montserrat"/>
            </a:endParaRPr>
          </a:p>
          <a:p>
            <a:pPr indent="0" lvl="0" marL="0" rtl="0" algn="ctr">
              <a:spcBef>
                <a:spcPts val="0"/>
              </a:spcBef>
              <a:spcAft>
                <a:spcPts val="0"/>
              </a:spcAft>
              <a:buNone/>
            </a:pPr>
            <a:r>
              <a:t/>
            </a:r>
            <a:endParaRPr b="1">
              <a:latin typeface="Montserrat"/>
              <a:ea typeface="Montserrat"/>
              <a:cs typeface="Montserrat"/>
              <a:sym typeface="Montserrat"/>
            </a:endParaRPr>
          </a:p>
        </p:txBody>
      </p:sp>
      <p:sp>
        <p:nvSpPr>
          <p:cNvPr id="547" name="Google Shape;547;p59"/>
          <p:cNvSpPr/>
          <p:nvPr/>
        </p:nvSpPr>
        <p:spPr>
          <a:xfrm>
            <a:off x="7138750" y="1918350"/>
            <a:ext cx="1802100" cy="6609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Visualization</a:t>
            </a:r>
            <a:endParaRPr b="1">
              <a:latin typeface="Montserrat"/>
              <a:ea typeface="Montserrat"/>
              <a:cs typeface="Montserrat"/>
              <a:sym typeface="Montserrat"/>
            </a:endParaRPr>
          </a:p>
        </p:txBody>
      </p:sp>
      <p:sp>
        <p:nvSpPr>
          <p:cNvPr id="548" name="Google Shape;548;p59"/>
          <p:cNvSpPr/>
          <p:nvPr/>
        </p:nvSpPr>
        <p:spPr>
          <a:xfrm>
            <a:off x="7138750" y="2740975"/>
            <a:ext cx="1802100" cy="6609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Communication</a:t>
            </a:r>
            <a:endParaRPr b="1">
              <a:latin typeface="Montserrat"/>
              <a:ea typeface="Montserrat"/>
              <a:cs typeface="Montserrat"/>
              <a:sym typeface="Montserrat"/>
            </a:endParaRPr>
          </a:p>
        </p:txBody>
      </p:sp>
      <p:sp>
        <p:nvSpPr>
          <p:cNvPr id="549" name="Google Shape;549;p59"/>
          <p:cNvSpPr/>
          <p:nvPr/>
        </p:nvSpPr>
        <p:spPr>
          <a:xfrm>
            <a:off x="7642825" y="4004575"/>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Analysis</a:t>
            </a:r>
            <a:endParaRPr b="1">
              <a:latin typeface="Montserrat"/>
              <a:ea typeface="Montserrat"/>
              <a:cs typeface="Montserrat"/>
              <a:sym typeface="Montserrat"/>
            </a:endParaRPr>
          </a:p>
        </p:txBody>
      </p:sp>
      <p:cxnSp>
        <p:nvCxnSpPr>
          <p:cNvPr id="550" name="Google Shape;550;p59"/>
          <p:cNvCxnSpPr>
            <a:stCxn id="544" idx="3"/>
            <a:endCxn id="546" idx="1"/>
          </p:cNvCxnSpPr>
          <p:nvPr/>
        </p:nvCxnSpPr>
        <p:spPr>
          <a:xfrm flipH="1" rot="10800000">
            <a:off x="6067275" y="1426325"/>
            <a:ext cx="1071600" cy="1039800"/>
          </a:xfrm>
          <a:prstGeom prst="curvedConnector3">
            <a:avLst>
              <a:gd fmla="val 49994" name="adj1"/>
            </a:avLst>
          </a:prstGeom>
          <a:noFill/>
          <a:ln cap="flat" cmpd="sng" w="19050">
            <a:solidFill>
              <a:schemeClr val="dk2"/>
            </a:solidFill>
            <a:prstDash val="solid"/>
            <a:round/>
            <a:headEnd len="med" w="med" type="none"/>
            <a:tailEnd len="med" w="med" type="triangle"/>
          </a:ln>
        </p:spPr>
      </p:cxnSp>
      <p:cxnSp>
        <p:nvCxnSpPr>
          <p:cNvPr id="551" name="Google Shape;551;p59"/>
          <p:cNvCxnSpPr>
            <a:stCxn id="544" idx="3"/>
            <a:endCxn id="547" idx="1"/>
          </p:cNvCxnSpPr>
          <p:nvPr/>
        </p:nvCxnSpPr>
        <p:spPr>
          <a:xfrm flipH="1" rot="10800000">
            <a:off x="6067275" y="2248925"/>
            <a:ext cx="1071600" cy="217200"/>
          </a:xfrm>
          <a:prstGeom prst="curvedConnector3">
            <a:avLst>
              <a:gd fmla="val 49994" name="adj1"/>
            </a:avLst>
          </a:prstGeom>
          <a:noFill/>
          <a:ln cap="flat" cmpd="sng" w="19050">
            <a:solidFill>
              <a:schemeClr val="dk2"/>
            </a:solidFill>
            <a:prstDash val="solid"/>
            <a:round/>
            <a:headEnd len="med" w="med" type="none"/>
            <a:tailEnd len="med" w="med" type="triangle"/>
          </a:ln>
        </p:spPr>
      </p:cxnSp>
      <p:cxnSp>
        <p:nvCxnSpPr>
          <p:cNvPr id="552" name="Google Shape;552;p59"/>
          <p:cNvCxnSpPr>
            <a:stCxn id="544" idx="3"/>
            <a:endCxn id="548" idx="1"/>
          </p:cNvCxnSpPr>
          <p:nvPr/>
        </p:nvCxnSpPr>
        <p:spPr>
          <a:xfrm>
            <a:off x="6067275" y="2466125"/>
            <a:ext cx="1071600" cy="605400"/>
          </a:xfrm>
          <a:prstGeom prst="curvedConnector3">
            <a:avLst>
              <a:gd fmla="val 49994" name="adj1"/>
            </a:avLst>
          </a:prstGeom>
          <a:noFill/>
          <a:ln cap="flat" cmpd="sng" w="19050">
            <a:solidFill>
              <a:schemeClr val="dk2"/>
            </a:solidFill>
            <a:prstDash val="solid"/>
            <a:round/>
            <a:headEnd len="med" w="med" type="none"/>
            <a:tailEnd len="med" w="med" type="triangle"/>
          </a:ln>
        </p:spPr>
      </p:cxnSp>
      <p:cxnSp>
        <p:nvCxnSpPr>
          <p:cNvPr id="553" name="Google Shape;553;p59"/>
          <p:cNvCxnSpPr>
            <a:stCxn id="548" idx="2"/>
            <a:endCxn id="549" idx="0"/>
          </p:cNvCxnSpPr>
          <p:nvPr/>
        </p:nvCxnSpPr>
        <p:spPr>
          <a:xfrm flipH="1" rot="-5400000">
            <a:off x="7825150" y="3616525"/>
            <a:ext cx="602700" cy="1734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554" name="Google Shape;554;p59"/>
          <p:cNvCxnSpPr/>
          <p:nvPr/>
        </p:nvCxnSpPr>
        <p:spPr>
          <a:xfrm rot="10800000">
            <a:off x="1026350" y="3235875"/>
            <a:ext cx="6593700" cy="1248000"/>
          </a:xfrm>
          <a:prstGeom prst="curvedConnector3">
            <a:avLst>
              <a:gd fmla="val 50000" name="adj1"/>
            </a:avLst>
          </a:prstGeom>
          <a:noFill/>
          <a:ln cap="flat" cmpd="sng" w="19050">
            <a:solidFill>
              <a:schemeClr val="dk2"/>
            </a:solidFill>
            <a:prstDash val="solid"/>
            <a:round/>
            <a:headEnd len="med" w="med" type="none"/>
            <a:tailEnd len="med" w="med" type="triangle"/>
          </a:ln>
        </p:spPr>
      </p:cxnSp>
      <p:sp>
        <p:nvSpPr>
          <p:cNvPr id="555" name="Google Shape;555;p59"/>
          <p:cNvSpPr txBox="1"/>
          <p:nvPr/>
        </p:nvSpPr>
        <p:spPr>
          <a:xfrm>
            <a:off x="4968425" y="4483875"/>
            <a:ext cx="28062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Make Decisions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Answer Key Questions</a:t>
            </a:r>
            <a:endParaRPr b="1">
              <a:latin typeface="Montserrat"/>
              <a:ea typeface="Montserrat"/>
              <a:cs typeface="Montserrat"/>
              <a:sym typeface="Montserra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561" name="Google Shape;561;p6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62" name="Google Shape;562;p6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563" name="Google Shape;563;p60"/>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564" name="Google Shape;564;p60"/>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565" name="Google Shape;565;p60"/>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566" name="Google Shape;566;p60"/>
          <p:cNvCxnSpPr>
            <a:stCxn id="563" idx="3"/>
            <a:endCxn id="565"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567" name="Google Shape;567;p60"/>
          <p:cNvSpPr/>
          <p:nvPr/>
        </p:nvSpPr>
        <p:spPr>
          <a:xfrm>
            <a:off x="3098425" y="2067713"/>
            <a:ext cx="11409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Clean &amp; Organize</a:t>
            </a:r>
            <a:br>
              <a:rPr b="1" lang="en">
                <a:latin typeface="Montserrat"/>
                <a:ea typeface="Montserrat"/>
                <a:cs typeface="Montserrat"/>
                <a:sym typeface="Montserrat"/>
              </a:rPr>
            </a:b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568" name="Google Shape;568;p60"/>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569" name="Google Shape;569;p60"/>
          <p:cNvSpPr/>
          <p:nvPr/>
        </p:nvSpPr>
        <p:spPr>
          <a:xfrm>
            <a:off x="4639275" y="2067725"/>
            <a:ext cx="14280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Exploratory Data Analysis</a:t>
            </a:r>
            <a:endParaRPr b="1">
              <a:latin typeface="Montserrat"/>
              <a:ea typeface="Montserrat"/>
              <a:cs typeface="Montserrat"/>
              <a:sym typeface="Montserrat"/>
            </a:endParaRPr>
          </a:p>
        </p:txBody>
      </p:sp>
      <p:cxnSp>
        <p:nvCxnSpPr>
          <p:cNvPr id="570" name="Google Shape;570;p60"/>
          <p:cNvCxnSpPr/>
          <p:nvPr/>
        </p:nvCxnSpPr>
        <p:spPr>
          <a:xfrm>
            <a:off x="4268888" y="2505362"/>
            <a:ext cx="3408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6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576" name="Google Shape;576;p6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77" name="Google Shape;577;p6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578" name="Google Shape;578;p61"/>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579" name="Google Shape;579;p61"/>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580" name="Google Shape;580;p61"/>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581" name="Google Shape;581;p61"/>
          <p:cNvCxnSpPr>
            <a:stCxn id="578" idx="3"/>
            <a:endCxn id="580"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582" name="Google Shape;582;p61"/>
          <p:cNvSpPr/>
          <p:nvPr/>
        </p:nvSpPr>
        <p:spPr>
          <a:xfrm>
            <a:off x="3098425" y="2067713"/>
            <a:ext cx="11409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Clean &amp; Organize</a:t>
            </a:r>
            <a:br>
              <a:rPr b="1" lang="en">
                <a:latin typeface="Montserrat"/>
                <a:ea typeface="Montserrat"/>
                <a:cs typeface="Montserrat"/>
                <a:sym typeface="Montserrat"/>
              </a:rPr>
            </a:b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583" name="Google Shape;583;p61"/>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584" name="Google Shape;584;p61"/>
          <p:cNvSpPr/>
          <p:nvPr/>
        </p:nvSpPr>
        <p:spPr>
          <a:xfrm>
            <a:off x="4639275" y="2067725"/>
            <a:ext cx="14280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Exploratory Data Analysis</a:t>
            </a:r>
            <a:endParaRPr b="1">
              <a:latin typeface="Montserrat"/>
              <a:ea typeface="Montserrat"/>
              <a:cs typeface="Montserrat"/>
              <a:sym typeface="Montserrat"/>
            </a:endParaRPr>
          </a:p>
        </p:txBody>
      </p:sp>
      <p:cxnSp>
        <p:nvCxnSpPr>
          <p:cNvPr id="585" name="Google Shape;585;p61"/>
          <p:cNvCxnSpPr/>
          <p:nvPr/>
        </p:nvCxnSpPr>
        <p:spPr>
          <a:xfrm>
            <a:off x="4268888" y="2505362"/>
            <a:ext cx="340800" cy="0"/>
          </a:xfrm>
          <a:prstGeom prst="straightConnector1">
            <a:avLst/>
          </a:prstGeom>
          <a:noFill/>
          <a:ln cap="flat" cmpd="sng" w="19050">
            <a:solidFill>
              <a:schemeClr val="dk2"/>
            </a:solidFill>
            <a:prstDash val="solid"/>
            <a:round/>
            <a:headEnd len="med" w="med" type="none"/>
            <a:tailEnd len="med" w="med" type="triangle"/>
          </a:ln>
        </p:spPr>
      </p:cxnSp>
      <p:cxnSp>
        <p:nvCxnSpPr>
          <p:cNvPr id="586" name="Google Shape;586;p61"/>
          <p:cNvCxnSpPr/>
          <p:nvPr/>
        </p:nvCxnSpPr>
        <p:spPr>
          <a:xfrm>
            <a:off x="6067263"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587" name="Google Shape;587;p61"/>
          <p:cNvSpPr/>
          <p:nvPr/>
        </p:nvSpPr>
        <p:spPr>
          <a:xfrm>
            <a:off x="6408075" y="2067725"/>
            <a:ext cx="1428000" cy="796800"/>
          </a:xfrm>
          <a:prstGeom prst="roundRect">
            <a:avLst>
              <a:gd fmla="val 16667" name="adj"/>
            </a:avLst>
          </a:prstGeom>
          <a:solidFill>
            <a:srgbClr val="D5A6B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Machine Learning</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Models</a:t>
            </a:r>
            <a:endParaRPr b="1">
              <a:latin typeface="Montserrat"/>
              <a:ea typeface="Montserrat"/>
              <a:cs typeface="Montserrat"/>
              <a:sym typeface="Montserrat"/>
            </a:endParaRPr>
          </a:p>
        </p:txBody>
      </p:sp>
      <p:sp>
        <p:nvSpPr>
          <p:cNvPr id="588" name="Google Shape;588;p61"/>
          <p:cNvSpPr txBox="1"/>
          <p:nvPr/>
        </p:nvSpPr>
        <p:spPr>
          <a:xfrm>
            <a:off x="5813600" y="2980675"/>
            <a:ext cx="28062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Supervised Learning: </a:t>
            </a:r>
            <a:r>
              <a:rPr i="1" lang="en">
                <a:latin typeface="Montserrat"/>
                <a:ea typeface="Montserrat"/>
                <a:cs typeface="Montserrat"/>
                <a:sym typeface="Montserrat"/>
              </a:rPr>
              <a:t>Predict an Outcome</a:t>
            </a:r>
            <a:endParaRPr i="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Unsupervised Learning:</a:t>
            </a:r>
            <a:endParaRPr b="1">
              <a:latin typeface="Montserrat"/>
              <a:ea typeface="Montserrat"/>
              <a:cs typeface="Montserrat"/>
              <a:sym typeface="Montserrat"/>
            </a:endParaRPr>
          </a:p>
          <a:p>
            <a:pPr indent="0" lvl="0" marL="0" rtl="0" algn="ctr">
              <a:spcBef>
                <a:spcPts val="0"/>
              </a:spcBef>
              <a:spcAft>
                <a:spcPts val="0"/>
              </a:spcAft>
              <a:buNone/>
            </a:pPr>
            <a:r>
              <a:rPr i="1" lang="en">
                <a:latin typeface="Montserrat"/>
                <a:ea typeface="Montserrat"/>
                <a:cs typeface="Montserrat"/>
                <a:sym typeface="Montserrat"/>
              </a:rPr>
              <a:t>Discover Patterns in Data</a:t>
            </a:r>
            <a:endParaRPr i="1">
              <a:latin typeface="Montserrat"/>
              <a:ea typeface="Montserrat"/>
              <a:cs typeface="Montserrat"/>
              <a:sym typeface="Montserra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6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594" name="Google Shape;594;p6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95" name="Google Shape;595;p6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596" name="Google Shape;596;p62"/>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597" name="Google Shape;597;p62"/>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598" name="Google Shape;598;p62"/>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599" name="Google Shape;599;p62"/>
          <p:cNvCxnSpPr>
            <a:stCxn id="596" idx="3"/>
            <a:endCxn id="598"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600" name="Google Shape;600;p62"/>
          <p:cNvSpPr/>
          <p:nvPr/>
        </p:nvSpPr>
        <p:spPr>
          <a:xfrm>
            <a:off x="3098425" y="2067713"/>
            <a:ext cx="11409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Clean &amp; Organize</a:t>
            </a:r>
            <a:br>
              <a:rPr b="1" lang="en">
                <a:latin typeface="Montserrat"/>
                <a:ea typeface="Montserrat"/>
                <a:cs typeface="Montserrat"/>
                <a:sym typeface="Montserrat"/>
              </a:rPr>
            </a:b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601" name="Google Shape;601;p62"/>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602" name="Google Shape;602;p62"/>
          <p:cNvSpPr/>
          <p:nvPr/>
        </p:nvSpPr>
        <p:spPr>
          <a:xfrm>
            <a:off x="4639275" y="2067725"/>
            <a:ext cx="14280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Exploratory Data Analysis</a:t>
            </a:r>
            <a:endParaRPr b="1">
              <a:latin typeface="Montserrat"/>
              <a:ea typeface="Montserrat"/>
              <a:cs typeface="Montserrat"/>
              <a:sym typeface="Montserrat"/>
            </a:endParaRPr>
          </a:p>
        </p:txBody>
      </p:sp>
      <p:cxnSp>
        <p:nvCxnSpPr>
          <p:cNvPr id="603" name="Google Shape;603;p62"/>
          <p:cNvCxnSpPr/>
          <p:nvPr/>
        </p:nvCxnSpPr>
        <p:spPr>
          <a:xfrm>
            <a:off x="4268888" y="2505362"/>
            <a:ext cx="340800" cy="0"/>
          </a:xfrm>
          <a:prstGeom prst="straightConnector1">
            <a:avLst/>
          </a:prstGeom>
          <a:noFill/>
          <a:ln cap="flat" cmpd="sng" w="19050">
            <a:solidFill>
              <a:schemeClr val="dk2"/>
            </a:solidFill>
            <a:prstDash val="solid"/>
            <a:round/>
            <a:headEnd len="med" w="med" type="none"/>
            <a:tailEnd len="med" w="med" type="triangle"/>
          </a:ln>
        </p:spPr>
      </p:cxnSp>
      <p:cxnSp>
        <p:nvCxnSpPr>
          <p:cNvPr id="604" name="Google Shape;604;p62"/>
          <p:cNvCxnSpPr/>
          <p:nvPr/>
        </p:nvCxnSpPr>
        <p:spPr>
          <a:xfrm>
            <a:off x="6067263"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605" name="Google Shape;605;p62"/>
          <p:cNvSpPr/>
          <p:nvPr/>
        </p:nvSpPr>
        <p:spPr>
          <a:xfrm>
            <a:off x="6408075" y="2067725"/>
            <a:ext cx="1428000" cy="796800"/>
          </a:xfrm>
          <a:prstGeom prst="roundRect">
            <a:avLst>
              <a:gd fmla="val 16667" name="adj"/>
            </a:avLst>
          </a:prstGeom>
          <a:solidFill>
            <a:srgbClr val="D5A6B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Machine Learning</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Models</a:t>
            </a:r>
            <a:endParaRPr b="1">
              <a:latin typeface="Montserrat"/>
              <a:ea typeface="Montserrat"/>
              <a:cs typeface="Montserrat"/>
              <a:sym typeface="Montserrat"/>
            </a:endParaRPr>
          </a:p>
        </p:txBody>
      </p:sp>
      <p:sp>
        <p:nvSpPr>
          <p:cNvPr id="606" name="Google Shape;606;p62"/>
          <p:cNvSpPr/>
          <p:nvPr/>
        </p:nvSpPr>
        <p:spPr>
          <a:xfrm rot="5400000">
            <a:off x="6184925" y="2228175"/>
            <a:ext cx="410400" cy="18534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62"/>
          <p:cNvSpPr txBox="1"/>
          <p:nvPr/>
        </p:nvSpPr>
        <p:spPr>
          <a:xfrm>
            <a:off x="4109675" y="3360075"/>
            <a:ext cx="45609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Machine Learning</a:t>
            </a:r>
            <a:endParaRPr b="1">
              <a:latin typeface="Montserrat"/>
              <a:ea typeface="Montserrat"/>
              <a:cs typeface="Montserrat"/>
              <a:sym typeface="Montserrat"/>
            </a:endParaRPr>
          </a:p>
          <a:p>
            <a:pPr indent="0" lvl="0" marL="0" rtl="0" algn="ctr">
              <a:spcBef>
                <a:spcPts val="0"/>
              </a:spcBef>
              <a:spcAft>
                <a:spcPts val="0"/>
              </a:spcAft>
              <a:buNone/>
            </a:pPr>
            <a:r>
              <a:rPr i="1" lang="en">
                <a:latin typeface="Montserrat"/>
                <a:ea typeface="Montserrat"/>
                <a:cs typeface="Montserrat"/>
                <a:sym typeface="Montserrat"/>
              </a:rPr>
              <a:t>(Data Scientist / Machine Learning Engineer)</a:t>
            </a:r>
            <a:endParaRPr i="1">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6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613" name="Google Shape;613;p6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14" name="Google Shape;614;p6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615" name="Google Shape;615;p63"/>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616" name="Google Shape;616;p63"/>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617" name="Google Shape;617;p63"/>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618" name="Google Shape;618;p63"/>
          <p:cNvCxnSpPr>
            <a:stCxn id="615" idx="3"/>
            <a:endCxn id="617"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619" name="Google Shape;619;p63"/>
          <p:cNvSpPr/>
          <p:nvPr/>
        </p:nvSpPr>
        <p:spPr>
          <a:xfrm>
            <a:off x="3098425" y="2067713"/>
            <a:ext cx="11409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Clean &amp; Organize</a:t>
            </a:r>
            <a:br>
              <a:rPr b="1" lang="en">
                <a:latin typeface="Montserrat"/>
                <a:ea typeface="Montserrat"/>
                <a:cs typeface="Montserrat"/>
                <a:sym typeface="Montserrat"/>
              </a:rPr>
            </a:b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620" name="Google Shape;620;p63"/>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621" name="Google Shape;621;p63"/>
          <p:cNvSpPr/>
          <p:nvPr/>
        </p:nvSpPr>
        <p:spPr>
          <a:xfrm>
            <a:off x="4639275" y="2067725"/>
            <a:ext cx="14280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Exploratory Data Analysis</a:t>
            </a:r>
            <a:endParaRPr b="1">
              <a:latin typeface="Montserrat"/>
              <a:ea typeface="Montserrat"/>
              <a:cs typeface="Montserrat"/>
              <a:sym typeface="Montserrat"/>
            </a:endParaRPr>
          </a:p>
        </p:txBody>
      </p:sp>
      <p:cxnSp>
        <p:nvCxnSpPr>
          <p:cNvPr id="622" name="Google Shape;622;p63"/>
          <p:cNvCxnSpPr/>
          <p:nvPr/>
        </p:nvCxnSpPr>
        <p:spPr>
          <a:xfrm>
            <a:off x="4268888" y="2505362"/>
            <a:ext cx="340800" cy="0"/>
          </a:xfrm>
          <a:prstGeom prst="straightConnector1">
            <a:avLst/>
          </a:prstGeom>
          <a:noFill/>
          <a:ln cap="flat" cmpd="sng" w="19050">
            <a:solidFill>
              <a:schemeClr val="dk2"/>
            </a:solidFill>
            <a:prstDash val="solid"/>
            <a:round/>
            <a:headEnd len="med" w="med" type="none"/>
            <a:tailEnd len="med" w="med" type="triangle"/>
          </a:ln>
        </p:spPr>
      </p:cxnSp>
      <p:cxnSp>
        <p:nvCxnSpPr>
          <p:cNvPr id="623" name="Google Shape;623;p63"/>
          <p:cNvCxnSpPr/>
          <p:nvPr/>
        </p:nvCxnSpPr>
        <p:spPr>
          <a:xfrm>
            <a:off x="6067263"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624" name="Google Shape;624;p63"/>
          <p:cNvSpPr/>
          <p:nvPr/>
        </p:nvSpPr>
        <p:spPr>
          <a:xfrm>
            <a:off x="6408075" y="2067725"/>
            <a:ext cx="1428000" cy="796800"/>
          </a:xfrm>
          <a:prstGeom prst="roundRect">
            <a:avLst>
              <a:gd fmla="val 16667" name="adj"/>
            </a:avLst>
          </a:prstGeom>
          <a:solidFill>
            <a:srgbClr val="D5A6B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Machine Learning</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Models</a:t>
            </a:r>
            <a:endParaRPr b="1">
              <a:latin typeface="Montserrat"/>
              <a:ea typeface="Montserrat"/>
              <a:cs typeface="Montserrat"/>
              <a:sym typeface="Montserrat"/>
            </a:endParaRPr>
          </a:p>
        </p:txBody>
      </p:sp>
      <p:sp>
        <p:nvSpPr>
          <p:cNvPr id="625" name="Google Shape;625;p63"/>
          <p:cNvSpPr txBox="1"/>
          <p:nvPr/>
        </p:nvSpPr>
        <p:spPr>
          <a:xfrm>
            <a:off x="3068850" y="4584050"/>
            <a:ext cx="28062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Predict Future Outcomes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Gain Insight on Data</a:t>
            </a:r>
            <a:endParaRPr b="1">
              <a:latin typeface="Montserrat"/>
              <a:ea typeface="Montserrat"/>
              <a:cs typeface="Montserrat"/>
              <a:sym typeface="Montserrat"/>
            </a:endParaRPr>
          </a:p>
        </p:txBody>
      </p:sp>
      <p:sp>
        <p:nvSpPr>
          <p:cNvPr id="626" name="Google Shape;626;p63"/>
          <p:cNvSpPr/>
          <p:nvPr/>
        </p:nvSpPr>
        <p:spPr>
          <a:xfrm>
            <a:off x="3868850" y="3787250"/>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Product</a:t>
            </a:r>
            <a:endParaRPr b="1">
              <a:latin typeface="Montserrat"/>
              <a:ea typeface="Montserrat"/>
              <a:cs typeface="Montserrat"/>
              <a:sym typeface="Montserrat"/>
            </a:endParaRPr>
          </a:p>
        </p:txBody>
      </p:sp>
      <p:cxnSp>
        <p:nvCxnSpPr>
          <p:cNvPr id="627" name="Google Shape;627;p63"/>
          <p:cNvCxnSpPr>
            <a:stCxn id="624" idx="2"/>
            <a:endCxn id="628" idx="1"/>
          </p:cNvCxnSpPr>
          <p:nvPr/>
        </p:nvCxnSpPr>
        <p:spPr>
          <a:xfrm rot="5400000">
            <a:off x="6685425" y="3169775"/>
            <a:ext cx="741900" cy="131400"/>
          </a:xfrm>
          <a:prstGeom prst="curvedConnector4">
            <a:avLst>
              <a:gd fmla="val 40710" name="adj1"/>
              <a:gd fmla="val 281126" name="adj2"/>
            </a:avLst>
          </a:prstGeom>
          <a:noFill/>
          <a:ln cap="flat" cmpd="sng" w="19050">
            <a:solidFill>
              <a:schemeClr val="dk2"/>
            </a:solidFill>
            <a:prstDash val="solid"/>
            <a:round/>
            <a:headEnd len="med" w="med" type="none"/>
            <a:tailEnd len="med" w="med" type="triangle"/>
          </a:ln>
        </p:spPr>
      </p:cxnSp>
      <p:cxnSp>
        <p:nvCxnSpPr>
          <p:cNvPr id="629" name="Google Shape;629;p63"/>
          <p:cNvCxnSpPr/>
          <p:nvPr/>
        </p:nvCxnSpPr>
        <p:spPr>
          <a:xfrm>
            <a:off x="1032325" y="3193550"/>
            <a:ext cx="2836500" cy="980100"/>
          </a:xfrm>
          <a:prstGeom prst="curvedConnector3">
            <a:avLst>
              <a:gd fmla="val 27881" name="adj1"/>
            </a:avLst>
          </a:prstGeom>
          <a:noFill/>
          <a:ln cap="flat" cmpd="sng" w="19050">
            <a:solidFill>
              <a:schemeClr val="dk2"/>
            </a:solidFill>
            <a:prstDash val="solid"/>
            <a:round/>
            <a:headEnd len="med" w="med" type="triangle"/>
            <a:tailEnd len="med" w="med" type="none"/>
          </a:ln>
        </p:spPr>
      </p:cxnSp>
      <p:sp>
        <p:nvSpPr>
          <p:cNvPr id="628" name="Google Shape;628;p63"/>
          <p:cNvSpPr/>
          <p:nvPr/>
        </p:nvSpPr>
        <p:spPr>
          <a:xfrm>
            <a:off x="6990800" y="3468575"/>
            <a:ext cx="948000" cy="2757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Service</a:t>
            </a:r>
            <a:endParaRPr b="1">
              <a:latin typeface="Montserrat"/>
              <a:ea typeface="Montserrat"/>
              <a:cs typeface="Montserrat"/>
              <a:sym typeface="Montserrat"/>
            </a:endParaRPr>
          </a:p>
        </p:txBody>
      </p:sp>
      <p:sp>
        <p:nvSpPr>
          <p:cNvPr id="630" name="Google Shape;630;p63"/>
          <p:cNvSpPr/>
          <p:nvPr/>
        </p:nvSpPr>
        <p:spPr>
          <a:xfrm>
            <a:off x="6818900" y="3856400"/>
            <a:ext cx="1291800" cy="2757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Dashboard</a:t>
            </a:r>
            <a:endParaRPr b="1">
              <a:latin typeface="Montserrat"/>
              <a:ea typeface="Montserrat"/>
              <a:cs typeface="Montserrat"/>
              <a:sym typeface="Montserrat"/>
            </a:endParaRPr>
          </a:p>
        </p:txBody>
      </p:sp>
      <p:sp>
        <p:nvSpPr>
          <p:cNvPr id="631" name="Google Shape;631;p63"/>
          <p:cNvSpPr/>
          <p:nvPr/>
        </p:nvSpPr>
        <p:spPr>
          <a:xfrm>
            <a:off x="6712550" y="4214025"/>
            <a:ext cx="1504500" cy="3420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Application</a:t>
            </a:r>
            <a:endParaRPr b="1">
              <a:latin typeface="Montserrat"/>
              <a:ea typeface="Montserrat"/>
              <a:cs typeface="Montserrat"/>
              <a:sym typeface="Montserrat"/>
            </a:endParaRPr>
          </a:p>
        </p:txBody>
      </p:sp>
      <p:cxnSp>
        <p:nvCxnSpPr>
          <p:cNvPr id="632" name="Google Shape;632;p63"/>
          <p:cNvCxnSpPr>
            <a:stCxn id="624" idx="2"/>
            <a:endCxn id="630" idx="1"/>
          </p:cNvCxnSpPr>
          <p:nvPr/>
        </p:nvCxnSpPr>
        <p:spPr>
          <a:xfrm rot="5400000">
            <a:off x="6405525" y="3277775"/>
            <a:ext cx="1129800" cy="303300"/>
          </a:xfrm>
          <a:prstGeom prst="curvedConnector4">
            <a:avLst>
              <a:gd fmla="val 22176" name="adj1"/>
              <a:gd fmla="val 178470" name="adj2"/>
            </a:avLst>
          </a:prstGeom>
          <a:noFill/>
          <a:ln cap="flat" cmpd="sng" w="19050">
            <a:solidFill>
              <a:schemeClr val="dk2"/>
            </a:solidFill>
            <a:prstDash val="solid"/>
            <a:round/>
            <a:headEnd len="med" w="med" type="none"/>
            <a:tailEnd len="med" w="med" type="triangle"/>
          </a:ln>
        </p:spPr>
      </p:cxnSp>
      <p:cxnSp>
        <p:nvCxnSpPr>
          <p:cNvPr id="633" name="Google Shape;633;p63"/>
          <p:cNvCxnSpPr>
            <a:stCxn id="624" idx="2"/>
            <a:endCxn id="631" idx="1"/>
          </p:cNvCxnSpPr>
          <p:nvPr/>
        </p:nvCxnSpPr>
        <p:spPr>
          <a:xfrm rot="5400000">
            <a:off x="6157125" y="3419975"/>
            <a:ext cx="1520400" cy="409500"/>
          </a:xfrm>
          <a:prstGeom prst="curvedConnector4">
            <a:avLst>
              <a:gd fmla="val 13302" name="adj1"/>
              <a:gd fmla="val 158156" name="adj2"/>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64"/>
          <p:cNvSpPr/>
          <p:nvPr/>
        </p:nvSpPr>
        <p:spPr>
          <a:xfrm>
            <a:off x="6628600" y="3338450"/>
            <a:ext cx="1655400" cy="1388700"/>
          </a:xfrm>
          <a:prstGeom prst="roundRect">
            <a:avLst>
              <a:gd fmla="val 16667" name="adj"/>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Montserrat"/>
              <a:ea typeface="Montserrat"/>
              <a:cs typeface="Montserrat"/>
              <a:sym typeface="Montserrat"/>
            </a:endParaRPr>
          </a:p>
        </p:txBody>
      </p:sp>
      <p:sp>
        <p:nvSpPr>
          <p:cNvPr id="639" name="Google Shape;639;p6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pic>
        <p:nvPicPr>
          <p:cNvPr descr="watermark.jpg" id="640" name="Google Shape;640;p6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41" name="Google Shape;641;p6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642" name="Google Shape;642;p64"/>
          <p:cNvPicPr preferRelativeResize="0"/>
          <p:nvPr/>
        </p:nvPicPr>
        <p:blipFill rotWithShape="1">
          <a:blip r:embed="rId4">
            <a:alphaModFix/>
          </a:blip>
          <a:srcRect b="53787" l="36132" r="35638" t="6070"/>
          <a:stretch/>
        </p:blipFill>
        <p:spPr>
          <a:xfrm>
            <a:off x="152400" y="1925800"/>
            <a:ext cx="1064250" cy="1080625"/>
          </a:xfrm>
          <a:prstGeom prst="rect">
            <a:avLst/>
          </a:prstGeom>
          <a:noFill/>
          <a:ln>
            <a:noFill/>
          </a:ln>
        </p:spPr>
      </p:pic>
      <p:sp>
        <p:nvSpPr>
          <p:cNvPr id="643" name="Google Shape;643;p64"/>
          <p:cNvSpPr txBox="1"/>
          <p:nvPr/>
        </p:nvSpPr>
        <p:spPr>
          <a:xfrm>
            <a:off x="240800" y="2903775"/>
            <a:ext cx="8271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Real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World</a:t>
            </a:r>
            <a:endParaRPr b="1">
              <a:latin typeface="Montserrat"/>
              <a:ea typeface="Montserrat"/>
              <a:cs typeface="Montserrat"/>
              <a:sym typeface="Montserrat"/>
            </a:endParaRPr>
          </a:p>
        </p:txBody>
      </p:sp>
      <p:sp>
        <p:nvSpPr>
          <p:cNvPr id="644" name="Google Shape;644;p64"/>
          <p:cNvSpPr/>
          <p:nvPr/>
        </p:nvSpPr>
        <p:spPr>
          <a:xfrm>
            <a:off x="1557550" y="2067713"/>
            <a:ext cx="1140900" cy="796800"/>
          </a:xfrm>
          <a:prstGeom prst="roundRect">
            <a:avLst>
              <a:gd fmla="val 16667" name="adj"/>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Collect &amp; Store</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645" name="Google Shape;645;p64"/>
          <p:cNvCxnSpPr>
            <a:stCxn id="642" idx="3"/>
            <a:endCxn id="644" idx="1"/>
          </p:cNvCxnSpPr>
          <p:nvPr/>
        </p:nvCxnSpPr>
        <p:spPr>
          <a:xfrm>
            <a:off x="1216650"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646" name="Google Shape;646;p64"/>
          <p:cNvSpPr/>
          <p:nvPr/>
        </p:nvSpPr>
        <p:spPr>
          <a:xfrm>
            <a:off x="3098425" y="2067713"/>
            <a:ext cx="11409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Clean &amp; Organize</a:t>
            </a:r>
            <a:br>
              <a:rPr b="1" lang="en">
                <a:latin typeface="Montserrat"/>
                <a:ea typeface="Montserrat"/>
                <a:cs typeface="Montserrat"/>
                <a:sym typeface="Montserrat"/>
              </a:rPr>
            </a:br>
            <a:r>
              <a:rPr b="1" lang="en">
                <a:latin typeface="Montserrat"/>
                <a:ea typeface="Montserrat"/>
                <a:cs typeface="Montserrat"/>
                <a:sym typeface="Montserrat"/>
              </a:rPr>
              <a:t>Data</a:t>
            </a:r>
            <a:endParaRPr b="1">
              <a:latin typeface="Montserrat"/>
              <a:ea typeface="Montserrat"/>
              <a:cs typeface="Montserrat"/>
              <a:sym typeface="Montserrat"/>
            </a:endParaRPr>
          </a:p>
        </p:txBody>
      </p:sp>
      <p:cxnSp>
        <p:nvCxnSpPr>
          <p:cNvPr id="647" name="Google Shape;647;p64"/>
          <p:cNvCxnSpPr/>
          <p:nvPr/>
        </p:nvCxnSpPr>
        <p:spPr>
          <a:xfrm>
            <a:off x="2728038"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648" name="Google Shape;648;p64"/>
          <p:cNvSpPr/>
          <p:nvPr/>
        </p:nvSpPr>
        <p:spPr>
          <a:xfrm>
            <a:off x="4639275" y="2067725"/>
            <a:ext cx="14280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Exploratory Data Analysis</a:t>
            </a:r>
            <a:endParaRPr b="1">
              <a:latin typeface="Montserrat"/>
              <a:ea typeface="Montserrat"/>
              <a:cs typeface="Montserrat"/>
              <a:sym typeface="Montserrat"/>
            </a:endParaRPr>
          </a:p>
        </p:txBody>
      </p:sp>
      <p:cxnSp>
        <p:nvCxnSpPr>
          <p:cNvPr id="649" name="Google Shape;649;p64"/>
          <p:cNvCxnSpPr/>
          <p:nvPr/>
        </p:nvCxnSpPr>
        <p:spPr>
          <a:xfrm>
            <a:off x="4268888" y="2505362"/>
            <a:ext cx="340800" cy="0"/>
          </a:xfrm>
          <a:prstGeom prst="straightConnector1">
            <a:avLst/>
          </a:prstGeom>
          <a:noFill/>
          <a:ln cap="flat" cmpd="sng" w="19050">
            <a:solidFill>
              <a:schemeClr val="dk2"/>
            </a:solidFill>
            <a:prstDash val="solid"/>
            <a:round/>
            <a:headEnd len="med" w="med" type="none"/>
            <a:tailEnd len="med" w="med" type="triangle"/>
          </a:ln>
        </p:spPr>
      </p:cxnSp>
      <p:cxnSp>
        <p:nvCxnSpPr>
          <p:cNvPr id="650" name="Google Shape;650;p64"/>
          <p:cNvCxnSpPr/>
          <p:nvPr/>
        </p:nvCxnSpPr>
        <p:spPr>
          <a:xfrm>
            <a:off x="6067263" y="2466112"/>
            <a:ext cx="340800" cy="0"/>
          </a:xfrm>
          <a:prstGeom prst="straightConnector1">
            <a:avLst/>
          </a:prstGeom>
          <a:noFill/>
          <a:ln cap="flat" cmpd="sng" w="19050">
            <a:solidFill>
              <a:schemeClr val="dk2"/>
            </a:solidFill>
            <a:prstDash val="solid"/>
            <a:round/>
            <a:headEnd len="med" w="med" type="none"/>
            <a:tailEnd len="med" w="med" type="triangle"/>
          </a:ln>
        </p:spPr>
      </p:cxnSp>
      <p:sp>
        <p:nvSpPr>
          <p:cNvPr id="651" name="Google Shape;651;p64"/>
          <p:cNvSpPr/>
          <p:nvPr/>
        </p:nvSpPr>
        <p:spPr>
          <a:xfrm>
            <a:off x="6408075" y="2067725"/>
            <a:ext cx="1428000" cy="796800"/>
          </a:xfrm>
          <a:prstGeom prst="roundRect">
            <a:avLst>
              <a:gd fmla="val 16667" name="adj"/>
            </a:avLst>
          </a:prstGeom>
          <a:solidFill>
            <a:srgbClr val="D5A6B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Machine Learning</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Models</a:t>
            </a:r>
            <a:endParaRPr b="1">
              <a:latin typeface="Montserrat"/>
              <a:ea typeface="Montserrat"/>
              <a:cs typeface="Montserrat"/>
              <a:sym typeface="Montserrat"/>
            </a:endParaRPr>
          </a:p>
        </p:txBody>
      </p:sp>
      <p:sp>
        <p:nvSpPr>
          <p:cNvPr id="652" name="Google Shape;652;p64"/>
          <p:cNvSpPr txBox="1"/>
          <p:nvPr/>
        </p:nvSpPr>
        <p:spPr>
          <a:xfrm>
            <a:off x="3068850" y="4584050"/>
            <a:ext cx="2806200" cy="27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Predict Future Outcomes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Gain Insight on Data</a:t>
            </a:r>
            <a:endParaRPr b="1">
              <a:latin typeface="Montserrat"/>
              <a:ea typeface="Montserrat"/>
              <a:cs typeface="Montserrat"/>
              <a:sym typeface="Montserrat"/>
            </a:endParaRPr>
          </a:p>
        </p:txBody>
      </p:sp>
      <p:sp>
        <p:nvSpPr>
          <p:cNvPr id="653" name="Google Shape;653;p64"/>
          <p:cNvSpPr/>
          <p:nvPr/>
        </p:nvSpPr>
        <p:spPr>
          <a:xfrm>
            <a:off x="3868850" y="3787250"/>
            <a:ext cx="1140900" cy="796800"/>
          </a:xfrm>
          <a:prstGeom prst="roundRect">
            <a:avLst>
              <a:gd fmla="val 16667" name="adj"/>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Data</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Product</a:t>
            </a:r>
            <a:endParaRPr b="1">
              <a:latin typeface="Montserrat"/>
              <a:ea typeface="Montserrat"/>
              <a:cs typeface="Montserrat"/>
              <a:sym typeface="Montserrat"/>
            </a:endParaRPr>
          </a:p>
        </p:txBody>
      </p:sp>
      <p:cxnSp>
        <p:nvCxnSpPr>
          <p:cNvPr id="654" name="Google Shape;654;p64"/>
          <p:cNvCxnSpPr/>
          <p:nvPr/>
        </p:nvCxnSpPr>
        <p:spPr>
          <a:xfrm>
            <a:off x="1032325" y="3193550"/>
            <a:ext cx="2836500" cy="980100"/>
          </a:xfrm>
          <a:prstGeom prst="curvedConnector3">
            <a:avLst>
              <a:gd fmla="val 27881" name="adj1"/>
            </a:avLst>
          </a:prstGeom>
          <a:noFill/>
          <a:ln cap="flat" cmpd="sng" w="19050">
            <a:solidFill>
              <a:schemeClr val="dk2"/>
            </a:solidFill>
            <a:prstDash val="solid"/>
            <a:round/>
            <a:headEnd len="med" w="med" type="triangle"/>
            <a:tailEnd len="med" w="med" type="none"/>
          </a:ln>
        </p:spPr>
      </p:cxnSp>
      <p:sp>
        <p:nvSpPr>
          <p:cNvPr id="655" name="Google Shape;655;p64"/>
          <p:cNvSpPr/>
          <p:nvPr/>
        </p:nvSpPr>
        <p:spPr>
          <a:xfrm>
            <a:off x="6990800" y="3468575"/>
            <a:ext cx="948000" cy="2757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Service</a:t>
            </a:r>
            <a:endParaRPr b="1">
              <a:latin typeface="Montserrat"/>
              <a:ea typeface="Montserrat"/>
              <a:cs typeface="Montserrat"/>
              <a:sym typeface="Montserrat"/>
            </a:endParaRPr>
          </a:p>
        </p:txBody>
      </p:sp>
      <p:sp>
        <p:nvSpPr>
          <p:cNvPr id="656" name="Google Shape;656;p64"/>
          <p:cNvSpPr/>
          <p:nvPr/>
        </p:nvSpPr>
        <p:spPr>
          <a:xfrm>
            <a:off x="6818900" y="3856400"/>
            <a:ext cx="1291800" cy="2757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Dashboard</a:t>
            </a:r>
            <a:endParaRPr b="1">
              <a:latin typeface="Montserrat"/>
              <a:ea typeface="Montserrat"/>
              <a:cs typeface="Montserrat"/>
              <a:sym typeface="Montserrat"/>
            </a:endParaRPr>
          </a:p>
        </p:txBody>
      </p:sp>
      <p:sp>
        <p:nvSpPr>
          <p:cNvPr id="657" name="Google Shape;657;p64"/>
          <p:cNvSpPr/>
          <p:nvPr/>
        </p:nvSpPr>
        <p:spPr>
          <a:xfrm>
            <a:off x="6712550" y="4214025"/>
            <a:ext cx="1504500" cy="3420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Application</a:t>
            </a:r>
            <a:endParaRPr b="1">
              <a:latin typeface="Montserrat"/>
              <a:ea typeface="Montserrat"/>
              <a:cs typeface="Montserrat"/>
              <a:sym typeface="Montserrat"/>
            </a:endParaRPr>
          </a:p>
        </p:txBody>
      </p:sp>
      <p:cxnSp>
        <p:nvCxnSpPr>
          <p:cNvPr id="658" name="Google Shape;658;p64"/>
          <p:cNvCxnSpPr>
            <a:endCxn id="638" idx="0"/>
          </p:cNvCxnSpPr>
          <p:nvPr/>
        </p:nvCxnSpPr>
        <p:spPr>
          <a:xfrm flipH="1" rot="-5400000">
            <a:off x="7052200" y="2934350"/>
            <a:ext cx="474000" cy="3342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659" name="Google Shape;659;p64"/>
          <p:cNvCxnSpPr>
            <a:stCxn id="638" idx="1"/>
            <a:endCxn id="653" idx="3"/>
          </p:cNvCxnSpPr>
          <p:nvPr/>
        </p:nvCxnSpPr>
        <p:spPr>
          <a:xfrm flipH="1">
            <a:off x="5009800" y="4032800"/>
            <a:ext cx="1618800" cy="153000"/>
          </a:xfrm>
          <a:prstGeom prst="curvedConnector3">
            <a:avLst>
              <a:gd fmla="val 50002"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6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ML Pathway</a:t>
            </a:r>
            <a:endParaRPr>
              <a:latin typeface="Montserrat"/>
              <a:ea typeface="Montserrat"/>
              <a:cs typeface="Montserrat"/>
              <a:sym typeface="Montserrat"/>
            </a:endParaRPr>
          </a:p>
        </p:txBody>
      </p:sp>
      <p:sp>
        <p:nvSpPr>
          <p:cNvPr id="665" name="Google Shape;665;p6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that we understand the general dynamics of the Data Science and Machine Learning Pathway ,we can begin to focus on learning various Python libraries well suited for each of these major components!</a:t>
            </a:r>
            <a:endParaRPr sz="2900">
              <a:solidFill>
                <a:srgbClr val="434343"/>
              </a:solidFill>
              <a:latin typeface="Montserrat"/>
              <a:ea typeface="Montserrat"/>
              <a:cs typeface="Montserrat"/>
              <a:sym typeface="Montserrat"/>
            </a:endParaRPr>
          </a:p>
        </p:txBody>
      </p:sp>
      <p:pic>
        <p:nvPicPr>
          <p:cNvPr descr="watermark.jpg" id="666" name="Google Shape;666;p6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67" name="Google Shape;667;p6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