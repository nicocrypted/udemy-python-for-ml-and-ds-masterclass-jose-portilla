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Lst>
  <p:sldSz cy="5143500" cx="9144000"/>
  <p:notesSz cx="6858000" cy="9144000"/>
  <p:embeddedFontLst>
    <p:embeddedFont>
      <p:font typeface="Montserrat"/>
      <p:regular r:id="rId107"/>
      <p:bold r:id="rId108"/>
      <p:italic r:id="rId109"/>
      <p:boldItalic r:id="rId110"/>
    </p:embeddedFont>
    <p:embeddedFont>
      <p:font typeface="Overpass"/>
      <p:regular r:id="rId111"/>
      <p:bold r:id="rId112"/>
      <p:italic r:id="rId113"/>
      <p:boldItalic r:id="rId1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472438-8546-4859-8070-F315455ADD81}">
  <a:tblStyle styleId="{F5472438-8546-4859-8070-F315455ADD8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Montserrat-regular.fntdata"/><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font" Target="fonts/Montserrat-italic.fntdata"/><Relationship Id="rId108" Type="http://schemas.openxmlformats.org/officeDocument/2006/relationships/font" Target="fonts/Montserrat-bold.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10" Type="http://schemas.openxmlformats.org/officeDocument/2006/relationships/font" Target="fonts/Montserrat-boldItalic.fntdata"/><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font" Target="fonts/Overpass-boldItalic.fntdata"/><Relationship Id="rId18" Type="http://schemas.openxmlformats.org/officeDocument/2006/relationships/slide" Target="slides/slide13.xml"/><Relationship Id="rId113" Type="http://schemas.openxmlformats.org/officeDocument/2006/relationships/font" Target="fonts/Overpass-italic.fntdata"/><Relationship Id="rId112" Type="http://schemas.openxmlformats.org/officeDocument/2006/relationships/font" Target="fonts/Overpass-bold.fntdata"/><Relationship Id="rId111" Type="http://schemas.openxmlformats.org/officeDocument/2006/relationships/font" Target="fonts/Overpass-regular.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bd174262f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bd174262f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be642d2c8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be642d2c8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d174262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bd174262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be642d2c8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be642d2c8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be642d2c8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be642d2c8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be642d2c8d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be642d2c8d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be642d2c8d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be642d2c8d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be642d2c8d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be642d2c8d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be642d2c8d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be642d2c8d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be642d2c8d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be642d2c8d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be642d2c8d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be642d2c8d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be642d2c8d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be642d2c8d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be642d2c8d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be642d2c8d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be642d2c8d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be642d2c8d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be642d2c8d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be642d2c8d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be642d2c8d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be642d2c8d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be642d2c8d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be642d2c8d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be642d2c8d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be642d2c8d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be642d2c8d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be642d2c8d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be642d2c8d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be642d2c8d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be642d2c8d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be642d2c8d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be642d2c8d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be642d2c8d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be642d2c8d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be642d2c8d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be642d2c8d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be642d2c8d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be642d2c8d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be642d2c8d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be642d2c8d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be642d2c8d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be642d2c8d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be642d2c8d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be642d2c8d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be642d2c8d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be642d2c8d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be642d2c8d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be642d2c8d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be642d2c8d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be642d2c8d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be642d2c8d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be642d2c8d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be642d2c8d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be642d2c8d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be642d2c8d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be642d2c8d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be642d2c8d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be642d2c8d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be642d2c8d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be642d2c8d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be642d2c8d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be642d2c8d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be642d2c8d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be642d2c8d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be642d2c8d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be642d2c8d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be642d2c8d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be642d2c8d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be642d2c8d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e642d2c8d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e642d2c8d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be642d2c8d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be642d2c8d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be642d2c8d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be642d2c8d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be642d2c8d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be642d2c8d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be642d2c8d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be642d2c8d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be642d2c8d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be642d2c8d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be642d2c8d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be642d2c8d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be642d2c8d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be642d2c8d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be642d2c8d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be642d2c8d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be642d2c8d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be642d2c8d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be642d2c8d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be642d2c8d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be642d2c8d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be642d2c8d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be642d2c8d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be642d2c8d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be642d2c8d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be642d2c8d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be642d2c8d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be642d2c8d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be642d2c8d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be642d2c8d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be642d2c8d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be642d2c8d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be642d2c8d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be642d2c8d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be642d2c8d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be642d2c8d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be642d2c8d_0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be642d2c8d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be642d2c8d_0_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be642d2c8d_0_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be642d2c8d_0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be642d2c8d_0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be642d2c8d_0_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be642d2c8d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be642d2c8d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be642d2c8d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be642d2c8d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be642d2c8d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be642d2c8d_0_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be642d2c8d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be642d2c8d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be642d2c8d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be642d2c8d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be642d2c8d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be642d2c8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be642d2c8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bd174262f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bd174262f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bd174262f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bd174262f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be642d2c8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be642d2c8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be642d2c8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be642d2c8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be642d2c8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be642d2c8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be642d2c8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be642d2c8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be642d2c8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be642d2c8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be642d2c8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be642d2c8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bd174262f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bd174262f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bd174262fc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bd174262fc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bd174262f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bd174262f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be642d2c8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be642d2c8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be642d2c8d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be642d2c8d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be642d2c8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be642d2c8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bd174262f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bd174262f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bd174262fc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bd174262fc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bd174262fc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bd174262f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be642d2c8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be642d2c8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bd174262fc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bd174262fc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bd174262fc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bd174262fc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be642d2c8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be642d2c8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bd174262fc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bd174262fc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bd174262fc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bd174262fc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bd174262fc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bd174262fc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bd174262f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bd174262f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be642d2c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1" name="Google Shape;1121;gbe642d2c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be642d2c8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be642d2c8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be642d2c8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be642d2c8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be642d2c8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5" name="Google Shape;1145;gbe642d2c8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be642d2c8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be642d2c8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be642d2c8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be642d2c8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image" Target="../media/image8.png"/><Relationship Id="rId5"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jp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jp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2.png"/><Relationship Id="rId4" Type="http://schemas.openxmlformats.org/officeDocument/2006/relationships/image" Target="../media/image2.jpg"/><Relationship Id="rId5" Type="http://schemas.openxmlformats.org/officeDocument/2006/relationships/image" Target="../media/image7.png"/><Relationship Id="rId6" Type="http://schemas.openxmlformats.org/officeDocument/2006/relationships/image" Target="../media/image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2.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2.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2.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2.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2.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2.jpg"/><Relationship Id="rId4" Type="http://schemas.openxmlformats.org/officeDocument/2006/relationships/image" Target="../media/image1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jpg"/><Relationship Id="rId4" Type="http://schemas.openxmlformats.org/officeDocument/2006/relationships/image" Target="../media/image1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2.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2.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2.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2.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2.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2.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2.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2.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2.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2.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2.jpg"/><Relationship Id="rId4" Type="http://schemas.openxmlformats.org/officeDocument/2006/relationships/image" Target="../media/image19.png"/><Relationship Id="rId5" Type="http://schemas.openxmlformats.org/officeDocument/2006/relationships/image" Target="../media/image1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2.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2.jpg"/><Relationship Id="rId4" Type="http://schemas.openxmlformats.org/officeDocument/2006/relationships/image" Target="../media/image16.png"/><Relationship Id="rId5" Type="http://schemas.openxmlformats.org/officeDocument/2006/relationships/image" Target="../media/image2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2.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2.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2.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2.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2.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2.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Naive Bayes and NLP</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Naive Bayes and NLP</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this section we will begin a discussion on using raw string text for machine learning models.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idea in general is known as “Natural Language Processing”.</a:t>
            </a:r>
            <a:endParaRPr sz="29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Naive Bayes and NLP</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 Overview</a:t>
            </a:r>
            <a:endParaRPr sz="2900">
              <a:solidFill>
                <a:srgbClr val="434343"/>
              </a:solidFill>
              <a:latin typeface="Montserrat"/>
              <a:ea typeface="Montserrat"/>
              <a:cs typeface="Montserrat"/>
              <a:sym typeface="Montserrat"/>
            </a:endParaRPr>
          </a:p>
          <a:p>
            <a:pPr indent="-412750" lvl="1" marL="13716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Naive Bayes Algorithm and NLP</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Extracting Features from Text Data</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Text Classification Project </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This section focuses on supervised learning text tasks. We will discuss unsupervised text tasks later on.</a:t>
            </a:r>
            <a:endParaRPr i="1" sz="29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Let’s get started!</a:t>
            </a:r>
            <a:endParaRPr b="1">
              <a:latin typeface="Montserrat"/>
              <a:ea typeface="Montserrat"/>
              <a:cs typeface="Montserrat"/>
              <a:sym typeface="Montserrat"/>
            </a:endParaRPr>
          </a:p>
        </p:txBody>
      </p:sp>
      <p:pic>
        <p:nvPicPr>
          <p:cNvPr descr="watermark.jpg" id="79" name="Google Shape;79;p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0" name="Google Shape;80;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Naive Bayes</a:t>
            </a:r>
            <a:endParaRPr b="1">
              <a:latin typeface="Montserrat"/>
              <a:ea typeface="Montserrat"/>
              <a:cs typeface="Montserrat"/>
              <a:sym typeface="Montserrat"/>
            </a:endParaRPr>
          </a:p>
        </p:txBody>
      </p:sp>
      <p:sp>
        <p:nvSpPr>
          <p:cNvPr id="86" name="Google Shape;86;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One: Bayes’ </a:t>
            </a:r>
            <a:r>
              <a:rPr lang="en"/>
              <a:t>Theorem</a:t>
            </a:r>
            <a:endParaRPr/>
          </a:p>
        </p:txBody>
      </p:sp>
      <p:pic>
        <p:nvPicPr>
          <p:cNvPr descr="watermark.jpg" id="87" name="Google Shape;87;p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8" name="Google Shape;88;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94" name="Google Shape;94;p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Naive Bayes is the shorthand for a set of algorithms that use Bayes’ Theorem for supervised learning classification.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Bayes’ Theorem is a probability formula that leverages previously known probabilities to define probability of related events occuring.</a:t>
            </a:r>
            <a:endParaRPr sz="2900">
              <a:solidFill>
                <a:srgbClr val="434343"/>
              </a:solidFill>
              <a:latin typeface="Montserrat"/>
              <a:ea typeface="Montserrat"/>
              <a:cs typeface="Montserrat"/>
              <a:sym typeface="Montserrat"/>
            </a:endParaRPr>
          </a:p>
        </p:txBody>
      </p:sp>
      <p:pic>
        <p:nvPicPr>
          <p:cNvPr descr="watermark.jpg" id="95" name="Google Shape;95;p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6" name="Google Shape;96;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02" name="Google Shape;102;p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Naive Bayes methods are a set of supervised learning algorithms based on applying Bayes’ Theorem.</a:t>
            </a:r>
            <a:endParaRPr sz="2900">
              <a:solidFill>
                <a:srgbClr val="434343"/>
              </a:solidFill>
              <a:latin typeface="Montserrat"/>
              <a:ea typeface="Montserrat"/>
              <a:cs typeface="Montserrat"/>
              <a:sym typeface="Montserrat"/>
            </a:endParaRPr>
          </a:p>
        </p:txBody>
      </p:sp>
      <p:pic>
        <p:nvPicPr>
          <p:cNvPr descr="watermark.jpg" id="103" name="Google Shape;103;p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 name="Google Shape;104;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5" name="Google Shape;105;p19"/>
          <p:cNvPicPr preferRelativeResize="0"/>
          <p:nvPr/>
        </p:nvPicPr>
        <p:blipFill>
          <a:blip r:embed="rId4">
            <a:alphaModFix/>
          </a:blip>
          <a:stretch>
            <a:fillRect/>
          </a:stretch>
        </p:blipFill>
        <p:spPr>
          <a:xfrm>
            <a:off x="5915625" y="2288600"/>
            <a:ext cx="2221125" cy="2381875"/>
          </a:xfrm>
          <a:prstGeom prst="rect">
            <a:avLst/>
          </a:prstGeom>
          <a:noFill/>
          <a:ln>
            <a:noFill/>
          </a:ln>
        </p:spPr>
      </p:pic>
      <p:pic>
        <p:nvPicPr>
          <p:cNvPr id="106" name="Google Shape;106;p19"/>
          <p:cNvPicPr preferRelativeResize="0"/>
          <p:nvPr/>
        </p:nvPicPr>
        <p:blipFill>
          <a:blip r:embed="rId5">
            <a:alphaModFix/>
          </a:blip>
          <a:stretch>
            <a:fillRect/>
          </a:stretch>
        </p:blipFill>
        <p:spPr>
          <a:xfrm>
            <a:off x="754225" y="2860325"/>
            <a:ext cx="5133749" cy="1330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12" name="Google Shape;112;p2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1700s: Thomas Bayes was a Presbyterian minister in England who studied theology, statistics, and logic.</a:t>
            </a:r>
            <a:endParaRPr sz="2900">
              <a:solidFill>
                <a:srgbClr val="434343"/>
              </a:solidFill>
              <a:latin typeface="Montserrat"/>
              <a:ea typeface="Montserrat"/>
              <a:cs typeface="Montserrat"/>
              <a:sym typeface="Montserrat"/>
            </a:endParaRPr>
          </a:p>
        </p:txBody>
      </p:sp>
      <p:pic>
        <p:nvPicPr>
          <p:cNvPr descr="watermark.jpg" id="113" name="Google Shape;113;p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4" name="Google Shape;114;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5" name="Google Shape;115;p20"/>
          <p:cNvPicPr preferRelativeResize="0"/>
          <p:nvPr/>
        </p:nvPicPr>
        <p:blipFill>
          <a:blip r:embed="rId4">
            <a:alphaModFix/>
          </a:blip>
          <a:stretch>
            <a:fillRect/>
          </a:stretch>
        </p:blipFill>
        <p:spPr>
          <a:xfrm>
            <a:off x="5915625" y="2288600"/>
            <a:ext cx="2221125" cy="2381875"/>
          </a:xfrm>
          <a:prstGeom prst="rect">
            <a:avLst/>
          </a:prstGeom>
          <a:noFill/>
          <a:ln>
            <a:noFill/>
          </a:ln>
        </p:spPr>
      </p:pic>
      <p:pic>
        <p:nvPicPr>
          <p:cNvPr id="116" name="Google Shape;116;p20"/>
          <p:cNvPicPr preferRelativeResize="0"/>
          <p:nvPr/>
        </p:nvPicPr>
        <p:blipFill>
          <a:blip r:embed="rId5">
            <a:alphaModFix/>
          </a:blip>
          <a:stretch>
            <a:fillRect/>
          </a:stretch>
        </p:blipFill>
        <p:spPr>
          <a:xfrm>
            <a:off x="754225" y="2860325"/>
            <a:ext cx="5133749" cy="1330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22" name="Google Shape;122;p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1700s: Bayes’ Theorem was published after his death! Richard Price edited and published his notes.</a:t>
            </a:r>
            <a:endParaRPr sz="2900">
              <a:solidFill>
                <a:srgbClr val="434343"/>
              </a:solidFill>
              <a:latin typeface="Montserrat"/>
              <a:ea typeface="Montserrat"/>
              <a:cs typeface="Montserrat"/>
              <a:sym typeface="Montserrat"/>
            </a:endParaRPr>
          </a:p>
        </p:txBody>
      </p:sp>
      <p:pic>
        <p:nvPicPr>
          <p:cNvPr descr="watermark.jpg" id="123" name="Google Shape;123;p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4" name="Google Shape;124;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5" name="Google Shape;125;p21"/>
          <p:cNvPicPr preferRelativeResize="0"/>
          <p:nvPr/>
        </p:nvPicPr>
        <p:blipFill>
          <a:blip r:embed="rId4">
            <a:alphaModFix/>
          </a:blip>
          <a:stretch>
            <a:fillRect/>
          </a:stretch>
        </p:blipFill>
        <p:spPr>
          <a:xfrm>
            <a:off x="754225" y="2860325"/>
            <a:ext cx="5133749" cy="1330225"/>
          </a:xfrm>
          <a:prstGeom prst="rect">
            <a:avLst/>
          </a:prstGeom>
          <a:noFill/>
          <a:ln>
            <a:noFill/>
          </a:ln>
        </p:spPr>
      </p:pic>
      <p:pic>
        <p:nvPicPr>
          <p:cNvPr id="126" name="Google Shape;126;p21"/>
          <p:cNvPicPr preferRelativeResize="0"/>
          <p:nvPr/>
        </p:nvPicPr>
        <p:blipFill>
          <a:blip r:embed="rId5">
            <a:alphaModFix/>
          </a:blip>
          <a:stretch>
            <a:fillRect/>
          </a:stretch>
        </p:blipFill>
        <p:spPr>
          <a:xfrm>
            <a:off x="6179225" y="2195300"/>
            <a:ext cx="2032150" cy="2660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2"/>
          <p:cNvPicPr preferRelativeResize="0"/>
          <p:nvPr/>
        </p:nvPicPr>
        <p:blipFill>
          <a:blip r:embed="rId3">
            <a:alphaModFix/>
          </a:blip>
          <a:stretch>
            <a:fillRect/>
          </a:stretch>
        </p:blipFill>
        <p:spPr>
          <a:xfrm>
            <a:off x="4499225" y="868500"/>
            <a:ext cx="4244300" cy="1099750"/>
          </a:xfrm>
          <a:prstGeom prst="rect">
            <a:avLst/>
          </a:prstGeom>
          <a:noFill/>
          <a:ln>
            <a:noFill/>
          </a:ln>
        </p:spPr>
      </p:pic>
      <p:sp>
        <p:nvSpPr>
          <p:cNvPr id="132" name="Google Shape;132;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33" name="Google Shape;133;p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Bayes’ Theorem</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A</a:t>
            </a:r>
            <a:r>
              <a:rPr lang="en" sz="2900">
                <a:solidFill>
                  <a:srgbClr val="434343"/>
                </a:solidFill>
                <a:latin typeface="Montserrat"/>
                <a:ea typeface="Montserrat"/>
                <a:cs typeface="Montserrat"/>
                <a:sym typeface="Montserrat"/>
              </a:rPr>
              <a:t> and </a:t>
            </a:r>
            <a:r>
              <a:rPr b="1"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are events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P(A|B)</a:t>
            </a:r>
            <a:r>
              <a:rPr lang="en" sz="2900">
                <a:solidFill>
                  <a:srgbClr val="434343"/>
                </a:solidFill>
                <a:latin typeface="Montserrat"/>
                <a:ea typeface="Montserrat"/>
                <a:cs typeface="Montserrat"/>
                <a:sym typeface="Montserrat"/>
              </a:rPr>
              <a:t> is probability of event </a:t>
            </a:r>
            <a:r>
              <a:rPr b="1" lang="en" sz="2900">
                <a:solidFill>
                  <a:srgbClr val="434343"/>
                </a:solidFill>
                <a:latin typeface="Montserrat"/>
                <a:ea typeface="Montserrat"/>
                <a:cs typeface="Montserrat"/>
                <a:sym typeface="Montserrat"/>
              </a:rPr>
              <a:t>A</a:t>
            </a:r>
            <a:r>
              <a:rPr lang="en" sz="2900">
                <a:solidFill>
                  <a:srgbClr val="434343"/>
                </a:solidFill>
                <a:latin typeface="Montserrat"/>
                <a:ea typeface="Montserrat"/>
                <a:cs typeface="Montserrat"/>
                <a:sym typeface="Montserrat"/>
              </a:rPr>
              <a:t> given that </a:t>
            </a:r>
            <a:r>
              <a:rPr b="1"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is True.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P(B|A)</a:t>
            </a:r>
            <a:r>
              <a:rPr lang="en" sz="2900">
                <a:solidFill>
                  <a:srgbClr val="434343"/>
                </a:solidFill>
                <a:latin typeface="Montserrat"/>
                <a:ea typeface="Montserrat"/>
                <a:cs typeface="Montserrat"/>
                <a:sym typeface="Montserrat"/>
              </a:rPr>
              <a:t> is probability of event </a:t>
            </a:r>
            <a:r>
              <a:rPr b="1"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given that </a:t>
            </a:r>
            <a:r>
              <a:rPr b="1" lang="en" sz="2900">
                <a:solidFill>
                  <a:srgbClr val="434343"/>
                </a:solidFill>
                <a:latin typeface="Montserrat"/>
                <a:ea typeface="Montserrat"/>
                <a:cs typeface="Montserrat"/>
                <a:sym typeface="Montserrat"/>
              </a:rPr>
              <a:t>A</a:t>
            </a:r>
            <a:r>
              <a:rPr lang="en" sz="2900">
                <a:solidFill>
                  <a:srgbClr val="434343"/>
                </a:solidFill>
                <a:latin typeface="Montserrat"/>
                <a:ea typeface="Montserrat"/>
                <a:cs typeface="Montserrat"/>
                <a:sym typeface="Montserrat"/>
              </a:rPr>
              <a:t> is True.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P(A)</a:t>
            </a:r>
            <a:r>
              <a:rPr lang="en" sz="2900">
                <a:solidFill>
                  <a:srgbClr val="434343"/>
                </a:solidFill>
                <a:latin typeface="Montserrat"/>
                <a:ea typeface="Montserrat"/>
                <a:cs typeface="Montserrat"/>
                <a:sym typeface="Montserrat"/>
              </a:rPr>
              <a:t> is probability of A </a:t>
            </a:r>
            <a:r>
              <a:rPr lang="en" sz="2900">
                <a:solidFill>
                  <a:srgbClr val="434343"/>
                </a:solidFill>
                <a:latin typeface="Montserrat"/>
                <a:ea typeface="Montserrat"/>
                <a:cs typeface="Montserrat"/>
                <a:sym typeface="Montserrat"/>
              </a:rPr>
              <a:t>occurring</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P(B)</a:t>
            </a:r>
            <a:r>
              <a:rPr lang="en" sz="2900">
                <a:solidFill>
                  <a:srgbClr val="434343"/>
                </a:solidFill>
                <a:latin typeface="Montserrat"/>
                <a:ea typeface="Montserrat"/>
                <a:cs typeface="Montserrat"/>
                <a:sym typeface="Montserrat"/>
              </a:rPr>
              <a:t> is </a:t>
            </a:r>
            <a:r>
              <a:rPr lang="en" sz="2900">
                <a:solidFill>
                  <a:srgbClr val="434343"/>
                </a:solidFill>
                <a:latin typeface="Montserrat"/>
                <a:ea typeface="Montserrat"/>
                <a:cs typeface="Montserrat"/>
                <a:sym typeface="Montserrat"/>
              </a:rPr>
              <a:t>probability</a:t>
            </a:r>
            <a:r>
              <a:rPr lang="en" sz="2900">
                <a:solidFill>
                  <a:srgbClr val="434343"/>
                </a:solidFill>
                <a:latin typeface="Montserrat"/>
                <a:ea typeface="Montserrat"/>
                <a:cs typeface="Montserrat"/>
                <a:sym typeface="Montserrat"/>
              </a:rPr>
              <a:t> of B occurring.</a:t>
            </a:r>
            <a:endParaRPr sz="2900">
              <a:solidFill>
                <a:srgbClr val="434343"/>
              </a:solidFill>
              <a:latin typeface="Montserrat"/>
              <a:ea typeface="Montserrat"/>
              <a:cs typeface="Montserrat"/>
              <a:sym typeface="Montserrat"/>
            </a:endParaRPr>
          </a:p>
        </p:txBody>
      </p:sp>
      <p:pic>
        <p:nvPicPr>
          <p:cNvPr descr="watermark.jpg" id="134" name="Google Shape;134;p22"/>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35" name="Google Shape;135;p22"/>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3"/>
          <p:cNvPicPr preferRelativeResize="0"/>
          <p:nvPr/>
        </p:nvPicPr>
        <p:blipFill>
          <a:blip r:embed="rId3">
            <a:alphaModFix/>
          </a:blip>
          <a:stretch>
            <a:fillRect/>
          </a:stretch>
        </p:blipFill>
        <p:spPr>
          <a:xfrm>
            <a:off x="2531600" y="2475725"/>
            <a:ext cx="4244300" cy="1099750"/>
          </a:xfrm>
          <a:prstGeom prst="rect">
            <a:avLst/>
          </a:prstGeom>
          <a:noFill/>
          <a:ln>
            <a:noFill/>
          </a:ln>
        </p:spPr>
      </p:pic>
      <p:sp>
        <p:nvSpPr>
          <p:cNvPr id="141" name="Google Shape;141;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42" name="Google Shape;142;p2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Bayes’ Theorem</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walk through a quick example!</a:t>
            </a:r>
            <a:endParaRPr sz="2900">
              <a:solidFill>
                <a:srgbClr val="434343"/>
              </a:solidFill>
              <a:latin typeface="Montserrat"/>
              <a:ea typeface="Montserrat"/>
              <a:cs typeface="Montserrat"/>
              <a:sym typeface="Montserrat"/>
            </a:endParaRPr>
          </a:p>
        </p:txBody>
      </p:sp>
      <p:pic>
        <p:nvPicPr>
          <p:cNvPr descr="watermark.jpg" id="143" name="Google Shape;143;p2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44" name="Google Shape;144;p2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50" name="Google Shape;150;p24"/>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the following situation for a city:</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Every apartment in a building is fit with a fire alarm detection system.</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However, there are false alarms where smoke is detected but there is not a dangerous fire to put out (e.g. smoke from an oven).</a:t>
            </a:r>
            <a:endParaRPr sz="2900">
              <a:solidFill>
                <a:srgbClr val="434343"/>
              </a:solidFill>
              <a:latin typeface="Montserrat"/>
              <a:ea typeface="Montserrat"/>
              <a:cs typeface="Montserrat"/>
              <a:sym typeface="Montserrat"/>
            </a:endParaRPr>
          </a:p>
        </p:txBody>
      </p:sp>
      <p:pic>
        <p:nvPicPr>
          <p:cNvPr descr="watermark.jpg" id="151" name="Google Shape;151;p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2" name="Google Shape;152;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58" name="Google Shape;158;p25"/>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associated probabilities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Actual dangerous fires occur only 1% of the time. </a:t>
            </a:r>
            <a:endParaRPr b="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Smoke alarms are not very good, and go off about 10% of the time.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When there is an actual dangerous fire, 95% of the time the smoke alarms go off.</a:t>
            </a:r>
            <a:endParaRPr sz="2900">
              <a:solidFill>
                <a:srgbClr val="434343"/>
              </a:solidFill>
              <a:latin typeface="Montserrat"/>
              <a:ea typeface="Montserrat"/>
              <a:cs typeface="Montserrat"/>
              <a:sym typeface="Montserrat"/>
            </a:endParaRPr>
          </a:p>
        </p:txBody>
      </p:sp>
      <p:pic>
        <p:nvPicPr>
          <p:cNvPr descr="watermark.jpg" id="159" name="Google Shape;159;p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0" name="Google Shape;160;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66" name="Google Shape;166;p26"/>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Question to answer</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If you get a smoke alarm detecting a fire, what is the probability that there actually is a dangerous fire?</a:t>
            </a:r>
            <a:endParaRPr i="1" sz="2900">
              <a:solidFill>
                <a:srgbClr val="434343"/>
              </a:solidFill>
              <a:latin typeface="Montserrat"/>
              <a:ea typeface="Montserrat"/>
              <a:cs typeface="Montserrat"/>
              <a:sym typeface="Montserrat"/>
            </a:endParaRPr>
          </a:p>
        </p:txBody>
      </p:sp>
      <p:pic>
        <p:nvPicPr>
          <p:cNvPr descr="watermark.jpg" id="167" name="Google Shape;167;p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8" name="Google Shape;168;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74" name="Google Shape;174;p27"/>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terms of probability events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 A: Dangerous Fire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 B: Smoke Alarm Triggered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P(A|B):</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Probability of Fire given Smoke Alarm</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P(B|A):</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Probability of Smoke Alarm given a dangerous fire </a:t>
            </a:r>
            <a:endParaRPr sz="2900">
              <a:solidFill>
                <a:srgbClr val="434343"/>
              </a:solidFill>
              <a:latin typeface="Montserrat"/>
              <a:ea typeface="Montserrat"/>
              <a:cs typeface="Montserrat"/>
              <a:sym typeface="Montserrat"/>
            </a:endParaRPr>
          </a:p>
        </p:txBody>
      </p:sp>
      <p:pic>
        <p:nvPicPr>
          <p:cNvPr descr="watermark.jpg" id="175" name="Google Shape;175;p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6" name="Google Shape;176;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82" name="Google Shape;182;p28"/>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terms of probability events: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 A: Dangerous Fire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 B: Smoke Alarm Triggered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P(A|B):</a:t>
            </a:r>
            <a:endParaRPr i="1"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Probability of Fire given Smoke Alarm</a:t>
            </a:r>
            <a:endParaRPr i="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P(B|A):</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Probability of Smoke Alarm given a dangerous fire </a:t>
            </a:r>
            <a:endParaRPr sz="2900">
              <a:solidFill>
                <a:srgbClr val="434343"/>
              </a:solidFill>
              <a:latin typeface="Montserrat"/>
              <a:ea typeface="Montserrat"/>
              <a:cs typeface="Montserrat"/>
              <a:sym typeface="Montserrat"/>
            </a:endParaRPr>
          </a:p>
        </p:txBody>
      </p:sp>
      <p:pic>
        <p:nvPicPr>
          <p:cNvPr descr="watermark.jpg" id="183" name="Google Shape;183;p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4" name="Google Shape;184;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90" name="Google Shape;190;p29"/>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the following situation for a city:</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Actual dangerous fires occur only 1% of the time. </a:t>
            </a:r>
            <a:r>
              <a:rPr b="1" lang="en" sz="2900">
                <a:solidFill>
                  <a:srgbClr val="434343"/>
                </a:solidFill>
                <a:latin typeface="Montserrat"/>
                <a:ea typeface="Montserrat"/>
                <a:cs typeface="Montserrat"/>
                <a:sym typeface="Montserrat"/>
              </a:rPr>
              <a:t>P(Fire) = 1/100</a:t>
            </a:r>
            <a:endParaRPr b="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Smoke alarms are not good and go off about 10% of the time. </a:t>
            </a:r>
            <a:r>
              <a:rPr b="1" lang="en" sz="2900">
                <a:solidFill>
                  <a:srgbClr val="434343"/>
                </a:solidFill>
                <a:latin typeface="Montserrat"/>
                <a:ea typeface="Montserrat"/>
                <a:cs typeface="Montserrat"/>
                <a:sym typeface="Montserrat"/>
              </a:rPr>
              <a:t>P(Smoke) = 1/10</a:t>
            </a:r>
            <a:endParaRPr b="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When there is an actual dangerous fire, 95% of the time the smoke alarms go off.</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P(Smoke|Fire) = 95/100</a:t>
            </a:r>
            <a:endParaRPr b="1" sz="2900">
              <a:solidFill>
                <a:srgbClr val="434343"/>
              </a:solidFill>
              <a:latin typeface="Montserrat"/>
              <a:ea typeface="Montserrat"/>
              <a:cs typeface="Montserrat"/>
              <a:sym typeface="Montserrat"/>
            </a:endParaRPr>
          </a:p>
        </p:txBody>
      </p:sp>
      <p:pic>
        <p:nvPicPr>
          <p:cNvPr descr="watermark.jpg" id="191" name="Google Shape;191;p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2" name="Google Shape;192;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0"/>
          <p:cNvPicPr preferRelativeResize="0"/>
          <p:nvPr/>
        </p:nvPicPr>
        <p:blipFill>
          <a:blip r:embed="rId3">
            <a:alphaModFix/>
          </a:blip>
          <a:stretch>
            <a:fillRect/>
          </a:stretch>
        </p:blipFill>
        <p:spPr>
          <a:xfrm>
            <a:off x="5338852" y="1011875"/>
            <a:ext cx="3271747" cy="847750"/>
          </a:xfrm>
          <a:prstGeom prst="rect">
            <a:avLst/>
          </a:prstGeom>
          <a:noFill/>
          <a:ln>
            <a:noFill/>
          </a:ln>
        </p:spPr>
      </p:pic>
      <p:sp>
        <p:nvSpPr>
          <p:cNvPr id="198" name="Google Shape;198;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199" name="Google Shape;199;p30"/>
          <p:cNvSpPr txBox="1"/>
          <p:nvPr>
            <p:ph idx="1" type="body"/>
          </p:nvPr>
        </p:nvSpPr>
        <p:spPr>
          <a:xfrm>
            <a:off x="288100" y="1152475"/>
            <a:ext cx="88560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Using Bayes’ Theorem:</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1600"/>
              </a:spcAft>
              <a:buNone/>
            </a:pPr>
            <a:r>
              <a:rPr lang="en" sz="2800">
                <a:solidFill>
                  <a:srgbClr val="434343"/>
                </a:solidFill>
                <a:latin typeface="Montserrat"/>
                <a:ea typeface="Montserrat"/>
                <a:cs typeface="Montserrat"/>
                <a:sym typeface="Montserrat"/>
              </a:rPr>
              <a:t>P(Fire|Smoke) = P(Smoke|Fire)*P(Fire)/P(Smoke)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00" name="Google Shape;200;p30"/>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201" name="Google Shape;201;p3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1"/>
          <p:cNvPicPr preferRelativeResize="0"/>
          <p:nvPr/>
        </p:nvPicPr>
        <p:blipFill>
          <a:blip r:embed="rId3">
            <a:alphaModFix/>
          </a:blip>
          <a:stretch>
            <a:fillRect/>
          </a:stretch>
        </p:blipFill>
        <p:spPr>
          <a:xfrm>
            <a:off x="5338852" y="1011875"/>
            <a:ext cx="3271747" cy="847750"/>
          </a:xfrm>
          <a:prstGeom prst="rect">
            <a:avLst/>
          </a:prstGeom>
          <a:noFill/>
          <a:ln>
            <a:noFill/>
          </a:ln>
        </p:spPr>
      </p:pic>
      <p:sp>
        <p:nvSpPr>
          <p:cNvPr id="207" name="Google Shape;207;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08" name="Google Shape;208;p31"/>
          <p:cNvSpPr txBox="1"/>
          <p:nvPr>
            <p:ph idx="1" type="body"/>
          </p:nvPr>
        </p:nvSpPr>
        <p:spPr>
          <a:xfrm>
            <a:off x="288100" y="1152475"/>
            <a:ext cx="8856000" cy="35016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Using Bayes’ Theorem:</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0" marR="0" rtl="0" algn="l">
              <a:lnSpc>
                <a:spcPct val="80000"/>
              </a:lnSpc>
              <a:spcBef>
                <a:spcPts val="1600"/>
              </a:spcBef>
              <a:spcAft>
                <a:spcPts val="0"/>
              </a:spcAft>
              <a:buNone/>
            </a:pPr>
            <a:r>
              <a:rPr lang="en" sz="2800">
                <a:solidFill>
                  <a:srgbClr val="434343"/>
                </a:solidFill>
                <a:latin typeface="Montserrat"/>
                <a:ea typeface="Montserrat"/>
                <a:cs typeface="Montserrat"/>
                <a:sym typeface="Montserrat"/>
              </a:rPr>
              <a:t>P(Fire|Smoke) = P(Smoke|Fire)*P(Fire)/P(Smoke)</a:t>
            </a:r>
            <a:endParaRPr sz="2800">
              <a:solidFill>
                <a:srgbClr val="434343"/>
              </a:solidFill>
              <a:latin typeface="Montserrat"/>
              <a:ea typeface="Montserrat"/>
              <a:cs typeface="Montserrat"/>
              <a:sym typeface="Montserrat"/>
            </a:endParaRPr>
          </a:p>
          <a:p>
            <a:pPr indent="0" lvl="0" marL="0" marR="0" rtl="0" algn="l">
              <a:lnSpc>
                <a:spcPct val="80000"/>
              </a:lnSpc>
              <a:spcBef>
                <a:spcPts val="0"/>
              </a:spcBef>
              <a:spcAft>
                <a:spcPts val="0"/>
              </a:spcAft>
              <a:buNone/>
            </a:pPr>
            <a:r>
              <a:rPr lang="en" sz="2900">
                <a:solidFill>
                  <a:srgbClr val="434343"/>
                </a:solidFill>
                <a:latin typeface="Montserrat"/>
                <a:ea typeface="Montserrat"/>
                <a:cs typeface="Montserrat"/>
                <a:sym typeface="Montserrat"/>
              </a:rPr>
              <a:t>P(Fire|Smoke) = 0.95 * 0.01 / 0.1</a:t>
            </a:r>
            <a:endParaRPr sz="2900">
              <a:solidFill>
                <a:srgbClr val="434343"/>
              </a:solidFill>
              <a:latin typeface="Montserrat"/>
              <a:ea typeface="Montserrat"/>
              <a:cs typeface="Montserrat"/>
              <a:sym typeface="Montserrat"/>
            </a:endParaRPr>
          </a:p>
          <a:p>
            <a:pPr indent="0" lvl="0" marL="0" marR="0" rtl="0" algn="l">
              <a:lnSpc>
                <a:spcPct val="80000"/>
              </a:lnSpc>
              <a:spcBef>
                <a:spcPts val="0"/>
              </a:spcBef>
              <a:spcAft>
                <a:spcPts val="0"/>
              </a:spcAft>
              <a:buNone/>
            </a:pPr>
            <a:r>
              <a:rPr lang="en" sz="2900">
                <a:solidFill>
                  <a:srgbClr val="434343"/>
                </a:solidFill>
                <a:latin typeface="Montserrat"/>
                <a:ea typeface="Montserrat"/>
                <a:cs typeface="Montserrat"/>
                <a:sym typeface="Montserrat"/>
              </a:rPr>
              <a:t>P(Fire|Smoke) = 0.095</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0" lvl="0" marL="0" rtl="0" algn="l">
              <a:lnSpc>
                <a:spcPct val="80000"/>
              </a:lnSpc>
              <a:spcBef>
                <a:spcPts val="0"/>
              </a:spcBef>
              <a:spcAft>
                <a:spcPts val="0"/>
              </a:spcAft>
              <a:buClr>
                <a:schemeClr val="dk1"/>
              </a:buClr>
              <a:buSzPts val="1100"/>
              <a:buFont typeface="Arial"/>
              <a:buNone/>
            </a:pPr>
            <a:r>
              <a:rPr lang="en" sz="2900">
                <a:solidFill>
                  <a:srgbClr val="434343"/>
                </a:solidFill>
                <a:latin typeface="Montserrat"/>
                <a:ea typeface="Montserrat"/>
                <a:cs typeface="Montserrat"/>
                <a:sym typeface="Montserrat"/>
              </a:rPr>
              <a:t>P(Fire|Smoke) = 9.5%</a:t>
            </a:r>
            <a:endParaRPr sz="2900">
              <a:solidFill>
                <a:srgbClr val="434343"/>
              </a:solidFill>
              <a:latin typeface="Montserrat"/>
              <a:ea typeface="Montserrat"/>
              <a:cs typeface="Montserrat"/>
              <a:sym typeface="Montserrat"/>
            </a:endParaRPr>
          </a:p>
        </p:txBody>
      </p:sp>
      <p:pic>
        <p:nvPicPr>
          <p:cNvPr descr="watermark.jpg" id="209" name="Google Shape;209;p31"/>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210" name="Google Shape;210;p31"/>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16" name="Google Shape;216;p32"/>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move on to explore how Bayes’ Theorem can be extended to perform classification.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Specifically, we’ll focus on using Bayes’ Theorem for Natural Language </a:t>
            </a:r>
            <a:r>
              <a:rPr lang="en" sz="2900">
                <a:solidFill>
                  <a:srgbClr val="434343"/>
                </a:solidFill>
                <a:latin typeface="Montserrat"/>
                <a:ea typeface="Montserrat"/>
                <a:cs typeface="Montserrat"/>
                <a:sym typeface="Montserrat"/>
              </a:rPr>
              <a:t>Processing</a:t>
            </a:r>
            <a:r>
              <a:rPr lang="en" sz="2900">
                <a:solidFill>
                  <a:srgbClr val="434343"/>
                </a:solidFill>
                <a:latin typeface="Montserrat"/>
                <a:ea typeface="Montserrat"/>
                <a:cs typeface="Montserrat"/>
                <a:sym typeface="Montserrat"/>
              </a:rPr>
              <a:t> Classification.</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17" name="Google Shape;217;p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8" name="Google Shape;218;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Naive Bayes</a:t>
            </a:r>
            <a:endParaRPr b="1">
              <a:latin typeface="Montserrat"/>
              <a:ea typeface="Montserrat"/>
              <a:cs typeface="Montserrat"/>
              <a:sym typeface="Montserrat"/>
            </a:endParaRPr>
          </a:p>
        </p:txBody>
      </p:sp>
      <p:sp>
        <p:nvSpPr>
          <p:cNvPr id="224" name="Google Shape;224;p3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Two: Naive Bayes</a:t>
            </a:r>
            <a:endParaRPr/>
          </a:p>
        </p:txBody>
      </p:sp>
      <p:pic>
        <p:nvPicPr>
          <p:cNvPr descr="watermark.jpg" id="225" name="Google Shape;225;p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6" name="Google Shape;226;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32" name="Google Shape;232;p34"/>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move on to explore how Bayes’ Theorem can be extended to perform classification.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Specifically, we’ll focus on using Bayes’ Theorem for Natural Language Processing Classification. </a:t>
            </a:r>
            <a:endParaRPr sz="2900">
              <a:solidFill>
                <a:srgbClr val="434343"/>
              </a:solidFill>
              <a:latin typeface="Montserrat"/>
              <a:ea typeface="Montserrat"/>
              <a:cs typeface="Montserrat"/>
              <a:sym typeface="Montserrat"/>
            </a:endParaRPr>
          </a:p>
        </p:txBody>
      </p:sp>
      <p:pic>
        <p:nvPicPr>
          <p:cNvPr descr="watermark.jpg" id="233" name="Google Shape;233;p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4" name="Google Shape;234;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40" name="Google Shape;240;p35"/>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first walkthrough the conversion of Bayes’ Theorem to a machine learning model!</a:t>
            </a:r>
            <a:endParaRPr sz="2900">
              <a:solidFill>
                <a:srgbClr val="434343"/>
              </a:solidFill>
              <a:latin typeface="Montserrat"/>
              <a:ea typeface="Montserrat"/>
              <a:cs typeface="Montserrat"/>
              <a:sym typeface="Montserrat"/>
            </a:endParaRPr>
          </a:p>
        </p:txBody>
      </p:sp>
      <p:pic>
        <p:nvPicPr>
          <p:cNvPr descr="watermark.jpg" id="241" name="Google Shape;241;p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2" name="Google Shape;242;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48" name="Google Shape;248;p36"/>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model the probability of </a:t>
            </a:r>
            <a:r>
              <a:rPr lang="en" sz="2900">
                <a:solidFill>
                  <a:srgbClr val="434343"/>
                </a:solidFill>
                <a:latin typeface="Montserrat"/>
                <a:ea typeface="Montserrat"/>
                <a:cs typeface="Montserrat"/>
                <a:sym typeface="Montserrat"/>
              </a:rPr>
              <a:t>belonging</a:t>
            </a:r>
            <a:r>
              <a:rPr lang="en" sz="2900">
                <a:solidFill>
                  <a:srgbClr val="434343"/>
                </a:solidFill>
                <a:latin typeface="Montserrat"/>
                <a:ea typeface="Montserrat"/>
                <a:cs typeface="Montserrat"/>
                <a:sym typeface="Montserrat"/>
              </a:rPr>
              <a:t> to a class given a vector of features.</a:t>
            </a:r>
            <a:endParaRPr sz="2900">
              <a:solidFill>
                <a:srgbClr val="434343"/>
              </a:solidFill>
              <a:latin typeface="Montserrat"/>
              <a:ea typeface="Montserrat"/>
              <a:cs typeface="Montserrat"/>
              <a:sym typeface="Montserrat"/>
            </a:endParaRPr>
          </a:p>
        </p:txBody>
      </p:sp>
      <p:pic>
        <p:nvPicPr>
          <p:cNvPr descr="watermark.jpg" id="249" name="Google Shape;249;p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50" name="Google Shape;250;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51" name="Google Shape;251;p36"/>
          <p:cNvPicPr preferRelativeResize="0"/>
          <p:nvPr/>
        </p:nvPicPr>
        <p:blipFill>
          <a:blip r:embed="rId4">
            <a:alphaModFix/>
          </a:blip>
          <a:stretch>
            <a:fillRect/>
          </a:stretch>
        </p:blipFill>
        <p:spPr>
          <a:xfrm>
            <a:off x="4602875" y="3358150"/>
            <a:ext cx="3950701" cy="1096175"/>
          </a:xfrm>
          <a:prstGeom prst="rect">
            <a:avLst/>
          </a:prstGeom>
          <a:noFill/>
          <a:ln>
            <a:noFill/>
          </a:ln>
        </p:spPr>
      </p:pic>
      <p:pic>
        <p:nvPicPr>
          <p:cNvPr id="252" name="Google Shape;252;p36"/>
          <p:cNvPicPr preferRelativeResize="0"/>
          <p:nvPr/>
        </p:nvPicPr>
        <p:blipFill>
          <a:blip r:embed="rId5">
            <a:alphaModFix/>
          </a:blip>
          <a:stretch>
            <a:fillRect/>
          </a:stretch>
        </p:blipFill>
        <p:spPr>
          <a:xfrm>
            <a:off x="5358137" y="2604700"/>
            <a:ext cx="2600835" cy="572700"/>
          </a:xfrm>
          <a:prstGeom prst="rect">
            <a:avLst/>
          </a:prstGeom>
          <a:noFill/>
          <a:ln>
            <a:noFill/>
          </a:ln>
        </p:spPr>
      </p:pic>
      <p:pic>
        <p:nvPicPr>
          <p:cNvPr id="253" name="Google Shape;253;p36"/>
          <p:cNvPicPr preferRelativeResize="0"/>
          <p:nvPr/>
        </p:nvPicPr>
        <p:blipFill>
          <a:blip r:embed="rId6">
            <a:alphaModFix/>
          </a:blip>
          <a:stretch>
            <a:fillRect/>
          </a:stretch>
        </p:blipFill>
        <p:spPr>
          <a:xfrm>
            <a:off x="275627" y="3358150"/>
            <a:ext cx="3271747" cy="847750"/>
          </a:xfrm>
          <a:prstGeom prst="rect">
            <a:avLst/>
          </a:prstGeom>
          <a:noFill/>
          <a:ln>
            <a:noFill/>
          </a:ln>
        </p:spPr>
      </p:pic>
      <p:sp>
        <p:nvSpPr>
          <p:cNvPr id="254" name="Google Shape;254;p36"/>
          <p:cNvSpPr/>
          <p:nvPr/>
        </p:nvSpPr>
        <p:spPr>
          <a:xfrm>
            <a:off x="3764325" y="3547075"/>
            <a:ext cx="538500" cy="42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60" name="Google Shape;260;p37"/>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numerator is equivalent to a joint probability model: </a:t>
            </a:r>
            <a:endParaRPr sz="2900">
              <a:solidFill>
                <a:srgbClr val="434343"/>
              </a:solidFill>
              <a:latin typeface="Montserrat"/>
              <a:ea typeface="Montserrat"/>
              <a:cs typeface="Montserrat"/>
              <a:sym typeface="Montserrat"/>
            </a:endParaRPr>
          </a:p>
        </p:txBody>
      </p:sp>
      <p:pic>
        <p:nvPicPr>
          <p:cNvPr descr="watermark.jpg" id="261" name="Google Shape;261;p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62" name="Google Shape;262;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63" name="Google Shape;263;p37"/>
          <p:cNvPicPr preferRelativeResize="0"/>
          <p:nvPr/>
        </p:nvPicPr>
        <p:blipFill>
          <a:blip r:embed="rId4">
            <a:alphaModFix/>
          </a:blip>
          <a:stretch>
            <a:fillRect/>
          </a:stretch>
        </p:blipFill>
        <p:spPr>
          <a:xfrm>
            <a:off x="347325" y="2909450"/>
            <a:ext cx="3950701" cy="1096175"/>
          </a:xfrm>
          <a:prstGeom prst="rect">
            <a:avLst/>
          </a:prstGeom>
          <a:noFill/>
          <a:ln>
            <a:noFill/>
          </a:ln>
        </p:spPr>
      </p:pic>
      <p:pic>
        <p:nvPicPr>
          <p:cNvPr id="264" name="Google Shape;264;p37"/>
          <p:cNvPicPr preferRelativeResize="0"/>
          <p:nvPr/>
        </p:nvPicPr>
        <p:blipFill>
          <a:blip r:embed="rId4">
            <a:alphaModFix/>
          </a:blip>
          <a:stretch>
            <a:fillRect/>
          </a:stretch>
        </p:blipFill>
        <p:spPr>
          <a:xfrm>
            <a:off x="4881525" y="2909450"/>
            <a:ext cx="3950701" cy="1096175"/>
          </a:xfrm>
          <a:prstGeom prst="rect">
            <a:avLst/>
          </a:prstGeom>
          <a:noFill/>
          <a:ln>
            <a:noFill/>
          </a:ln>
        </p:spPr>
      </p:pic>
      <p:pic>
        <p:nvPicPr>
          <p:cNvPr id="265" name="Google Shape;265;p37"/>
          <p:cNvPicPr preferRelativeResize="0"/>
          <p:nvPr/>
        </p:nvPicPr>
        <p:blipFill>
          <a:blip r:embed="rId5">
            <a:alphaModFix/>
          </a:blip>
          <a:stretch>
            <a:fillRect/>
          </a:stretch>
        </p:blipFill>
        <p:spPr>
          <a:xfrm>
            <a:off x="6559800" y="2909450"/>
            <a:ext cx="2315825" cy="555100"/>
          </a:xfrm>
          <a:prstGeom prst="rect">
            <a:avLst/>
          </a:prstGeom>
          <a:noFill/>
          <a:ln>
            <a:noFill/>
          </a:ln>
        </p:spPr>
      </p:pic>
      <p:sp>
        <p:nvSpPr>
          <p:cNvPr id="266" name="Google Shape;266;p37"/>
          <p:cNvSpPr/>
          <p:nvPr/>
        </p:nvSpPr>
        <p:spPr>
          <a:xfrm>
            <a:off x="4343025" y="3244988"/>
            <a:ext cx="538500" cy="42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72" name="Google Shape;272;p38"/>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chain rule can rewrite this numerator as a series of products of conditional probabilities:</a:t>
            </a:r>
            <a:endParaRPr sz="2900">
              <a:solidFill>
                <a:srgbClr val="434343"/>
              </a:solidFill>
              <a:latin typeface="Montserrat"/>
              <a:ea typeface="Montserrat"/>
              <a:cs typeface="Montserrat"/>
              <a:sym typeface="Montserrat"/>
            </a:endParaRPr>
          </a:p>
        </p:txBody>
      </p:sp>
      <p:pic>
        <p:nvPicPr>
          <p:cNvPr descr="watermark.jpg" id="273" name="Google Shape;273;p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74" name="Google Shape;274;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75" name="Google Shape;275;p38"/>
          <p:cNvPicPr preferRelativeResize="0"/>
          <p:nvPr/>
        </p:nvPicPr>
        <p:blipFill>
          <a:blip r:embed="rId4">
            <a:alphaModFix/>
          </a:blip>
          <a:stretch>
            <a:fillRect/>
          </a:stretch>
        </p:blipFill>
        <p:spPr>
          <a:xfrm>
            <a:off x="275200" y="2800825"/>
            <a:ext cx="8453173" cy="1421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81" name="Google Shape;281;p39"/>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Finally we need to make an assumption, we assume all x features are </a:t>
            </a:r>
            <a:r>
              <a:rPr b="1" lang="en" sz="2900">
                <a:solidFill>
                  <a:srgbClr val="434343"/>
                </a:solidFill>
                <a:latin typeface="Montserrat"/>
                <a:ea typeface="Montserrat"/>
                <a:cs typeface="Montserrat"/>
                <a:sym typeface="Montserrat"/>
              </a:rPr>
              <a:t>mutually independent </a:t>
            </a:r>
            <a:r>
              <a:rPr lang="en" sz="2900">
                <a:solidFill>
                  <a:srgbClr val="434343"/>
                </a:solidFill>
                <a:latin typeface="Montserrat"/>
                <a:ea typeface="Montserrat"/>
                <a:cs typeface="Montserrat"/>
                <a:sym typeface="Montserrat"/>
              </a:rPr>
              <a:t>of each other.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Allowing for this conditional probability:</a:t>
            </a:r>
            <a:endParaRPr sz="2900">
              <a:solidFill>
                <a:srgbClr val="434343"/>
              </a:solidFill>
              <a:latin typeface="Montserrat"/>
              <a:ea typeface="Montserrat"/>
              <a:cs typeface="Montserrat"/>
              <a:sym typeface="Montserrat"/>
            </a:endParaRPr>
          </a:p>
        </p:txBody>
      </p:sp>
      <p:pic>
        <p:nvPicPr>
          <p:cNvPr descr="watermark.jpg" id="282" name="Google Shape;282;p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83" name="Google Shape;283;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84" name="Google Shape;284;p39"/>
          <p:cNvPicPr preferRelativeResize="0"/>
          <p:nvPr/>
        </p:nvPicPr>
        <p:blipFill>
          <a:blip r:embed="rId4">
            <a:alphaModFix/>
          </a:blip>
          <a:stretch>
            <a:fillRect/>
          </a:stretch>
        </p:blipFill>
        <p:spPr>
          <a:xfrm>
            <a:off x="1602525" y="3432700"/>
            <a:ext cx="5938951" cy="7978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90" name="Google Shape;290;p40"/>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Then the joint model (the full Naive Bayes model) is fully written as:</a:t>
            </a:r>
            <a:endParaRPr sz="2900">
              <a:solidFill>
                <a:srgbClr val="434343"/>
              </a:solidFill>
              <a:latin typeface="Montserrat"/>
              <a:ea typeface="Montserrat"/>
              <a:cs typeface="Montserrat"/>
              <a:sym typeface="Montserrat"/>
            </a:endParaRPr>
          </a:p>
        </p:txBody>
      </p:sp>
      <p:pic>
        <p:nvPicPr>
          <p:cNvPr descr="watermark.jpg" id="291" name="Google Shape;291;p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92" name="Google Shape;292;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93" name="Google Shape;293;p40"/>
          <p:cNvPicPr preferRelativeResize="0"/>
          <p:nvPr/>
        </p:nvPicPr>
        <p:blipFill>
          <a:blip r:embed="rId4">
            <a:alphaModFix/>
          </a:blip>
          <a:stretch>
            <a:fillRect/>
          </a:stretch>
        </p:blipFill>
        <p:spPr>
          <a:xfrm>
            <a:off x="524225" y="2720074"/>
            <a:ext cx="8152148" cy="1823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299" name="Google Shape;299;p41"/>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Where</a:t>
            </a:r>
            <a:r>
              <a:rPr b="1" lang="en" sz="3200">
                <a:solidFill>
                  <a:srgbClr val="434343"/>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 denotes proportionality:</a:t>
            </a:r>
            <a:endParaRPr sz="2900">
              <a:solidFill>
                <a:srgbClr val="434343"/>
              </a:solidFill>
              <a:latin typeface="Montserrat"/>
              <a:ea typeface="Montserrat"/>
              <a:cs typeface="Montserrat"/>
              <a:sym typeface="Montserrat"/>
            </a:endParaRPr>
          </a:p>
        </p:txBody>
      </p:sp>
      <p:pic>
        <p:nvPicPr>
          <p:cNvPr descr="watermark.jpg" id="300" name="Google Shape;300;p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1" name="Google Shape;301;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02" name="Google Shape;302;p41"/>
          <p:cNvPicPr preferRelativeResize="0"/>
          <p:nvPr/>
        </p:nvPicPr>
        <p:blipFill>
          <a:blip r:embed="rId4">
            <a:alphaModFix/>
          </a:blip>
          <a:stretch>
            <a:fillRect/>
          </a:stretch>
        </p:blipFill>
        <p:spPr>
          <a:xfrm>
            <a:off x="524225" y="2720074"/>
            <a:ext cx="8152148" cy="1823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08" name="Google Shape;308;p42"/>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walk through an example of using this Naive Bayes model.</a:t>
            </a:r>
            <a:endParaRPr sz="2900">
              <a:solidFill>
                <a:srgbClr val="434343"/>
              </a:solidFill>
              <a:latin typeface="Montserrat"/>
              <a:ea typeface="Montserrat"/>
              <a:cs typeface="Montserrat"/>
              <a:sym typeface="Montserrat"/>
            </a:endParaRPr>
          </a:p>
        </p:txBody>
      </p:sp>
      <p:pic>
        <p:nvPicPr>
          <p:cNvPr descr="watermark.jpg" id="309" name="Google Shape;309;p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0" name="Google Shape;310;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11" name="Google Shape;311;p42"/>
          <p:cNvPicPr preferRelativeResize="0"/>
          <p:nvPr/>
        </p:nvPicPr>
        <p:blipFill>
          <a:blip r:embed="rId4">
            <a:alphaModFix/>
          </a:blip>
          <a:stretch>
            <a:fillRect/>
          </a:stretch>
        </p:blipFill>
        <p:spPr>
          <a:xfrm>
            <a:off x="524225" y="2720074"/>
            <a:ext cx="8152148" cy="1823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17" name="Google Shape;317;p43"/>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There are many variations of Naive Bayes models, including:</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Multinomial Naive Bayes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Gaussian Naive Bayes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Complement Naive Bayes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Bernoulli Naive Bayes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Categorical Naive Bayes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i="1" lang="en" sz="2900">
                <a:solidFill>
                  <a:srgbClr val="434343"/>
                </a:solidFill>
                <a:latin typeface="Montserrat"/>
                <a:ea typeface="Montserrat"/>
                <a:cs typeface="Montserrat"/>
                <a:sym typeface="Montserrat"/>
              </a:rPr>
              <a:t>Check out the online documentation!</a:t>
            </a:r>
            <a:endParaRPr b="1" i="1" sz="2900">
              <a:solidFill>
                <a:srgbClr val="434343"/>
              </a:solidFill>
              <a:latin typeface="Montserrat"/>
              <a:ea typeface="Montserrat"/>
              <a:cs typeface="Montserrat"/>
              <a:sym typeface="Montserrat"/>
            </a:endParaRPr>
          </a:p>
        </p:txBody>
      </p:sp>
      <p:pic>
        <p:nvPicPr>
          <p:cNvPr descr="watermark.jpg" id="318" name="Google Shape;318;p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9" name="Google Shape;319;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25" name="Google Shape;325;p44"/>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be focusing on Multinomial Naive Bayes, since its used most often in the context of natural language processing.</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imagine we want to create a movie review aggregation website where we need to classify movie reviews into two categories: positive or negative.</a:t>
            </a:r>
            <a:endParaRPr sz="2900">
              <a:solidFill>
                <a:srgbClr val="434343"/>
              </a:solidFill>
              <a:latin typeface="Montserrat"/>
              <a:ea typeface="Montserrat"/>
              <a:cs typeface="Montserrat"/>
              <a:sym typeface="Montserrat"/>
            </a:endParaRPr>
          </a:p>
        </p:txBody>
      </p:sp>
      <p:pic>
        <p:nvPicPr>
          <p:cNvPr descr="watermark.jpg" id="326" name="Google Shape;326;p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27" name="Google Shape;327;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33" name="Google Shape;333;p45"/>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Using previous reviews, we can have someone manually label them in order to create a labeled data set.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Then in the future, we could use our machine learning algorithm to automatically classify a new text review for us.</a:t>
            </a:r>
            <a:endParaRPr sz="2900">
              <a:solidFill>
                <a:srgbClr val="434343"/>
              </a:solidFill>
              <a:latin typeface="Montserrat"/>
              <a:ea typeface="Montserrat"/>
              <a:cs typeface="Montserrat"/>
              <a:sym typeface="Montserrat"/>
            </a:endParaRPr>
          </a:p>
        </p:txBody>
      </p:sp>
      <p:pic>
        <p:nvPicPr>
          <p:cNvPr descr="watermark.jpg" id="334" name="Google Shape;334;p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35" name="Google Shape;335;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41" name="Google Shape;341;p46"/>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how do we actually train on this text data?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Multinomial Bayes can work quite well with a simple count vectorization model (counting the frequency of each word in each document).</a:t>
            </a:r>
            <a:endParaRPr sz="2900">
              <a:solidFill>
                <a:srgbClr val="434343"/>
              </a:solidFill>
              <a:latin typeface="Montserrat"/>
              <a:ea typeface="Montserrat"/>
              <a:cs typeface="Montserrat"/>
              <a:sym typeface="Montserrat"/>
            </a:endParaRPr>
          </a:p>
        </p:txBody>
      </p:sp>
      <p:pic>
        <p:nvPicPr>
          <p:cNvPr descr="watermark.jpg" id="342" name="Google Shape;342;p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43" name="Google Shape;343;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49" name="Google Shape;349;p47"/>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Begin by separating out document classes:</a:t>
            </a:r>
            <a:endParaRPr sz="2900">
              <a:solidFill>
                <a:srgbClr val="434343"/>
              </a:solidFill>
              <a:latin typeface="Montserrat"/>
              <a:ea typeface="Montserrat"/>
              <a:cs typeface="Montserrat"/>
              <a:sym typeface="Montserrat"/>
            </a:endParaRPr>
          </a:p>
        </p:txBody>
      </p:sp>
      <p:pic>
        <p:nvPicPr>
          <p:cNvPr descr="watermark.jpg" id="350" name="Google Shape;350;p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51" name="Google Shape;351;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52" name="Google Shape;352;p47"/>
          <p:cNvPicPr preferRelativeResize="0"/>
          <p:nvPr/>
        </p:nvPicPr>
        <p:blipFill>
          <a:blip r:embed="rId4">
            <a:alphaModFix/>
          </a:blip>
          <a:stretch>
            <a:fillRect/>
          </a:stretch>
        </p:blipFill>
        <p:spPr>
          <a:xfrm>
            <a:off x="34323" y="1968736"/>
            <a:ext cx="1072100" cy="1196200"/>
          </a:xfrm>
          <a:prstGeom prst="rect">
            <a:avLst/>
          </a:prstGeom>
          <a:noFill/>
          <a:ln>
            <a:noFill/>
          </a:ln>
        </p:spPr>
      </p:pic>
      <p:pic>
        <p:nvPicPr>
          <p:cNvPr id="353" name="Google Shape;353;p47"/>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354" name="Google Shape;354;p47"/>
          <p:cNvPicPr preferRelativeResize="0"/>
          <p:nvPr/>
        </p:nvPicPr>
        <p:blipFill>
          <a:blip r:embed="rId4">
            <a:alphaModFix/>
          </a:blip>
          <a:stretch>
            <a:fillRect/>
          </a:stretch>
        </p:blipFill>
        <p:spPr>
          <a:xfrm>
            <a:off x="34323" y="3416536"/>
            <a:ext cx="1072100" cy="1196200"/>
          </a:xfrm>
          <a:prstGeom prst="rect">
            <a:avLst/>
          </a:prstGeom>
          <a:noFill/>
          <a:ln>
            <a:noFill/>
          </a:ln>
        </p:spPr>
      </p:pic>
      <p:pic>
        <p:nvPicPr>
          <p:cNvPr id="355" name="Google Shape;355;p47"/>
          <p:cNvPicPr preferRelativeResize="0"/>
          <p:nvPr/>
        </p:nvPicPr>
        <p:blipFill>
          <a:blip r:embed="rId6">
            <a:alphaModFix/>
          </a:blip>
          <a:stretch>
            <a:fillRect/>
          </a:stretch>
        </p:blipFill>
        <p:spPr>
          <a:xfrm>
            <a:off x="985675" y="4164200"/>
            <a:ext cx="562225" cy="519701"/>
          </a:xfrm>
          <a:prstGeom prst="rect">
            <a:avLst/>
          </a:prstGeom>
          <a:noFill/>
          <a:ln>
            <a:noFill/>
          </a:ln>
        </p:spPr>
      </p:pic>
      <p:sp>
        <p:nvSpPr>
          <p:cNvPr id="356" name="Google Shape;356;p47"/>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357" name="Google Shape;357;p47"/>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63" name="Google Shape;363;p48"/>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Create “prior” probabilities for each class:</a:t>
            </a:r>
            <a:endParaRPr sz="2900">
              <a:solidFill>
                <a:srgbClr val="434343"/>
              </a:solidFill>
              <a:latin typeface="Montserrat"/>
              <a:ea typeface="Montserrat"/>
              <a:cs typeface="Montserrat"/>
              <a:sym typeface="Montserrat"/>
            </a:endParaRPr>
          </a:p>
        </p:txBody>
      </p:sp>
      <p:pic>
        <p:nvPicPr>
          <p:cNvPr descr="watermark.jpg" id="364" name="Google Shape;364;p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65" name="Google Shape;365;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66" name="Google Shape;366;p48"/>
          <p:cNvPicPr preferRelativeResize="0"/>
          <p:nvPr/>
        </p:nvPicPr>
        <p:blipFill>
          <a:blip r:embed="rId4">
            <a:alphaModFix/>
          </a:blip>
          <a:stretch>
            <a:fillRect/>
          </a:stretch>
        </p:blipFill>
        <p:spPr>
          <a:xfrm>
            <a:off x="34323" y="1968736"/>
            <a:ext cx="1072100" cy="1196200"/>
          </a:xfrm>
          <a:prstGeom prst="rect">
            <a:avLst/>
          </a:prstGeom>
          <a:noFill/>
          <a:ln>
            <a:noFill/>
          </a:ln>
        </p:spPr>
      </p:pic>
      <p:pic>
        <p:nvPicPr>
          <p:cNvPr id="367" name="Google Shape;367;p48"/>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368" name="Google Shape;368;p48"/>
          <p:cNvPicPr preferRelativeResize="0"/>
          <p:nvPr/>
        </p:nvPicPr>
        <p:blipFill>
          <a:blip r:embed="rId4">
            <a:alphaModFix/>
          </a:blip>
          <a:stretch>
            <a:fillRect/>
          </a:stretch>
        </p:blipFill>
        <p:spPr>
          <a:xfrm>
            <a:off x="34323" y="3416536"/>
            <a:ext cx="1072100" cy="1196200"/>
          </a:xfrm>
          <a:prstGeom prst="rect">
            <a:avLst/>
          </a:prstGeom>
          <a:noFill/>
          <a:ln>
            <a:noFill/>
          </a:ln>
        </p:spPr>
      </p:pic>
      <p:pic>
        <p:nvPicPr>
          <p:cNvPr id="369" name="Google Shape;369;p48"/>
          <p:cNvPicPr preferRelativeResize="0"/>
          <p:nvPr/>
        </p:nvPicPr>
        <p:blipFill>
          <a:blip r:embed="rId6">
            <a:alphaModFix/>
          </a:blip>
          <a:stretch>
            <a:fillRect/>
          </a:stretch>
        </p:blipFill>
        <p:spPr>
          <a:xfrm>
            <a:off x="985675" y="4164200"/>
            <a:ext cx="562225" cy="519701"/>
          </a:xfrm>
          <a:prstGeom prst="rect">
            <a:avLst/>
          </a:prstGeom>
          <a:noFill/>
          <a:ln>
            <a:noFill/>
          </a:ln>
        </p:spPr>
      </p:pic>
      <p:sp>
        <p:nvSpPr>
          <p:cNvPr id="370" name="Google Shape;370;p48"/>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371" name="Google Shape;371;p48"/>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77" name="Google Shape;377;p49"/>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Create “prior” probabilities for each class:</a:t>
            </a:r>
            <a:endParaRPr sz="2900">
              <a:solidFill>
                <a:srgbClr val="434343"/>
              </a:solidFill>
              <a:latin typeface="Montserrat"/>
              <a:ea typeface="Montserrat"/>
              <a:cs typeface="Montserrat"/>
              <a:sym typeface="Montserrat"/>
            </a:endParaRPr>
          </a:p>
        </p:txBody>
      </p:sp>
      <p:pic>
        <p:nvPicPr>
          <p:cNvPr descr="watermark.jpg" id="378" name="Google Shape;378;p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79" name="Google Shape;379;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80" name="Google Shape;380;p49"/>
          <p:cNvPicPr preferRelativeResize="0"/>
          <p:nvPr/>
        </p:nvPicPr>
        <p:blipFill>
          <a:blip r:embed="rId4">
            <a:alphaModFix/>
          </a:blip>
          <a:stretch>
            <a:fillRect/>
          </a:stretch>
        </p:blipFill>
        <p:spPr>
          <a:xfrm>
            <a:off x="34323" y="1968736"/>
            <a:ext cx="1072100" cy="1196200"/>
          </a:xfrm>
          <a:prstGeom prst="rect">
            <a:avLst/>
          </a:prstGeom>
          <a:noFill/>
          <a:ln>
            <a:noFill/>
          </a:ln>
        </p:spPr>
      </p:pic>
      <p:pic>
        <p:nvPicPr>
          <p:cNvPr id="381" name="Google Shape;381;p49"/>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382" name="Google Shape;382;p49"/>
          <p:cNvPicPr preferRelativeResize="0"/>
          <p:nvPr/>
        </p:nvPicPr>
        <p:blipFill>
          <a:blip r:embed="rId4">
            <a:alphaModFix/>
          </a:blip>
          <a:stretch>
            <a:fillRect/>
          </a:stretch>
        </p:blipFill>
        <p:spPr>
          <a:xfrm>
            <a:off x="34323" y="3416536"/>
            <a:ext cx="1072100" cy="1196200"/>
          </a:xfrm>
          <a:prstGeom prst="rect">
            <a:avLst/>
          </a:prstGeom>
          <a:noFill/>
          <a:ln>
            <a:noFill/>
          </a:ln>
        </p:spPr>
      </p:pic>
      <p:pic>
        <p:nvPicPr>
          <p:cNvPr id="383" name="Google Shape;383;p49"/>
          <p:cNvPicPr preferRelativeResize="0"/>
          <p:nvPr/>
        </p:nvPicPr>
        <p:blipFill>
          <a:blip r:embed="rId6">
            <a:alphaModFix/>
          </a:blip>
          <a:stretch>
            <a:fillRect/>
          </a:stretch>
        </p:blipFill>
        <p:spPr>
          <a:xfrm>
            <a:off x="985675" y="4164200"/>
            <a:ext cx="562225" cy="519701"/>
          </a:xfrm>
          <a:prstGeom prst="rect">
            <a:avLst/>
          </a:prstGeom>
          <a:noFill/>
          <a:ln>
            <a:noFill/>
          </a:ln>
        </p:spPr>
      </p:pic>
      <p:sp>
        <p:nvSpPr>
          <p:cNvPr id="384" name="Google Shape;384;p49"/>
          <p:cNvSpPr txBox="1"/>
          <p:nvPr/>
        </p:nvSpPr>
        <p:spPr>
          <a:xfrm>
            <a:off x="813825" y="2021500"/>
            <a:ext cx="2277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P(pos) = </a:t>
            </a:r>
            <a:r>
              <a:rPr b="1" lang="en" sz="2000">
                <a:solidFill>
                  <a:srgbClr val="38761D"/>
                </a:solidFill>
                <a:latin typeface="Montserrat"/>
                <a:ea typeface="Montserrat"/>
                <a:cs typeface="Montserrat"/>
                <a:sym typeface="Montserrat"/>
              </a:rPr>
              <a:t>25/35</a:t>
            </a:r>
            <a:endParaRPr b="1" sz="2000">
              <a:solidFill>
                <a:srgbClr val="38761D"/>
              </a:solidFill>
              <a:latin typeface="Montserrat"/>
              <a:ea typeface="Montserrat"/>
              <a:cs typeface="Montserrat"/>
              <a:sym typeface="Montserrat"/>
            </a:endParaRPr>
          </a:p>
        </p:txBody>
      </p:sp>
      <p:sp>
        <p:nvSpPr>
          <p:cNvPr id="385" name="Google Shape;385;p49"/>
          <p:cNvSpPr txBox="1"/>
          <p:nvPr/>
        </p:nvSpPr>
        <p:spPr>
          <a:xfrm>
            <a:off x="966225" y="3697900"/>
            <a:ext cx="2049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P(neg) = </a:t>
            </a:r>
            <a:r>
              <a:rPr b="1" lang="en" sz="2000">
                <a:solidFill>
                  <a:srgbClr val="990000"/>
                </a:solidFill>
                <a:latin typeface="Montserrat"/>
                <a:ea typeface="Montserrat"/>
                <a:cs typeface="Montserrat"/>
                <a:sym typeface="Montserrat"/>
              </a:rPr>
              <a:t>10/35</a:t>
            </a:r>
            <a:endParaRPr b="1" sz="2000">
              <a:solidFill>
                <a:srgbClr val="990000"/>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391" name="Google Shape;391;p50"/>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use these later!</a:t>
            </a:r>
            <a:endParaRPr sz="2900">
              <a:solidFill>
                <a:srgbClr val="434343"/>
              </a:solidFill>
              <a:latin typeface="Montserrat"/>
              <a:ea typeface="Montserrat"/>
              <a:cs typeface="Montserrat"/>
              <a:sym typeface="Montserrat"/>
            </a:endParaRPr>
          </a:p>
        </p:txBody>
      </p:sp>
      <p:pic>
        <p:nvPicPr>
          <p:cNvPr descr="watermark.jpg" id="392" name="Google Shape;392;p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93" name="Google Shape;393;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94" name="Google Shape;394;p50"/>
          <p:cNvPicPr preferRelativeResize="0"/>
          <p:nvPr/>
        </p:nvPicPr>
        <p:blipFill>
          <a:blip r:embed="rId4">
            <a:alphaModFix/>
          </a:blip>
          <a:stretch>
            <a:fillRect/>
          </a:stretch>
        </p:blipFill>
        <p:spPr>
          <a:xfrm>
            <a:off x="34323" y="1968736"/>
            <a:ext cx="1072100" cy="1196200"/>
          </a:xfrm>
          <a:prstGeom prst="rect">
            <a:avLst/>
          </a:prstGeom>
          <a:noFill/>
          <a:ln>
            <a:noFill/>
          </a:ln>
        </p:spPr>
      </p:pic>
      <p:pic>
        <p:nvPicPr>
          <p:cNvPr id="395" name="Google Shape;395;p50"/>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396" name="Google Shape;396;p50"/>
          <p:cNvPicPr preferRelativeResize="0"/>
          <p:nvPr/>
        </p:nvPicPr>
        <p:blipFill>
          <a:blip r:embed="rId4">
            <a:alphaModFix/>
          </a:blip>
          <a:stretch>
            <a:fillRect/>
          </a:stretch>
        </p:blipFill>
        <p:spPr>
          <a:xfrm>
            <a:off x="34323" y="3416536"/>
            <a:ext cx="1072100" cy="1196200"/>
          </a:xfrm>
          <a:prstGeom prst="rect">
            <a:avLst/>
          </a:prstGeom>
          <a:noFill/>
          <a:ln>
            <a:noFill/>
          </a:ln>
        </p:spPr>
      </p:pic>
      <p:pic>
        <p:nvPicPr>
          <p:cNvPr id="397" name="Google Shape;397;p50"/>
          <p:cNvPicPr preferRelativeResize="0"/>
          <p:nvPr/>
        </p:nvPicPr>
        <p:blipFill>
          <a:blip r:embed="rId6">
            <a:alphaModFix/>
          </a:blip>
          <a:stretch>
            <a:fillRect/>
          </a:stretch>
        </p:blipFill>
        <p:spPr>
          <a:xfrm>
            <a:off x="985675" y="4164200"/>
            <a:ext cx="562225" cy="519701"/>
          </a:xfrm>
          <a:prstGeom prst="rect">
            <a:avLst/>
          </a:prstGeom>
          <a:noFill/>
          <a:ln>
            <a:noFill/>
          </a:ln>
        </p:spPr>
      </p:pic>
      <p:sp>
        <p:nvSpPr>
          <p:cNvPr id="398" name="Google Shape;398;p50"/>
          <p:cNvSpPr txBox="1"/>
          <p:nvPr/>
        </p:nvSpPr>
        <p:spPr>
          <a:xfrm>
            <a:off x="813825" y="2021500"/>
            <a:ext cx="2277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P(pos) = 25/35</a:t>
            </a:r>
            <a:endParaRPr b="1" sz="2000">
              <a:solidFill>
                <a:srgbClr val="38761D"/>
              </a:solidFill>
              <a:latin typeface="Montserrat"/>
              <a:ea typeface="Montserrat"/>
              <a:cs typeface="Montserrat"/>
              <a:sym typeface="Montserrat"/>
            </a:endParaRPr>
          </a:p>
        </p:txBody>
      </p:sp>
      <p:sp>
        <p:nvSpPr>
          <p:cNvPr id="399" name="Google Shape;399;p50"/>
          <p:cNvSpPr txBox="1"/>
          <p:nvPr/>
        </p:nvSpPr>
        <p:spPr>
          <a:xfrm>
            <a:off x="966225" y="3697900"/>
            <a:ext cx="2049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P(neg) = 10/35</a:t>
            </a:r>
            <a:endParaRPr b="1" sz="2000">
              <a:solidFill>
                <a:srgbClr val="990000"/>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id="404" name="Google Shape;404;p51"/>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405" name="Google Shape;405;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406" name="Google Shape;406;p51"/>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Start with count vectorization on classes:</a:t>
            </a:r>
            <a:endParaRPr sz="2900">
              <a:solidFill>
                <a:srgbClr val="434343"/>
              </a:solidFill>
              <a:latin typeface="Montserrat"/>
              <a:ea typeface="Montserrat"/>
              <a:cs typeface="Montserrat"/>
              <a:sym typeface="Montserrat"/>
            </a:endParaRPr>
          </a:p>
        </p:txBody>
      </p:sp>
      <p:pic>
        <p:nvPicPr>
          <p:cNvPr descr="watermark.jpg" id="407" name="Google Shape;407;p51"/>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408" name="Google Shape;408;p51"/>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409" name="Google Shape;409;p51"/>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410" name="Google Shape;410;p51"/>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411" name="Google Shape;411;p51"/>
          <p:cNvPicPr preferRelativeResize="0"/>
          <p:nvPr/>
        </p:nvPicPr>
        <p:blipFill>
          <a:blip r:embed="rId6">
            <a:alphaModFix/>
          </a:blip>
          <a:stretch>
            <a:fillRect/>
          </a:stretch>
        </p:blipFill>
        <p:spPr>
          <a:xfrm>
            <a:off x="985675" y="4164200"/>
            <a:ext cx="562225" cy="51970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pic>
        <p:nvPicPr>
          <p:cNvPr id="416" name="Google Shape;416;p52"/>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417" name="Google Shape;417;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418" name="Google Shape;418;p52"/>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Start with count vectorization on classes:</a:t>
            </a:r>
            <a:endParaRPr sz="2900">
              <a:solidFill>
                <a:srgbClr val="434343"/>
              </a:solidFill>
              <a:latin typeface="Montserrat"/>
              <a:ea typeface="Montserrat"/>
              <a:cs typeface="Montserrat"/>
              <a:sym typeface="Montserrat"/>
            </a:endParaRPr>
          </a:p>
        </p:txBody>
      </p:sp>
      <p:pic>
        <p:nvPicPr>
          <p:cNvPr descr="watermark.jpg" id="419" name="Google Shape;419;p52"/>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420" name="Google Shape;420;p52"/>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421" name="Google Shape;421;p52"/>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422" name="Google Shape;422;p52"/>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423" name="Google Shape;423;p52"/>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424" name="Google Shape;424;p52"/>
          <p:cNvGraphicFramePr/>
          <p:nvPr/>
        </p:nvGraphicFramePr>
        <p:xfrm>
          <a:off x="1757800" y="22823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425" name="Google Shape;425;p52"/>
          <p:cNvGraphicFramePr/>
          <p:nvPr/>
        </p:nvGraphicFramePr>
        <p:xfrm>
          <a:off x="1757800" y="37301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53"/>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431" name="Google Shape;431;p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432" name="Google Shape;432;p53"/>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conditional probabilities per class and word.</a:t>
            </a:r>
            <a:endParaRPr sz="2900">
              <a:solidFill>
                <a:srgbClr val="434343"/>
              </a:solidFill>
              <a:latin typeface="Montserrat"/>
              <a:ea typeface="Montserrat"/>
              <a:cs typeface="Montserrat"/>
              <a:sym typeface="Montserrat"/>
            </a:endParaRPr>
          </a:p>
        </p:txBody>
      </p:sp>
      <p:pic>
        <p:nvPicPr>
          <p:cNvPr descr="watermark.jpg" id="433" name="Google Shape;433;p5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434" name="Google Shape;434;p5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435" name="Google Shape;435;p53"/>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436" name="Google Shape;436;p53"/>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437" name="Google Shape;437;p53"/>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438" name="Google Shape;438;p53"/>
          <p:cNvGraphicFramePr/>
          <p:nvPr/>
        </p:nvGraphicFramePr>
        <p:xfrm>
          <a:off x="1757800" y="22823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439" name="Google Shape;439;p53"/>
          <p:cNvGraphicFramePr/>
          <p:nvPr/>
        </p:nvGraphicFramePr>
        <p:xfrm>
          <a:off x="1757800" y="37301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54"/>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445" name="Google Shape;445;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446" name="Google Shape;446;p54"/>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conditional probabilities:</a:t>
            </a:r>
            <a:endParaRPr sz="2900">
              <a:solidFill>
                <a:srgbClr val="434343"/>
              </a:solidFill>
              <a:latin typeface="Montserrat"/>
              <a:ea typeface="Montserrat"/>
              <a:cs typeface="Montserrat"/>
              <a:sym typeface="Montserrat"/>
            </a:endParaRPr>
          </a:p>
        </p:txBody>
      </p:sp>
      <p:pic>
        <p:nvPicPr>
          <p:cNvPr descr="watermark.jpg" id="447" name="Google Shape;447;p5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448" name="Google Shape;448;p5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449" name="Google Shape;449;p54"/>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450" name="Google Shape;450;p54"/>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451" name="Google Shape;451;p54"/>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452" name="Google Shape;452;p54"/>
          <p:cNvGraphicFramePr/>
          <p:nvPr/>
        </p:nvGraphicFramePr>
        <p:xfrm>
          <a:off x="1757800" y="22823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453" name="Google Shape;453;p54"/>
          <p:cNvGraphicFramePr/>
          <p:nvPr/>
        </p:nvGraphicFramePr>
        <p:xfrm>
          <a:off x="1757800" y="37301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454" name="Google Shape;454;p54"/>
          <p:cNvSpPr txBox="1"/>
          <p:nvPr/>
        </p:nvSpPr>
        <p:spPr>
          <a:xfrm>
            <a:off x="5379675" y="2380450"/>
            <a:ext cx="2541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P(movie|</a:t>
            </a:r>
            <a:r>
              <a:rPr b="1" lang="en" sz="2000">
                <a:solidFill>
                  <a:srgbClr val="38761D"/>
                </a:solidFill>
                <a:latin typeface="Montserrat"/>
                <a:ea typeface="Montserrat"/>
                <a:cs typeface="Montserrat"/>
                <a:sym typeface="Montserrat"/>
              </a:rPr>
              <a:t>pos</a:t>
            </a:r>
            <a:r>
              <a:rPr b="1" lang="en" sz="2000">
                <a:latin typeface="Montserrat"/>
                <a:ea typeface="Montserrat"/>
                <a:cs typeface="Montserrat"/>
                <a:sym typeface="Montserrat"/>
              </a:rPr>
              <a:t>)</a:t>
            </a:r>
            <a:endParaRPr b="1" sz="2000">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55"/>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460" name="Google Shape;460;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461" name="Google Shape;461;p55"/>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conditional probabilities:</a:t>
            </a:r>
            <a:endParaRPr sz="2900">
              <a:solidFill>
                <a:srgbClr val="434343"/>
              </a:solidFill>
              <a:latin typeface="Montserrat"/>
              <a:ea typeface="Montserrat"/>
              <a:cs typeface="Montserrat"/>
              <a:sym typeface="Montserrat"/>
            </a:endParaRPr>
          </a:p>
        </p:txBody>
      </p:sp>
      <p:pic>
        <p:nvPicPr>
          <p:cNvPr descr="watermark.jpg" id="462" name="Google Shape;462;p5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463" name="Google Shape;463;p5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464" name="Google Shape;464;p55"/>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465" name="Google Shape;465;p55"/>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466" name="Google Shape;466;p55"/>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467" name="Google Shape;467;p55"/>
          <p:cNvGraphicFramePr/>
          <p:nvPr/>
        </p:nvGraphicFramePr>
        <p:xfrm>
          <a:off x="1757800" y="22823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468" name="Google Shape;468;p55"/>
          <p:cNvGraphicFramePr/>
          <p:nvPr/>
        </p:nvGraphicFramePr>
        <p:xfrm>
          <a:off x="1757800" y="37301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469" name="Google Shape;469;p55"/>
          <p:cNvSpPr txBox="1"/>
          <p:nvPr/>
        </p:nvSpPr>
        <p:spPr>
          <a:xfrm>
            <a:off x="5379675" y="2380450"/>
            <a:ext cx="376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P(movie|</a:t>
            </a:r>
            <a:r>
              <a:rPr b="1" lang="en" sz="2000">
                <a:solidFill>
                  <a:srgbClr val="38761D"/>
                </a:solidFill>
                <a:latin typeface="Montserrat"/>
                <a:ea typeface="Montserrat"/>
                <a:cs typeface="Montserrat"/>
                <a:sym typeface="Montserrat"/>
              </a:rPr>
              <a:t>pos</a:t>
            </a:r>
            <a:r>
              <a:rPr b="1" lang="en" sz="2000">
                <a:latin typeface="Montserrat"/>
                <a:ea typeface="Montserrat"/>
                <a:cs typeface="Montserrat"/>
                <a:sym typeface="Montserrat"/>
              </a:rPr>
              <a:t>) = 10/24=0.42</a:t>
            </a:r>
            <a:endParaRPr b="1" sz="2000">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56"/>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475" name="Google Shape;475;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476" name="Google Shape;476;p56"/>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conditional probabilities:</a:t>
            </a:r>
            <a:endParaRPr sz="2900">
              <a:solidFill>
                <a:srgbClr val="434343"/>
              </a:solidFill>
              <a:latin typeface="Montserrat"/>
              <a:ea typeface="Montserrat"/>
              <a:cs typeface="Montserrat"/>
              <a:sym typeface="Montserrat"/>
            </a:endParaRPr>
          </a:p>
        </p:txBody>
      </p:sp>
      <p:pic>
        <p:nvPicPr>
          <p:cNvPr descr="watermark.jpg" id="477" name="Google Shape;477;p56"/>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478" name="Google Shape;478;p5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479" name="Google Shape;479;p56"/>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480" name="Google Shape;480;p56"/>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481" name="Google Shape;481;p56"/>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482" name="Google Shape;482;p56"/>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483" name="Google Shape;483;p56"/>
          <p:cNvGraphicFramePr/>
          <p:nvPr/>
        </p:nvGraphicFramePr>
        <p:xfrm>
          <a:off x="1757800" y="37301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484" name="Google Shape;484;p56"/>
          <p:cNvSpPr txBox="1"/>
          <p:nvPr/>
        </p:nvSpPr>
        <p:spPr>
          <a:xfrm>
            <a:off x="5379675" y="2380450"/>
            <a:ext cx="3764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P(movie|</a:t>
            </a:r>
            <a:r>
              <a:rPr b="1" lang="en" sz="2000">
                <a:solidFill>
                  <a:srgbClr val="38761D"/>
                </a:solidFill>
                <a:latin typeface="Montserrat"/>
                <a:ea typeface="Montserrat"/>
                <a:cs typeface="Montserrat"/>
                <a:sym typeface="Montserrat"/>
              </a:rPr>
              <a:t>pos</a:t>
            </a:r>
            <a:r>
              <a:rPr b="1" lang="en" sz="2000">
                <a:latin typeface="Montserrat"/>
                <a:ea typeface="Montserrat"/>
                <a:cs typeface="Montserrat"/>
                <a:sym typeface="Montserrat"/>
              </a:rPr>
              <a:t>) = 10/24 = 0.42</a:t>
            </a:r>
            <a:endParaRPr b="1" sz="20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2000">
                <a:solidFill>
                  <a:schemeClr val="dk1"/>
                </a:solidFill>
                <a:latin typeface="Montserrat"/>
                <a:ea typeface="Montserrat"/>
                <a:cs typeface="Montserrat"/>
                <a:sym typeface="Montserrat"/>
              </a:rPr>
              <a:t>P(actor|</a:t>
            </a:r>
            <a:r>
              <a:rPr b="1" lang="en" sz="2000">
                <a:solidFill>
                  <a:srgbClr val="38761D"/>
                </a:solidFill>
                <a:latin typeface="Montserrat"/>
                <a:ea typeface="Montserrat"/>
                <a:cs typeface="Montserrat"/>
                <a:sym typeface="Montserrat"/>
              </a:rPr>
              <a:t>pos</a:t>
            </a:r>
            <a:r>
              <a:rPr b="1" lang="en" sz="2000">
                <a:solidFill>
                  <a:schemeClr val="dk1"/>
                </a:solidFill>
                <a:latin typeface="Montserrat"/>
                <a:ea typeface="Montserrat"/>
                <a:cs typeface="Montserrat"/>
                <a:sym typeface="Montserrat"/>
              </a:rPr>
              <a:t>) = 2/24 = 0.08</a:t>
            </a:r>
            <a:endParaRPr b="1" sz="20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2000">
                <a:solidFill>
                  <a:schemeClr val="dk1"/>
                </a:solidFill>
                <a:latin typeface="Montserrat"/>
                <a:ea typeface="Montserrat"/>
                <a:cs typeface="Montserrat"/>
                <a:sym typeface="Montserrat"/>
              </a:rPr>
              <a:t>P(great|</a:t>
            </a:r>
            <a:r>
              <a:rPr b="1" lang="en" sz="2000">
                <a:solidFill>
                  <a:srgbClr val="38761D"/>
                </a:solidFill>
                <a:latin typeface="Montserrat"/>
                <a:ea typeface="Montserrat"/>
                <a:cs typeface="Montserrat"/>
                <a:sym typeface="Montserrat"/>
              </a:rPr>
              <a:t>pos</a:t>
            </a:r>
            <a:r>
              <a:rPr b="1" lang="en" sz="2000">
                <a:solidFill>
                  <a:schemeClr val="dk1"/>
                </a:solidFill>
                <a:latin typeface="Montserrat"/>
                <a:ea typeface="Montserrat"/>
                <a:cs typeface="Montserrat"/>
                <a:sym typeface="Montserrat"/>
              </a:rPr>
              <a:t>) = 8/24 = 0.33</a:t>
            </a:r>
            <a:endParaRPr b="1" sz="20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2000">
                <a:solidFill>
                  <a:schemeClr val="dk1"/>
                </a:solidFill>
                <a:latin typeface="Montserrat"/>
                <a:ea typeface="Montserrat"/>
                <a:cs typeface="Montserrat"/>
                <a:sym typeface="Montserrat"/>
              </a:rPr>
              <a:t>P(film|</a:t>
            </a:r>
            <a:r>
              <a:rPr b="1" lang="en" sz="2000">
                <a:solidFill>
                  <a:srgbClr val="38761D"/>
                </a:solidFill>
                <a:latin typeface="Montserrat"/>
                <a:ea typeface="Montserrat"/>
                <a:cs typeface="Montserrat"/>
                <a:sym typeface="Montserrat"/>
              </a:rPr>
              <a:t>pos</a:t>
            </a:r>
            <a:r>
              <a:rPr b="1" lang="en" sz="2000">
                <a:solidFill>
                  <a:schemeClr val="dk1"/>
                </a:solidFill>
                <a:latin typeface="Montserrat"/>
                <a:ea typeface="Montserrat"/>
                <a:cs typeface="Montserrat"/>
                <a:sym typeface="Montserrat"/>
              </a:rPr>
              <a:t>) = 4/24 = 0.17</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id="489" name="Google Shape;489;p57"/>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490" name="Google Shape;490;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491" name="Google Shape;491;p57"/>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conditional probabilities:</a:t>
            </a:r>
            <a:endParaRPr sz="2900">
              <a:solidFill>
                <a:srgbClr val="434343"/>
              </a:solidFill>
              <a:latin typeface="Montserrat"/>
              <a:ea typeface="Montserrat"/>
              <a:cs typeface="Montserrat"/>
              <a:sym typeface="Montserrat"/>
            </a:endParaRPr>
          </a:p>
        </p:txBody>
      </p:sp>
      <p:pic>
        <p:nvPicPr>
          <p:cNvPr descr="watermark.jpg" id="492" name="Google Shape;492;p57"/>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493" name="Google Shape;493;p5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494" name="Google Shape;494;p57"/>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495" name="Google Shape;495;p57"/>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496" name="Google Shape;496;p57"/>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497" name="Google Shape;497;p57"/>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498" name="Google Shape;498;p57"/>
          <p:cNvGraphicFramePr/>
          <p:nvPr/>
        </p:nvGraphicFramePr>
        <p:xfrm>
          <a:off x="1757800" y="37301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499" name="Google Shape;499;p57"/>
          <p:cNvSpPr txBox="1"/>
          <p:nvPr/>
        </p:nvSpPr>
        <p:spPr>
          <a:xfrm>
            <a:off x="5379675" y="2380450"/>
            <a:ext cx="3764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P(movie|</a:t>
            </a:r>
            <a:r>
              <a:rPr b="1" lang="en" sz="2000">
                <a:solidFill>
                  <a:srgbClr val="990000"/>
                </a:solidFill>
                <a:latin typeface="Montserrat"/>
                <a:ea typeface="Montserrat"/>
                <a:cs typeface="Montserrat"/>
                <a:sym typeface="Montserrat"/>
              </a:rPr>
              <a:t>neg</a:t>
            </a:r>
            <a:r>
              <a:rPr b="1" lang="en" sz="2000">
                <a:latin typeface="Montserrat"/>
                <a:ea typeface="Montserrat"/>
                <a:cs typeface="Montserrat"/>
                <a:sym typeface="Montserrat"/>
              </a:rPr>
              <a:t>)= 8/20 = 0.4</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P(actor|</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 = 10/20 = 0.5</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P(great|</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 = 0/20 = 0</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P(film|</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 = 2/20 = 0.1</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58"/>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505" name="Google Shape;505;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506" name="Google Shape;506;p58"/>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conditional probabilities:</a:t>
            </a:r>
            <a:endParaRPr sz="2900">
              <a:solidFill>
                <a:srgbClr val="434343"/>
              </a:solidFill>
              <a:latin typeface="Montserrat"/>
              <a:ea typeface="Montserrat"/>
              <a:cs typeface="Montserrat"/>
              <a:sym typeface="Montserrat"/>
            </a:endParaRPr>
          </a:p>
        </p:txBody>
      </p:sp>
      <p:pic>
        <p:nvPicPr>
          <p:cNvPr descr="watermark.jpg" id="507" name="Google Shape;507;p58"/>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508" name="Google Shape;508;p58"/>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509" name="Google Shape;509;p58"/>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510" name="Google Shape;510;p58"/>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511" name="Google Shape;511;p58"/>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512" name="Google Shape;512;p58"/>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513" name="Google Shape;513;p58"/>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514" name="Google Shape;514;p58"/>
          <p:cNvSpPr txBox="1"/>
          <p:nvPr/>
        </p:nvSpPr>
        <p:spPr>
          <a:xfrm>
            <a:off x="5379675" y="2380450"/>
            <a:ext cx="3764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P(movie|</a:t>
            </a:r>
            <a:r>
              <a:rPr b="1" lang="en" sz="2000">
                <a:solidFill>
                  <a:srgbClr val="990000"/>
                </a:solidFill>
                <a:latin typeface="Montserrat"/>
                <a:ea typeface="Montserrat"/>
                <a:cs typeface="Montserrat"/>
                <a:sym typeface="Montserrat"/>
              </a:rPr>
              <a:t>neg</a:t>
            </a:r>
            <a:r>
              <a:rPr b="1" lang="en" sz="2000">
                <a:latin typeface="Montserrat"/>
                <a:ea typeface="Montserrat"/>
                <a:cs typeface="Montserrat"/>
                <a:sym typeface="Montserrat"/>
              </a:rPr>
              <a:t>)= 8/20 = 0.4</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P(actor|</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 = 10/20 = 0.5</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P(great|</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 = 0/20 = 0</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P(film|</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 = 2/20 = 0.1</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id="519" name="Google Shape;519;p59"/>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520" name="Google Shape;520;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521" name="Google Shape;521;p59"/>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a new review was created:</a:t>
            </a:r>
            <a:endParaRPr sz="2900">
              <a:solidFill>
                <a:srgbClr val="434343"/>
              </a:solidFill>
              <a:latin typeface="Montserrat"/>
              <a:ea typeface="Montserrat"/>
              <a:cs typeface="Montserrat"/>
              <a:sym typeface="Montserrat"/>
            </a:endParaRPr>
          </a:p>
        </p:txBody>
      </p:sp>
      <p:pic>
        <p:nvPicPr>
          <p:cNvPr descr="watermark.jpg" id="522" name="Google Shape;522;p59"/>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523" name="Google Shape;523;p59"/>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524" name="Google Shape;524;p59"/>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525" name="Google Shape;525;p59"/>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526" name="Google Shape;526;p59"/>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527" name="Google Shape;527;p59"/>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528" name="Google Shape;528;p59"/>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529" name="Google Shape;529;p59"/>
          <p:cNvSpPr txBox="1"/>
          <p:nvPr/>
        </p:nvSpPr>
        <p:spPr>
          <a:xfrm>
            <a:off x="5341900" y="1804250"/>
            <a:ext cx="3764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60"/>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535" name="Google Shape;535;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536" name="Google Shape;536;p60"/>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a new review was created:</a:t>
            </a:r>
            <a:endParaRPr sz="2900">
              <a:solidFill>
                <a:srgbClr val="434343"/>
              </a:solidFill>
              <a:latin typeface="Montserrat"/>
              <a:ea typeface="Montserrat"/>
              <a:cs typeface="Montserrat"/>
              <a:sym typeface="Montserrat"/>
            </a:endParaRPr>
          </a:p>
        </p:txBody>
      </p:sp>
      <p:pic>
        <p:nvPicPr>
          <p:cNvPr descr="watermark.jpg" id="537" name="Google Shape;537;p60"/>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538" name="Google Shape;538;p6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539" name="Google Shape;539;p60"/>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540" name="Google Shape;540;p60"/>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541" name="Google Shape;541;p60"/>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542" name="Google Shape;542;p60"/>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543" name="Google Shape;543;p60"/>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544" name="Google Shape;544;p60"/>
          <p:cNvSpPr txBox="1"/>
          <p:nvPr/>
        </p:nvSpPr>
        <p:spPr>
          <a:xfrm>
            <a:off x="5341900" y="1804250"/>
            <a:ext cx="3764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latin typeface="Montserrat"/>
                <a:ea typeface="Montserrat"/>
                <a:cs typeface="Montserrat"/>
                <a:sym typeface="Montserrat"/>
              </a:rPr>
              <a:t>P(</a:t>
            </a:r>
            <a:r>
              <a:rPr b="1" lang="en" sz="2000">
                <a:solidFill>
                  <a:srgbClr val="38761D"/>
                </a:solidFill>
                <a:latin typeface="Montserrat"/>
                <a:ea typeface="Montserrat"/>
                <a:cs typeface="Montserrat"/>
                <a:sym typeface="Montserrat"/>
              </a:rPr>
              <a:t>pos</a:t>
            </a:r>
            <a:r>
              <a:rPr b="1" lang="en" sz="2000">
                <a:latin typeface="Montserrat"/>
                <a:ea typeface="Montserrat"/>
                <a:cs typeface="Montserrat"/>
                <a:sym typeface="Montserrat"/>
              </a:rPr>
              <a:t>) </a:t>
            </a:r>
            <a:endParaRPr b="1" sz="2000">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pic>
        <p:nvPicPr>
          <p:cNvPr id="549" name="Google Shape;549;p61"/>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550" name="Google Shape;550;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551" name="Google Shape;551;p61"/>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Start with the prior probability</a:t>
            </a:r>
            <a:endParaRPr sz="2900">
              <a:solidFill>
                <a:srgbClr val="434343"/>
              </a:solidFill>
              <a:latin typeface="Montserrat"/>
              <a:ea typeface="Montserrat"/>
              <a:cs typeface="Montserrat"/>
              <a:sym typeface="Montserrat"/>
            </a:endParaRPr>
          </a:p>
        </p:txBody>
      </p:sp>
      <p:pic>
        <p:nvPicPr>
          <p:cNvPr descr="watermark.jpg" id="552" name="Google Shape;552;p61"/>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553" name="Google Shape;553;p61"/>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554" name="Google Shape;554;p61"/>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555" name="Google Shape;555;p61"/>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556" name="Google Shape;556;p61"/>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557" name="Google Shape;557;p61"/>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558" name="Google Shape;558;p61"/>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559" name="Google Shape;559;p61"/>
          <p:cNvSpPr txBox="1"/>
          <p:nvPr/>
        </p:nvSpPr>
        <p:spPr>
          <a:xfrm>
            <a:off x="5341900" y="1804250"/>
            <a:ext cx="3764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sz="2000">
                <a:solidFill>
                  <a:schemeClr val="dk1"/>
                </a:solidFill>
                <a:latin typeface="Montserrat"/>
                <a:ea typeface="Montserrat"/>
                <a:cs typeface="Montserrat"/>
                <a:sym typeface="Montserrat"/>
              </a:rPr>
              <a:t>P(</a:t>
            </a:r>
            <a:r>
              <a:rPr b="1" lang="en" sz="2000">
                <a:solidFill>
                  <a:srgbClr val="38761D"/>
                </a:solidFill>
                <a:latin typeface="Montserrat"/>
                <a:ea typeface="Montserrat"/>
                <a:cs typeface="Montserrat"/>
                <a:sym typeface="Montserrat"/>
              </a:rPr>
              <a:t>pos</a:t>
            </a:r>
            <a:r>
              <a:rPr b="1" lang="en" sz="2000">
                <a:solidFill>
                  <a:schemeClr val="dk1"/>
                </a:solidFill>
                <a:latin typeface="Montserrat"/>
                <a:ea typeface="Montserrat"/>
                <a:cs typeface="Montserrat"/>
                <a:sym typeface="Montserrat"/>
              </a:rPr>
              <a:t>)</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560" name="Google Shape;560;p61"/>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561" name="Google Shape;561;p61"/>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62"/>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567" name="Google Shape;567;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568" name="Google Shape;568;p62"/>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Start with prior probability</a:t>
            </a:r>
            <a:endParaRPr sz="2900">
              <a:solidFill>
                <a:srgbClr val="434343"/>
              </a:solidFill>
              <a:latin typeface="Montserrat"/>
              <a:ea typeface="Montserrat"/>
              <a:cs typeface="Montserrat"/>
              <a:sym typeface="Montserrat"/>
            </a:endParaRPr>
          </a:p>
        </p:txBody>
      </p:sp>
      <p:pic>
        <p:nvPicPr>
          <p:cNvPr descr="watermark.jpg" id="569" name="Google Shape;569;p62"/>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570" name="Google Shape;570;p62"/>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571" name="Google Shape;571;p62"/>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572" name="Google Shape;572;p62"/>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573" name="Google Shape;573;p62"/>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574" name="Google Shape;574;p62"/>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575" name="Google Shape;575;p62"/>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576" name="Google Shape;576;p62"/>
          <p:cNvSpPr txBox="1"/>
          <p:nvPr/>
        </p:nvSpPr>
        <p:spPr>
          <a:xfrm>
            <a:off x="5341900" y="1804250"/>
            <a:ext cx="3764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P(</a:t>
            </a:r>
            <a:r>
              <a:rPr b="1" lang="en" sz="2000">
                <a:solidFill>
                  <a:srgbClr val="38761D"/>
                </a:solidFill>
                <a:latin typeface="Montserrat"/>
                <a:ea typeface="Montserrat"/>
                <a:cs typeface="Montserrat"/>
                <a:sym typeface="Montserrat"/>
              </a:rPr>
              <a:t>pos</a:t>
            </a:r>
            <a:r>
              <a:rPr b="1" lang="en" sz="2000">
                <a:solidFill>
                  <a:schemeClr val="dk1"/>
                </a:solidFill>
                <a:latin typeface="Montserrat"/>
                <a:ea typeface="Montserrat"/>
                <a:cs typeface="Montserrat"/>
                <a:sym typeface="Montserrat"/>
              </a:rPr>
              <a:t>) = (25/35)</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577" name="Google Shape;577;p62"/>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578" name="Google Shape;578;p62"/>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p63"/>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584" name="Google Shape;584;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585" name="Google Shape;585;p63"/>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Continue with conditional probabilities</a:t>
            </a:r>
            <a:endParaRPr sz="2900">
              <a:solidFill>
                <a:srgbClr val="434343"/>
              </a:solidFill>
              <a:latin typeface="Montserrat"/>
              <a:ea typeface="Montserrat"/>
              <a:cs typeface="Montserrat"/>
              <a:sym typeface="Montserrat"/>
            </a:endParaRPr>
          </a:p>
        </p:txBody>
      </p:sp>
      <p:pic>
        <p:nvPicPr>
          <p:cNvPr descr="watermark.jpg" id="586" name="Google Shape;586;p6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587" name="Google Shape;587;p6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588" name="Google Shape;588;p63"/>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589" name="Google Shape;589;p63"/>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590" name="Google Shape;590;p63"/>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591" name="Google Shape;591;p63"/>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592" name="Google Shape;592;p63"/>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593" name="Google Shape;593;p63"/>
          <p:cNvSpPr txBox="1"/>
          <p:nvPr/>
        </p:nvSpPr>
        <p:spPr>
          <a:xfrm>
            <a:off x="4590900" y="2413850"/>
            <a:ext cx="4515300" cy="140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1900">
                <a:solidFill>
                  <a:schemeClr val="dk1"/>
                </a:solidFill>
                <a:latin typeface="Montserrat"/>
                <a:ea typeface="Montserrat"/>
                <a:cs typeface="Montserrat"/>
                <a:sym typeface="Montserrat"/>
              </a:rPr>
              <a:t>P(</a:t>
            </a:r>
            <a:r>
              <a:rPr b="1" lang="en" sz="1900">
                <a:solidFill>
                  <a:srgbClr val="38761D"/>
                </a:solidFill>
                <a:latin typeface="Montserrat"/>
                <a:ea typeface="Montserrat"/>
                <a:cs typeface="Montserrat"/>
                <a:sym typeface="Montserrat"/>
              </a:rPr>
              <a:t>pos</a:t>
            </a:r>
            <a:r>
              <a:rPr b="1" lang="en" sz="1900">
                <a:solidFill>
                  <a:schemeClr val="dk1"/>
                </a:solidFill>
                <a:latin typeface="Montserrat"/>
                <a:ea typeface="Montserrat"/>
                <a:cs typeface="Montserrat"/>
                <a:sym typeface="Montserrat"/>
              </a:rPr>
              <a:t>)×P(movie|</a:t>
            </a:r>
            <a:r>
              <a:rPr b="1" lang="en" sz="1900">
                <a:solidFill>
                  <a:srgbClr val="38761D"/>
                </a:solidFill>
                <a:latin typeface="Montserrat"/>
                <a:ea typeface="Montserrat"/>
                <a:cs typeface="Montserrat"/>
                <a:sym typeface="Montserrat"/>
              </a:rPr>
              <a:t>pos</a:t>
            </a:r>
            <a:r>
              <a:rPr b="1" lang="en" sz="1900">
                <a:solidFill>
                  <a:schemeClr val="dk1"/>
                </a:solidFill>
                <a:latin typeface="Montserrat"/>
                <a:ea typeface="Montserrat"/>
                <a:cs typeface="Montserrat"/>
                <a:sym typeface="Montserrat"/>
              </a:rPr>
              <a:t>)</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594" name="Google Shape;594;p63"/>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595" name="Google Shape;595;p63"/>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id="600" name="Google Shape;600;p64"/>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601" name="Google Shape;601;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602" name="Google Shape;602;p64"/>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Continue with conditional probabilities</a:t>
            </a:r>
            <a:endParaRPr sz="2900">
              <a:solidFill>
                <a:srgbClr val="434343"/>
              </a:solidFill>
              <a:latin typeface="Montserrat"/>
              <a:ea typeface="Montserrat"/>
              <a:cs typeface="Montserrat"/>
              <a:sym typeface="Montserrat"/>
            </a:endParaRPr>
          </a:p>
        </p:txBody>
      </p:sp>
      <p:pic>
        <p:nvPicPr>
          <p:cNvPr descr="watermark.jpg" id="603" name="Google Shape;603;p6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604" name="Google Shape;604;p6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605" name="Google Shape;605;p64"/>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606" name="Google Shape;606;p64"/>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607" name="Google Shape;607;p64"/>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608" name="Google Shape;608;p64"/>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609" name="Google Shape;609;p64"/>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610" name="Google Shape;610;p64"/>
          <p:cNvSpPr txBox="1"/>
          <p:nvPr/>
        </p:nvSpPr>
        <p:spPr>
          <a:xfrm>
            <a:off x="4590900" y="2413850"/>
            <a:ext cx="4515300" cy="1400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1900">
                <a:solidFill>
                  <a:schemeClr val="dk1"/>
                </a:solidFill>
                <a:latin typeface="Montserrat"/>
                <a:ea typeface="Montserrat"/>
                <a:cs typeface="Montserrat"/>
                <a:sym typeface="Montserrat"/>
              </a:rPr>
              <a:t>P(</a:t>
            </a:r>
            <a:r>
              <a:rPr b="1" lang="en" sz="1900">
                <a:solidFill>
                  <a:srgbClr val="38761D"/>
                </a:solidFill>
                <a:latin typeface="Montserrat"/>
                <a:ea typeface="Montserrat"/>
                <a:cs typeface="Montserrat"/>
                <a:sym typeface="Montserrat"/>
              </a:rPr>
              <a:t>pos</a:t>
            </a:r>
            <a:r>
              <a:rPr b="1" lang="en" sz="1900">
                <a:solidFill>
                  <a:schemeClr val="dk1"/>
                </a:solidFill>
                <a:latin typeface="Montserrat"/>
                <a:ea typeface="Montserrat"/>
                <a:cs typeface="Montserrat"/>
                <a:sym typeface="Montserrat"/>
              </a:rPr>
              <a:t>)×P(movie|</a:t>
            </a:r>
            <a:r>
              <a:rPr b="1" lang="en" sz="1900">
                <a:solidFill>
                  <a:srgbClr val="38761D"/>
                </a:solidFill>
                <a:latin typeface="Montserrat"/>
                <a:ea typeface="Montserrat"/>
                <a:cs typeface="Montserrat"/>
                <a:sym typeface="Montserrat"/>
              </a:rPr>
              <a:t>pos</a:t>
            </a:r>
            <a:r>
              <a:rPr b="1" lang="en" sz="1900">
                <a:solidFill>
                  <a:schemeClr val="dk1"/>
                </a:solidFill>
                <a:latin typeface="Montserrat"/>
                <a:ea typeface="Montserrat"/>
                <a:cs typeface="Montserrat"/>
                <a:sym typeface="Montserrat"/>
              </a:rPr>
              <a:t>)×P(actor|</a:t>
            </a:r>
            <a:r>
              <a:rPr b="1" lang="en" sz="1900">
                <a:solidFill>
                  <a:srgbClr val="38761D"/>
                </a:solidFill>
                <a:latin typeface="Montserrat"/>
                <a:ea typeface="Montserrat"/>
                <a:cs typeface="Montserrat"/>
                <a:sym typeface="Montserrat"/>
              </a:rPr>
              <a:t>pos</a:t>
            </a:r>
            <a:r>
              <a:rPr b="1" lang="en" sz="1900">
                <a:solidFill>
                  <a:schemeClr val="dk1"/>
                </a:solidFill>
                <a:latin typeface="Montserrat"/>
                <a:ea typeface="Montserrat"/>
                <a:cs typeface="Montserrat"/>
                <a:sym typeface="Montserrat"/>
              </a:rPr>
              <a:t>)</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611" name="Google Shape;611;p64"/>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612" name="Google Shape;612;p64"/>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id="617" name="Google Shape;617;p65"/>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618" name="Google Shape;618;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619" name="Google Shape;619;p65"/>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Continue with conditional probabilities</a:t>
            </a:r>
            <a:endParaRPr sz="2900">
              <a:solidFill>
                <a:srgbClr val="434343"/>
              </a:solidFill>
              <a:latin typeface="Montserrat"/>
              <a:ea typeface="Montserrat"/>
              <a:cs typeface="Montserrat"/>
              <a:sym typeface="Montserrat"/>
            </a:endParaRPr>
          </a:p>
        </p:txBody>
      </p:sp>
      <p:pic>
        <p:nvPicPr>
          <p:cNvPr descr="watermark.jpg" id="620" name="Google Shape;620;p6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621" name="Google Shape;621;p6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622" name="Google Shape;622;p65"/>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623" name="Google Shape;623;p65"/>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624" name="Google Shape;624;p65"/>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625" name="Google Shape;625;p65"/>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626" name="Google Shape;626;p65"/>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627" name="Google Shape;627;p65"/>
          <p:cNvSpPr txBox="1"/>
          <p:nvPr/>
        </p:nvSpPr>
        <p:spPr>
          <a:xfrm>
            <a:off x="4590900" y="2413850"/>
            <a:ext cx="4515300" cy="1985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1900">
                <a:solidFill>
                  <a:schemeClr val="dk1"/>
                </a:solidFill>
                <a:latin typeface="Montserrat"/>
                <a:ea typeface="Montserrat"/>
                <a:cs typeface="Montserrat"/>
                <a:sym typeface="Montserrat"/>
              </a:rPr>
              <a:t>(0.71)×(0.42)×(0.08)</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628" name="Google Shape;628;p65"/>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629" name="Google Shape;629;p65"/>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pic>
        <p:nvPicPr>
          <p:cNvPr id="634" name="Google Shape;634;p66"/>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635" name="Google Shape;635;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636" name="Google Shape;636;p66"/>
          <p:cNvSpPr txBox="1"/>
          <p:nvPr>
            <p:ph idx="1" type="body"/>
          </p:nvPr>
        </p:nvSpPr>
        <p:spPr>
          <a:xfrm>
            <a:off x="311700" y="1152475"/>
            <a:ext cx="8684100" cy="572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Continue with conditional probabilities</a:t>
            </a:r>
            <a:endParaRPr sz="2900">
              <a:solidFill>
                <a:srgbClr val="434343"/>
              </a:solidFill>
              <a:latin typeface="Montserrat"/>
              <a:ea typeface="Montserrat"/>
              <a:cs typeface="Montserrat"/>
              <a:sym typeface="Montserrat"/>
            </a:endParaRPr>
          </a:p>
        </p:txBody>
      </p:sp>
      <p:pic>
        <p:nvPicPr>
          <p:cNvPr descr="watermark.jpg" id="637" name="Google Shape;637;p66"/>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638" name="Google Shape;638;p6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639" name="Google Shape;639;p66"/>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640" name="Google Shape;640;p66"/>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641" name="Google Shape;641;p66"/>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642" name="Google Shape;642;p66"/>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643" name="Google Shape;643;p66"/>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644" name="Google Shape;644;p66"/>
          <p:cNvSpPr txBox="1"/>
          <p:nvPr/>
        </p:nvSpPr>
        <p:spPr>
          <a:xfrm>
            <a:off x="4590900" y="2413850"/>
            <a:ext cx="45153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1900">
                <a:solidFill>
                  <a:schemeClr val="dk1"/>
                </a:solidFill>
                <a:latin typeface="Montserrat"/>
                <a:ea typeface="Montserrat"/>
                <a:cs typeface="Montserrat"/>
                <a:sym typeface="Montserrat"/>
              </a:rPr>
              <a:t>(0.71)×(0.42)×(0.08) </a:t>
            </a:r>
            <a:r>
              <a:rPr b="1" lang="en" sz="2000">
                <a:solidFill>
                  <a:schemeClr val="dk1"/>
                </a:solidFill>
                <a:latin typeface="Montserrat"/>
                <a:ea typeface="Montserrat"/>
                <a:cs typeface="Montserrat"/>
                <a:sym typeface="Montserrat"/>
              </a:rPr>
              <a:t>= 0.024</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645" name="Google Shape;645;p66"/>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646" name="Google Shape;646;p66"/>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id="651" name="Google Shape;651;p67"/>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652" name="Google Shape;652;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653" name="Google Shape;653;p67"/>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Calculate this score factor as 0.024</a:t>
            </a:r>
            <a:endParaRPr sz="2800">
              <a:solidFill>
                <a:srgbClr val="434343"/>
              </a:solidFill>
              <a:latin typeface="Montserrat"/>
              <a:ea typeface="Montserrat"/>
              <a:cs typeface="Montserrat"/>
              <a:sym typeface="Montserrat"/>
            </a:endParaRPr>
          </a:p>
        </p:txBody>
      </p:sp>
      <p:pic>
        <p:nvPicPr>
          <p:cNvPr descr="watermark.jpg" id="654" name="Google Shape;654;p67"/>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655" name="Google Shape;655;p6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656" name="Google Shape;656;p67"/>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657" name="Google Shape;657;p67"/>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658" name="Google Shape;658;p67"/>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659" name="Google Shape;659;p67"/>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660" name="Google Shape;660;p67"/>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661" name="Google Shape;661;p67"/>
          <p:cNvSpPr txBox="1"/>
          <p:nvPr/>
        </p:nvSpPr>
        <p:spPr>
          <a:xfrm>
            <a:off x="4590900" y="2413850"/>
            <a:ext cx="45153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1900">
                <a:solidFill>
                  <a:schemeClr val="dk1"/>
                </a:solidFill>
                <a:latin typeface="Montserrat"/>
                <a:ea typeface="Montserrat"/>
                <a:cs typeface="Montserrat"/>
                <a:sym typeface="Montserrat"/>
              </a:rPr>
              <a:t>(0.71)×(0.42)×(0.08) </a:t>
            </a:r>
            <a:r>
              <a:rPr b="1" lang="en" sz="2000">
                <a:solidFill>
                  <a:schemeClr val="dk1"/>
                </a:solidFill>
                <a:latin typeface="Montserrat"/>
                <a:ea typeface="Montserrat"/>
                <a:cs typeface="Montserrat"/>
                <a:sym typeface="Montserrat"/>
              </a:rPr>
              <a:t>= 0.024</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662" name="Google Shape;662;p67"/>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663" name="Google Shape;663;p67"/>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pic>
        <p:nvPicPr>
          <p:cNvPr id="668" name="Google Shape;668;p68"/>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669" name="Google Shape;669;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670" name="Google Shape;670;p68"/>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Score is proportional to P(pos|“movie actor”)</a:t>
            </a:r>
            <a:endParaRPr sz="2800">
              <a:solidFill>
                <a:srgbClr val="434343"/>
              </a:solidFill>
              <a:latin typeface="Montserrat"/>
              <a:ea typeface="Montserrat"/>
              <a:cs typeface="Montserrat"/>
              <a:sym typeface="Montserrat"/>
            </a:endParaRPr>
          </a:p>
        </p:txBody>
      </p:sp>
      <p:pic>
        <p:nvPicPr>
          <p:cNvPr descr="watermark.jpg" id="671" name="Google Shape;671;p68"/>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672" name="Google Shape;672;p68"/>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673" name="Google Shape;673;p68"/>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674" name="Google Shape;674;p68"/>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675" name="Google Shape;675;p68"/>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676" name="Google Shape;676;p68"/>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677" name="Google Shape;677;p68"/>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678" name="Google Shape;678;p68"/>
          <p:cNvSpPr txBox="1"/>
          <p:nvPr/>
        </p:nvSpPr>
        <p:spPr>
          <a:xfrm>
            <a:off x="4590900" y="2413850"/>
            <a:ext cx="45153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1900">
                <a:solidFill>
                  <a:schemeClr val="dk1"/>
                </a:solidFill>
                <a:latin typeface="Montserrat"/>
                <a:ea typeface="Montserrat"/>
                <a:cs typeface="Montserrat"/>
                <a:sym typeface="Montserrat"/>
              </a:rPr>
              <a:t>(0.71)×(0.42)×(0.08) </a:t>
            </a:r>
            <a:r>
              <a:rPr b="1" lang="en" sz="2000">
                <a:solidFill>
                  <a:schemeClr val="dk1"/>
                </a:solidFill>
                <a:latin typeface="Montserrat"/>
                <a:ea typeface="Montserrat"/>
                <a:cs typeface="Montserrat"/>
                <a:sym typeface="Montserrat"/>
              </a:rPr>
              <a:t>= 0.024</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679" name="Google Shape;679;p68"/>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680" name="Google Shape;680;p68"/>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pic>
        <p:nvPicPr>
          <p:cNvPr id="685" name="Google Shape;685;p69"/>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686" name="Google Shape;686;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687" name="Google Shape;687;p69"/>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Score is proportional to P(pos|“movie actor”)</a:t>
            </a:r>
            <a:endParaRPr sz="2800">
              <a:solidFill>
                <a:srgbClr val="434343"/>
              </a:solidFill>
              <a:latin typeface="Montserrat"/>
              <a:ea typeface="Montserrat"/>
              <a:cs typeface="Montserrat"/>
              <a:sym typeface="Montserrat"/>
            </a:endParaRPr>
          </a:p>
        </p:txBody>
      </p:sp>
      <p:pic>
        <p:nvPicPr>
          <p:cNvPr descr="watermark.jpg" id="688" name="Google Shape;688;p69"/>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689" name="Google Shape;689;p69"/>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690" name="Google Shape;690;p69"/>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691" name="Google Shape;691;p69"/>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692" name="Google Shape;692;p69"/>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693" name="Google Shape;693;p69"/>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694" name="Google Shape;694;p69"/>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695" name="Google Shape;695;p69"/>
          <p:cNvSpPr txBox="1"/>
          <p:nvPr/>
        </p:nvSpPr>
        <p:spPr>
          <a:xfrm>
            <a:off x="4590900" y="2413850"/>
            <a:ext cx="45153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0.024 ∝ P(pos| “movie actor”)</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696" name="Google Shape;696;p69"/>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697" name="Google Shape;697;p69"/>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pic>
        <p:nvPicPr>
          <p:cNvPr id="702" name="Google Shape;702;p70"/>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703" name="Google Shape;703;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704" name="Google Shape;704;p70"/>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Repeat same process with negative class</a:t>
            </a:r>
            <a:endParaRPr sz="2800">
              <a:solidFill>
                <a:srgbClr val="434343"/>
              </a:solidFill>
              <a:latin typeface="Montserrat"/>
              <a:ea typeface="Montserrat"/>
              <a:cs typeface="Montserrat"/>
              <a:sym typeface="Montserrat"/>
            </a:endParaRPr>
          </a:p>
        </p:txBody>
      </p:sp>
      <p:pic>
        <p:nvPicPr>
          <p:cNvPr descr="watermark.jpg" id="705" name="Google Shape;705;p70"/>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706" name="Google Shape;706;p7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707" name="Google Shape;707;p70"/>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708" name="Google Shape;708;p70"/>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709" name="Google Shape;709;p70"/>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710" name="Google Shape;710;p70"/>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711" name="Google Shape;711;p70"/>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712" name="Google Shape;712;p70"/>
          <p:cNvSpPr txBox="1"/>
          <p:nvPr/>
        </p:nvSpPr>
        <p:spPr>
          <a:xfrm>
            <a:off x="4118575" y="2413850"/>
            <a:ext cx="49875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  P(</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)×P(movie|</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)×P(actor|</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713" name="Google Shape;713;p70"/>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714" name="Google Shape;714;p70"/>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pic>
        <p:nvPicPr>
          <p:cNvPr id="719" name="Google Shape;719;p71"/>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720" name="Google Shape;720;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721" name="Google Shape;721;p71"/>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Repeat same process with negative class</a:t>
            </a:r>
            <a:endParaRPr sz="2800">
              <a:solidFill>
                <a:srgbClr val="434343"/>
              </a:solidFill>
              <a:latin typeface="Montserrat"/>
              <a:ea typeface="Montserrat"/>
              <a:cs typeface="Montserrat"/>
              <a:sym typeface="Montserrat"/>
            </a:endParaRPr>
          </a:p>
        </p:txBody>
      </p:sp>
      <p:pic>
        <p:nvPicPr>
          <p:cNvPr descr="watermark.jpg" id="722" name="Google Shape;722;p71"/>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723" name="Google Shape;723;p71"/>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724" name="Google Shape;724;p71"/>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725" name="Google Shape;725;p71"/>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726" name="Google Shape;726;p71"/>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727" name="Google Shape;727;p71"/>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728" name="Google Shape;728;p71"/>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729" name="Google Shape;729;p71"/>
          <p:cNvSpPr txBox="1"/>
          <p:nvPr/>
        </p:nvSpPr>
        <p:spPr>
          <a:xfrm>
            <a:off x="4118575" y="2413850"/>
            <a:ext cx="49875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  (10/35)×(0.4)×(0.5) = 0.057</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730" name="Google Shape;730;p71"/>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731" name="Google Shape;731;p71"/>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id="736" name="Google Shape;736;p72"/>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737" name="Google Shape;737;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738" name="Google Shape;738;p72"/>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Score is proportional to P(neg|“movie actor”)</a:t>
            </a:r>
            <a:endParaRPr sz="2800">
              <a:solidFill>
                <a:srgbClr val="434343"/>
              </a:solidFill>
              <a:latin typeface="Montserrat"/>
              <a:ea typeface="Montserrat"/>
              <a:cs typeface="Montserrat"/>
              <a:sym typeface="Montserrat"/>
            </a:endParaRPr>
          </a:p>
        </p:txBody>
      </p:sp>
      <p:pic>
        <p:nvPicPr>
          <p:cNvPr descr="watermark.jpg" id="739" name="Google Shape;739;p72"/>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740" name="Google Shape;740;p72"/>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741" name="Google Shape;741;p72"/>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742" name="Google Shape;742;p72"/>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743" name="Google Shape;743;p72"/>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744" name="Google Shape;744;p72"/>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745" name="Google Shape;745;p72"/>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746" name="Google Shape;746;p72"/>
          <p:cNvSpPr txBox="1"/>
          <p:nvPr/>
        </p:nvSpPr>
        <p:spPr>
          <a:xfrm>
            <a:off x="4590900" y="2413850"/>
            <a:ext cx="45153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0.057</a:t>
            </a:r>
            <a:r>
              <a:rPr b="1" lang="en" sz="2000">
                <a:solidFill>
                  <a:schemeClr val="dk1"/>
                </a:solidFill>
                <a:latin typeface="Montserrat"/>
                <a:ea typeface="Montserrat"/>
                <a:cs typeface="Montserrat"/>
                <a:sym typeface="Montserrat"/>
              </a:rPr>
              <a:t> ∝ P(neg| “movie actor”)</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747" name="Google Shape;747;p72"/>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748" name="Google Shape;748;p72"/>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id="753" name="Google Shape;753;p73"/>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754" name="Google Shape;754;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755" name="Google Shape;755;p73"/>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Compare both scores against each other</a:t>
            </a:r>
            <a:endParaRPr sz="2800">
              <a:solidFill>
                <a:srgbClr val="434343"/>
              </a:solidFill>
              <a:latin typeface="Montserrat"/>
              <a:ea typeface="Montserrat"/>
              <a:cs typeface="Montserrat"/>
              <a:sym typeface="Montserrat"/>
            </a:endParaRPr>
          </a:p>
        </p:txBody>
      </p:sp>
      <p:pic>
        <p:nvPicPr>
          <p:cNvPr descr="watermark.jpg" id="756" name="Google Shape;756;p7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757" name="Google Shape;757;p7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758" name="Google Shape;758;p73"/>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759" name="Google Shape;759;p73"/>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760" name="Google Shape;760;p73"/>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761" name="Google Shape;761;p73"/>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762" name="Google Shape;762;p73"/>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763" name="Google Shape;763;p73"/>
          <p:cNvSpPr txBox="1"/>
          <p:nvPr/>
        </p:nvSpPr>
        <p:spPr>
          <a:xfrm>
            <a:off x="4979700" y="2239075"/>
            <a:ext cx="4392300" cy="230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0.057 ∝ P(neg| “movie actor”)</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0.024 ∝ P(pos| “movie actor”)</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764" name="Google Shape;764;p73"/>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765" name="Google Shape;765;p73"/>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pic>
        <p:nvPicPr>
          <p:cNvPr id="770" name="Google Shape;770;p74"/>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771" name="Google Shape;771;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772" name="Google Shape;772;p74"/>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Classify based on highest score:</a:t>
            </a:r>
            <a:endParaRPr sz="2800">
              <a:solidFill>
                <a:srgbClr val="434343"/>
              </a:solidFill>
              <a:latin typeface="Montserrat"/>
              <a:ea typeface="Montserrat"/>
              <a:cs typeface="Montserrat"/>
              <a:sym typeface="Montserrat"/>
            </a:endParaRPr>
          </a:p>
        </p:txBody>
      </p:sp>
      <p:pic>
        <p:nvPicPr>
          <p:cNvPr descr="watermark.jpg" id="773" name="Google Shape;773;p7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774" name="Google Shape;774;p7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775" name="Google Shape;775;p74"/>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776" name="Google Shape;776;p74"/>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777" name="Google Shape;777;p74"/>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778" name="Google Shape;778;p74"/>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779" name="Google Shape;779;p74"/>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780" name="Google Shape;780;p74"/>
          <p:cNvSpPr txBox="1"/>
          <p:nvPr/>
        </p:nvSpPr>
        <p:spPr>
          <a:xfrm>
            <a:off x="4979700" y="2239075"/>
            <a:ext cx="4392300" cy="230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0.057 ∝ P(neg| “movie actor”)</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0.024 ∝ P(pos| “movie actor”)</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781" name="Google Shape;781;p74"/>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782" name="Google Shape;782;p74"/>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p75"/>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788" name="Google Shape;788;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789" name="Google Shape;789;p75"/>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This is </a:t>
            </a:r>
            <a:r>
              <a:rPr lang="en" sz="2800">
                <a:solidFill>
                  <a:srgbClr val="434343"/>
                </a:solidFill>
                <a:latin typeface="Montserrat"/>
                <a:ea typeface="Montserrat"/>
                <a:cs typeface="Montserrat"/>
                <a:sym typeface="Montserrat"/>
              </a:rPr>
              <a:t>classified</a:t>
            </a:r>
            <a:r>
              <a:rPr lang="en" sz="2800">
                <a:solidFill>
                  <a:srgbClr val="434343"/>
                </a:solidFill>
                <a:latin typeface="Montserrat"/>
                <a:ea typeface="Montserrat"/>
                <a:cs typeface="Montserrat"/>
                <a:sym typeface="Montserrat"/>
              </a:rPr>
              <a:t> as a </a:t>
            </a:r>
            <a:r>
              <a:rPr b="1" lang="en" sz="2800">
                <a:solidFill>
                  <a:srgbClr val="434343"/>
                </a:solidFill>
                <a:latin typeface="Montserrat"/>
                <a:ea typeface="Montserrat"/>
                <a:cs typeface="Montserrat"/>
                <a:sym typeface="Montserrat"/>
              </a:rPr>
              <a:t>negative</a:t>
            </a:r>
            <a:r>
              <a:rPr lang="en" sz="2800">
                <a:solidFill>
                  <a:srgbClr val="434343"/>
                </a:solidFill>
                <a:latin typeface="Montserrat"/>
                <a:ea typeface="Montserrat"/>
                <a:cs typeface="Montserrat"/>
                <a:sym typeface="Montserrat"/>
              </a:rPr>
              <a:t> review</a:t>
            </a:r>
            <a:endParaRPr sz="2800">
              <a:solidFill>
                <a:srgbClr val="434343"/>
              </a:solidFill>
              <a:latin typeface="Montserrat"/>
              <a:ea typeface="Montserrat"/>
              <a:cs typeface="Montserrat"/>
              <a:sym typeface="Montserrat"/>
            </a:endParaRPr>
          </a:p>
        </p:txBody>
      </p:sp>
      <p:pic>
        <p:nvPicPr>
          <p:cNvPr descr="watermark.jpg" id="790" name="Google Shape;790;p7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791" name="Google Shape;791;p7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792" name="Google Shape;792;p75"/>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793" name="Google Shape;793;p75"/>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794" name="Google Shape;794;p75"/>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795" name="Google Shape;795;p75"/>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796" name="Google Shape;796;p75"/>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797" name="Google Shape;797;p75"/>
          <p:cNvSpPr txBox="1"/>
          <p:nvPr/>
        </p:nvSpPr>
        <p:spPr>
          <a:xfrm>
            <a:off x="4979700" y="2239075"/>
            <a:ext cx="4392300" cy="230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“movie actor”</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0.057 ∝ P(neg| “movie actor”)</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0.024 ∝ P(pos| “movie actor”)</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798" name="Google Shape;798;p75"/>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799" name="Google Shape;799;p75"/>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pic>
        <p:nvPicPr>
          <p:cNvPr id="804" name="Google Shape;804;p76"/>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805" name="Google Shape;805;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806" name="Google Shape;806;p76"/>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What about 0 count words?</a:t>
            </a:r>
            <a:endParaRPr sz="2800">
              <a:solidFill>
                <a:srgbClr val="434343"/>
              </a:solidFill>
              <a:latin typeface="Montserrat"/>
              <a:ea typeface="Montserrat"/>
              <a:cs typeface="Montserrat"/>
              <a:sym typeface="Montserrat"/>
            </a:endParaRPr>
          </a:p>
        </p:txBody>
      </p:sp>
      <p:pic>
        <p:nvPicPr>
          <p:cNvPr descr="watermark.jpg" id="807" name="Google Shape;807;p76"/>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808" name="Google Shape;808;p7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809" name="Google Shape;809;p76"/>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810" name="Google Shape;810;p76"/>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811" name="Google Shape;811;p76"/>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812" name="Google Shape;812;p76"/>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813" name="Google Shape;813;p76"/>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814" name="Google Shape;814;p76"/>
          <p:cNvSpPr txBox="1"/>
          <p:nvPr/>
        </p:nvSpPr>
        <p:spPr>
          <a:xfrm>
            <a:off x="4979700" y="2239075"/>
            <a:ext cx="43923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“great movie”</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815" name="Google Shape;815;p76"/>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816" name="Google Shape;816;p76"/>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pic>
        <p:nvPicPr>
          <p:cNvPr id="821" name="Google Shape;821;p77"/>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822" name="Google Shape;822;p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823" name="Google Shape;823;p77"/>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What about 0 count words?</a:t>
            </a:r>
            <a:endParaRPr sz="2800">
              <a:solidFill>
                <a:srgbClr val="434343"/>
              </a:solidFill>
              <a:latin typeface="Montserrat"/>
              <a:ea typeface="Montserrat"/>
              <a:cs typeface="Montserrat"/>
              <a:sym typeface="Montserrat"/>
            </a:endParaRPr>
          </a:p>
        </p:txBody>
      </p:sp>
      <p:pic>
        <p:nvPicPr>
          <p:cNvPr descr="watermark.jpg" id="824" name="Google Shape;824;p77"/>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825" name="Google Shape;825;p7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826" name="Google Shape;826;p77"/>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827" name="Google Shape;827;p77"/>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828" name="Google Shape;828;p77"/>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829" name="Google Shape;829;p77"/>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830" name="Google Shape;830;p77"/>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831" name="Google Shape;831;p77"/>
          <p:cNvSpPr txBox="1"/>
          <p:nvPr/>
        </p:nvSpPr>
        <p:spPr>
          <a:xfrm>
            <a:off x="4979700" y="2239075"/>
            <a:ext cx="43923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“great movie”</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832" name="Google Shape;832;p77"/>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833" name="Google Shape;833;p77"/>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
        <p:nvSpPr>
          <p:cNvPr id="834" name="Google Shape;834;p77"/>
          <p:cNvSpPr/>
          <p:nvPr/>
        </p:nvSpPr>
        <p:spPr>
          <a:xfrm>
            <a:off x="6376250" y="2290750"/>
            <a:ext cx="727500" cy="368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77"/>
          <p:cNvSpPr/>
          <p:nvPr/>
        </p:nvSpPr>
        <p:spPr>
          <a:xfrm>
            <a:off x="3401925" y="3937188"/>
            <a:ext cx="727500" cy="7467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pic>
        <p:nvPicPr>
          <p:cNvPr id="840" name="Google Shape;840;p78"/>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841" name="Google Shape;841;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842" name="Google Shape;842;p78"/>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Probability is zero! Regardless of text!</a:t>
            </a:r>
            <a:endParaRPr sz="2800">
              <a:solidFill>
                <a:srgbClr val="434343"/>
              </a:solidFill>
              <a:latin typeface="Montserrat"/>
              <a:ea typeface="Montserrat"/>
              <a:cs typeface="Montserrat"/>
              <a:sym typeface="Montserrat"/>
            </a:endParaRPr>
          </a:p>
        </p:txBody>
      </p:sp>
      <p:pic>
        <p:nvPicPr>
          <p:cNvPr descr="watermark.jpg" id="843" name="Google Shape;843;p78"/>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844" name="Google Shape;844;p78"/>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845" name="Google Shape;845;p78"/>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846" name="Google Shape;846;p78"/>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847" name="Google Shape;847;p78"/>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848" name="Google Shape;848;p78"/>
          <p:cNvGraphicFramePr/>
          <p:nvPr/>
        </p:nvGraphicFramePr>
        <p:xfrm>
          <a:off x="1757800" y="18667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0.42</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0.08</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0.33</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0.17</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849" name="Google Shape;849;p78"/>
          <p:cNvGraphicFramePr/>
          <p:nvPr/>
        </p:nvGraphicFramePr>
        <p:xfrm>
          <a:off x="1757800" y="35270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b="1" lang="en">
                          <a:latin typeface="Montserrat"/>
                          <a:ea typeface="Montserrat"/>
                          <a:cs typeface="Montserrat"/>
                          <a:sym typeface="Montserrat"/>
                        </a:rPr>
                        <a:t>0.4</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0.5</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0.1</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850" name="Google Shape;850;p78"/>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851" name="Google Shape;851;p78"/>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
        <p:nvSpPr>
          <p:cNvPr id="852" name="Google Shape;852;p78"/>
          <p:cNvSpPr/>
          <p:nvPr/>
        </p:nvSpPr>
        <p:spPr>
          <a:xfrm>
            <a:off x="3401925" y="3937188"/>
            <a:ext cx="727500" cy="7467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78"/>
          <p:cNvSpPr txBox="1"/>
          <p:nvPr/>
        </p:nvSpPr>
        <p:spPr>
          <a:xfrm>
            <a:off x="4118575" y="2413850"/>
            <a:ext cx="49875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“great movie”</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  P(</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)×P(great|</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)×P(movie|</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
        <p:nvSpPr>
          <p:cNvPr id="854" name="Google Shape;854;p78"/>
          <p:cNvSpPr/>
          <p:nvPr/>
        </p:nvSpPr>
        <p:spPr>
          <a:xfrm>
            <a:off x="5391625" y="3050300"/>
            <a:ext cx="1664700" cy="4926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pic>
        <p:nvPicPr>
          <p:cNvPr id="859" name="Google Shape;859;p79"/>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860" name="Google Shape;860;p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861" name="Google Shape;861;p79"/>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Alpha smoothing parameter to add counts:</a:t>
            </a:r>
            <a:endParaRPr sz="2800">
              <a:solidFill>
                <a:srgbClr val="434343"/>
              </a:solidFill>
              <a:latin typeface="Montserrat"/>
              <a:ea typeface="Montserrat"/>
              <a:cs typeface="Montserrat"/>
              <a:sym typeface="Montserrat"/>
            </a:endParaRPr>
          </a:p>
        </p:txBody>
      </p:sp>
      <p:pic>
        <p:nvPicPr>
          <p:cNvPr descr="watermark.jpg" id="862" name="Google Shape;862;p79"/>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863" name="Google Shape;863;p79"/>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864" name="Google Shape;864;p79"/>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865" name="Google Shape;865;p79"/>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866" name="Google Shape;866;p79"/>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867" name="Google Shape;867;p79"/>
          <p:cNvGraphicFramePr/>
          <p:nvPr/>
        </p:nvGraphicFramePr>
        <p:xfrm>
          <a:off x="1757800" y="20953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868" name="Google Shape;868;p79"/>
          <p:cNvGraphicFramePr/>
          <p:nvPr/>
        </p:nvGraphicFramePr>
        <p:xfrm>
          <a:off x="1757800" y="37556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869" name="Google Shape;869;p79"/>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870" name="Google Shape;870;p79"/>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
        <p:nvSpPr>
          <p:cNvPr id="871" name="Google Shape;871;p79"/>
          <p:cNvSpPr txBox="1"/>
          <p:nvPr/>
        </p:nvSpPr>
        <p:spPr>
          <a:xfrm>
            <a:off x="4118575" y="2413850"/>
            <a:ext cx="4987500" cy="2001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Montserrat"/>
                <a:ea typeface="Montserrat"/>
                <a:cs typeface="Montserrat"/>
                <a:sym typeface="Montserrat"/>
              </a:rPr>
              <a:t>“great movie”</a:t>
            </a:r>
            <a:endParaRPr b="1" sz="2000">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a:p>
            <a:pPr indent="0" lvl="0" marL="0" rtl="0" algn="l">
              <a:spcBef>
                <a:spcPts val="0"/>
              </a:spcBef>
              <a:spcAft>
                <a:spcPts val="0"/>
              </a:spcAft>
              <a:buNone/>
            </a:pPr>
            <a:r>
              <a:rPr b="1" lang="en" sz="2000">
                <a:solidFill>
                  <a:schemeClr val="dk1"/>
                </a:solidFill>
                <a:latin typeface="Montserrat"/>
                <a:ea typeface="Montserrat"/>
                <a:cs typeface="Montserrat"/>
                <a:sym typeface="Montserrat"/>
              </a:rPr>
              <a:t>  P(</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)×P(great|</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)×P(movie|</a:t>
            </a:r>
            <a:r>
              <a:rPr b="1" lang="en" sz="2000">
                <a:solidFill>
                  <a:srgbClr val="990000"/>
                </a:solidFill>
                <a:latin typeface="Montserrat"/>
                <a:ea typeface="Montserrat"/>
                <a:cs typeface="Montserrat"/>
                <a:sym typeface="Montserrat"/>
              </a:rPr>
              <a:t>neg</a:t>
            </a:r>
            <a:r>
              <a:rPr b="1" lang="en" sz="2000">
                <a:solidFill>
                  <a:schemeClr val="dk1"/>
                </a:solidFill>
                <a:latin typeface="Montserrat"/>
                <a:ea typeface="Montserrat"/>
                <a:cs typeface="Montserrat"/>
                <a:sym typeface="Montserrat"/>
              </a:rPr>
              <a:t>)</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2000">
              <a:latin typeface="Montserrat"/>
              <a:ea typeface="Montserrat"/>
              <a:cs typeface="Montserrat"/>
              <a:sym typeface="Montserrat"/>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pic>
        <p:nvPicPr>
          <p:cNvPr id="876" name="Google Shape;876;p80"/>
          <p:cNvPicPr preferRelativeResize="0"/>
          <p:nvPr/>
        </p:nvPicPr>
        <p:blipFill>
          <a:blip r:embed="rId3">
            <a:alphaModFix/>
          </a:blip>
          <a:stretch>
            <a:fillRect/>
          </a:stretch>
        </p:blipFill>
        <p:spPr>
          <a:xfrm>
            <a:off x="34323" y="1968736"/>
            <a:ext cx="1072100" cy="1196200"/>
          </a:xfrm>
          <a:prstGeom prst="rect">
            <a:avLst/>
          </a:prstGeom>
          <a:noFill/>
          <a:ln>
            <a:noFill/>
          </a:ln>
        </p:spPr>
      </p:pic>
      <p:sp>
        <p:nvSpPr>
          <p:cNvPr id="877" name="Google Shape;877;p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878" name="Google Shape;878;p80"/>
          <p:cNvSpPr txBox="1"/>
          <p:nvPr>
            <p:ph idx="1" type="body"/>
          </p:nvPr>
        </p:nvSpPr>
        <p:spPr>
          <a:xfrm>
            <a:off x="311700" y="1152475"/>
            <a:ext cx="8832300" cy="572700"/>
          </a:xfrm>
          <a:prstGeom prst="rect">
            <a:avLst/>
          </a:prstGeom>
        </p:spPr>
        <p:txBody>
          <a:bodyPr anchorCtr="0" anchor="t" bIns="91425" lIns="91425" spcFirstLastPara="1" rIns="91425" wrap="square" tIns="91425">
            <a:noAutofit/>
          </a:bodyPr>
          <a:lstStyle/>
          <a:p>
            <a:pPr indent="-406400" lvl="0" marL="457200" marR="0" rtl="0" algn="l">
              <a:lnSpc>
                <a:spcPct val="100000"/>
              </a:lnSpc>
              <a:spcBef>
                <a:spcPts val="0"/>
              </a:spcBef>
              <a:spcAft>
                <a:spcPts val="0"/>
              </a:spcAft>
              <a:buClr>
                <a:srgbClr val="434343"/>
              </a:buClr>
              <a:buSzPts val="2800"/>
              <a:buFont typeface="Montserrat"/>
              <a:buChar char="●"/>
            </a:pPr>
            <a:r>
              <a:rPr lang="en" sz="2800">
                <a:solidFill>
                  <a:srgbClr val="434343"/>
                </a:solidFill>
                <a:latin typeface="Montserrat"/>
                <a:ea typeface="Montserrat"/>
                <a:cs typeface="Montserrat"/>
                <a:sym typeface="Montserrat"/>
              </a:rPr>
              <a:t>Recalculate conditional probabilities...</a:t>
            </a:r>
            <a:endParaRPr sz="2800">
              <a:solidFill>
                <a:srgbClr val="434343"/>
              </a:solidFill>
              <a:latin typeface="Montserrat"/>
              <a:ea typeface="Montserrat"/>
              <a:cs typeface="Montserrat"/>
              <a:sym typeface="Montserrat"/>
            </a:endParaRPr>
          </a:p>
        </p:txBody>
      </p:sp>
      <p:pic>
        <p:nvPicPr>
          <p:cNvPr descr="watermark.jpg" id="879" name="Google Shape;879;p80"/>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880" name="Google Shape;880;p8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pic>
        <p:nvPicPr>
          <p:cNvPr id="881" name="Google Shape;881;p80"/>
          <p:cNvPicPr preferRelativeResize="0"/>
          <p:nvPr/>
        </p:nvPicPr>
        <p:blipFill rotWithShape="1">
          <a:blip r:embed="rId5">
            <a:alphaModFix/>
          </a:blip>
          <a:srcRect b="0" l="11848" r="0" t="0"/>
          <a:stretch/>
        </p:blipFill>
        <p:spPr>
          <a:xfrm>
            <a:off x="1042426" y="2502075"/>
            <a:ext cx="562225" cy="572700"/>
          </a:xfrm>
          <a:prstGeom prst="rect">
            <a:avLst/>
          </a:prstGeom>
          <a:noFill/>
          <a:ln>
            <a:noFill/>
          </a:ln>
        </p:spPr>
      </p:pic>
      <p:pic>
        <p:nvPicPr>
          <p:cNvPr id="882" name="Google Shape;882;p80"/>
          <p:cNvPicPr preferRelativeResize="0"/>
          <p:nvPr/>
        </p:nvPicPr>
        <p:blipFill>
          <a:blip r:embed="rId3">
            <a:alphaModFix/>
          </a:blip>
          <a:stretch>
            <a:fillRect/>
          </a:stretch>
        </p:blipFill>
        <p:spPr>
          <a:xfrm>
            <a:off x="34323" y="3416536"/>
            <a:ext cx="1072100" cy="1196200"/>
          </a:xfrm>
          <a:prstGeom prst="rect">
            <a:avLst/>
          </a:prstGeom>
          <a:noFill/>
          <a:ln>
            <a:noFill/>
          </a:ln>
        </p:spPr>
      </p:pic>
      <p:pic>
        <p:nvPicPr>
          <p:cNvPr id="883" name="Google Shape;883;p80"/>
          <p:cNvPicPr preferRelativeResize="0"/>
          <p:nvPr/>
        </p:nvPicPr>
        <p:blipFill>
          <a:blip r:embed="rId6">
            <a:alphaModFix/>
          </a:blip>
          <a:stretch>
            <a:fillRect/>
          </a:stretch>
        </p:blipFill>
        <p:spPr>
          <a:xfrm>
            <a:off x="985675" y="4164200"/>
            <a:ext cx="562225" cy="519701"/>
          </a:xfrm>
          <a:prstGeom prst="rect">
            <a:avLst/>
          </a:prstGeom>
          <a:noFill/>
          <a:ln>
            <a:noFill/>
          </a:ln>
        </p:spPr>
      </p:pic>
      <p:graphicFrame>
        <p:nvGraphicFramePr>
          <p:cNvPr id="884" name="Google Shape;884;p80"/>
          <p:cNvGraphicFramePr/>
          <p:nvPr/>
        </p:nvGraphicFramePr>
        <p:xfrm>
          <a:off x="1757800" y="2095325"/>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10</a:t>
                      </a: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8</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4</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graphicFrame>
        <p:nvGraphicFramePr>
          <p:cNvPr id="885" name="Google Shape;885;p80"/>
          <p:cNvGraphicFramePr/>
          <p:nvPr/>
        </p:nvGraphicFramePr>
        <p:xfrm>
          <a:off x="1757800" y="3755650"/>
          <a:ext cx="3000000" cy="3000000"/>
        </p:xfrm>
        <a:graphic>
          <a:graphicData uri="http://schemas.openxmlformats.org/drawingml/2006/table">
            <a:tbl>
              <a:tblPr>
                <a:noFill/>
                <a:tableStyleId>{F5472438-8546-4859-8070-F315455ADD81}</a:tableStyleId>
              </a:tblPr>
              <a:tblGrid>
                <a:gridCol w="805475"/>
                <a:gridCol w="805475"/>
                <a:gridCol w="805475"/>
                <a:gridCol w="805475"/>
              </a:tblGrid>
              <a:tr h="396200">
                <a:tc>
                  <a:txBody>
                    <a:bodyPr/>
                    <a:lstStyle/>
                    <a:p>
                      <a:pPr indent="0" lvl="0" marL="0" rtl="0" algn="ctr">
                        <a:spcBef>
                          <a:spcPts val="0"/>
                        </a:spcBef>
                        <a:spcAft>
                          <a:spcPts val="0"/>
                        </a:spcAft>
                        <a:buNone/>
                      </a:pPr>
                      <a:r>
                        <a:rPr lang="en">
                          <a:latin typeface="Montserrat"/>
                          <a:ea typeface="Montserrat"/>
                          <a:cs typeface="Montserrat"/>
                          <a:sym typeface="Montserrat"/>
                        </a:rPr>
                        <a:t>8</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10</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0</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a:t>
                      </a:r>
                      <a:r>
                        <a:rPr b="1" lang="en">
                          <a:solidFill>
                            <a:schemeClr val="dk1"/>
                          </a:solidFill>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movie</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actor</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great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film</a:t>
                      </a:r>
                      <a:endParaRPr>
                        <a:latin typeface="Montserrat"/>
                        <a:ea typeface="Montserrat"/>
                        <a:cs typeface="Montserrat"/>
                        <a:sym typeface="Montserrat"/>
                      </a:endParaRPr>
                    </a:p>
                  </a:txBody>
                  <a:tcPr marT="91425" marB="91425" marR="91425" marL="91425"/>
                </a:tc>
              </a:tr>
            </a:tbl>
          </a:graphicData>
        </a:graphic>
      </p:graphicFrame>
      <p:sp>
        <p:nvSpPr>
          <p:cNvPr id="886" name="Google Shape;886;p80"/>
          <p:cNvSpPr txBox="1"/>
          <p:nvPr/>
        </p:nvSpPr>
        <p:spPr>
          <a:xfrm>
            <a:off x="1042425" y="20215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38761D"/>
                </a:solidFill>
                <a:latin typeface="Montserrat"/>
                <a:ea typeface="Montserrat"/>
                <a:cs typeface="Montserrat"/>
                <a:sym typeface="Montserrat"/>
              </a:rPr>
              <a:t>25</a:t>
            </a:r>
            <a:endParaRPr b="1" sz="2000">
              <a:solidFill>
                <a:srgbClr val="38761D"/>
              </a:solidFill>
              <a:latin typeface="Montserrat"/>
              <a:ea typeface="Montserrat"/>
              <a:cs typeface="Montserrat"/>
              <a:sym typeface="Montserrat"/>
            </a:endParaRPr>
          </a:p>
        </p:txBody>
      </p:sp>
      <p:sp>
        <p:nvSpPr>
          <p:cNvPr id="887" name="Google Shape;887;p80"/>
          <p:cNvSpPr txBox="1"/>
          <p:nvPr/>
        </p:nvSpPr>
        <p:spPr>
          <a:xfrm>
            <a:off x="1042425" y="3697900"/>
            <a:ext cx="5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990000"/>
                </a:solidFill>
                <a:latin typeface="Montserrat"/>
                <a:ea typeface="Montserrat"/>
                <a:cs typeface="Montserrat"/>
                <a:sym typeface="Montserrat"/>
              </a:rPr>
              <a:t>10</a:t>
            </a:r>
            <a:endParaRPr b="1" sz="2000">
              <a:solidFill>
                <a:srgbClr val="990000"/>
              </a:solidFill>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893" name="Google Shape;893;p81"/>
          <p:cNvSpPr txBox="1"/>
          <p:nvPr>
            <p:ph idx="1" type="body"/>
          </p:nvPr>
        </p:nvSpPr>
        <p:spPr>
          <a:xfrm>
            <a:off x="311700" y="1152475"/>
            <a:ext cx="8684100" cy="21711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how a higher alpha value will be more “smoothing”, giving each word less distinct importance.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let’s move on to focusing on feature extraction in general.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Are there better ways than just simply word frequency counts to extract features from text?</a:t>
            </a:r>
            <a:endParaRPr sz="2900">
              <a:solidFill>
                <a:srgbClr val="434343"/>
              </a:solidFill>
              <a:latin typeface="Montserrat"/>
              <a:ea typeface="Montserrat"/>
              <a:cs typeface="Montserrat"/>
              <a:sym typeface="Montserrat"/>
            </a:endParaRPr>
          </a:p>
        </p:txBody>
      </p:sp>
      <p:pic>
        <p:nvPicPr>
          <p:cNvPr descr="watermark.jpg" id="894" name="Google Shape;894;p8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5" name="Google Shape;895;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8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Extracting Features From Text Data</a:t>
            </a:r>
            <a:endParaRPr b="1">
              <a:latin typeface="Montserrat"/>
              <a:ea typeface="Montserrat"/>
              <a:cs typeface="Montserrat"/>
              <a:sym typeface="Montserrat"/>
            </a:endParaRPr>
          </a:p>
        </p:txBody>
      </p:sp>
      <p:sp>
        <p:nvSpPr>
          <p:cNvPr id="901" name="Google Shape;901;p8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Theory and Intuition</a:t>
            </a:r>
            <a:endParaRPr/>
          </a:p>
        </p:txBody>
      </p:sp>
      <p:pic>
        <p:nvPicPr>
          <p:cNvPr descr="watermark.jpg" id="902" name="Google Shape;902;p8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03" name="Google Shape;903;p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a:t>
            </a:r>
            <a:endParaRPr>
              <a:latin typeface="Montserrat"/>
              <a:ea typeface="Montserrat"/>
              <a:cs typeface="Montserrat"/>
              <a:sym typeface="Montserrat"/>
            </a:endParaRPr>
          </a:p>
        </p:txBody>
      </p:sp>
      <p:sp>
        <p:nvSpPr>
          <p:cNvPr id="909" name="Google Shape;909;p8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Most classic machine learning algorithms can’t take in raw text as data.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Instead we need to perform a feature “extraction” from the raw text in order to pass numerical features to the machine learning algorithm.</a:t>
            </a:r>
            <a:endParaRPr sz="2900">
              <a:solidFill>
                <a:srgbClr val="434343"/>
              </a:solidFill>
              <a:latin typeface="Montserrat"/>
              <a:ea typeface="Montserrat"/>
              <a:cs typeface="Montserrat"/>
              <a:sym typeface="Montserrat"/>
            </a:endParaRPr>
          </a:p>
        </p:txBody>
      </p:sp>
      <p:pic>
        <p:nvPicPr>
          <p:cNvPr descr="watermark.jpg" id="910" name="Google Shape;910;p8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11" name="Google Shape;911;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917" name="Google Shape;917;p8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Main Methods for Feature Extraction: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Count Vectorization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TF-IDF:</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Term Frequency - Inverse Document Frequency</a:t>
            </a:r>
            <a:endParaRPr sz="2900">
              <a:solidFill>
                <a:srgbClr val="434343"/>
              </a:solidFill>
              <a:latin typeface="Montserrat"/>
              <a:ea typeface="Montserrat"/>
              <a:cs typeface="Montserrat"/>
              <a:sym typeface="Montserrat"/>
            </a:endParaRPr>
          </a:p>
        </p:txBody>
      </p:sp>
      <p:pic>
        <p:nvPicPr>
          <p:cNvPr descr="watermark.jpg" id="918" name="Google Shape;918;p8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19" name="Google Shape;919;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925" name="Google Shape;925;p8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Count Vectorization</a:t>
            </a:r>
            <a:endParaRPr sz="2900">
              <a:solidFill>
                <a:srgbClr val="434343"/>
              </a:solidFill>
              <a:latin typeface="Montserrat"/>
              <a:ea typeface="Montserrat"/>
              <a:cs typeface="Montserrat"/>
              <a:sym typeface="Montserrat"/>
            </a:endParaRPr>
          </a:p>
        </p:txBody>
      </p:sp>
      <p:pic>
        <p:nvPicPr>
          <p:cNvPr descr="watermark.jpg" id="926" name="Google Shape;926;p8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27" name="Google Shape;927;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928" name="Google Shape;928;p85"/>
          <p:cNvGraphicFramePr/>
          <p:nvPr/>
        </p:nvGraphicFramePr>
        <p:xfrm>
          <a:off x="2762250" y="2317525"/>
          <a:ext cx="3000000" cy="3000000"/>
        </p:xfrm>
        <a:graphic>
          <a:graphicData uri="http://schemas.openxmlformats.org/drawingml/2006/table">
            <a:tbl>
              <a:tblPr>
                <a:noFill/>
                <a:tableStyleId>{F5472438-8546-4859-8070-F315455ADD81}</a:tableStyleId>
              </a:tblPr>
              <a:tblGrid>
                <a:gridCol w="3619500"/>
              </a:tblGrid>
              <a:tr h="381000">
                <a:tc>
                  <a:txBody>
                    <a:bodyPr/>
                    <a:lstStyle/>
                    <a:p>
                      <a:pPr indent="0" lvl="0" marL="0" rtl="0" algn="ctr">
                        <a:spcBef>
                          <a:spcPts val="0"/>
                        </a:spcBef>
                        <a:spcAft>
                          <a:spcPts val="0"/>
                        </a:spcAft>
                        <a:buNone/>
                      </a:pPr>
                      <a:r>
                        <a:rPr lang="en" sz="1900">
                          <a:latin typeface="Montserrat"/>
                          <a:ea typeface="Montserrat"/>
                          <a:cs typeface="Montserrat"/>
                          <a:sym typeface="Montserrat"/>
                        </a:rPr>
                        <a:t>You are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feel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am good</a:t>
                      </a:r>
                      <a:endParaRPr sz="19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934" name="Google Shape;934;p8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Create a </a:t>
            </a:r>
            <a:r>
              <a:rPr lang="en" sz="2900">
                <a:solidFill>
                  <a:srgbClr val="434343"/>
                </a:solidFill>
                <a:latin typeface="Montserrat"/>
                <a:ea typeface="Montserrat"/>
                <a:cs typeface="Montserrat"/>
                <a:sym typeface="Montserrat"/>
              </a:rPr>
              <a:t>vocabulary of all possible words</a:t>
            </a:r>
            <a:endParaRPr sz="2900">
              <a:solidFill>
                <a:srgbClr val="434343"/>
              </a:solidFill>
              <a:latin typeface="Montserrat"/>
              <a:ea typeface="Montserrat"/>
              <a:cs typeface="Montserrat"/>
              <a:sym typeface="Montserrat"/>
            </a:endParaRPr>
          </a:p>
        </p:txBody>
      </p:sp>
      <p:pic>
        <p:nvPicPr>
          <p:cNvPr descr="watermark.jpg" id="935" name="Google Shape;935;p8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36" name="Google Shape;936;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937" name="Google Shape;937;p86"/>
          <p:cNvGraphicFramePr/>
          <p:nvPr/>
        </p:nvGraphicFramePr>
        <p:xfrm>
          <a:off x="2762250" y="2317525"/>
          <a:ext cx="3000000" cy="3000000"/>
        </p:xfrm>
        <a:graphic>
          <a:graphicData uri="http://schemas.openxmlformats.org/drawingml/2006/table">
            <a:tbl>
              <a:tblPr>
                <a:noFill/>
                <a:tableStyleId>{F5472438-8546-4859-8070-F315455ADD81}</a:tableStyleId>
              </a:tblPr>
              <a:tblGrid>
                <a:gridCol w="3619500"/>
              </a:tblGrid>
              <a:tr h="381000">
                <a:tc>
                  <a:txBody>
                    <a:bodyPr/>
                    <a:lstStyle/>
                    <a:p>
                      <a:pPr indent="0" lvl="0" marL="0" rtl="0" algn="ctr">
                        <a:spcBef>
                          <a:spcPts val="0"/>
                        </a:spcBef>
                        <a:spcAft>
                          <a:spcPts val="0"/>
                        </a:spcAft>
                        <a:buNone/>
                      </a:pPr>
                      <a:r>
                        <a:rPr lang="en" sz="1900">
                          <a:latin typeface="Montserrat"/>
                          <a:ea typeface="Montserrat"/>
                          <a:cs typeface="Montserrat"/>
                          <a:sym typeface="Montserrat"/>
                        </a:rPr>
                        <a:t>You are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feel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am good</a:t>
                      </a:r>
                      <a:endParaRPr sz="19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943" name="Google Shape;943;p8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Create a vocabulary of all possible words</a:t>
            </a:r>
            <a:endParaRPr sz="2900">
              <a:solidFill>
                <a:srgbClr val="434343"/>
              </a:solidFill>
              <a:latin typeface="Montserrat"/>
              <a:ea typeface="Montserrat"/>
              <a:cs typeface="Montserrat"/>
              <a:sym typeface="Montserrat"/>
            </a:endParaRPr>
          </a:p>
        </p:txBody>
      </p:sp>
      <p:pic>
        <p:nvPicPr>
          <p:cNvPr descr="watermark.jpg" id="944" name="Google Shape;944;p8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45" name="Google Shape;945;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946" name="Google Shape;946;p87"/>
          <p:cNvGraphicFramePr/>
          <p:nvPr/>
        </p:nvGraphicFramePr>
        <p:xfrm>
          <a:off x="1034250" y="1875900"/>
          <a:ext cx="3000000" cy="3000000"/>
        </p:xfrm>
        <a:graphic>
          <a:graphicData uri="http://schemas.openxmlformats.org/drawingml/2006/table">
            <a:tbl>
              <a:tblPr>
                <a:noFill/>
                <a:tableStyleId>{F5472438-8546-4859-8070-F315455ADD81}</a:tableStyleId>
              </a:tblPr>
              <a:tblGrid>
                <a:gridCol w="1206500"/>
                <a:gridCol w="1206500"/>
                <a:gridCol w="1206500"/>
                <a:gridCol w="1206500"/>
                <a:gridCol w="1206500"/>
                <a:gridCol w="1206500"/>
              </a:tblGrid>
              <a:tr h="381000">
                <a:tc>
                  <a:txBody>
                    <a:bodyPr/>
                    <a:lstStyle/>
                    <a:p>
                      <a:pPr indent="0" lvl="0" marL="0" rtl="0" algn="ctr">
                        <a:spcBef>
                          <a:spcPts val="0"/>
                        </a:spcBef>
                        <a:spcAft>
                          <a:spcPts val="0"/>
                        </a:spcAft>
                        <a:buNone/>
                      </a:pPr>
                      <a:r>
                        <a:rPr lang="en" sz="1600">
                          <a:latin typeface="Montserrat"/>
                          <a:ea typeface="Montserrat"/>
                          <a:cs typeface="Montserrat"/>
                          <a:sym typeface="Montserrat"/>
                        </a:rPr>
                        <a:t>YOU</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ARE</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GOOD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I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FEEL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AM</a:t>
                      </a:r>
                      <a:endParaRPr sz="16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952" name="Google Shape;952;p8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Create a vector of frequency counts</a:t>
            </a:r>
            <a:endParaRPr sz="2900">
              <a:solidFill>
                <a:srgbClr val="434343"/>
              </a:solidFill>
              <a:latin typeface="Montserrat"/>
              <a:ea typeface="Montserrat"/>
              <a:cs typeface="Montserrat"/>
              <a:sym typeface="Montserrat"/>
            </a:endParaRPr>
          </a:p>
        </p:txBody>
      </p:sp>
      <p:pic>
        <p:nvPicPr>
          <p:cNvPr descr="watermark.jpg" id="953" name="Google Shape;953;p8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54" name="Google Shape;954;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955" name="Google Shape;955;p88"/>
          <p:cNvGraphicFramePr/>
          <p:nvPr/>
        </p:nvGraphicFramePr>
        <p:xfrm>
          <a:off x="2036475" y="2174200"/>
          <a:ext cx="3000000" cy="3000000"/>
        </p:xfrm>
        <a:graphic>
          <a:graphicData uri="http://schemas.openxmlformats.org/drawingml/2006/table">
            <a:tbl>
              <a:tblPr>
                <a:noFill/>
                <a:tableStyleId>{F5472438-8546-4859-8070-F315455ADD81}</a:tableStyleId>
              </a:tblPr>
              <a:tblGrid>
                <a:gridCol w="861700"/>
                <a:gridCol w="937275"/>
                <a:gridCol w="871175"/>
                <a:gridCol w="606650"/>
                <a:gridCol w="1126200"/>
                <a:gridCol w="743650"/>
              </a:tblGrid>
              <a:tr h="426700">
                <a:tc>
                  <a:txBody>
                    <a:bodyPr/>
                    <a:lstStyle/>
                    <a:p>
                      <a:pPr indent="0" lvl="0" marL="0" rtl="0" algn="ctr">
                        <a:spcBef>
                          <a:spcPts val="0"/>
                        </a:spcBef>
                        <a:spcAft>
                          <a:spcPts val="0"/>
                        </a:spcAft>
                        <a:buNone/>
                      </a:pPr>
                      <a:r>
                        <a:rPr lang="en" sz="1600">
                          <a:latin typeface="Montserrat"/>
                          <a:ea typeface="Montserrat"/>
                          <a:cs typeface="Montserrat"/>
                          <a:sym typeface="Montserrat"/>
                        </a:rPr>
                        <a:t>YOU</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ARE</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GOOD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I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FEEL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AM</a:t>
                      </a:r>
                      <a:endParaRPr sz="1600">
                        <a:latin typeface="Montserrat"/>
                        <a:ea typeface="Montserrat"/>
                        <a:cs typeface="Montserrat"/>
                        <a:sym typeface="Montserrat"/>
                      </a:endParaRPr>
                    </a:p>
                  </a:txBody>
                  <a:tcPr marT="91425" marB="91425" marR="91425" marL="91425"/>
                </a:tc>
              </a:tr>
            </a:tbl>
          </a:graphicData>
        </a:graphic>
      </p:graphicFrame>
      <p:graphicFrame>
        <p:nvGraphicFramePr>
          <p:cNvPr id="956" name="Google Shape;956;p88"/>
          <p:cNvGraphicFramePr/>
          <p:nvPr/>
        </p:nvGraphicFramePr>
        <p:xfrm>
          <a:off x="122025" y="2600900"/>
          <a:ext cx="3000000" cy="3000000"/>
        </p:xfrm>
        <a:graphic>
          <a:graphicData uri="http://schemas.openxmlformats.org/drawingml/2006/table">
            <a:tbl>
              <a:tblPr>
                <a:noFill/>
                <a:tableStyleId>{F5472438-8546-4859-8070-F315455ADD81}</a:tableStyleId>
              </a:tblPr>
              <a:tblGrid>
                <a:gridCol w="1886100"/>
              </a:tblGrid>
              <a:tr h="381000">
                <a:tc>
                  <a:txBody>
                    <a:bodyPr/>
                    <a:lstStyle/>
                    <a:p>
                      <a:pPr indent="0" lvl="0" marL="0" rtl="0" algn="ctr">
                        <a:spcBef>
                          <a:spcPts val="0"/>
                        </a:spcBef>
                        <a:spcAft>
                          <a:spcPts val="0"/>
                        </a:spcAft>
                        <a:buNone/>
                      </a:pPr>
                      <a:r>
                        <a:rPr lang="en" sz="1900">
                          <a:latin typeface="Montserrat"/>
                          <a:ea typeface="Montserrat"/>
                          <a:cs typeface="Montserrat"/>
                          <a:sym typeface="Montserrat"/>
                        </a:rPr>
                        <a:t>You are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feel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am good</a:t>
                      </a:r>
                      <a:endParaRPr sz="19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962" name="Google Shape;962;p8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Create a vector of frequency counts</a:t>
            </a:r>
            <a:endParaRPr sz="2900">
              <a:solidFill>
                <a:srgbClr val="434343"/>
              </a:solidFill>
              <a:latin typeface="Montserrat"/>
              <a:ea typeface="Montserrat"/>
              <a:cs typeface="Montserrat"/>
              <a:sym typeface="Montserrat"/>
            </a:endParaRPr>
          </a:p>
        </p:txBody>
      </p:sp>
      <p:pic>
        <p:nvPicPr>
          <p:cNvPr descr="watermark.jpg" id="963" name="Google Shape;963;p8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64" name="Google Shape;964;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965" name="Google Shape;965;p89"/>
          <p:cNvGraphicFramePr/>
          <p:nvPr/>
        </p:nvGraphicFramePr>
        <p:xfrm>
          <a:off x="2036475" y="2174200"/>
          <a:ext cx="3000000" cy="3000000"/>
        </p:xfrm>
        <a:graphic>
          <a:graphicData uri="http://schemas.openxmlformats.org/drawingml/2006/table">
            <a:tbl>
              <a:tblPr>
                <a:noFill/>
                <a:tableStyleId>{F5472438-8546-4859-8070-F315455ADD81}</a:tableStyleId>
              </a:tblPr>
              <a:tblGrid>
                <a:gridCol w="861700"/>
                <a:gridCol w="937275"/>
                <a:gridCol w="871175"/>
                <a:gridCol w="606650"/>
                <a:gridCol w="1126200"/>
                <a:gridCol w="743650"/>
              </a:tblGrid>
              <a:tr h="426700">
                <a:tc>
                  <a:txBody>
                    <a:bodyPr/>
                    <a:lstStyle/>
                    <a:p>
                      <a:pPr indent="0" lvl="0" marL="0" rtl="0" algn="ctr">
                        <a:spcBef>
                          <a:spcPts val="0"/>
                        </a:spcBef>
                        <a:spcAft>
                          <a:spcPts val="0"/>
                        </a:spcAft>
                        <a:buNone/>
                      </a:pPr>
                      <a:r>
                        <a:rPr lang="en" sz="1600">
                          <a:latin typeface="Montserrat"/>
                          <a:ea typeface="Montserrat"/>
                          <a:cs typeface="Montserrat"/>
                          <a:sym typeface="Montserrat"/>
                        </a:rPr>
                        <a:t>YOU</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ARE</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GOOD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I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FEEL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AM</a:t>
                      </a:r>
                      <a:endParaRPr sz="1600">
                        <a:latin typeface="Montserrat"/>
                        <a:ea typeface="Montserrat"/>
                        <a:cs typeface="Montserrat"/>
                        <a:sym typeface="Montserrat"/>
                      </a:endParaRPr>
                    </a:p>
                  </a:txBody>
                  <a:tcPr marT="91425" marB="91425" marR="91425" marL="91425"/>
                </a:tc>
              </a:tr>
              <a:tr h="472400">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r>
              <a:tr h="472425">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r>
              <a:tr h="495250">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r>
            </a:tbl>
          </a:graphicData>
        </a:graphic>
      </p:graphicFrame>
      <p:graphicFrame>
        <p:nvGraphicFramePr>
          <p:cNvPr id="966" name="Google Shape;966;p89"/>
          <p:cNvGraphicFramePr/>
          <p:nvPr/>
        </p:nvGraphicFramePr>
        <p:xfrm>
          <a:off x="122025" y="2600900"/>
          <a:ext cx="3000000" cy="3000000"/>
        </p:xfrm>
        <a:graphic>
          <a:graphicData uri="http://schemas.openxmlformats.org/drawingml/2006/table">
            <a:tbl>
              <a:tblPr>
                <a:noFill/>
                <a:tableStyleId>{F5472438-8546-4859-8070-F315455ADD81}</a:tableStyleId>
              </a:tblPr>
              <a:tblGrid>
                <a:gridCol w="1886100"/>
              </a:tblGrid>
              <a:tr h="381000">
                <a:tc>
                  <a:txBody>
                    <a:bodyPr/>
                    <a:lstStyle/>
                    <a:p>
                      <a:pPr indent="0" lvl="0" marL="0" rtl="0" algn="ctr">
                        <a:spcBef>
                          <a:spcPts val="0"/>
                        </a:spcBef>
                        <a:spcAft>
                          <a:spcPts val="0"/>
                        </a:spcAft>
                        <a:buNone/>
                      </a:pPr>
                      <a:r>
                        <a:rPr lang="en" sz="1900">
                          <a:latin typeface="Montserrat"/>
                          <a:ea typeface="Montserrat"/>
                          <a:cs typeface="Montserrat"/>
                          <a:sym typeface="Montserrat"/>
                        </a:rPr>
                        <a:t>You are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feel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am good</a:t>
                      </a:r>
                      <a:endParaRPr sz="19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972" name="Google Shape;972;p9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most values will be zero!</a:t>
            </a:r>
            <a:endParaRPr sz="2900">
              <a:solidFill>
                <a:srgbClr val="434343"/>
              </a:solidFill>
              <a:latin typeface="Montserrat"/>
              <a:ea typeface="Montserrat"/>
              <a:cs typeface="Montserrat"/>
              <a:sym typeface="Montserrat"/>
            </a:endParaRPr>
          </a:p>
        </p:txBody>
      </p:sp>
      <p:pic>
        <p:nvPicPr>
          <p:cNvPr descr="watermark.jpg" id="973" name="Google Shape;973;p9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74" name="Google Shape;974;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975" name="Google Shape;975;p90"/>
          <p:cNvGraphicFramePr/>
          <p:nvPr/>
        </p:nvGraphicFramePr>
        <p:xfrm>
          <a:off x="2036475" y="2174200"/>
          <a:ext cx="3000000" cy="3000000"/>
        </p:xfrm>
        <a:graphic>
          <a:graphicData uri="http://schemas.openxmlformats.org/drawingml/2006/table">
            <a:tbl>
              <a:tblPr>
                <a:noFill/>
                <a:tableStyleId>{F5472438-8546-4859-8070-F315455ADD81}</a:tableStyleId>
              </a:tblPr>
              <a:tblGrid>
                <a:gridCol w="861700"/>
                <a:gridCol w="937275"/>
                <a:gridCol w="871175"/>
                <a:gridCol w="606650"/>
                <a:gridCol w="1126200"/>
                <a:gridCol w="743650"/>
              </a:tblGrid>
              <a:tr h="426700">
                <a:tc>
                  <a:txBody>
                    <a:bodyPr/>
                    <a:lstStyle/>
                    <a:p>
                      <a:pPr indent="0" lvl="0" marL="0" rtl="0" algn="ctr">
                        <a:spcBef>
                          <a:spcPts val="0"/>
                        </a:spcBef>
                        <a:spcAft>
                          <a:spcPts val="0"/>
                        </a:spcAft>
                        <a:buNone/>
                      </a:pPr>
                      <a:r>
                        <a:rPr lang="en" sz="1600">
                          <a:latin typeface="Montserrat"/>
                          <a:ea typeface="Montserrat"/>
                          <a:cs typeface="Montserrat"/>
                          <a:sym typeface="Montserrat"/>
                        </a:rPr>
                        <a:t>YOU</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ARE</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GOOD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I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FEEL </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AM</a:t>
                      </a:r>
                      <a:endParaRPr sz="1600">
                        <a:latin typeface="Montserrat"/>
                        <a:ea typeface="Montserrat"/>
                        <a:cs typeface="Montserrat"/>
                        <a:sym typeface="Montserrat"/>
                      </a:endParaRPr>
                    </a:p>
                  </a:txBody>
                  <a:tcPr marT="91425" marB="91425" marR="91425" marL="91425"/>
                </a:tc>
              </a:tr>
              <a:tr h="472400">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r>
              <a:tr h="472425">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r>
              <a:tr h="495250">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0</a:t>
                      </a:r>
                      <a:endParaRPr sz="16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600">
                          <a:latin typeface="Montserrat"/>
                          <a:ea typeface="Montserrat"/>
                          <a:cs typeface="Montserrat"/>
                          <a:sym typeface="Montserrat"/>
                        </a:rPr>
                        <a:t>1</a:t>
                      </a:r>
                      <a:endParaRPr sz="1600">
                        <a:latin typeface="Montserrat"/>
                        <a:ea typeface="Montserrat"/>
                        <a:cs typeface="Montserrat"/>
                        <a:sym typeface="Montserrat"/>
                      </a:endParaRPr>
                    </a:p>
                  </a:txBody>
                  <a:tcPr marT="91425" marB="91425" marR="91425" marL="91425"/>
                </a:tc>
              </a:tr>
            </a:tbl>
          </a:graphicData>
        </a:graphic>
      </p:graphicFrame>
      <p:graphicFrame>
        <p:nvGraphicFramePr>
          <p:cNvPr id="976" name="Google Shape;976;p90"/>
          <p:cNvGraphicFramePr/>
          <p:nvPr/>
        </p:nvGraphicFramePr>
        <p:xfrm>
          <a:off x="122025" y="2600900"/>
          <a:ext cx="3000000" cy="3000000"/>
        </p:xfrm>
        <a:graphic>
          <a:graphicData uri="http://schemas.openxmlformats.org/drawingml/2006/table">
            <a:tbl>
              <a:tblPr>
                <a:noFill/>
                <a:tableStyleId>{F5472438-8546-4859-8070-F315455ADD81}</a:tableStyleId>
              </a:tblPr>
              <a:tblGrid>
                <a:gridCol w="1886100"/>
              </a:tblGrid>
              <a:tr h="381000">
                <a:tc>
                  <a:txBody>
                    <a:bodyPr/>
                    <a:lstStyle/>
                    <a:p>
                      <a:pPr indent="0" lvl="0" marL="0" rtl="0" algn="ctr">
                        <a:spcBef>
                          <a:spcPts val="0"/>
                        </a:spcBef>
                        <a:spcAft>
                          <a:spcPts val="0"/>
                        </a:spcAft>
                        <a:buNone/>
                      </a:pPr>
                      <a:r>
                        <a:rPr lang="en" sz="1900">
                          <a:latin typeface="Montserrat"/>
                          <a:ea typeface="Montserrat"/>
                          <a:cs typeface="Montserrat"/>
                          <a:sym typeface="Montserrat"/>
                        </a:rPr>
                        <a:t>You are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feel good</a:t>
                      </a:r>
                      <a:endParaRPr sz="19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900">
                          <a:latin typeface="Montserrat"/>
                          <a:ea typeface="Montserrat"/>
                          <a:cs typeface="Montserrat"/>
                          <a:sym typeface="Montserrat"/>
                        </a:rPr>
                        <a:t>I am good</a:t>
                      </a:r>
                      <a:endParaRPr sz="19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982" name="Google Shape;982;p9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Count Vectorization</a:t>
            </a:r>
            <a:endParaRPr sz="2900">
              <a:solidFill>
                <a:srgbClr val="434343"/>
              </a:solidFill>
              <a:latin typeface="Montserrat"/>
              <a:ea typeface="Montserrat"/>
              <a:cs typeface="Montserrat"/>
              <a:sym typeface="Montserrat"/>
            </a:endParaRPr>
          </a:p>
        </p:txBody>
      </p:sp>
      <p:pic>
        <p:nvPicPr>
          <p:cNvPr descr="watermark.jpg" id="983" name="Google Shape;983;p9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84" name="Google Shape;984;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85" name="Google Shape;985;p91"/>
          <p:cNvPicPr preferRelativeResize="0"/>
          <p:nvPr/>
        </p:nvPicPr>
        <p:blipFill>
          <a:blip r:embed="rId4">
            <a:alphaModFix/>
          </a:blip>
          <a:stretch>
            <a:fillRect/>
          </a:stretch>
        </p:blipFill>
        <p:spPr>
          <a:xfrm>
            <a:off x="1228163" y="2169150"/>
            <a:ext cx="6687676" cy="121422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991" name="Google Shape;991;p9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Document Term Matrix (DTM)</a:t>
            </a:r>
            <a:endParaRPr sz="2900">
              <a:solidFill>
                <a:srgbClr val="434343"/>
              </a:solidFill>
              <a:latin typeface="Montserrat"/>
              <a:ea typeface="Montserrat"/>
              <a:cs typeface="Montserrat"/>
              <a:sym typeface="Montserrat"/>
            </a:endParaRPr>
          </a:p>
        </p:txBody>
      </p:sp>
      <p:pic>
        <p:nvPicPr>
          <p:cNvPr descr="watermark.jpg" id="992" name="Google Shape;992;p9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93" name="Google Shape;993;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94" name="Google Shape;994;p92"/>
          <p:cNvPicPr preferRelativeResize="0"/>
          <p:nvPr/>
        </p:nvPicPr>
        <p:blipFill>
          <a:blip r:embed="rId4">
            <a:alphaModFix/>
          </a:blip>
          <a:stretch>
            <a:fillRect/>
          </a:stretch>
        </p:blipFill>
        <p:spPr>
          <a:xfrm>
            <a:off x="1167438" y="2399953"/>
            <a:ext cx="6809125" cy="168779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00" name="Google Shape;1000;p9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Count Vectorization treats every word as a feature, with the frequency counts acting as a “strength” of the feature/word.</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larger documents, matrices are stored as a </a:t>
            </a:r>
            <a:r>
              <a:rPr b="1" lang="en" sz="2900">
                <a:solidFill>
                  <a:srgbClr val="434343"/>
                </a:solidFill>
                <a:latin typeface="Montserrat"/>
                <a:ea typeface="Montserrat"/>
                <a:cs typeface="Montserrat"/>
                <a:sym typeface="Montserrat"/>
              </a:rPr>
              <a:t>sparse matrix</a:t>
            </a:r>
            <a:r>
              <a:rPr lang="en" sz="2900">
                <a:solidFill>
                  <a:srgbClr val="434343"/>
                </a:solidFill>
                <a:latin typeface="Montserrat"/>
                <a:ea typeface="Montserrat"/>
                <a:cs typeface="Montserrat"/>
                <a:sym typeface="Montserrat"/>
              </a:rPr>
              <a:t> to save space, since so many values will be zero.</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001" name="Google Shape;1001;p9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02" name="Google Shape;1002;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08" name="Google Shape;1008;p9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Issues to consider:</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Very common words (e.g. “a” , “the”, “about”).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Words </a:t>
            </a:r>
            <a:r>
              <a:rPr lang="en" sz="2900">
                <a:solidFill>
                  <a:srgbClr val="434343"/>
                </a:solidFill>
                <a:latin typeface="Montserrat"/>
                <a:ea typeface="Montserrat"/>
                <a:cs typeface="Montserrat"/>
                <a:sym typeface="Montserrat"/>
              </a:rPr>
              <a:t>common to a particular set of documents (e.g. “run” in a set of different sports articles).</a:t>
            </a:r>
            <a:endParaRPr sz="2900">
              <a:solidFill>
                <a:srgbClr val="434343"/>
              </a:solidFill>
              <a:latin typeface="Montserrat"/>
              <a:ea typeface="Montserrat"/>
              <a:cs typeface="Montserrat"/>
              <a:sym typeface="Montserrat"/>
            </a:endParaRPr>
          </a:p>
        </p:txBody>
      </p:sp>
      <p:pic>
        <p:nvPicPr>
          <p:cNvPr descr="watermark.jpg" id="1009" name="Google Shape;1009;p9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10" name="Google Shape;1010;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16" name="Google Shape;1016;p9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Stop Words are words common enough throughout a language that its usually safe to remove them and not consider them as important.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Most NLP libraries have a built-in list of common stop words.</a:t>
            </a:r>
            <a:endParaRPr sz="2900">
              <a:solidFill>
                <a:srgbClr val="434343"/>
              </a:solidFill>
              <a:latin typeface="Montserrat"/>
              <a:ea typeface="Montserrat"/>
              <a:cs typeface="Montserrat"/>
              <a:sym typeface="Montserrat"/>
            </a:endParaRPr>
          </a:p>
        </p:txBody>
      </p:sp>
      <p:pic>
        <p:nvPicPr>
          <p:cNvPr descr="watermark.jpg" id="1017" name="Google Shape;1017;p9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18" name="Google Shape;1018;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24" name="Google Shape;1024;p9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address the issue of document frequency by using a TF-IDF Vectorization process.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Instead of filling the DTM with word frequency counts it calculates term frequency-inverse document frequency value for each word(TF-IDF). </a:t>
            </a:r>
            <a:endParaRPr sz="2900">
              <a:solidFill>
                <a:srgbClr val="434343"/>
              </a:solidFill>
              <a:latin typeface="Montserrat"/>
              <a:ea typeface="Montserrat"/>
              <a:cs typeface="Montserrat"/>
              <a:sym typeface="Montserrat"/>
            </a:endParaRPr>
          </a:p>
        </p:txBody>
      </p:sp>
      <p:pic>
        <p:nvPicPr>
          <p:cNvPr descr="watermark.jpg" id="1025" name="Google Shape;1025;p9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26" name="Google Shape;1026;p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32" name="Google Shape;1032;p9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Term frequency </a:t>
            </a:r>
            <a:r>
              <a:rPr b="1" lang="en" sz="2900">
                <a:solidFill>
                  <a:srgbClr val="434343"/>
                </a:solidFill>
                <a:latin typeface="Montserrat"/>
                <a:ea typeface="Montserrat"/>
                <a:cs typeface="Montserrat"/>
                <a:sym typeface="Montserrat"/>
              </a:rPr>
              <a:t>tf(t,d)</a:t>
            </a:r>
            <a:r>
              <a:rPr lang="en" sz="2900">
                <a:solidFill>
                  <a:srgbClr val="434343"/>
                </a:solidFill>
                <a:latin typeface="Montserrat"/>
                <a:ea typeface="Montserrat"/>
                <a:cs typeface="Montserrat"/>
                <a:sym typeface="Montserrat"/>
              </a:rPr>
              <a:t>: is the raw count of a term in a document: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number of times that term </a:t>
            </a:r>
            <a:r>
              <a:rPr b="1" lang="en" sz="2900">
                <a:solidFill>
                  <a:srgbClr val="434343"/>
                </a:solidFill>
                <a:latin typeface="Montserrat"/>
                <a:ea typeface="Montserrat"/>
                <a:cs typeface="Montserrat"/>
                <a:sym typeface="Montserrat"/>
              </a:rPr>
              <a:t>t</a:t>
            </a:r>
            <a:r>
              <a:rPr lang="en" sz="2900">
                <a:solidFill>
                  <a:srgbClr val="434343"/>
                </a:solidFill>
                <a:latin typeface="Montserrat"/>
                <a:ea typeface="Montserrat"/>
                <a:cs typeface="Montserrat"/>
                <a:sym typeface="Montserrat"/>
              </a:rPr>
              <a:t> occurs in document </a:t>
            </a:r>
            <a:r>
              <a:rPr b="1" lang="en" sz="2900">
                <a:solidFill>
                  <a:srgbClr val="434343"/>
                </a:solidFill>
                <a:latin typeface="Montserrat"/>
                <a:ea typeface="Montserrat"/>
                <a:cs typeface="Montserrat"/>
                <a:sym typeface="Montserrat"/>
              </a:rPr>
              <a:t>d</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033" name="Google Shape;1033;p9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34" name="Google Shape;1034;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40" name="Google Shape;1040;p9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However, Term Frequency alone isn’t enough for a thorough feature analysis of the text!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imagine very common terms, like “a” or “the”...</a:t>
            </a:r>
            <a:endParaRPr sz="2900">
              <a:solidFill>
                <a:srgbClr val="434343"/>
              </a:solidFill>
              <a:latin typeface="Montserrat"/>
              <a:ea typeface="Montserrat"/>
              <a:cs typeface="Montserrat"/>
              <a:sym typeface="Montserrat"/>
            </a:endParaRPr>
          </a:p>
        </p:txBody>
      </p:sp>
      <p:pic>
        <p:nvPicPr>
          <p:cNvPr descr="watermark.jpg" id="1041" name="Google Shape;1041;p9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2" name="Google Shape;1042;p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48" name="Google Shape;1048;p9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Because the term "the" is so common, term frequency will tend to incorrectly emphasize documents which happen to use the word "the" more frequently, without giving enough weight to the more meaningful terms "red" and "dogs". </a:t>
            </a:r>
            <a:endParaRPr sz="2900">
              <a:solidFill>
                <a:srgbClr val="434343"/>
              </a:solidFill>
              <a:latin typeface="Montserrat"/>
              <a:ea typeface="Montserrat"/>
              <a:cs typeface="Montserrat"/>
              <a:sym typeface="Montserrat"/>
            </a:endParaRPr>
          </a:p>
        </p:txBody>
      </p:sp>
      <p:pic>
        <p:nvPicPr>
          <p:cNvPr descr="watermark.jpg" id="1049" name="Google Shape;1049;p9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50" name="Google Shape;1050;p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56" name="Google Shape;1056;p10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also need to consider a group of documents where non stop words are common throughout all the documents: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word “run” in documents about various sports.</a:t>
            </a:r>
            <a:endParaRPr sz="2900">
              <a:solidFill>
                <a:srgbClr val="434343"/>
              </a:solidFill>
              <a:latin typeface="Montserrat"/>
              <a:ea typeface="Montserrat"/>
              <a:cs typeface="Montserrat"/>
              <a:sym typeface="Montserrat"/>
            </a:endParaRPr>
          </a:p>
        </p:txBody>
      </p:sp>
      <p:pic>
        <p:nvPicPr>
          <p:cNvPr descr="watermark.jpg" id="1057" name="Google Shape;1057;p10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58" name="Google Shape;1058;p1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64" name="Google Shape;1064;p10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An inverse document frequency factor is incorporated which diminishes the weight of terms that occur very frequently in the document set and increases the weight of terms that occur rarely.</a:t>
            </a:r>
            <a:endParaRPr sz="2900">
              <a:solidFill>
                <a:srgbClr val="434343"/>
              </a:solidFill>
              <a:latin typeface="Montserrat"/>
              <a:ea typeface="Montserrat"/>
              <a:cs typeface="Montserrat"/>
              <a:sym typeface="Montserrat"/>
            </a:endParaRPr>
          </a:p>
        </p:txBody>
      </p:sp>
      <p:pic>
        <p:nvPicPr>
          <p:cNvPr descr="watermark.jpg" id="1065" name="Google Shape;1065;p10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66" name="Google Shape;1066;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72" name="Google Shape;1072;p10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is the logarithmically scaled inverse fraction of the documents that contain the word (obtained by dividing the total number of documents by the number of documents containing the term, and then taking the logarithm of that quotient)</a:t>
            </a:r>
            <a:endParaRPr sz="2900">
              <a:solidFill>
                <a:srgbClr val="434343"/>
              </a:solidFill>
              <a:latin typeface="Montserrat"/>
              <a:ea typeface="Montserrat"/>
              <a:cs typeface="Montserrat"/>
              <a:sym typeface="Montserrat"/>
            </a:endParaRPr>
          </a:p>
        </p:txBody>
      </p:sp>
      <p:pic>
        <p:nvPicPr>
          <p:cNvPr descr="watermark.jpg" id="1073" name="Google Shape;1073;p10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74" name="Google Shape;1074;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80" name="Google Shape;1080;p10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IDF is how common or rare a word is in the entire document set.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closer it is to 0, the more common a word is.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Calculated by taking the </a:t>
            </a:r>
            <a:r>
              <a:rPr b="1" lang="en" sz="2900">
                <a:solidFill>
                  <a:srgbClr val="434343"/>
                </a:solidFill>
                <a:latin typeface="Montserrat"/>
                <a:ea typeface="Montserrat"/>
                <a:cs typeface="Montserrat"/>
                <a:sym typeface="Montserrat"/>
              </a:rPr>
              <a:t>total number of documents</a:t>
            </a:r>
            <a:r>
              <a:rPr lang="en" sz="2900">
                <a:solidFill>
                  <a:srgbClr val="434343"/>
                </a:solidFill>
                <a:latin typeface="Montserrat"/>
                <a:ea typeface="Montserrat"/>
                <a:cs typeface="Montserrat"/>
                <a:sym typeface="Montserrat"/>
              </a:rPr>
              <a:t>, </a:t>
            </a:r>
            <a:r>
              <a:rPr b="1" lang="en" sz="2900">
                <a:solidFill>
                  <a:srgbClr val="434343"/>
                </a:solidFill>
                <a:latin typeface="Montserrat"/>
                <a:ea typeface="Montserrat"/>
                <a:cs typeface="Montserrat"/>
                <a:sym typeface="Montserrat"/>
              </a:rPr>
              <a:t>dividing it by the number of documents that contain a word</a:t>
            </a:r>
            <a:r>
              <a:rPr lang="en" sz="2900">
                <a:solidFill>
                  <a:srgbClr val="434343"/>
                </a:solidFill>
                <a:latin typeface="Montserrat"/>
                <a:ea typeface="Montserrat"/>
                <a:cs typeface="Montserrat"/>
                <a:sym typeface="Montserrat"/>
              </a:rPr>
              <a:t>, and </a:t>
            </a:r>
            <a:r>
              <a:rPr b="1" lang="en" sz="2900">
                <a:solidFill>
                  <a:srgbClr val="434343"/>
                </a:solidFill>
                <a:latin typeface="Montserrat"/>
                <a:ea typeface="Montserrat"/>
                <a:cs typeface="Montserrat"/>
                <a:sym typeface="Montserrat"/>
              </a:rPr>
              <a:t>calculating the logarithm.</a:t>
            </a:r>
            <a:endParaRPr b="1" sz="2900">
              <a:solidFill>
                <a:srgbClr val="434343"/>
              </a:solidFill>
              <a:latin typeface="Montserrat"/>
              <a:ea typeface="Montserrat"/>
              <a:cs typeface="Montserrat"/>
              <a:sym typeface="Montserrat"/>
            </a:endParaRPr>
          </a:p>
        </p:txBody>
      </p:sp>
      <p:pic>
        <p:nvPicPr>
          <p:cNvPr descr="watermark.jpg" id="1081" name="Google Shape;1081;p10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82" name="Google Shape;1082;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88" name="Google Shape;1088;p10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387350" lvl="0" marL="457200" marR="0" rtl="0" algn="l">
              <a:lnSpc>
                <a:spcPct val="100000"/>
              </a:lnSpc>
              <a:spcBef>
                <a:spcPts val="0"/>
              </a:spcBef>
              <a:spcAft>
                <a:spcPts val="0"/>
              </a:spcAft>
              <a:buClr>
                <a:srgbClr val="434343"/>
              </a:buClr>
              <a:buSzPts val="2500"/>
              <a:buFont typeface="Overpass"/>
              <a:buChar char="●"/>
            </a:pPr>
            <a:r>
              <a:rPr b="1" lang="en" sz="2500">
                <a:solidFill>
                  <a:srgbClr val="434343"/>
                </a:solidFill>
                <a:latin typeface="Overpass"/>
                <a:ea typeface="Overpass"/>
                <a:cs typeface="Overpass"/>
                <a:sym typeface="Overpass"/>
              </a:rPr>
              <a:t>TF-IDF = term frequency * (1 / document frequency)</a:t>
            </a:r>
            <a:endParaRPr b="1" sz="2500">
              <a:solidFill>
                <a:srgbClr val="434343"/>
              </a:solidFill>
              <a:latin typeface="Overpass"/>
              <a:ea typeface="Overpass"/>
              <a:cs typeface="Overpass"/>
              <a:sym typeface="Overpass"/>
            </a:endParaRPr>
          </a:p>
          <a:p>
            <a:pPr indent="-387350" lvl="0" marL="457200" marR="0" rtl="0" algn="l">
              <a:lnSpc>
                <a:spcPct val="100000"/>
              </a:lnSpc>
              <a:spcBef>
                <a:spcPts val="0"/>
              </a:spcBef>
              <a:spcAft>
                <a:spcPts val="0"/>
              </a:spcAft>
              <a:buClr>
                <a:srgbClr val="434343"/>
              </a:buClr>
              <a:buSzPts val="2500"/>
              <a:buFont typeface="Overpass"/>
              <a:buChar char="●"/>
            </a:pPr>
            <a:r>
              <a:rPr b="1" lang="en" sz="2500">
                <a:solidFill>
                  <a:srgbClr val="434343"/>
                </a:solidFill>
                <a:latin typeface="Overpass"/>
                <a:ea typeface="Overpass"/>
                <a:cs typeface="Overpass"/>
                <a:sym typeface="Overpass"/>
              </a:rPr>
              <a:t>TF-IDF = term frequency * inverse document freq</a:t>
            </a:r>
            <a:endParaRPr b="1" sz="2500">
              <a:solidFill>
                <a:srgbClr val="434343"/>
              </a:solidFill>
              <a:latin typeface="Overpass"/>
              <a:ea typeface="Overpass"/>
              <a:cs typeface="Overpass"/>
              <a:sym typeface="Overpass"/>
            </a:endParaRPr>
          </a:p>
        </p:txBody>
      </p:sp>
      <p:pic>
        <p:nvPicPr>
          <p:cNvPr descr="watermark.jpg" id="1089" name="Google Shape;1089;p10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90" name="Google Shape;1090;p1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91" name="Google Shape;1091;p104"/>
          <p:cNvPicPr preferRelativeResize="0"/>
          <p:nvPr/>
        </p:nvPicPr>
        <p:blipFill>
          <a:blip r:embed="rId4">
            <a:alphaModFix/>
          </a:blip>
          <a:stretch>
            <a:fillRect/>
          </a:stretch>
        </p:blipFill>
        <p:spPr>
          <a:xfrm>
            <a:off x="1923825" y="3205875"/>
            <a:ext cx="5882775" cy="1394875"/>
          </a:xfrm>
          <a:prstGeom prst="rect">
            <a:avLst/>
          </a:prstGeom>
          <a:noFill/>
          <a:ln>
            <a:noFill/>
          </a:ln>
        </p:spPr>
      </p:pic>
      <p:pic>
        <p:nvPicPr>
          <p:cNvPr id="1092" name="Google Shape;1092;p104"/>
          <p:cNvPicPr preferRelativeResize="0"/>
          <p:nvPr/>
        </p:nvPicPr>
        <p:blipFill>
          <a:blip r:embed="rId5">
            <a:alphaModFix/>
          </a:blip>
          <a:stretch>
            <a:fillRect/>
          </a:stretch>
        </p:blipFill>
        <p:spPr>
          <a:xfrm>
            <a:off x="1995397" y="2361675"/>
            <a:ext cx="5462975" cy="72742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98" name="Google Shape;1098;p10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Fortunately Scikit-learn can calculate all these terms for us through the use of its API.</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how similar the syntax is to our previous use of ML models in Scikit-Learn!</a:t>
            </a:r>
            <a:endParaRPr sz="2900">
              <a:solidFill>
                <a:srgbClr val="434343"/>
              </a:solidFill>
              <a:latin typeface="Montserrat"/>
              <a:ea typeface="Montserrat"/>
              <a:cs typeface="Montserrat"/>
              <a:sym typeface="Montserrat"/>
            </a:endParaRPr>
          </a:p>
        </p:txBody>
      </p:sp>
      <p:pic>
        <p:nvPicPr>
          <p:cNvPr descr="watermark.jpg" id="1099" name="Google Shape;1099;p10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00" name="Google Shape;1100;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06" name="Google Shape;1106;p10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07" name="Google Shape;1107;p10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08" name="Google Shape;1108;p10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09" name="Google Shape;1109;p106"/>
          <p:cNvPicPr preferRelativeResize="0"/>
          <p:nvPr/>
        </p:nvPicPr>
        <p:blipFill>
          <a:blip r:embed="rId4">
            <a:alphaModFix/>
          </a:blip>
          <a:stretch>
            <a:fillRect/>
          </a:stretch>
        </p:blipFill>
        <p:spPr>
          <a:xfrm>
            <a:off x="1167363" y="1362687"/>
            <a:ext cx="6634801" cy="1266825"/>
          </a:xfrm>
          <a:prstGeom prst="rect">
            <a:avLst/>
          </a:prstGeom>
          <a:noFill/>
          <a:ln>
            <a:noFill/>
          </a:ln>
        </p:spPr>
      </p:pic>
      <p:pic>
        <p:nvPicPr>
          <p:cNvPr id="1110" name="Google Shape;1110;p106"/>
          <p:cNvPicPr preferRelativeResize="0"/>
          <p:nvPr/>
        </p:nvPicPr>
        <p:blipFill>
          <a:blip r:embed="rId5">
            <a:alphaModFix/>
          </a:blip>
          <a:stretch>
            <a:fillRect/>
          </a:stretch>
        </p:blipFill>
        <p:spPr>
          <a:xfrm>
            <a:off x="1186640" y="3123700"/>
            <a:ext cx="6596232" cy="132397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16" name="Google Shape;1116;p10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TF-IDF allows us to understand the context of words across an entire corpus of documents, instead of just its relative importance in a single document.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Coming up next we’ll explore how to perform these operations with Python and SciKit-Learn!</a:t>
            </a:r>
            <a:endParaRPr sz="2900">
              <a:solidFill>
                <a:srgbClr val="434343"/>
              </a:solidFill>
              <a:latin typeface="Montserrat"/>
              <a:ea typeface="Montserrat"/>
              <a:cs typeface="Montserrat"/>
              <a:sym typeface="Montserrat"/>
            </a:endParaRPr>
          </a:p>
        </p:txBody>
      </p:sp>
      <p:pic>
        <p:nvPicPr>
          <p:cNvPr descr="watermark.jpg" id="1117" name="Google Shape;1117;p10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18" name="Google Shape;1118;p10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10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Extracting Features From Text Data</a:t>
            </a:r>
            <a:endParaRPr b="1">
              <a:latin typeface="Montserrat"/>
              <a:ea typeface="Montserrat"/>
              <a:cs typeface="Montserrat"/>
              <a:sym typeface="Montserrat"/>
            </a:endParaRPr>
          </a:p>
        </p:txBody>
      </p:sp>
      <p:sp>
        <p:nvSpPr>
          <p:cNvPr id="1124" name="Google Shape;1124;p10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Understanding</a:t>
            </a:r>
            <a:r>
              <a:rPr lang="en"/>
              <a:t> Core Concepts</a:t>
            </a:r>
            <a:endParaRPr/>
          </a:p>
        </p:txBody>
      </p:sp>
      <p:pic>
        <p:nvPicPr>
          <p:cNvPr descr="watermark.jpg" id="1125" name="Google Shape;1125;p10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6" name="Google Shape;1126;p10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Natural Language Processing </a:t>
            </a:r>
            <a:endParaRPr>
              <a:latin typeface="Montserrat"/>
              <a:ea typeface="Montserrat"/>
              <a:cs typeface="Montserrat"/>
              <a:sym typeface="Montserrat"/>
            </a:endParaRPr>
          </a:p>
        </p:txBody>
      </p:sp>
      <p:sp>
        <p:nvSpPr>
          <p:cNvPr id="1132" name="Google Shape;1132;p10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begin understanding core concepts by manually creating a “bag of words” model.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that this is a frequency count of words in the documents.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get started!</a:t>
            </a:r>
            <a:endParaRPr sz="2900">
              <a:solidFill>
                <a:srgbClr val="434343"/>
              </a:solidFill>
              <a:latin typeface="Montserrat"/>
              <a:ea typeface="Montserrat"/>
              <a:cs typeface="Montserrat"/>
              <a:sym typeface="Montserrat"/>
            </a:endParaRPr>
          </a:p>
        </p:txBody>
      </p:sp>
      <p:pic>
        <p:nvPicPr>
          <p:cNvPr descr="watermark.jpg" id="1133" name="Google Shape;1133;p10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34" name="Google Shape;1134;p10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1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Extracting Features From Text Data</a:t>
            </a:r>
            <a:endParaRPr b="1">
              <a:latin typeface="Montserrat"/>
              <a:ea typeface="Montserrat"/>
              <a:cs typeface="Montserrat"/>
              <a:sym typeface="Montserrat"/>
            </a:endParaRPr>
          </a:p>
        </p:txBody>
      </p:sp>
      <p:sp>
        <p:nvSpPr>
          <p:cNvPr id="1140" name="Google Shape;1140;p11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Utilizing Scikit-Learn</a:t>
            </a:r>
            <a:endParaRPr/>
          </a:p>
        </p:txBody>
      </p:sp>
      <p:pic>
        <p:nvPicPr>
          <p:cNvPr descr="watermark.jpg" id="1141" name="Google Shape;1141;p11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42" name="Google Shape;1142;p11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11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Classification with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Text Data</a:t>
            </a:r>
            <a:endParaRPr b="1">
              <a:latin typeface="Montserrat"/>
              <a:ea typeface="Montserrat"/>
              <a:cs typeface="Montserrat"/>
              <a:sym typeface="Montserrat"/>
            </a:endParaRPr>
          </a:p>
        </p:txBody>
      </p:sp>
      <p:sp>
        <p:nvSpPr>
          <p:cNvPr id="1148" name="Google Shape;1148;p11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One: Data Analysis and Features</a:t>
            </a:r>
            <a:endParaRPr/>
          </a:p>
        </p:txBody>
      </p:sp>
      <p:pic>
        <p:nvPicPr>
          <p:cNvPr descr="watermark.jpg" id="1149" name="Google Shape;1149;p11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50" name="Google Shape;1150;p11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1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Classification with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Text Data</a:t>
            </a:r>
            <a:endParaRPr b="1">
              <a:latin typeface="Montserrat"/>
              <a:ea typeface="Montserrat"/>
              <a:cs typeface="Montserrat"/>
              <a:sym typeface="Montserrat"/>
            </a:endParaRPr>
          </a:p>
        </p:txBody>
      </p:sp>
      <p:sp>
        <p:nvSpPr>
          <p:cNvPr id="1156" name="Google Shape;1156;p11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Two: Building Models</a:t>
            </a:r>
            <a:endParaRPr/>
          </a:p>
        </p:txBody>
      </p:sp>
      <p:pic>
        <p:nvPicPr>
          <p:cNvPr descr="watermark.jpg" id="1157" name="Google Shape;1157;p11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58" name="Google Shape;1158;p11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Text Classification</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Project Exercise</a:t>
            </a:r>
            <a:endParaRPr b="1">
              <a:latin typeface="Montserrat"/>
              <a:ea typeface="Montserrat"/>
              <a:cs typeface="Montserrat"/>
              <a:sym typeface="Montserrat"/>
            </a:endParaRPr>
          </a:p>
        </p:txBody>
      </p:sp>
      <p:sp>
        <p:nvSpPr>
          <p:cNvPr id="1164" name="Google Shape;1164;p1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Solutions</a:t>
            </a:r>
            <a:endParaRPr/>
          </a:p>
        </p:txBody>
      </p:sp>
      <p:pic>
        <p:nvPicPr>
          <p:cNvPr descr="watermark.jpg" id="1165" name="Google Shape;1165;p1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66" name="Google Shape;1166;p1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